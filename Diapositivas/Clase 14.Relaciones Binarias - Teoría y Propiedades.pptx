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7" r:id="rId2"/>
    <p:sldId id="258" r:id="rId3"/>
    <p:sldId id="259" r:id="rId4"/>
    <p:sldId id="535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538" r:id="rId13"/>
    <p:sldId id="539" r:id="rId14"/>
    <p:sldId id="540" r:id="rId15"/>
    <p:sldId id="541" r:id="rId16"/>
    <p:sldId id="542" r:id="rId17"/>
    <p:sldId id="543" r:id="rId18"/>
    <p:sldId id="256" r:id="rId19"/>
    <p:sldId id="545" r:id="rId20"/>
    <p:sldId id="546" r:id="rId21"/>
    <p:sldId id="547" r:id="rId22"/>
    <p:sldId id="548" r:id="rId23"/>
    <p:sldId id="549" r:id="rId24"/>
    <p:sldId id="550" r:id="rId25"/>
    <p:sldId id="551" r:id="rId26"/>
    <p:sldId id="552" r:id="rId27"/>
    <p:sldId id="556" r:id="rId28"/>
    <p:sldId id="501" r:id="rId29"/>
    <p:sldId id="532" r:id="rId30"/>
    <p:sldId id="533" r:id="rId31"/>
  </p:sldIdLst>
  <p:sldSz cx="12192000" cy="6858000"/>
  <p:notesSz cx="6858000" cy="9144000"/>
  <p:embeddedFontLst>
    <p:embeddedFont>
      <p:font typeface="Lato" panose="020F0502020204030203" pitchFamily="34" charset="0"/>
      <p:regular r:id="rId33"/>
      <p:bold r:id="rId34"/>
      <p:italic r:id="rId35"/>
      <p:boldItalic r:id="rId36"/>
    </p:embeddedFont>
    <p:embeddedFont>
      <p:font typeface="Poppins" panose="000005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7D73B1-D5A9-4F53-807C-3F0FB7F1D161}">
  <a:tblStyle styleId="{307D73B1-D5A9-4F53-807C-3F0FB7F1D16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A2C32-E561-485D-1707-3A638941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5D65076-7CFC-9500-6978-B4F21CE07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69EDE71-9033-8CCF-106D-C6454A206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AD0187-D6D1-5412-CC23-CB59FAA60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5163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5CB09D97-F024-9AEC-0573-398A7293F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>
            <a:extLst>
              <a:ext uri="{FF2B5EF4-FFF2-40B4-BE49-F238E27FC236}">
                <a16:creationId xmlns:a16="http://schemas.microsoft.com/office/drawing/2014/main" id="{5F0C1CDF-35FF-92C7-2605-6FDEDA69B7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9:notes">
            <a:extLst>
              <a:ext uri="{FF2B5EF4-FFF2-40B4-BE49-F238E27FC236}">
                <a16:creationId xmlns:a16="http://schemas.microsoft.com/office/drawing/2014/main" id="{BFDC9FF3-2D61-71E2-7D7A-CA320C0C1D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54580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3BCB3-E116-7E25-0CC8-3E6F8E806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41ECE42-4ACF-9B5B-5A45-99915F7AE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CCA889-3BB7-F501-1AF2-0AF23B9BC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ABD1B5-BA41-D622-FC80-54F0EE0C8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29811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3BCB3-E116-7E25-0CC8-3E6F8E806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41ECE42-4ACF-9B5B-5A45-99915F7AE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CCA889-3BB7-F501-1AF2-0AF23B9BC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ABD1B5-BA41-D622-FC80-54F0EE0C8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00662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3BCB3-E116-7E25-0CC8-3E6F8E806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41ECE42-4ACF-9B5B-5A45-99915F7AE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CCA889-3BB7-F501-1AF2-0AF23B9BC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ABD1B5-BA41-D622-FC80-54F0EE0C8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30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7108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0.jp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6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1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1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1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1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1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.png"/><Relationship Id="rId7" Type="http://schemas.openxmlformats.org/officeDocument/2006/relationships/image" Target="../media/image1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10" Type="http://schemas.openxmlformats.org/officeDocument/2006/relationships/image" Target="../media/image130.png"/><Relationship Id="rId4" Type="http://schemas.openxmlformats.org/officeDocument/2006/relationships/image" Target="../media/image118.png"/><Relationship Id="rId9" Type="http://schemas.openxmlformats.org/officeDocument/2006/relationships/image" Target="../media/image1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10" Type="http://schemas.openxmlformats.org/officeDocument/2006/relationships/image" Target="../media/image141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Relationship Id="rId9" Type="http://schemas.openxmlformats.org/officeDocument/2006/relationships/image" Target="../media/image1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11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11" Type="http://schemas.openxmlformats.org/officeDocument/2006/relationships/image" Target="../media/image154.png"/><Relationship Id="rId5" Type="http://schemas.openxmlformats.org/officeDocument/2006/relationships/image" Target="../media/image150.png"/><Relationship Id="rId10" Type="http://schemas.openxmlformats.org/officeDocument/2006/relationships/image" Target="../media/image153.png"/><Relationship Id="rId4" Type="http://schemas.openxmlformats.org/officeDocument/2006/relationships/image" Target="../media/image14.png"/><Relationship Id="rId9" Type="http://schemas.openxmlformats.org/officeDocument/2006/relationships/image" Target="../media/image10.jp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55.png"/><Relationship Id="rId4" Type="http://schemas.openxmlformats.org/officeDocument/2006/relationships/image" Target="../media/image12.png"/><Relationship Id="rId9" Type="http://schemas.openxmlformats.org/officeDocument/2006/relationships/image" Target="../media/image10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6.pn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Contenido del Curso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905000" y="2125265"/>
            <a:ext cx="8953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Concepto de Relación Matemática: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Definición formal matemática entre conjuntos.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905000" y="2776686"/>
            <a:ext cx="8953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Relaciones Binarias Homogéneas: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Correspondencias establecidas estrictamente dentro de un mismo conjunto y productos cartesianos.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905000" y="3793777"/>
            <a:ext cx="8953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Análisis de Propiedades Fundamentales: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Comportamiento lógico de relaciones Reflexivas, Simétricas, Antisimétricas y Transitivas.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905000" y="4810869"/>
            <a:ext cx="8953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Casos de Estudio y Aplicaciones: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Evaluación exhaustiva y su uso en ciencias computacionales.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168128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2819548"/>
            <a:ext cx="3619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3836640"/>
            <a:ext cx="2190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4853731"/>
            <a:ext cx="3619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5619750" y="2485132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880473" y="2818507"/>
            <a:ext cx="8431053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Conceptos Fundamentales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2286000" y="3866257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Definiendo las bases matemáticas para el análisis de estructuras discretas.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95525"/>
            <a:ext cx="5143500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95525"/>
            <a:ext cx="5143500" cy="33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Relación Matemática vs. Relación Binaria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1162050" y="2695575"/>
            <a:ext cx="456057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Relación General (A × B)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162050" y="3238500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 relación es una regla que vincula elementos de un conjunto origen (A) con elementos de un conjunto destino (B).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162050" y="4343400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Formalmente: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un subconjunto del producto cartesiano (A × B). El orden es estricto: el par (a,b) no es lo mismo que (b,a).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686550" y="2695575"/>
            <a:ext cx="456057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47857"/>
                </a:solidFill>
                <a:latin typeface="Poppins"/>
                <a:ea typeface="Poppins"/>
                <a:cs typeface="Poppins"/>
                <a:sym typeface="Poppins"/>
              </a:rPr>
              <a:t>Relación Binaria (A × A)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686550" y="3238500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 un caso especial y fundamental donde la correspondencia se establece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dentro de un único conjunto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686550" y="4295775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el conjunto es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la relación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simplemente un subconjunto de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× 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Los elementos de A interactúan y se relacionan consigo mismos.</a:t>
            </a:r>
            <a:endParaRPr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62050" y="275272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86550" y="2752725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7ED6E-8004-8392-B195-5E1957493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23DB7C9-8553-1191-8EEC-515932D25A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Google Shape;115;p16" descr="image.png">
            <a:extLst>
              <a:ext uri="{FF2B5EF4-FFF2-40B4-BE49-F238E27FC236}">
                <a16:creationId xmlns:a16="http://schemas.microsoft.com/office/drawing/2014/main" id="{16A86F33-E294-9918-37DB-3F316EB050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1933" y="825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315ADAE-68EF-6094-8A28-10384BE903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980315-EFC9-FD0E-63A2-B4AD3F38B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17BD81D-388C-DB13-AA98-414F5A54B4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856B800-00E4-8AFB-E7D9-CB63E21B9E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8AA4E06-4F96-DCA9-F6DB-C2E60DCCE5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60ECD30-7B96-D1EC-5FD9-89FB453AE8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BAFDA4-31DD-5A97-2580-EEF14F4438F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5820" t="61" r="11153" b="89336"/>
          <a:stretch>
            <a:fillRect/>
          </a:stretch>
        </p:blipFill>
        <p:spPr>
          <a:xfrm>
            <a:off x="1925053" y="89916"/>
            <a:ext cx="8882240" cy="6906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6858D62-C4E6-DB42-3D8F-E3B9F592A31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3613" r="182" b="-313"/>
          <a:stretch>
            <a:fillRect/>
          </a:stretch>
        </p:blipFill>
        <p:spPr>
          <a:xfrm>
            <a:off x="-2382" y="721833"/>
            <a:ext cx="6098275" cy="28899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60477C-D76B-97E3-EFD6-4561C1B44B3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1263" y="715253"/>
            <a:ext cx="5916906" cy="28889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13874DD-A793-37DC-B6FC-19E67B9D7A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933" y="3746207"/>
            <a:ext cx="6074069" cy="28459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8D0A594-8314-D654-134C-5DBA43E6FA6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8114" y="3741693"/>
            <a:ext cx="5731295" cy="283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33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22946"/>
            <a:ext cx="3365450" cy="4069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622946"/>
            <a:ext cx="3365450" cy="4069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22946"/>
            <a:ext cx="3365450" cy="406995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¿Por qué analizamos sus propiedades?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1809750" y="1666875"/>
            <a:ext cx="857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Evaluar una relación binaria según sus propiedades matemáticas nos permite comprender profundamente su estructura y utilidad.</a:t>
            </a:r>
            <a:endParaRPr/>
          </a:p>
        </p:txBody>
      </p:sp>
      <p:pic>
        <p:nvPicPr>
          <p:cNvPr id="139" name="Google Shape;13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68474" y="272415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1154563" y="3777854"/>
            <a:ext cx="258032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Estructura</a:t>
            </a:r>
            <a:r>
              <a:rPr lang="en-US" sz="21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Lógica</a:t>
            </a:r>
            <a:endParaRPr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1057274" y="4244460"/>
            <a:ext cx="277490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propiedades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permiten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predecir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comportamiento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estricto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elementos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cómo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interactúan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restricciones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dentro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matemático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subyacente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19675" y="272415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4639102" y="3797498"/>
            <a:ext cx="291364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Clasificación</a:t>
            </a:r>
            <a:r>
              <a:rPr lang="en-US" sz="21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Formal</a:t>
            </a:r>
            <a:endParaRPr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4716913" y="4177904"/>
            <a:ext cx="277490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Sirven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agrupar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relaciones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categorías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mayores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gran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utilidad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las "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Relaciones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Equivalencia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 o las "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Relaciones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Orden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Parcial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".</a:t>
            </a:r>
            <a:endParaRPr dirty="0"/>
          </a:p>
        </p:txBody>
      </p:sp>
      <p:pic>
        <p:nvPicPr>
          <p:cNvPr id="145" name="Google Shape;145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270875" y="272415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8636986" y="3777854"/>
            <a:ext cx="22202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Modelo </a:t>
            </a:r>
            <a:r>
              <a:rPr lang="en-US" sz="21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Gráfico</a:t>
            </a:r>
            <a:endParaRPr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8359674" y="4244460"/>
            <a:ext cx="277490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Características geométricas como la simetría o reflexividad determinan directamente la topología y forma visual al modelar la relación mediante grafos dirigidos.</a:t>
            </a:r>
            <a:endParaRPr/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216124" y="2971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38750" y="29718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489950" y="2971800"/>
            <a:ext cx="5143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0882" y="1666875"/>
            <a:ext cx="331023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164085"/>
            <a:ext cx="51435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164085"/>
            <a:ext cx="514350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Propiedad de Reflexividad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762000" y="259080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 relación es reflexiva si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todo elemento del conjunto A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está relacionado consigo mismo.</a:t>
            </a:r>
            <a:endParaRPr/>
          </a:p>
        </p:txBody>
      </p:sp>
      <p:pic>
        <p:nvPicPr>
          <p:cNvPr id="162" name="Google Shape;16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31407" y="1866900"/>
            <a:ext cx="252918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1162050" y="3564135"/>
            <a:ext cx="456057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47857"/>
                </a:solidFill>
                <a:latin typeface="Poppins"/>
                <a:ea typeface="Poppins"/>
                <a:cs typeface="Poppins"/>
                <a:sym typeface="Poppins"/>
              </a:rPr>
              <a:t>Sí es Reflexiva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162050" y="4107060"/>
            <a:ext cx="4343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= {1, 2, 3}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1162050" y="4554735"/>
            <a:ext cx="4343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Relación: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 = {(1,1), (2,2), (3,3), (1,2)}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162050" y="5050035"/>
            <a:ext cx="4343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Justificación: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Cumple con la propiedad rigurosamente porque para todos los elementos del conjunto A (el 1, el 2 y el 3), sus pares idénticos (x,x) existen dentro de la relación R.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686550" y="3564135"/>
            <a:ext cx="456057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No es Reflexiva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686550" y="4107060"/>
            <a:ext cx="4343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= {1, 2, 3}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686550" y="4554735"/>
            <a:ext cx="4343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Relación: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 = {(1,2), (2,1), (3,3)}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686550" y="5050035"/>
            <a:ext cx="4343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Justificación: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Falla estrepitosamente porque, aunque el par (3,3) está presente, faltan los pares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(1,1)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(2,2)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Basta que falte un solo elemento para anular la propiedad.</a:t>
            </a:r>
            <a:endParaRPr/>
          </a:p>
        </p:txBody>
      </p:sp>
      <p:pic>
        <p:nvPicPr>
          <p:cNvPr id="171" name="Google Shape;17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62050" y="362128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86550" y="3621285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499246"/>
            <a:ext cx="51435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499246"/>
            <a:ext cx="514350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Propiedad de Simetría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762000" y="2590800"/>
            <a:ext cx="10668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 relación es simétrica si cada vez que un elemento 'x' se relaciona con 'y',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entonces 'y' debe relacionarse de vuelta con 'x'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183" name="Google Shape;18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58356" y="1866900"/>
            <a:ext cx="4675286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1162050" y="3899296"/>
            <a:ext cx="456057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47857"/>
                </a:solidFill>
                <a:latin typeface="Poppins"/>
                <a:ea typeface="Poppins"/>
                <a:cs typeface="Poppins"/>
                <a:sym typeface="Poppins"/>
              </a:rPr>
              <a:t>Sí es Simétrica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1162050" y="4442221"/>
            <a:ext cx="4343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Relación: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 = {(1,2), (2,1), (3,3)}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1162050" y="4937521"/>
            <a:ext cx="4343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Justificación: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simétrica. El par bidireccional (1,2) tiene su correspondencia inversa exacta en (2,1). Además, el par (3,3) es simétrico respecto a sí mismo, por lo que no rompe la regla.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686550" y="3899296"/>
            <a:ext cx="456057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No es Simétrica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686550" y="4442221"/>
            <a:ext cx="4343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Relación: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 = {(1,2), (2,3), (3,3)}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686550" y="4937521"/>
            <a:ext cx="4343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Justificación: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No es simétrica. Aunque exista el par (1,2) en la relación R, la relación falla porque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falta su inverso simétrico (2,1)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Lo mismo ocurre con el par (2,3) al faltar el (3,2).</a:t>
            </a:r>
            <a:endParaRPr/>
          </a:p>
        </p:txBody>
      </p:sp>
      <p:pic>
        <p:nvPicPr>
          <p:cNvPr id="190" name="Google Shape;19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62050" y="3956446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86550" y="3956446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164085"/>
            <a:ext cx="5143500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164085"/>
            <a:ext cx="5143500" cy="33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Propiedad de Antisimetría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762000" y="259080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existen los vínculos de ida (x,y) y vuelta (y,x),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obligatoriamente x debe ser exactamente igual a y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202" name="Google Shape;20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02173" y="1866900"/>
            <a:ext cx="5987504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1162050" y="3564135"/>
            <a:ext cx="456057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47857"/>
                </a:solidFill>
                <a:latin typeface="Poppins"/>
                <a:ea typeface="Poppins"/>
                <a:cs typeface="Poppins"/>
                <a:sym typeface="Poppins"/>
              </a:rPr>
              <a:t>Sí es Antisimétrica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162050" y="4107060"/>
            <a:ext cx="4343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Ejemplo: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Relación "Menor o igual que" (≤)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162050" y="4602360"/>
            <a:ext cx="4343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 = {(1,2), (1,3), (2,3), (2,2)}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162050" y="4907160"/>
            <a:ext cx="4343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Justificación: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Cumple porque nunca tenemos un par (a,b) y su inverso (b,a) simultáneamente si 'a' y 'b' son diferentes. El único par bidireccional permitido es consigo mismo, como (2,2).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686550" y="3564135"/>
            <a:ext cx="456057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Aclaración Estructural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686550" y="4107060"/>
            <a:ext cx="4343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antisimetría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 es matemáticamente lo opuesto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la simetría.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686550" y="4859535"/>
            <a:ext cx="4343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 relación puede ser ambas simultáneamente (como la relación de Igualdad Estricta, "x=y"), o puede no cumplir con ninguna de las dos propiedades al mismo tiempo.</a:t>
            </a:r>
            <a:endParaRPr/>
          </a:p>
        </p:txBody>
      </p:sp>
      <p:pic>
        <p:nvPicPr>
          <p:cNvPr id="210" name="Google Shape;21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62050" y="362128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86550" y="3621285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196530"/>
            <a:ext cx="5143500" cy="3332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196530"/>
            <a:ext cx="5143500" cy="333228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Propiedad de Transitividad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762000" y="2623244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hay una conexión desde 'x' hasta 'y', y otra desde 'y' hasta 'z',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debe existir una conexión directa desde 'x' hasta 'z'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222" name="Google Shape;22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28738" y="1899344"/>
            <a:ext cx="7134373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1162050" y="3596580"/>
            <a:ext cx="456057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47857"/>
                </a:solidFill>
                <a:latin typeface="Poppins"/>
                <a:ea typeface="Poppins"/>
                <a:cs typeface="Poppins"/>
                <a:sym typeface="Poppins"/>
              </a:rPr>
              <a:t>Sí es Transitiva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162050" y="4139505"/>
            <a:ext cx="4343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Relación: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 = {(1,2), (2,3), (1,3)}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162050" y="4634805"/>
            <a:ext cx="4343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Justificación: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transitiva. Vemos que el elemento 1 conecta con el 2, y el 2 conecta con el 3. Para cumplir la propiedad, el "camino directo" (el puente) del 1 al 3 debe existir, y efectivamente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(1,3)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está presente.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686550" y="3596580"/>
            <a:ext cx="456057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No es Transitiva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686550" y="4139505"/>
            <a:ext cx="4343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Relación: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 = {(1,2), (2,3)}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686550" y="4634805"/>
            <a:ext cx="4343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Justificación: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Falla estrepitosamente. Aunque existe la ruta indirecta (del 1 pasamos al 2, y del 2 pasamos al 3), la relación falla porque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falta la conexión directa (1,3)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rompiendo la cadena lógica transitiva.</a:t>
            </a:r>
            <a:endParaRPr/>
          </a:p>
        </p:txBody>
      </p:sp>
      <p:pic>
        <p:nvPicPr>
          <p:cNvPr id="229" name="Google Shape;22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62050" y="365373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86550" y="3653730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762000" y="571500"/>
            <a:ext cx="11201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Caso de Estudio Analítico: "Relación de Divisibilidad"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762000" y="191452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771550" y="1302246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Definimos en el conjunto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= {2, 4, 8}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relación matemática "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x divide exactamente a y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".</a:t>
            </a:r>
            <a:endParaRPr/>
          </a:p>
        </p:txBody>
      </p:sp>
      <p:pic>
        <p:nvPicPr>
          <p:cNvPr id="239" name="Google Shape;23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685329"/>
            <a:ext cx="10421888" cy="4438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1" name="Google Shape;241;p22"/>
          <p:cNvGraphicFramePr/>
          <p:nvPr>
            <p:extLst>
              <p:ext uri="{D42A27DB-BD31-4B8C-83A1-F6EECF244321}">
                <p14:modId xmlns:p14="http://schemas.microsoft.com/office/powerpoint/2010/main" val="3845895736"/>
              </p:ext>
            </p:extLst>
          </p:nvPr>
        </p:nvGraphicFramePr>
        <p:xfrm>
          <a:off x="762000" y="2130475"/>
          <a:ext cx="10421888" cy="4601750"/>
        </p:xfrm>
        <a:graphic>
          <a:graphicData uri="http://schemas.openxmlformats.org/drawingml/2006/table">
            <a:tbl>
              <a:tblPr firstRow="1" bandRow="1">
                <a:noFill/>
                <a:tableStyleId>{307D73B1-D5A9-4F53-807C-3F0FB7F1D161}</a:tableStyleId>
              </a:tblPr>
              <a:tblGrid>
                <a:gridCol w="2078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2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Propiedad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 err="1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Evaluación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 err="1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Justificación</a:t>
                      </a:r>
                      <a:r>
                        <a:rPr lang="en-US" sz="1650" b="1" i="0" u="none" strike="noStrike" cap="none" dirty="0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sz="1650" b="1" i="0" u="none" strike="noStrike" cap="none" dirty="0" err="1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Lógica</a:t>
                      </a:r>
                      <a:r>
                        <a:rPr lang="en-US" sz="1650" b="1" i="0" u="none" strike="noStrike" cap="none" dirty="0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Formal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Reflexiva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SÍ CUMPLE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Todo número entero se divide exactamente a sí mismo. Por ende, los pares idénticos (2,2), (4,4) y (8,8) están presentes.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Simétrica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CUMPLE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 </a:t>
                      </a:r>
                      <a:r>
                        <a:rPr lang="en-US" sz="1425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número</a:t>
                      </a: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2 divide al 4 ((2,4) ∈ R), </a:t>
                      </a:r>
                      <a:r>
                        <a:rPr lang="en-US" sz="1425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pero</a:t>
                      </a: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25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</a:t>
                      </a: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25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número</a:t>
                      </a: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4 no divide al 2 </a:t>
                      </a:r>
                      <a:r>
                        <a:rPr lang="en-US" sz="1425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generando</a:t>
                      </a: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un </a:t>
                      </a:r>
                      <a:r>
                        <a:rPr lang="en-US" sz="1425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entero</a:t>
                      </a: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 El par </a:t>
                      </a:r>
                      <a:r>
                        <a:rPr lang="en-US" sz="1425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inverso</a:t>
                      </a: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(4,2) no </a:t>
                      </a:r>
                      <a:r>
                        <a:rPr lang="en-US" sz="1425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existe</a:t>
                      </a: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Antisimétrica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SÍ CUMPLE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 'a' divide a 'b' y 'b' divide a 'a', matemáticamente obligatoriamente a=b. No existen "ciclos divisibles" entre distintos.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Transitiva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SÍ CUMPLE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Mantiene</a:t>
                      </a: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la </a:t>
                      </a:r>
                      <a:r>
                        <a:rPr lang="en-US" sz="1425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cadena</a:t>
                      </a: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: Si 2 divide a 4, y a </a:t>
                      </a:r>
                      <a:r>
                        <a:rPr lang="en-US" sz="1425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</a:t>
                      </a: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25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vez</a:t>
                      </a: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4 divide a 8, </a:t>
                      </a:r>
                      <a:r>
                        <a:rPr lang="en-US" sz="1425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entonces</a:t>
                      </a: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25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</a:t>
                      </a: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2 divide al 8 </a:t>
                      </a:r>
                      <a:r>
                        <a:rPr lang="en-US" sz="1425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directamente</a:t>
                      </a: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((2,8) </a:t>
                      </a:r>
                      <a:r>
                        <a:rPr lang="en-US" sz="1425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está</a:t>
                      </a: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25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presente</a:t>
                      </a: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2" name="Google Shape;242;p22"/>
          <p:cNvSpPr/>
          <p:nvPr/>
        </p:nvSpPr>
        <p:spPr>
          <a:xfrm>
            <a:off x="766762" y="2871936"/>
            <a:ext cx="212571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2892474" y="2871936"/>
            <a:ext cx="16573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4549824" y="2871936"/>
            <a:ext cx="687541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766762" y="3855690"/>
            <a:ext cx="2125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2892474" y="3855690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4549824" y="3855690"/>
            <a:ext cx="68754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766762" y="4825157"/>
            <a:ext cx="2125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2892474" y="4825157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4549824" y="4825157"/>
            <a:ext cx="68754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766762" y="5794623"/>
            <a:ext cx="2125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2892474" y="5794623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4549824" y="5794623"/>
            <a:ext cx="68754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3365450" cy="4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1733550"/>
            <a:ext cx="3365450" cy="4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733550"/>
            <a:ext cx="3365450" cy="448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Aplicaciones en Ciencias Computacionales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68400" y="212407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1329511" y="3314700"/>
            <a:ext cx="223027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Bases de Datos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1057275" y="4000500"/>
            <a:ext cx="27749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 modelos relacionales (SQL) operan intrínsecamente sobre estos conjuntos, utilizando las relaciones matemáticas para conectar tablas, llaves foráneas y registros sin redundancia.</a:t>
            </a:r>
            <a:endParaRPr/>
          </a:p>
        </p:txBody>
      </p:sp>
      <p:pic>
        <p:nvPicPr>
          <p:cNvPr id="271" name="Google Shape;271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19601" y="212407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4825692" y="3314700"/>
            <a:ext cx="254031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Análisis de Redes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4708475" y="4000500"/>
            <a:ext cx="27749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Las amistades recíprocas en plataformas se modelan como relaciones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simétricas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mientras que las jerarquías o estructuras de "seguidores" se definen como grafos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antisimétricos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274" name="Google Shape;274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270801" y="212407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8296870" y="3314700"/>
            <a:ext cx="290036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Algoritmia Superior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8359675" y="4000500"/>
            <a:ext cx="27749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 algoritmos de ordenamiento en memoria dependen lógicamente de que las reglas de comparación aplicadas a los datos sean estrictamente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transitivas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antisimétricas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277" name="Google Shape;277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244625" y="23717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10101" y="23717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547026" y="2371725"/>
            <a:ext cx="4000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86025"/>
            <a:ext cx="5143500" cy="3901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86025"/>
            <a:ext cx="5143500" cy="390138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Verificando la Transitividad: Método Formal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762000" y="12858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762000" y="1590675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 forma completa y sin errores de verificar si una relación es transitiva es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revisar sistemáticamente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todos los "eslabones" o "cadenas" posibles.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114425" y="2838450"/>
            <a:ext cx="466058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La Regla a Comprobar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114425" y="3352800"/>
            <a:ext cx="44386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Debemos revisar exhaustivamente todo el conjunto de pares.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114425" y="4152900"/>
            <a:ext cx="44386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cada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 de la forma (x,y) y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cada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 de la forma (y,z) que existan en la relación, debemos exigir que el par puente o directo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(x,z)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también exista.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629400" y="2828925"/>
            <a:ext cx="468058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Configuración del Caso de Estudio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629400" y="371475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Sea el conjunto:</a:t>
            </a:r>
            <a:endParaRPr/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4114800"/>
            <a:ext cx="44577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6629400" y="481965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 la relación R definida por:</a:t>
            </a:r>
            <a:endParaRPr/>
          </a:p>
        </p:txBody>
      </p:sp>
      <p:pic>
        <p:nvPicPr>
          <p:cNvPr id="150" name="Google Shape;15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5219700"/>
            <a:ext cx="44577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6629400" y="5800725"/>
            <a:ext cx="44577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En la siguiente diapositiva someteremos este conjunto a la prueba.</a:t>
            </a:r>
            <a:endParaRPr/>
          </a:p>
        </p:txBody>
      </p:sp>
      <p:pic>
        <p:nvPicPr>
          <p:cNvPr id="152" name="Google Shape;15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14425" y="2895600"/>
            <a:ext cx="190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886075"/>
            <a:ext cx="2476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2475" y="4583162"/>
            <a:ext cx="10668000" cy="221739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Análisis del Ejemplo de Transitividad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762000" y="12858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762000" y="159067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Buscamos todas las cadenas continuas (x,y) y (y,z) dentro de R = {(1,2), (2,3), (1,3), (3,4), (2,4)}.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762000" y="2085975"/>
            <a:ext cx="10668000" cy="24305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p17"/>
          <p:cNvGraphicFramePr/>
          <p:nvPr/>
        </p:nvGraphicFramePr>
        <p:xfrm>
          <a:off x="762000" y="2085975"/>
          <a:ext cx="10658475" cy="2430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66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Eslabón Inicial (x,y)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Eslabón Final (y,z)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¿Está el par puente (x,z) en R?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(1,2)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(2,3)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¿Está (1,3)? </a:t>
                      </a: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Sí.</a:t>
                      </a:r>
                      <a:endParaRPr/>
                    </a:p>
                  </a:txBody>
                  <a:tcPr marL="2762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(1,2)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(2,4)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¿Está (1,4)? </a:t>
                      </a: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No.</a:t>
                      </a:r>
                      <a:endParaRPr/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(2,3)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(3,4)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¿Está (2,4)? </a:t>
                      </a: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Sí.</a:t>
                      </a:r>
                      <a:endParaRPr/>
                    </a:p>
                  </a:txBody>
                  <a:tcPr marL="2762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5" name="Google Shape;165;p17"/>
          <p:cNvSpPr txBox="1"/>
          <p:nvPr/>
        </p:nvSpPr>
        <p:spPr>
          <a:xfrm>
            <a:off x="1019175" y="5059412"/>
            <a:ext cx="1066133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Conclusión Final: No es Transitiva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019175" y="5526137"/>
            <a:ext cx="101536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Hemos encontrado un caso que rompe la regla algorítmica: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766762" y="2676525"/>
            <a:ext cx="266461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3431381" y="2676525"/>
            <a:ext cx="266461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6096000" y="2676525"/>
            <a:ext cx="532923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1190625" y="584805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304925" y="5848052"/>
            <a:ext cx="986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 pares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(1,2)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(2,4)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están en R.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190625" y="615285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304925" y="6152852"/>
            <a:ext cx="986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ser transitiva, el puente obligatorio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(1,4)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debería estar presente.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190625" y="645765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304925" y="6457652"/>
            <a:ext cx="986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Como no está, sentenciamos que la relación falla la propiedad.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766762" y="3294608"/>
            <a:ext cx="26646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3431381" y="3294608"/>
            <a:ext cx="26646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6096000" y="3294608"/>
            <a:ext cx="5329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766762" y="3898403"/>
            <a:ext cx="26646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431381" y="3898403"/>
            <a:ext cx="26646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6096000" y="3898403"/>
            <a:ext cx="5329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766762" y="4502199"/>
            <a:ext cx="26646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3431381" y="4502199"/>
            <a:ext cx="26646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6096000" y="4502199"/>
            <a:ext cx="5329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122241"/>
            <a:ext cx="1619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518445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2914650"/>
            <a:ext cx="1619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2914650"/>
            <a:ext cx="1619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518445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122241"/>
            <a:ext cx="1619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5910" y="1861244"/>
            <a:ext cx="5094089" cy="4154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008039"/>
            <a:ext cx="519291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665315"/>
            <a:ext cx="5103911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5910" y="4166294"/>
            <a:ext cx="5094089" cy="853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5910" y="5162550"/>
            <a:ext cx="5094089" cy="85338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Dominio y Rango de una Relación</a:t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762000" y="12858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762000" y="1861244"/>
            <a:ext cx="545255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Dominio de R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762000" y="2375594"/>
            <a:ext cx="519291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Conjunto formado por los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primeros elementos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cada par ordenado.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762000" y="3656706"/>
            <a:ext cx="545255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Rango (o Imagen) de R</a:t>
            </a:r>
            <a:endParaRPr dirty="0"/>
          </a:p>
        </p:txBody>
      </p:sp>
      <p:sp>
        <p:nvSpPr>
          <p:cNvPr id="206" name="Google Shape;206;p18"/>
          <p:cNvSpPr txBox="1"/>
          <p:nvPr/>
        </p:nvSpPr>
        <p:spPr>
          <a:xfrm>
            <a:off x="762000" y="4021484"/>
            <a:ext cx="519291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Conjunto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formado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segundos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elementos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pares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ordenados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07" name="Google Shape;207;p18"/>
          <p:cNvSpPr txBox="1"/>
          <p:nvPr/>
        </p:nvSpPr>
        <p:spPr>
          <a:xfrm>
            <a:off x="6208558" y="1861244"/>
            <a:ext cx="53487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95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Ejemplo Práctico</a:t>
            </a:r>
            <a:endParaRPr/>
          </a:p>
        </p:txBody>
      </p:sp>
      <p:pic>
        <p:nvPicPr>
          <p:cNvPr id="208" name="Google Shape;208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35910" y="2423219"/>
            <a:ext cx="5094089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 txBox="1"/>
          <p:nvPr/>
        </p:nvSpPr>
        <p:spPr>
          <a:xfrm>
            <a:off x="6335910" y="3137594"/>
            <a:ext cx="509408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Relación:</a:t>
            </a:r>
            <a:endParaRPr/>
          </a:p>
        </p:txBody>
      </p:sp>
      <p:pic>
        <p:nvPicPr>
          <p:cNvPr id="210" name="Google Shape;210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35910" y="3585269"/>
            <a:ext cx="5094089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2025" y="3160439"/>
            <a:ext cx="479286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2025" y="4817715"/>
            <a:ext cx="4703861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563742" y="1918394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/>
          <p:nvPr/>
        </p:nvSpPr>
        <p:spPr>
          <a:xfrm>
            <a:off x="6488310" y="4318694"/>
            <a:ext cx="478928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Dominio: {1, 2, 3}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6488310" y="4623494"/>
            <a:ext cx="478928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(Elementos de A que participan como origen)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6488310" y="5314950"/>
            <a:ext cx="478928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Rango: {x, y}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6488310" y="5619750"/>
            <a:ext cx="478928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(Elementos de B que reciben relación. 'z' se omite).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681311"/>
            <a:ext cx="8572500" cy="3127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5190083"/>
            <a:ext cx="857250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40287" y="2767161"/>
            <a:ext cx="331142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1930479" y="153590"/>
            <a:ext cx="833104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Conjunto Relativo de un Elemento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2735579" y="1105942"/>
            <a:ext cx="7100888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Dada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relación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 entre A y B, y un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elemento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partida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x ∈ A...</a:t>
            </a:r>
            <a:endParaRPr dirty="0"/>
          </a:p>
        </p:txBody>
      </p:sp>
      <p:sp>
        <p:nvSpPr>
          <p:cNvPr id="228" name="Google Shape;228;p19"/>
          <p:cNvSpPr txBox="1"/>
          <p:nvPr/>
        </p:nvSpPr>
        <p:spPr>
          <a:xfrm>
            <a:off x="2095500" y="2157561"/>
            <a:ext cx="8001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Definición Formal de R(x)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2286000" y="3662511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 el conjunto formado por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todos los elementos de B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que están directamente relacionados con el elemento x específico.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2295525" y="5437733"/>
            <a:ext cx="798099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Intuición Práctica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2295525" y="5847308"/>
            <a:ext cx="7600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Piensa en R(x) como la respuesta a la pregunta: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"Si estoy ubicado en el nodo de partida 'x', ¿a qué nodos de llegada exactos puedo viajar?"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232" name="Google Shape;23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30812" y="2967186"/>
            <a:ext cx="25303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95525" y="5485358"/>
            <a:ext cx="16192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90675"/>
            <a:ext cx="106680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391025"/>
            <a:ext cx="2524125" cy="1996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76625" y="4391025"/>
            <a:ext cx="2524125" cy="1996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4391025"/>
            <a:ext cx="2524125" cy="1996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05875" y="4391025"/>
            <a:ext cx="2524125" cy="1996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06063" y="5715000"/>
            <a:ext cx="956518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83655" y="5715000"/>
            <a:ext cx="63073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198280" y="5715000"/>
            <a:ext cx="63073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912905" y="5715000"/>
            <a:ext cx="630733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Ejemplo: Calculando Conjuntos Relativos</a:t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762000" y="12858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495300" y="3781425"/>
            <a:ext cx="112014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Extracción de R(nodo)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1152525" y="1838325"/>
            <a:ext cx="9886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Sean los conjuntos: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= {a, b, c, d} | B = {x, y, z}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1152525" y="2238375"/>
            <a:ext cx="9886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 la relación:</a:t>
            </a:r>
            <a:endParaRPr/>
          </a:p>
        </p:txBody>
      </p:sp>
      <p:pic>
        <p:nvPicPr>
          <p:cNvPr id="253" name="Google Shape;253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52525" y="2638425"/>
            <a:ext cx="98869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 txBox="1"/>
          <p:nvPr/>
        </p:nvSpPr>
        <p:spPr>
          <a:xfrm>
            <a:off x="1769030" y="4686300"/>
            <a:ext cx="51006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R(a)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1414462" y="5095875"/>
            <a:ext cx="12192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Conectados con 'a'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4483655" y="4686300"/>
            <a:ext cx="51006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R(b)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4119562" y="5095875"/>
            <a:ext cx="12382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Conectados con 'b'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7203281" y="4686300"/>
            <a:ext cx="5000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R(c)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6843712" y="5095875"/>
            <a:ext cx="12192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Conectados con 'c'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9912905" y="4686300"/>
            <a:ext cx="51006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R(d)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9548812" y="5095875"/>
            <a:ext cx="12382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Conectados con 'd'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1675953"/>
            <a:ext cx="9525000" cy="2395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4357241"/>
            <a:ext cx="952500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54474" y="2618928"/>
            <a:ext cx="4882901" cy="528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28775" y="5862191"/>
            <a:ext cx="89344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/>
        </p:nvSpPr>
        <p:spPr>
          <a:xfrm>
            <a:off x="1515427" y="148232"/>
            <a:ext cx="916114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Conjunto Relativo de un Subconjunto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3095625" y="1024532"/>
            <a:ext cx="6191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Dado un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subconjunto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A1 ⊆ A,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analizamos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proyección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B.</a:t>
            </a:r>
            <a:endParaRPr dirty="0"/>
          </a:p>
        </p:txBody>
      </p:sp>
      <p:sp>
        <p:nvSpPr>
          <p:cNvPr id="273" name="Google Shape;273;p21"/>
          <p:cNvSpPr txBox="1"/>
          <p:nvPr/>
        </p:nvSpPr>
        <p:spPr>
          <a:xfrm>
            <a:off x="1495425" y="2056953"/>
            <a:ext cx="92011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Definición Formal de R(A1)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1714500" y="3385691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Contiene todos los elementos de B que están relacionados con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algún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elemento perteneciente al grupo A1.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1628775" y="4652516"/>
            <a:ext cx="938117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Propiedad Fundamental (Unión)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1628775" y="5109716"/>
            <a:ext cx="8934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conjunto relativo de un grupo es simplemente la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unión matemática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los conjuntos relativos individuales de sus miembros.</a:t>
            </a:r>
            <a:endParaRPr/>
          </a:p>
        </p:txBody>
      </p:sp>
      <p:pic>
        <p:nvPicPr>
          <p:cNvPr id="277" name="Google Shape;277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949749" y="2771328"/>
            <a:ext cx="4292351" cy="223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28775" y="4700141"/>
            <a:ext cx="23812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5420"/>
            <a:ext cx="5381625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93591"/>
            <a:ext cx="5381625" cy="1706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303115"/>
            <a:ext cx="5381625" cy="839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3285976"/>
            <a:ext cx="5381625" cy="839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38875" y="4268837"/>
            <a:ext cx="5381625" cy="109894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95275" y="428625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Ejemplo y Propiedades de R(A1)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1343025"/>
            <a:ext cx="565070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Ejemplo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71500" y="1885950"/>
            <a:ext cx="5381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Usando la misma relación anterior: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71500" y="3013620"/>
            <a:ext cx="5381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Sea el subconjunto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A1 = {a, b}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238875" y="1343025"/>
            <a:ext cx="565070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Propiedades Importantes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238875" y="1885950"/>
            <a:ext cx="5381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cualquier par de subconjuntos A1, A2 ⊆ A, se cumple:</a:t>
            </a:r>
            <a:endParaRPr/>
          </a:p>
        </p:txBody>
      </p:sp>
      <p:pic>
        <p:nvPicPr>
          <p:cNvPr id="97" name="Google Shape;97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3900" y="2327820"/>
            <a:ext cx="50768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819150" y="3693616"/>
            <a:ext cx="513064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Calculando R(A1):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819150" y="4074616"/>
            <a:ext cx="4886325" cy="9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R(A1) = R(a) ∪ R(b)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= {x, y} ∪ {y}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= {x, y}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438900" y="2455515"/>
            <a:ext cx="4981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 Si A1 ⊆ A2 ⇒ R(A1) ⊆ R(A2)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6438900" y="2731740"/>
            <a:ext cx="4981575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Si un conjunto es más pequeño, su imagen también lo será.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6438900" y="3438376"/>
            <a:ext cx="4981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2. R(A1 ∪ A2) = R(A1) ∪ R(A2)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6438900" y="3714601"/>
            <a:ext cx="4981575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La imagen de la unión es la unión de las imágenes.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6438900" y="4421237"/>
            <a:ext cx="4981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3. R(A1 ∩ A2) ⊆ R(A1) ∩ R(A2)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6438900" y="4697462"/>
            <a:ext cx="498157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La imagen de la intersección está contenida en la intersección de las imágenes (no siempre es igual).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43025"/>
            <a:ext cx="11049000" cy="1352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6758" y="3763267"/>
            <a:ext cx="110490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6758" y="5553967"/>
            <a:ext cx="11049000" cy="1297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60502" y="1971675"/>
            <a:ext cx="3670845" cy="429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4408" y="4249042"/>
            <a:ext cx="10553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4408" y="4649092"/>
            <a:ext cx="105537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295275" y="428625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Demostración de Propiedad (Contención)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590550" y="2857946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Planteamiento del Ejemplo: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590550" y="3277046"/>
            <a:ext cx="11049000" cy="58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Usaremos la relación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 = {(a,x), (a,y), (b,y), (c,z), (d,x)}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tomaremos dos subconjuntos donde uno contiene al otro para verificar la propiedad.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555307" y="1543050"/>
            <a:ext cx="110813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Propiedad a Demostrar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974408" y="3963292"/>
            <a:ext cx="1108138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Tomemos los subconjuntos: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974408" y="5753992"/>
            <a:ext cx="1108138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Verifiquemos la condición inicial: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974408" y="5992117"/>
            <a:ext cx="10553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Para que la propiedad aplique, primero debemos asegurar que A1 ⊆ A2.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974408" y="6361658"/>
            <a:ext cx="10553700" cy="7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47857"/>
                </a:solidFill>
                <a:latin typeface="Lato"/>
                <a:ea typeface="Lato"/>
                <a:cs typeface="Lato"/>
                <a:sym typeface="Lato"/>
              </a:rPr>
              <a:t>Como todos los elementos de A1 (que es solo 'a') están en A2, la condición {a} ⊆ {a, b} se cumple.</a:t>
            </a:r>
            <a:endParaRPr/>
          </a:p>
        </p:txBody>
      </p:sp>
      <p:pic>
        <p:nvPicPr>
          <p:cNvPr id="126" name="Google Shape;126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98627" y="2085975"/>
            <a:ext cx="3194595" cy="200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4408" y="6418808"/>
            <a:ext cx="1619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89720"/>
            <a:ext cx="11049000" cy="1455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25962"/>
            <a:ext cx="11049000" cy="222483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295275" y="428625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Demostración de Propiedad (Contención)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571500" y="1343025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Desarrollo del Ejemplo: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571500" y="1762125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Continuando con los subconjuntos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A1 = {a}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A2 = {a, b}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ahora calculamos sus imágenes.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819150" y="2489745"/>
            <a:ext cx="1108138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Calculemos los conjuntos relativos: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19150" y="2870745"/>
            <a:ext cx="105537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Para A1: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R(A1)</a:t>
            </a:r>
            <a:r>
              <a:rPr lang="en-US" sz="1425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= R(a) = </a:t>
            </a:r>
            <a:r>
              <a:rPr lang="en-US" sz="1425" b="1" i="0" u="none" strike="noStrike" cap="non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{x, y}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19150" y="3255466"/>
            <a:ext cx="105537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Para A2: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R(A2)</a:t>
            </a:r>
            <a:r>
              <a:rPr lang="en-US" sz="1425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= R(a) ∪ R(b) = {x, y} ∪ {y} = </a:t>
            </a:r>
            <a:r>
              <a:rPr lang="en-US" sz="1425" b="1" i="0" u="none" strike="noStrike" cap="non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{x, y}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819150" y="4325987"/>
            <a:ext cx="1108138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47857"/>
                </a:solidFill>
                <a:latin typeface="Poppins"/>
                <a:ea typeface="Poppins"/>
                <a:cs typeface="Poppins"/>
                <a:sym typeface="Poppins"/>
              </a:rPr>
              <a:t>4. Verifiquemos la conclusión de la propiedad: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819150" y="4659362"/>
            <a:ext cx="10553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propiedad dice que R(A1) debe estar contenido en R(A2).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819150" y="5076527"/>
            <a:ext cx="105537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R(A1) = {x, y}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19150" y="5413623"/>
            <a:ext cx="105537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R(A2) = {x, y}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819150" y="5845968"/>
            <a:ext cx="10553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cumple que {x, y} ⊆ {x, y}. La propiedad es válida.</a:t>
            </a:r>
            <a:endParaRPr/>
          </a:p>
        </p:txBody>
      </p:sp>
      <p:pic>
        <p:nvPicPr>
          <p:cNvPr id="147" name="Google Shape;14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5912643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43025"/>
            <a:ext cx="11049000" cy="1105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905797"/>
            <a:ext cx="11049000" cy="88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6971" y="1905000"/>
            <a:ext cx="3497907" cy="295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953196"/>
            <a:ext cx="5429250" cy="276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91250" y="2953196"/>
            <a:ext cx="5429250" cy="27621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295275" y="428625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Demostración de Propiedad (Unión)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571500" y="2686496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 de Verificación: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455294" y="1495425"/>
            <a:ext cx="1128141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Propiedad (b)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455294" y="6058197"/>
            <a:ext cx="1128141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47857"/>
                </a:solidFill>
                <a:latin typeface="Poppins"/>
                <a:ea typeface="Poppins"/>
                <a:cs typeface="Poppins"/>
                <a:sym typeface="Poppins"/>
              </a:rPr>
              <a:t>4. Conclusión: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723900" y="6343947"/>
            <a:ext cx="107442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Ambos lados de la ecuación dan como resultado {x, y, z}. La propiedad es válida.</a:t>
            </a:r>
            <a:endParaRPr/>
          </a:p>
        </p:txBody>
      </p:sp>
      <p:pic>
        <p:nvPicPr>
          <p:cNvPr id="164" name="Google Shape;16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94596" y="1962150"/>
            <a:ext cx="3402657" cy="19094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771525" y="3153221"/>
            <a:ext cx="528066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Tomemos dos subconjuntos: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771525" y="3505646"/>
            <a:ext cx="5029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A1 = {a} ⇒ R(A1) = {x, y}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771525" y="3827561"/>
            <a:ext cx="5029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A2 = {c} ⇒ R(A2) = {z}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771525" y="4292351"/>
            <a:ext cx="528066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Calculemos el lado izquierdo de la ecuación: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771525" y="4644776"/>
            <a:ext cx="5029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A1 ∪ A2 = {a, c}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771525" y="4966692"/>
            <a:ext cx="50292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R(A1 ∪ A2) = R(a) ∪ R(c)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= {x, y} ∪ {z} = </a:t>
            </a:r>
            <a:r>
              <a:rPr lang="en-US" sz="1350" b="1" i="0" u="none" strike="noStrike" cap="non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{x, y, z}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6391275" y="3153221"/>
            <a:ext cx="528066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Calculemos el lado derecho de la ecuación: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6391275" y="3505646"/>
            <a:ext cx="5029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R(A1) ∪ R(A2) = {x, y} ∪ {z}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6391275" y="3875186"/>
            <a:ext cx="5029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1350" b="1" i="0" u="none" strike="noStrike" cap="non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{x, y, z}</a:t>
            </a:r>
            <a:endParaRPr/>
          </a:p>
        </p:txBody>
      </p:sp>
      <p:pic>
        <p:nvPicPr>
          <p:cNvPr id="174" name="Google Shape;174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781300" y="6401097"/>
            <a:ext cx="1619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43025"/>
            <a:ext cx="11049000" cy="1105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5" y="5649217"/>
            <a:ext cx="11049000" cy="1217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0572" y="1905000"/>
            <a:ext cx="3510855" cy="295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105596"/>
            <a:ext cx="5429250" cy="2487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91250" y="3105596"/>
            <a:ext cx="5429250" cy="248781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295275" y="428625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Demostración de Propiedad (Intersección)</a:t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571500" y="2686496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 de Verificación: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455294" y="1495425"/>
            <a:ext cx="1128141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Propiedad (c)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407669" y="5801617"/>
            <a:ext cx="1128141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47857"/>
                </a:solidFill>
                <a:latin typeface="Poppins"/>
                <a:ea typeface="Poppins"/>
                <a:cs typeface="Poppins"/>
                <a:sym typeface="Poppins"/>
              </a:rPr>
              <a:t>4. Verifiquemos la propiedad: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676275" y="6087367"/>
            <a:ext cx="107442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Comparamos ambos resultados y vemos si se cumple la contención: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676275" y="6424463"/>
            <a:ext cx="107442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¿Es {y} ⊆ {y}? Sí. La propiedad es válida.</a:t>
            </a:r>
            <a:endParaRPr/>
          </a:p>
        </p:txBody>
      </p:sp>
      <p:pic>
        <p:nvPicPr>
          <p:cNvPr id="192" name="Google Shape;19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88197" y="1952625"/>
            <a:ext cx="3415605" cy="20047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 txBox="1"/>
          <p:nvPr/>
        </p:nvSpPr>
        <p:spPr>
          <a:xfrm>
            <a:off x="771525" y="3305621"/>
            <a:ext cx="528066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Tomemos dos subconjuntos: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771525" y="3658046"/>
            <a:ext cx="5029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A1 = {a, b} ⇒ R(A1) = {x, y}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771525" y="3979961"/>
            <a:ext cx="5029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A2 = {b, c} ⇒ R(A2) = {y, z}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771525" y="4444751"/>
            <a:ext cx="528066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Calculemos el lado izquierdo: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771525" y="4797176"/>
            <a:ext cx="5029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A1 ∩ A2 = {b}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771525" y="5119092"/>
            <a:ext cx="5029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R(A1 ∩ A2) = R(b) = </a:t>
            </a:r>
            <a:r>
              <a:rPr lang="en-US" sz="1350" b="1" i="0" u="none" strike="noStrike" cap="non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{y}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6391275" y="3305621"/>
            <a:ext cx="528066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Calculemos el lado derecho: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6391275" y="3658046"/>
            <a:ext cx="5029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R(A1) ∩ R(A2) = {x, y} ∩ {y, z}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6391275" y="4027586"/>
            <a:ext cx="5029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1350" b="1" i="0" u="none" strike="noStrike" cap="non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{y}</a:t>
            </a:r>
            <a:endParaRPr/>
          </a:p>
        </p:txBody>
      </p:sp>
      <p:pic>
        <p:nvPicPr>
          <p:cNvPr id="202" name="Google Shape;202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43400" y="6481613"/>
            <a:ext cx="1619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25277"/>
            <a:ext cx="11049000" cy="1217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32894"/>
            <a:ext cx="11049000" cy="1217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40510"/>
            <a:ext cx="11049000" cy="1217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848126"/>
            <a:ext cx="11049000" cy="88374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295275" y="428625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Relaciones de Orden Parcial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571500" y="1097682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 relación de orden parcial en un conjunto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una relación binaria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 ⊆ A × 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que cumple con tres propiedades fundamentales: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819150" y="1777677"/>
            <a:ext cx="110813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1. Reflexiva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819150" y="2111052"/>
            <a:ext cx="105537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todo elemento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∈ 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se cumple que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R 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(Todo elemento está relacionado consigo mismo).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819150" y="3185294"/>
            <a:ext cx="110813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2. Antisimétrica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819150" y="3518669"/>
            <a:ext cx="105537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R b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 R 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entonces necesariamente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= b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(Si dos elementos distintos están relacionados, no pueden estarlo en la dirección opuesta).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819150" y="4592910"/>
            <a:ext cx="110813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3. Transitiva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819150" y="4926285"/>
            <a:ext cx="105537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R b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 R c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entonces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R c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(Si se puede ir de 'a' a 'b' y de 'b' a 'c', se puede ir directamente de 'a' a 'c').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723900" y="6000526"/>
            <a:ext cx="107442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47857"/>
                </a:solidFill>
                <a:latin typeface="Lato"/>
                <a:ea typeface="Lato"/>
                <a:cs typeface="Lato"/>
                <a:sym typeface="Lato"/>
              </a:rPr>
              <a:t>Si una relación cumple estas tres propiedades, se dice que es un orden parcial sobre A, y el conjunto junto con la relación se denota como (A, R).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23975"/>
            <a:ext cx="11049000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62250"/>
            <a:ext cx="11049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95775"/>
            <a:ext cx="11049000" cy="1683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1857375"/>
            <a:ext cx="105537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67920" y="3390900"/>
            <a:ext cx="165601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150" y="5246340"/>
            <a:ext cx="1055370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295275" y="428625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Ejemplo: Relación de "Menor o Igual que"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571500" y="6313140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Ahora, vamos a verificar si esta relación </a:t>
            </a: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cumple las tres propiedades para ser un orden parcial.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819150" y="1524000"/>
            <a:ext cx="1108138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Sea el conjunto: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555307" y="3009900"/>
            <a:ext cx="1108138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Definimos la relación R sobre A como: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819150" y="4495800"/>
            <a:ext cx="1108138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Entonces, los pares ordenados que pertenecen a R son: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819150" y="4829175"/>
            <a:ext cx="10553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Buscamos todos los pares (a, b) con a, b ∈ A donde el primer elemento es menor o igual que el segundo.</a:t>
            </a:r>
            <a:endParaRPr/>
          </a:p>
        </p:txBody>
      </p:sp>
      <p:pic>
        <p:nvPicPr>
          <p:cNvPr id="238" name="Google Shape;238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363170" y="3505200"/>
            <a:ext cx="146551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23975"/>
            <a:ext cx="11049000" cy="48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45940"/>
            <a:ext cx="11049000" cy="222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20555"/>
            <a:ext cx="11049000" cy="2491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3308895"/>
            <a:ext cx="104584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 txBox="1"/>
          <p:nvPr/>
        </p:nvSpPr>
        <p:spPr>
          <a:xfrm>
            <a:off x="295275" y="428625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Verificamos las Propiedades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676275" y="1428750"/>
            <a:ext cx="10839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Recordemos: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= {1, 2, 3}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 = {(1,1), (1,2), (1,3), (2,2), (2,3), (3,3)}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866775" y="2198340"/>
            <a:ext cx="109813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47857"/>
                </a:solidFill>
                <a:latin typeface="Poppins"/>
                <a:ea typeface="Poppins"/>
                <a:cs typeface="Poppins"/>
                <a:sym typeface="Poppins"/>
              </a:rPr>
              <a:t>1. ¿Es Reflexiva?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866775" y="2569815"/>
            <a:ext cx="10458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Debemos verificar que para todo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∈ A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el par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(a, a)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está en R.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866775" y="2939355"/>
            <a:ext cx="10458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A = {1, 2, 3}, necesitamos los pares (1,1), (2,2) y (3,3).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866775" y="3832770"/>
            <a:ext cx="104584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Sí, todos los pares necesarios están. La relación es reflexiva.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866775" y="4472955"/>
            <a:ext cx="109813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47857"/>
                </a:solidFill>
                <a:latin typeface="Poppins"/>
                <a:ea typeface="Poppins"/>
                <a:cs typeface="Poppins"/>
                <a:sym typeface="Poppins"/>
              </a:rPr>
              <a:t>2. ¿Es Antisimétrica?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866775" y="4844430"/>
            <a:ext cx="10458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Debemos verificar que si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(a, b) ∈ R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(b, a) ∈ R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entonces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= b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866775" y="5213970"/>
            <a:ext cx="10458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Esto significa que no puede haber un par y su inverso, a menos que los elementos sean iguales (como en (1,1)).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866775" y="5583510"/>
            <a:ext cx="10458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 ejemplo, tenemos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(1,2) ∈ R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Para que sea antisimétrica, el par inverso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(2,1) NO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debe estar en R. Y efectivamente, no está.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866775" y="5953051"/>
            <a:ext cx="10458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 mismo ocurre con (1,3) y (2,3). Sus inversos no están en R.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866775" y="6370216"/>
            <a:ext cx="104584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Sí, la propiedad se cumple. La relación es antisimétrica.</a:t>
            </a:r>
            <a:endParaRPr/>
          </a:p>
        </p:txBody>
      </p:sp>
      <p:pic>
        <p:nvPicPr>
          <p:cNvPr id="260" name="Google Shape;26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3889920"/>
            <a:ext cx="1619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6775" y="6427366"/>
            <a:ext cx="1619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23975"/>
            <a:ext cx="11049000" cy="48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45940"/>
            <a:ext cx="11049000" cy="3148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4143226"/>
            <a:ext cx="104584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/>
        </p:nvSpPr>
        <p:spPr>
          <a:xfrm>
            <a:off x="295275" y="428625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Verificamos las Propiedades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676275" y="1428750"/>
            <a:ext cx="10839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Recordemos: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= {1, 2, 3}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 = {(1,1), (1,2), (1,3), (2,2), (2,3), (3,3)}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866775" y="2245965"/>
            <a:ext cx="109813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47857"/>
                </a:solidFill>
                <a:latin typeface="Poppins"/>
                <a:ea typeface="Poppins"/>
                <a:cs typeface="Poppins"/>
                <a:sym typeface="Poppins"/>
              </a:rPr>
              <a:t>3. ¿Es Transitiva?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866775" y="2665065"/>
            <a:ext cx="10458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Debemos verificar que si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(a, b) ∈ R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(b, c) ∈ R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entonces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(a, c) ∈ R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866775" y="3034605"/>
            <a:ext cx="10458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Tenemos que revisar todas las "cadenas" posibles. La más clara es: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866775" y="3404145"/>
            <a:ext cx="10458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Tenemos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(1, 2) ∈ R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(2, 3) ∈ R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866775" y="3773685"/>
            <a:ext cx="10458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propiedad requiere que el par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(1, 3)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también esté en R.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866775" y="4705201"/>
            <a:ext cx="104584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Sí, el par (1,3) está. La relación es transitiva. (Se puede verificar que no hay otras cadenas que fallen).</a:t>
            </a:r>
            <a:endParaRPr/>
          </a:p>
        </p:txBody>
      </p:sp>
      <p:pic>
        <p:nvPicPr>
          <p:cNvPr id="282" name="Google Shape;28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4762351"/>
            <a:ext cx="1619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96BA507C-354A-DEB2-0313-E8C6B967A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1" descr="image.png">
            <a:extLst>
              <a:ext uri="{FF2B5EF4-FFF2-40B4-BE49-F238E27FC236}">
                <a16:creationId xmlns:a16="http://schemas.microsoft.com/office/drawing/2014/main" id="{02A8C1C9-A423-0907-DFB7-D283199285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 descr="image.png">
            <a:extLst>
              <a:ext uri="{FF2B5EF4-FFF2-40B4-BE49-F238E27FC236}">
                <a16:creationId xmlns:a16="http://schemas.microsoft.com/office/drawing/2014/main" id="{AF6E650C-BE6D-01E1-04A1-A023222ECAC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5325" y="1400175"/>
            <a:ext cx="11049000" cy="342855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>
            <a:extLst>
              <a:ext uri="{FF2B5EF4-FFF2-40B4-BE49-F238E27FC236}">
                <a16:creationId xmlns:a16="http://schemas.microsoft.com/office/drawing/2014/main" id="{C49AB8C6-9878-A2B7-E652-4F2F31861C73}"/>
              </a:ext>
            </a:extLst>
          </p:cNvPr>
          <p:cNvSpPr txBox="1"/>
          <p:nvPr/>
        </p:nvSpPr>
        <p:spPr>
          <a:xfrm>
            <a:off x="295275" y="428625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Verificamos las Propiedades</a:t>
            </a:r>
            <a:endParaRPr/>
          </a:p>
        </p:txBody>
      </p:sp>
      <p:sp>
        <p:nvSpPr>
          <p:cNvPr id="279" name="Google Shape;279;p21">
            <a:extLst>
              <a:ext uri="{FF2B5EF4-FFF2-40B4-BE49-F238E27FC236}">
                <a16:creationId xmlns:a16="http://schemas.microsoft.com/office/drawing/2014/main" id="{06EBA7C8-3212-890A-DA28-E2E92B3DDDEC}"/>
              </a:ext>
            </a:extLst>
          </p:cNvPr>
          <p:cNvSpPr txBox="1"/>
          <p:nvPr/>
        </p:nvSpPr>
        <p:spPr>
          <a:xfrm>
            <a:off x="679132" y="1647825"/>
            <a:ext cx="110813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Conclusión Final</a:t>
            </a:r>
            <a:endParaRPr/>
          </a:p>
        </p:txBody>
      </p:sp>
      <p:sp>
        <p:nvSpPr>
          <p:cNvPr id="280" name="Google Shape;280;p21">
            <a:extLst>
              <a:ext uri="{FF2B5EF4-FFF2-40B4-BE49-F238E27FC236}">
                <a16:creationId xmlns:a16="http://schemas.microsoft.com/office/drawing/2014/main" id="{7C97F381-5D42-E5E1-F750-8449647AD6B6}"/>
              </a:ext>
            </a:extLst>
          </p:cNvPr>
          <p:cNvSpPr txBox="1"/>
          <p:nvPr/>
        </p:nvSpPr>
        <p:spPr>
          <a:xfrm>
            <a:off x="942975" y="2190750"/>
            <a:ext cx="10553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relación R ("menor o igual que") sobre el conjunto A = {1, 2, 3} ha demostrado ser:</a:t>
            </a:r>
            <a:endParaRPr/>
          </a:p>
        </p:txBody>
      </p:sp>
      <p:sp>
        <p:nvSpPr>
          <p:cNvPr id="281" name="Google Shape;281;p21">
            <a:extLst>
              <a:ext uri="{FF2B5EF4-FFF2-40B4-BE49-F238E27FC236}">
                <a16:creationId xmlns:a16="http://schemas.microsoft.com/office/drawing/2014/main" id="{2A40EE20-2C77-A521-6CA1-BA8063CC16DE}"/>
              </a:ext>
            </a:extLst>
          </p:cNvPr>
          <p:cNvSpPr txBox="1"/>
          <p:nvPr/>
        </p:nvSpPr>
        <p:spPr>
          <a:xfrm>
            <a:off x="942975" y="4215408"/>
            <a:ext cx="105537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Por lo tanto, R es una relación de orden parcial.</a:t>
            </a:r>
            <a:endParaRPr/>
          </a:p>
        </p:txBody>
      </p:sp>
      <p:sp>
        <p:nvSpPr>
          <p:cNvPr id="283" name="Google Shape;283;p21">
            <a:extLst>
              <a:ext uri="{FF2B5EF4-FFF2-40B4-BE49-F238E27FC236}">
                <a16:creationId xmlns:a16="http://schemas.microsoft.com/office/drawing/2014/main" id="{E0B0B169-AB2A-C886-5C6A-8D86962217C5}"/>
              </a:ext>
            </a:extLst>
          </p:cNvPr>
          <p:cNvSpPr txBox="1"/>
          <p:nvPr/>
        </p:nvSpPr>
        <p:spPr>
          <a:xfrm>
            <a:off x="5729287" y="2781300"/>
            <a:ext cx="131445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Reflexiva</a:t>
            </a:r>
            <a:endParaRPr/>
          </a:p>
        </p:txBody>
      </p:sp>
      <p:sp>
        <p:nvSpPr>
          <p:cNvPr id="284" name="Google Shape;284;p21">
            <a:extLst>
              <a:ext uri="{FF2B5EF4-FFF2-40B4-BE49-F238E27FC236}">
                <a16:creationId xmlns:a16="http://schemas.microsoft.com/office/drawing/2014/main" id="{70D9F6DB-F5A4-B17D-0340-46D8C5FF5B3D}"/>
              </a:ext>
            </a:extLst>
          </p:cNvPr>
          <p:cNvSpPr txBox="1"/>
          <p:nvPr/>
        </p:nvSpPr>
        <p:spPr>
          <a:xfrm>
            <a:off x="5729287" y="3211711"/>
            <a:ext cx="131445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Antisimétrica</a:t>
            </a:r>
            <a:endParaRPr/>
          </a:p>
        </p:txBody>
      </p:sp>
      <p:sp>
        <p:nvSpPr>
          <p:cNvPr id="285" name="Google Shape;285;p21">
            <a:extLst>
              <a:ext uri="{FF2B5EF4-FFF2-40B4-BE49-F238E27FC236}">
                <a16:creationId xmlns:a16="http://schemas.microsoft.com/office/drawing/2014/main" id="{DAFB2EBF-390F-69D4-DF24-ACD60814D307}"/>
              </a:ext>
            </a:extLst>
          </p:cNvPr>
          <p:cNvSpPr txBox="1"/>
          <p:nvPr/>
        </p:nvSpPr>
        <p:spPr>
          <a:xfrm>
            <a:off x="5729287" y="3642122"/>
            <a:ext cx="131445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Transitiva</a:t>
            </a:r>
            <a:endParaRPr/>
          </a:p>
        </p:txBody>
      </p:sp>
      <p:pic>
        <p:nvPicPr>
          <p:cNvPr id="286" name="Google Shape;286;p21" descr="image.png">
            <a:extLst>
              <a:ext uri="{FF2B5EF4-FFF2-40B4-BE49-F238E27FC236}">
                <a16:creationId xmlns:a16="http://schemas.microsoft.com/office/drawing/2014/main" id="{7CB5FECC-C920-43E2-9AD3-69DAEA440D3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95912" y="282416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 descr="image.png">
            <a:extLst>
              <a:ext uri="{FF2B5EF4-FFF2-40B4-BE49-F238E27FC236}">
                <a16:creationId xmlns:a16="http://schemas.microsoft.com/office/drawing/2014/main" id="{D1C5DB30-6967-7AE8-2B68-6131417E0F6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95912" y="325457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1" descr="image.png">
            <a:extLst>
              <a:ext uri="{FF2B5EF4-FFF2-40B4-BE49-F238E27FC236}">
                <a16:creationId xmlns:a16="http://schemas.microsoft.com/office/drawing/2014/main" id="{B2FEFAAD-B4AC-0F95-AAD7-1E17EE1AAF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95912" y="368498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6175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2B10-AE58-FAAA-EACB-07137D401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2FE8D02-7894-454F-C65B-EEA504A61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318EDD1-D269-E8E3-4BBE-0A2598BF6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61EA2B4-E2F7-29CF-7A37-E46B005FF2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F6E4169-30AE-8052-6F7C-23A6F84E13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6B4D730-10D0-14A2-5793-B2D5EAD4F4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797976A-71DE-E7D2-F7BA-D820BA04CA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2A65955-0B01-E6CF-3710-2FC023D0AD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8CC5E4D-2868-6C0C-00CF-4718D4C4B2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0911" y="0"/>
            <a:ext cx="10085800" cy="544556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4396ECC-84BF-1840-8005-2210A785DC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5474" y="5445564"/>
            <a:ext cx="4751578" cy="139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934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2B10-AE58-FAAA-EACB-07137D401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2FE8D02-7894-454F-C65B-EEA504A61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D2E21BF-48C5-EDEA-6054-A7C69DF088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4845482-30DF-D5A3-4488-AED3981345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318EDD1-D269-E8E3-4BBE-0A2598BF6D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BCE9EC3-61CA-CD95-C7BE-466A2564C0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F6E4169-30AE-8052-6F7C-23A6F84E13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2A65955-0B01-E6CF-3710-2FC023D0AD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6C152DD-22C3-48DA-DA12-83871EF482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" y="12560"/>
            <a:ext cx="12191999" cy="676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39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2B10-AE58-FAAA-EACB-07137D401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DF6E4169-30AE-8052-6F7C-23A6F84E1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2A65955-0B01-E6CF-3710-2FC023D0AD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E07D5DA-73CA-6FEE-6769-1F18542AED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8817"/>
            <a:ext cx="12192000" cy="670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537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1076</TotalTime>
  <Words>3177</Words>
  <Application>Microsoft Office PowerPoint</Application>
  <PresentationFormat>Panorámica</PresentationFormat>
  <Paragraphs>259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Poppins</vt:lpstr>
      <vt:lpstr>Arial</vt:lpstr>
      <vt:lpstr>Lato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Sebastian Montoya Villada</dc:creator>
  <cp:lastModifiedBy>Sebastian Montoya Villada</cp:lastModifiedBy>
  <cp:revision>3</cp:revision>
  <dcterms:modified xsi:type="dcterms:W3CDTF">2026-04-10T14:07:08Z</dcterms:modified>
</cp:coreProperties>
</file>