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84" r:id="rId2"/>
    <p:sldId id="377" r:id="rId3"/>
    <p:sldId id="256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embeddedFontLst>
    <p:embeddedFont>
      <p:font typeface="Inter" panose="020B0604020202020204" charset="0"/>
      <p:regular r:id="rId32"/>
      <p:bold r:id="rId33"/>
      <p:italic r:id="rId34"/>
      <p:boldItalic r:id="rId35"/>
    </p:embeddedFont>
    <p:embeddedFont>
      <p:font typeface="Inter SemiBold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4" d="100"/>
          <a:sy n="104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0BC5-A544-B307-7189-38FE4013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AB9C63-850F-8FF5-E874-297A67022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54AE555-1FE4-C0BA-A51B-A48D85583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B28DA1-FE36-C834-1A37-ECE400CD6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59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633822e8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9633822e8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19" Type="http://schemas.openxmlformats.org/officeDocument/2006/relationships/image" Target="../media/image97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94.png"/><Relationship Id="rId3" Type="http://schemas.openxmlformats.org/officeDocument/2006/relationships/image" Target="../media/image99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83.png"/><Relationship Id="rId15" Type="http://schemas.openxmlformats.org/officeDocument/2006/relationships/image" Target="../media/image97.png"/><Relationship Id="rId10" Type="http://schemas.openxmlformats.org/officeDocument/2006/relationships/image" Target="../media/image105.png"/><Relationship Id="rId4" Type="http://schemas.openxmlformats.org/officeDocument/2006/relationships/image" Target="../media/image100.png"/><Relationship Id="rId9" Type="http://schemas.openxmlformats.org/officeDocument/2006/relationships/image" Target="../media/image104.png"/><Relationship Id="rId14" Type="http://schemas.openxmlformats.org/officeDocument/2006/relationships/image" Target="../media/image10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lt1"/>
              </a:buClr>
              <a:buSzPts val="5400"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11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44D3C-DA11-9D9E-2CF2-4B705E77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6054AD2-5278-C16C-B4A8-9B52471AD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55060BD-2CA7-9C86-F86A-1A169B8DA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00E3E0A-E453-E961-6DDD-79521E5FA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1CE538-90E9-984C-A954-6CB2457E06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7A5D50B-429E-CAA6-48E0-86B49674E2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79B688B-2A8D-8EF6-1EE8-C09D95D1E3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45479F3-EB7B-4BFC-1CE3-342A560F70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F448E25-A8D9-A4F4-B8A2-1431FA6C38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FFAAC1E-F043-4777-BFD2-099C4D6CD7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50655DE-03A5-907E-7FCA-B3AE80BFEB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F7557B9-0557-71A3-0075-7F7162324B12}"/>
              </a:ext>
            </a:extLst>
          </p:cNvPr>
          <p:cNvSpPr txBox="1"/>
          <p:nvPr/>
        </p:nvSpPr>
        <p:spPr>
          <a:xfrm>
            <a:off x="779190" y="1950831"/>
            <a:ext cx="1553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Contenido</a:t>
            </a:r>
            <a:endParaRPr lang="es-C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2F51173-B4C8-B6D9-4F91-0E63A0042D93}"/>
              </a:ext>
            </a:extLst>
          </p:cNvPr>
          <p:cNvSpPr txBox="1"/>
          <p:nvPr/>
        </p:nvSpPr>
        <p:spPr>
          <a:xfrm>
            <a:off x="779190" y="2474639"/>
            <a:ext cx="11283371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400" i="1" dirty="0">
                <a:ea typeface="+mn-lt"/>
                <a:cs typeface="+mn-lt"/>
              </a:rPr>
              <a:t>"Si en un grupo de amigos algunos juegan fútbol, otros practican ajedrez y algunos hacen ambas cosas, ¿cómo podríamos representar esta información?"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</a:pPr>
            <a:endParaRPr lang="es-ES" sz="2400" i="1" dirty="0">
              <a:ea typeface="+mn-lt"/>
              <a:cs typeface="+mn-lt"/>
            </a:endParaRPr>
          </a:p>
          <a:p>
            <a:r>
              <a:rPr lang="es-ES" sz="2400" b="1" dirty="0">
                <a:ea typeface="+mn-lt"/>
                <a:cs typeface="+mn-lt"/>
              </a:rPr>
              <a:t>Objetivo:</a:t>
            </a:r>
            <a:endParaRPr lang="es-ES" dirty="0">
              <a:ea typeface="Calibri" panose="020F0502020204030204"/>
              <a:cs typeface="Calibri" panose="020F0502020204030204"/>
            </a:endParaRPr>
          </a:p>
          <a:p>
            <a:endParaRPr lang="es-ES" sz="2400" b="1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 Relacionar los conjuntos con situaciones de la vida cotidiana.</a:t>
            </a:r>
            <a:endParaRPr lang="es-ES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 Mostrar la necesidad de organizar elementos en </a:t>
            </a:r>
            <a:r>
              <a:rPr lang="es-ES" sz="2400" b="1" dirty="0">
                <a:ea typeface="+mn-lt"/>
                <a:cs typeface="+mn-lt"/>
              </a:rPr>
              <a:t>grupos o conjuntos</a:t>
            </a:r>
            <a:r>
              <a:rPr lang="es-ES" sz="2400" dirty="0">
                <a:ea typeface="+mn-lt"/>
                <a:cs typeface="+mn-lt"/>
              </a:rPr>
              <a:t>.</a:t>
            </a:r>
            <a:endParaRPr lang="es-ES" dirty="0">
              <a:ea typeface="+mn-lt"/>
              <a:cs typeface="+mn-lt"/>
            </a:endParaRPr>
          </a:p>
          <a:p>
            <a:pPr>
              <a:buFont typeface="Wingdings" panose="020B0604020202020204" pitchFamily="34" charset="0"/>
              <a:buChar char="▪"/>
            </a:pPr>
            <a:endParaRPr lang="es-E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879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295400"/>
            <a:ext cx="10858500" cy="1566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148012"/>
            <a:ext cx="5286375" cy="323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3148012"/>
            <a:ext cx="5286375" cy="323373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95287" y="47625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 err="1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Fundamentos</a:t>
            </a:r>
            <a:r>
              <a:rPr lang="en-US" sz="3450" b="1" i="0" u="none" strike="noStrike" cap="none" dirty="0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Conjuntos: </a:t>
            </a:r>
            <a:r>
              <a:rPr lang="en-US" sz="3450" b="1" i="0" u="none" strike="noStrike" cap="none" dirty="0" err="1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Conceptos</a:t>
            </a:r>
            <a:r>
              <a:rPr lang="en-US" sz="3450" b="1" i="0" u="none" strike="noStrike" cap="none" dirty="0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Clave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85837" y="1783556"/>
            <a:ext cx="1300162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Definición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950" b="1" i="0" u="none" strike="noStrike" cap="none">
                <a:solidFill>
                  <a:srgbClr val="0033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Esencial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647950" y="1783556"/>
            <a:ext cx="19050" cy="5905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048000" y="1628775"/>
            <a:ext cx="8096250" cy="1090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 conjunto es una colección de elementos únicos y bien definidos. </a:t>
            </a:r>
            <a:r>
              <a:rPr lang="en-US" sz="157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Se representa siempre entre llaves { }</a:t>
            </a:r>
            <a:r>
              <a:rPr lang="en-US" sz="15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y sirve para agrupar objetos, como números, palabras o personas.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000125" y="3481387"/>
            <a:ext cx="48506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 Reglas Fundamentales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00125" y="3948112"/>
            <a:ext cx="46196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Sin Repetición: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Cada elemento es único. El conjunto {A, B, B} es simplemente {A, B}.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000125" y="4729162"/>
            <a:ext cx="46196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 Orden No Importa: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El conjunto {Juan, Ana} es idéntico a {Ana, Juan}.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572250" y="3481387"/>
            <a:ext cx="48506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 Formas de Representación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572250" y="3948112"/>
            <a:ext cx="4619625" cy="52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Por Extensión: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Se nombran todos sus miembros.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 = {2, 4, 6, 8}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572250" y="4729162"/>
            <a:ext cx="4619625" cy="782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Por Comprensión: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Se describe una propiedad común.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 = {x | x es un impar &lt; 10}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275" y="1200150"/>
            <a:ext cx="3763875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1200150"/>
            <a:ext cx="349254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2700" y="1200150"/>
            <a:ext cx="34924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3125" y="4513275"/>
            <a:ext cx="3686025" cy="226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81925" y="4643900"/>
            <a:ext cx="7175450" cy="21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395287" y="47625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Clasificación de Conjuntos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1490275"/>
            <a:ext cx="31469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Finito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914400" y="1952625"/>
            <a:ext cx="299710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Tiene un número limitado y contable de elementos. Podemos terminar de contar todos sus elementos.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057275" y="2914650"/>
            <a:ext cx="2854225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 = {Las vocales}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914400" y="2914650"/>
            <a:ext cx="19050" cy="209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057275" y="3238500"/>
            <a:ext cx="2854225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B = {Los días de la semana}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914400" y="3238500"/>
            <a:ext cx="19050" cy="209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057275" y="3562350"/>
            <a:ext cx="2854225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 = {Los colores primarios}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914400" y="3562350"/>
            <a:ext cx="19050" cy="209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4597300" y="1447800"/>
            <a:ext cx="31471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∞</a:t>
            </a:r>
            <a:r>
              <a:rPr lang="en-US" sz="1800" b="1" i="0" u="none" strike="noStrike" cap="none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Infinito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4597300" y="1866900"/>
            <a:ext cx="2997249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No tiene un número finito de elementos; continúan sin fin y no podemos terminar de contarlos.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4740175" y="2828925"/>
            <a:ext cx="2854374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 = {Los números naturales}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4597300" y="2828925"/>
            <a:ext cx="19050" cy="209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4740175" y="3152775"/>
            <a:ext cx="2854374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 = {Los números pares}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4597300" y="3152775"/>
            <a:ext cx="19050" cy="209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4740175" y="3476625"/>
            <a:ext cx="2854374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 = {Los puntos en una línea recta}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4597300" y="3476625"/>
            <a:ext cx="19050" cy="419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8280350" y="1447800"/>
            <a:ext cx="314695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∅</a:t>
            </a:r>
            <a:r>
              <a:rPr lang="en-US" sz="1800" b="1" i="0" u="none" strike="noStrike" cap="none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Vacío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8280350" y="1866900"/>
            <a:ext cx="29971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No contiene ningún elemento. Se denota como ∅ o { }.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8423225" y="2571750"/>
            <a:ext cx="2854225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F = {Un mes del año con 32 días}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8280350" y="2571750"/>
            <a:ext cx="19050" cy="419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423225" y="3105150"/>
            <a:ext cx="2854225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H = {Perros que hablan español}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8280350" y="3105150"/>
            <a:ext cx="19050" cy="419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8423225" y="3638550"/>
            <a:ext cx="2854225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 = {Primos pares mayores que 2}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8280350" y="3638550"/>
            <a:ext cx="19050" cy="419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720775" y="4760925"/>
            <a:ext cx="31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☝️ Unitario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720775" y="5180025"/>
            <a:ext cx="2997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Contiene un único elemento.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863650" y="5627700"/>
            <a:ext cx="28542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 = {El satélite natural de la Tierra}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720775" y="5627700"/>
            <a:ext cx="19200" cy="419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863650" y="6161100"/>
            <a:ext cx="28542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 = {La capital de Francia}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720775" y="6161100"/>
            <a:ext cx="19200" cy="209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63650" y="6484950"/>
            <a:ext cx="28542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M = {El número primo y par}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720775" y="6484950"/>
            <a:ext cx="19200" cy="209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4629575" y="4711850"/>
            <a:ext cx="701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🌍 Universal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4629575" y="5130950"/>
            <a:ext cx="66801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 el conjunto de referencia que contiene todos los elementos de un contexto o problema específico. Se denota con la letra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4772450" y="5835800"/>
            <a:ext cx="6537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Contexto Vocales: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Si A = {a, e, i}, U = {a, e, i, o, u}.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4629575" y="5835800"/>
            <a:ext cx="19200" cy="190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4772450" y="6140600"/>
            <a:ext cx="6537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Contexto Animales: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 = {Todos los animales}.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4629575" y="6140600"/>
            <a:ext cx="19200" cy="190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772450" y="6445400"/>
            <a:ext cx="65373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Contexto Números: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 = {Los números enteros}.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4629575" y="6445400"/>
            <a:ext cx="19200" cy="190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pic>
        <p:nvPicPr>
          <p:cNvPr id="147" name="Google Shape;14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6050" y="1447800"/>
            <a:ext cx="2857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695450"/>
            <a:ext cx="3492400" cy="264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1695450"/>
            <a:ext cx="3492550" cy="264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2700" y="1695450"/>
            <a:ext cx="4062325" cy="264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7075" y="4424100"/>
            <a:ext cx="3492400" cy="228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89975" y="4424100"/>
            <a:ext cx="3492550" cy="228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73025" y="4424100"/>
            <a:ext cx="3863100" cy="232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00" y="2800350"/>
            <a:ext cx="14001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97300" y="2905125"/>
            <a:ext cx="12763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80350" y="2800350"/>
            <a:ext cx="14001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4475" y="5486400"/>
            <a:ext cx="14001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37625" y="5338500"/>
            <a:ext cx="14001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20775" y="5233725"/>
            <a:ext cx="14001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/>
        </p:nvSpPr>
        <p:spPr>
          <a:xfrm>
            <a:off x="395287" y="47625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2B5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Descubre el Error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666750" y="1057275"/>
            <a:ext cx="108585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Analiza cada afirmación y su correspondiente explicación.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914400" y="1943100"/>
            <a:ext cx="29971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a)</a:t>
            </a:r>
            <a:r>
              <a:rPr lang="en-US" sz="135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El conjunto A = {1, 2, 3, 4} es un conjunto unitario.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914400" y="3286125"/>
            <a:ext cx="2997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Explicación: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Un conjunto unitario tiene un solo elemento, y A tiene cuatro.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914400" y="3933825"/>
            <a:ext cx="29971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Corrección: A es un conjunto finito.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4597300" y="1943100"/>
            <a:ext cx="2997249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b)</a:t>
            </a:r>
            <a:r>
              <a:rPr lang="en-US" sz="135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El conjunto Z = {x | x es un número impar y divisible por 2} es un conjunto vacío.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4597300" y="3390900"/>
            <a:ext cx="299724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Explicación: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No existe ningún número que sea impar y divisible por 2 al mismo tiempo. El conjunto no tiene elementos.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8280350" y="1943100"/>
            <a:ext cx="29971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c)</a:t>
            </a:r>
            <a:r>
              <a:rPr lang="en-US" sz="135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El conjunto C = {rojo, azul, azul, verde} tiene 4 elementos.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8280350" y="3286125"/>
            <a:ext cx="3709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Explicación: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En los conjuntos, los elementos repetidos se cuentan una sola vez.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8231925" y="3774413"/>
            <a:ext cx="3863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Corrección: El conjunto tiene 3 elementos: {rojo, azul, verde}.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954825" y="4572450"/>
            <a:ext cx="299700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d)</a:t>
            </a:r>
            <a:r>
              <a:rPr lang="en-US" sz="135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El conjunto de granos de arena en todas las playas del mundo es infinito.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54825" y="5864325"/>
            <a:ext cx="2997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Explicación: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Aunque es un número inmenso, es finito y contable en teoría. No continúa para siempre.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637625" y="4671750"/>
            <a:ext cx="29973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e)</a:t>
            </a:r>
            <a:r>
              <a:rPr lang="en-US" sz="135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Los conjuntos A = {l, o, b, o} y B = {b, o, l, o} son diferentes.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4493625" y="5647625"/>
            <a:ext cx="3204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Explicación: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El orden de los elementos no importa en un conjunto y los elementos repetidos se cuentan una sola vez. Ambos conjuntos son en realidad {l, o, b}.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8320675" y="4671750"/>
            <a:ext cx="2997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f)</a:t>
            </a:r>
            <a:r>
              <a:rPr lang="en-US" sz="135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El conjunto P = {1, {2, 3}} tiene 3 elementos.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389100" y="5647613"/>
            <a:ext cx="34923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Explicación: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Este conjunto tiene solo dos elementos: el número 1 y el conjunto {2, 3}. Un conjunto puede ser un elemento dentro de otro conjunto.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5753100"/>
            <a:ext cx="108585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638425"/>
            <a:ext cx="52387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3814762"/>
            <a:ext cx="5238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638425"/>
            <a:ext cx="52387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814762"/>
            <a:ext cx="52387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95287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Subconjuntos: Un Conjunto Dentro de Otro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66916" y="6000750"/>
            <a:ext cx="20091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666750" y="1343025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Subconjunto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6750" y="1905000"/>
            <a:ext cx="523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conjunto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 subconjunto de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todos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los elementos de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también se encuentran en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66750" y="3400425"/>
            <a:ext cx="52387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286500" y="1343025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Subconjunto Propio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286500" y="1905000"/>
            <a:ext cx="523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conjunto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 subconjunto propio de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 es un subconjunto, pero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es igual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286500" y="3400425"/>
            <a:ext cx="52387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endParaRPr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0500" y="1404937"/>
            <a:ext cx="426243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09775" y="4224337"/>
            <a:ext cx="2381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19650" y="1433512"/>
            <a:ext cx="426243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29525" y="4233862"/>
            <a:ext cx="23812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638425"/>
            <a:ext cx="52387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814762"/>
            <a:ext cx="52387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09887"/>
            <a:ext cx="5238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276725"/>
            <a:ext cx="523875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395287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Conceptos Avanzados de Conjuntos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66750" y="1343025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No es Subconjunto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6750" y="1905000"/>
            <a:ext cx="523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 conjunto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es subconjunto de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 existe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 menos un elemento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que no está en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6750" y="3400425"/>
            <a:ext cx="52387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286500" y="1343025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946EF"/>
                </a:solidFill>
                <a:latin typeface="Inter"/>
                <a:ea typeface="Inter"/>
                <a:cs typeface="Inter"/>
                <a:sym typeface="Inter"/>
              </a:rPr>
              <a:t>P(A) Conjunto Potencia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286500" y="1905000"/>
            <a:ext cx="52387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 el conjunto formado por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todos los subconjuntos posibles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un conjunto A, incluyendo el conjunto vacío y el propio conjunto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286500" y="3862387"/>
            <a:ext cx="52387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Ejemplo:</a:t>
            </a:r>
            <a:endParaRPr/>
          </a:p>
        </p:txBody>
      </p:sp>
      <p:pic>
        <p:nvPicPr>
          <p:cNvPr id="116" name="Google Shape;11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5282" y="1414462"/>
            <a:ext cx="321468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5000" y="4195762"/>
            <a:ext cx="160734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0" y="4867275"/>
            <a:ext cx="160734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600200"/>
            <a:ext cx="5238750" cy="3414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00200"/>
            <a:ext cx="5238750" cy="3414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3009900"/>
            <a:ext cx="46291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1300" y="3281362"/>
            <a:ext cx="462915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395287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Concepto Clave: Pertenencia vs. Contenencia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66750" y="1057275"/>
            <a:ext cx="108585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Una de las confusiones más comunes, aclarada con ejemplos.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971550" y="1905000"/>
            <a:ext cx="48606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Pertenencia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971550" y="2324100"/>
            <a:ext cx="462915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elemento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pertenece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a un conjunto. Se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usa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relacionar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miembro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individual con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su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grupo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971550" y="3657600"/>
            <a:ext cx="46293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6A34A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✔ Correcto: 2        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971550" y="4071937"/>
            <a:ext cx="46293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C2626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X Incorrecto: {2}       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6591300" y="1905000"/>
            <a:ext cx="48606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6A34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Contenencia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6591300" y="2324100"/>
            <a:ext cx="4629150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 conjunto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está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contenido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otro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(es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subconjunto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). Se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usa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para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relacionar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grupo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con un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grupo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más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grande.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6591300" y="3929062"/>
            <a:ext cx="46293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C2626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X </a:t>
            </a:r>
            <a:r>
              <a:rPr lang="en-US" sz="1425" b="0" i="0" u="none" strike="noStrike" cap="none" dirty="0" err="1">
                <a:solidFill>
                  <a:srgbClr val="DC2626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Incorrecto</a:t>
            </a:r>
            <a:r>
              <a:rPr lang="en-US" sz="1425" b="0" i="0" u="none" strike="noStrike" cap="none" dirty="0">
                <a:solidFill>
                  <a:srgbClr val="DC2626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: 2</a:t>
            </a:r>
            <a:r>
              <a:rPr lang="en-US" sz="1425" dirty="0">
                <a:solidFill>
                  <a:srgbClr val="DC2626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        </a:t>
            </a:r>
            <a:r>
              <a:rPr lang="en-US" sz="1425" b="0" i="0" u="none" strike="noStrike" cap="none" dirty="0">
                <a:solidFill>
                  <a:srgbClr val="DC2626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A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6591300" y="4343400"/>
            <a:ext cx="46293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6A34A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✔ Correcto: {2}        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42" name="Google Shape;14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44522" y="1968627"/>
            <a:ext cx="307776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2040" y="3786187"/>
            <a:ext cx="24318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55225" y="4217837"/>
            <a:ext cx="24318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75360" y="1958092"/>
            <a:ext cx="317301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922650" y="4036380"/>
            <a:ext cx="25271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37459" y="4489221"/>
            <a:ext cx="252710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3400"/>
            <a:ext cx="11887201" cy="462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857375"/>
            <a:ext cx="523875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57375"/>
            <a:ext cx="523875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3648075"/>
            <a:ext cx="46482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5343525"/>
            <a:ext cx="46482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648075"/>
            <a:ext cx="46482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5072062"/>
            <a:ext cx="46482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395287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Ejemplo: El Conjunto Potencia P(A)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66750" y="1057275"/>
            <a:ext cx="10858500" cy="469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 conjunto potencia es la "familia" de todos los subconjuntos posibles que se pueden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formar a partir de un conjunto original.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845820" y="2152650"/>
            <a:ext cx="488061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946EF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Ejemplo 1: A = {1, 2, 3}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962025" y="2638425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Paso 1: Aplicar la Fórmula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962025" y="2962275"/>
            <a:ext cx="46482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 conjunto A tiene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 = 3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elementos. Para saber cuántos subconjuntos tendrá, usamos la fórmula: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962025" y="4333875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Paso 2: Listar Todos los Subconjuntos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962025" y="4657725"/>
            <a:ext cx="46482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Ahora, formamos todos los equipos posibles, desde el equipo vacío hasta el equipo completo: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465570" y="2152650"/>
            <a:ext cx="488061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946EF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Ejemplo 2: B = {a, b}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581775" y="2638425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Paso 1: Aplicar la Fórmula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6581775" y="2962275"/>
            <a:ext cx="46482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 conjunto B tiene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 = 2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elementos. Calculamos el total de subconjuntos: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6581775" y="4333875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Paso 2: Listar Todos los Subconjuntos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6581775" y="4657725"/>
            <a:ext cx="46482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Listamos las 4 combinaciones posibles: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91" name="Google Shape;19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24050" y="5553075"/>
            <a:ext cx="155376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43800" y="5281612"/>
            <a:ext cx="155376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952625"/>
            <a:ext cx="5238750" cy="44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0" y="3300412"/>
            <a:ext cx="45529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5400675"/>
            <a:ext cx="45529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395287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Igualdad de Conjuntos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666750" y="1057275"/>
            <a:ext cx="10858500" cy="469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Dos conjuntos son iguales si tienen exactamente los mismos elementos, sin importar el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orden en que se presenten.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6750" y="221932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La Condición Doble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66750" y="2733675"/>
            <a:ext cx="5238750" cy="8667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904875" y="2971800"/>
            <a:ext cx="4762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 Todos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los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A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están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en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B.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Esto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significa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que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A es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subconjunto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B (A         B).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666750" y="2733675"/>
            <a:ext cx="38100" cy="866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66750" y="3790950"/>
            <a:ext cx="5238750" cy="8667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904875" y="4029075"/>
            <a:ext cx="4762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 Todos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los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B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están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en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A.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Esto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significa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que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B es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subconjunto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A (B        A).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666750" y="3790950"/>
            <a:ext cx="38100" cy="866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6629400" y="22955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Verificación en Acción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6629400" y="2886075"/>
            <a:ext cx="455295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Dado los conjuntos: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6629400" y="4090987"/>
            <a:ext cx="455295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Verificamos: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629400" y="4457700"/>
            <a:ext cx="455295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 ¿Todos los elementos de C están en D? </a:t>
            </a:r>
            <a:r>
              <a:rPr lang="en-US" sz="1350" b="1" i="0" u="none" strike="noStrike" cap="none">
                <a:solidFill>
                  <a:srgbClr val="16A34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✔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6629400" y="4857750"/>
            <a:ext cx="455295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 ¿Todos los elementos de D están en C? </a:t>
            </a:r>
            <a:r>
              <a:rPr lang="en-US" sz="1350" b="1" i="0" u="none" strike="noStrike" cap="none">
                <a:solidFill>
                  <a:srgbClr val="16A34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✔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14" name="Google Shape;21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01108" y="3196442"/>
            <a:ext cx="223242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01108" y="4235594"/>
            <a:ext cx="223242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552700"/>
            <a:ext cx="5238750" cy="170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452937"/>
            <a:ext cx="5238750" cy="170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52700"/>
            <a:ext cx="523875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724400"/>
            <a:ext cx="52387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3538537"/>
            <a:ext cx="47434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4400" y="5438775"/>
            <a:ext cx="47434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3810000"/>
            <a:ext cx="47434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6253162"/>
            <a:ext cx="47434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/>
        </p:nvSpPr>
        <p:spPr>
          <a:xfrm>
            <a:off x="395287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Cardinalidad: Contando Elementos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666750" y="1057275"/>
            <a:ext cx="10858500" cy="469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La cardinalidad es el número de elementos que contiene un conjunto. Se denota como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64748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30" name="Google Shape;230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00737" y="1323975"/>
            <a:ext cx="3429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666750" y="1952625"/>
            <a:ext cx="52387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59E0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Definición y Ejemplos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66750" y="2343150"/>
            <a:ext cx="523875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6286500" y="1952625"/>
            <a:ext cx="52387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59E0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Propiedades Clave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6286500" y="2343150"/>
            <a:ext cx="523875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914400" y="2800350"/>
            <a:ext cx="498062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Finito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914400" y="3124200"/>
            <a:ext cx="474345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Tiene un número limitado y contable de elementos.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914400" y="4700587"/>
            <a:ext cx="498062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Infinito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914400" y="5024437"/>
            <a:ext cx="474345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Tiene un número ilimitado de elementos.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6534150" y="2800350"/>
            <a:ext cx="498062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Regla del Subconjunto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6534150" y="3124200"/>
            <a:ext cx="474345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 subconjunto nunca puede tener más elementos que su conjunto principal.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6534150" y="4972050"/>
            <a:ext cx="498062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Regla del Conjunto Potencia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6534150" y="5295900"/>
            <a:ext cx="4743450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La cardinalidad del conjunto potencia se calcula con la fórmula 2ⁿ, donde n es la cardinalidad del conjunto original.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43" name="Google Shape;243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74124" y="3990975"/>
            <a:ext cx="208359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43025"/>
            <a:ext cx="5238750" cy="54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43025"/>
            <a:ext cx="5238750" cy="54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" y="3057525"/>
            <a:ext cx="45529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786062"/>
            <a:ext cx="45529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09675" y="3590925"/>
            <a:ext cx="41529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5372100"/>
            <a:ext cx="45529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" y="5953125"/>
            <a:ext cx="45529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9425" y="3319462"/>
            <a:ext cx="41529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5372100"/>
            <a:ext cx="45529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5953125"/>
            <a:ext cx="45529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0"/>
          <p:cNvSpPr txBox="1"/>
          <p:nvPr/>
        </p:nvSpPr>
        <p:spPr>
          <a:xfrm>
            <a:off x="395287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Operaciones y su Simbología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895826" y="1714500"/>
            <a:ext cx="478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Unión (A    B)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1009650" y="2228850"/>
            <a:ext cx="45529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Contiene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todos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los elementos de ambos conjuntos, sin repetir.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515576" y="1714500"/>
            <a:ext cx="478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Intersección (A    B)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6629400" y="2228850"/>
            <a:ext cx="4552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Contiene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únicamente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los elementos en común.</a:t>
            </a:r>
            <a:endParaRPr/>
          </a:p>
        </p:txBody>
      </p:sp>
      <p:pic>
        <p:nvPicPr>
          <p:cNvPr id="263" name="Google Shape;263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63540" y="1809750"/>
            <a:ext cx="426243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0"/>
          <p:cNvSpPr txBox="1"/>
          <p:nvPr/>
        </p:nvSpPr>
        <p:spPr>
          <a:xfrm>
            <a:off x="1209675" y="3257549"/>
            <a:ext cx="101976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Simbología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265" name="Google Shape;265;p20"/>
          <p:cNvSpPr txBox="1"/>
          <p:nvPr/>
        </p:nvSpPr>
        <p:spPr>
          <a:xfrm>
            <a:off x="1209675" y="4219575"/>
            <a:ext cx="41529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lee: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"El conjunto de todos los elementos 'x' tal que 'x' pertenece a A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'x' pertenece a B."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2962275" y="5038724"/>
            <a:ext cx="81539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pic>
        <p:nvPicPr>
          <p:cNvPr id="267" name="Google Shape;267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701807" y="1847850"/>
            <a:ext cx="38918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6829425" y="2986086"/>
            <a:ext cx="101292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Simbología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269" name="Google Shape;269;p20"/>
          <p:cNvSpPr txBox="1"/>
          <p:nvPr/>
        </p:nvSpPr>
        <p:spPr>
          <a:xfrm>
            <a:off x="6829425" y="3948112"/>
            <a:ext cx="41529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lee: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"El conjunto de todos los elementos 'x' tal que 'x' pertenece a A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'x' pertenece a B."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8582025" y="5038724"/>
            <a:ext cx="79288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pic>
        <p:nvPicPr>
          <p:cNvPr id="271" name="Google Shape;271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21085" y="3781425"/>
            <a:ext cx="208359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372445" y="3790950"/>
            <a:ext cx="20835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247554" y="3790950"/>
            <a:ext cx="20835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352228" y="6153150"/>
            <a:ext cx="267592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647682" y="3538537"/>
            <a:ext cx="194667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985349" y="3519487"/>
            <a:ext cx="20835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860458" y="3519487"/>
            <a:ext cx="20835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412658" y="6172200"/>
            <a:ext cx="243333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43025"/>
            <a:ext cx="5238750" cy="561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43025"/>
            <a:ext cx="5238750" cy="561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" y="3057525"/>
            <a:ext cx="45529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120925"/>
            <a:ext cx="4552950" cy="18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09675" y="3590925"/>
            <a:ext cx="41529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5521076"/>
            <a:ext cx="45529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" y="6102101"/>
            <a:ext cx="45529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9425" y="3654325"/>
            <a:ext cx="4152900" cy="52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5476726"/>
            <a:ext cx="45529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6057751"/>
            <a:ext cx="4552950" cy="5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395287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Diferencia y Complemento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895826" y="1714500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Diferencia (A - B)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1009650" y="2228850"/>
            <a:ext cx="45529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Contiene los elementos que están en el conjunto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pero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el conjunto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6515576" y="1714500"/>
            <a:ext cx="4780597" cy="43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Complemento (Ac)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6629400" y="2292250"/>
            <a:ext cx="45529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Son todos los elementos del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conjunto universal (U)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que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están en el conjunto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1209675" y="3257550"/>
            <a:ext cx="8667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Simbología: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1209675" y="4219575"/>
            <a:ext cx="41529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lee: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"El conjunto de elementos 'x' tal que 'x' está en A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'x'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está en B."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2962275" y="5187700"/>
            <a:ext cx="83387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301" name="Google Shape;301;p21"/>
          <p:cNvSpPr txBox="1"/>
          <p:nvPr/>
        </p:nvSpPr>
        <p:spPr>
          <a:xfrm>
            <a:off x="6829425" y="3320949"/>
            <a:ext cx="115079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Simbología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302" name="Google Shape;302;p21"/>
          <p:cNvSpPr txBox="1"/>
          <p:nvPr/>
        </p:nvSpPr>
        <p:spPr>
          <a:xfrm>
            <a:off x="6829425" y="4324201"/>
            <a:ext cx="41529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lee: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"El conjunto de elementos 'x' tal que 'x' está en el universo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'x'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está en A."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8582024" y="5143351"/>
            <a:ext cx="8667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pic>
        <p:nvPicPr>
          <p:cNvPr id="304" name="Google Shape;304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339703" y="3790950"/>
            <a:ext cx="20835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214812" y="3771900"/>
            <a:ext cx="160734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807053" y="3895576"/>
            <a:ext cx="208359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682162" y="3876526"/>
            <a:ext cx="160734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3975"/>
            <a:ext cx="5238750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23975"/>
            <a:ext cx="5238750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2752725"/>
            <a:ext cx="44577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4676775"/>
            <a:ext cx="44577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5372100"/>
            <a:ext cx="44577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3076575"/>
            <a:ext cx="44577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7025" y="5000625"/>
            <a:ext cx="44577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395287" y="47625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Ejercicio en Clase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57275" y="1714500"/>
            <a:ext cx="4457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9770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 Diferencia de Conjuntos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057275" y="2228850"/>
            <a:ext cx="44577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Dados los conjuntos: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057275" y="4000500"/>
            <a:ext cx="4457700" cy="9525"/>
          </a:xfrm>
          <a:prstGeom prst="rect">
            <a:avLst/>
          </a:prstGeom>
          <a:noFill/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057275" y="4295775"/>
            <a:ext cx="44577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Encuentra: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677025" y="1714500"/>
            <a:ext cx="44577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33E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 Complemento de un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2100" b="1" i="0" u="none" strike="noStrike" cap="none">
                <a:solidFill>
                  <a:srgbClr val="9333E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Conjunto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677025" y="2552700"/>
            <a:ext cx="44577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Dado el Universo y el conjunto B: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677025" y="4324350"/>
            <a:ext cx="4457700" cy="9525"/>
          </a:xfrm>
          <a:prstGeom prst="rect">
            <a:avLst/>
          </a:prstGeom>
          <a:noFill/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677025" y="4619625"/>
            <a:ext cx="44577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Encuentra: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800225"/>
            <a:ext cx="5238750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1775" y="2609850"/>
            <a:ext cx="464820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395287" y="47625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Diagramas de Venn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6750" y="1133475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 representación gráfica que muestra las relaciones lógicas entre conjuntos usando círculos superpuestos.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66750" y="1800225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Elementos Clave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581775" y="2095500"/>
            <a:ext cx="4648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Ejemplo Práctico: Deportes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66750" y="2314575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🌍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6750" y="3076575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🟣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6750" y="3838575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겹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6750" y="4886325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81775" y="3619500"/>
            <a:ext cx="4648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⚽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81775" y="4152900"/>
            <a:ext cx="4648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🏀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81775" y="4686300"/>
            <a:ext cx="4648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🤝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581775" y="5448300"/>
            <a:ext cx="4648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🚫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47750" y="2314575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Universo (U):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rectángulo que representa el conjunto total de elementos.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047750" y="3076575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Conjuntos (A, B, ...):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Círculos dentro del universo que representan cada conjunto.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90600" y="3838575"/>
            <a:ext cx="49149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Regiones Superpuestas: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área donde los círculos se cruzan. Muestra la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intersección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(elementos en común).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47750" y="4886325"/>
            <a:ext cx="4857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Regiones Separadas: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parte de un círculo que no se cruza con otros. Muestra los elementos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exclusivos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ese conjunto.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962775" y="3619500"/>
            <a:ext cx="3552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Círculo 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Todos los que juegan fútbol.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962775" y="4152900"/>
            <a:ext cx="40100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Círculo B: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Todos los que juegan baloncesto.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962775" y="4686300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Zona Superpuesta (A ∩ B):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Estudiantes que juegan ambos deportes.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962775" y="5448300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Zona Externa: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Estudiantes que no juegan ninguno de los dos deportes.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Google Shape;130;p15"/>
          <p:cNvGraphicFramePr/>
          <p:nvPr/>
        </p:nvGraphicFramePr>
        <p:xfrm>
          <a:off x="666750" y="666750"/>
          <a:ext cx="10858500" cy="54769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7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Nombre del Joven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Deporte(s) que Practica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Grupo al que Pertenece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Carlos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Fútbol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Solo Fútbol (Grupo 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Sofía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Fútbol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Solo Fútbol (Grupo 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Valentina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Baloncesto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Solo Baloncesto (Grupo 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Lucas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Baloncesto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Solo Baloncesto (Grupo 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Fútbol y Baloncesto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Ambos (Intersección A ∩ 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Camila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Fútbol y Baloncesto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Ambos (Intersección A ∩ 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Daniel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Ninguno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Zona Externa (Fuera de A y 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Mariana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Ninguno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Zona Externa (Fuera de A y 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Mateo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Fútbol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Solo Fútbol (Grupo 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Isabella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Baloncesto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Solo Baloncesto (Grupo 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1" name="Google Shape;131;p15"/>
          <p:cNvSpPr txBox="1"/>
          <p:nvPr/>
        </p:nvSpPr>
        <p:spPr>
          <a:xfrm>
            <a:off x="666750" y="6334125"/>
            <a:ext cx="10858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Resumen del ejemplo: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66750" y="1143000"/>
            <a:ext cx="287729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3544044" y="1143000"/>
            <a:ext cx="361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7163544" y="1143000"/>
            <a:ext cx="436170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66750" y="1652587"/>
            <a:ext cx="28772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3544044" y="1652587"/>
            <a:ext cx="3619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7163544" y="1652587"/>
            <a:ext cx="4361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666750" y="2147887"/>
            <a:ext cx="28772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3544044" y="2147887"/>
            <a:ext cx="3619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7163544" y="2147887"/>
            <a:ext cx="4361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666750" y="2643187"/>
            <a:ext cx="28772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3544044" y="2643187"/>
            <a:ext cx="3619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7163544" y="2643187"/>
            <a:ext cx="4361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666750" y="3138487"/>
            <a:ext cx="28772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3544044" y="3138487"/>
            <a:ext cx="3619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7163544" y="3138487"/>
            <a:ext cx="4361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666750" y="3643312"/>
            <a:ext cx="28772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544044" y="3643312"/>
            <a:ext cx="3619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7163544" y="3643312"/>
            <a:ext cx="4361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666750" y="4148137"/>
            <a:ext cx="28772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3544044" y="4148137"/>
            <a:ext cx="3619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7163544" y="4148137"/>
            <a:ext cx="4361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666750" y="4643437"/>
            <a:ext cx="28772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3544044" y="4643437"/>
            <a:ext cx="3619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7163544" y="4643437"/>
            <a:ext cx="4361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66750" y="5138737"/>
            <a:ext cx="28772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3544044" y="5138737"/>
            <a:ext cx="3619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7163544" y="5138737"/>
            <a:ext cx="4361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666750" y="5634037"/>
            <a:ext cx="28772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3544044" y="5634037"/>
            <a:ext cx="3619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7163544" y="5634037"/>
            <a:ext cx="4361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66750" y="6129337"/>
            <a:ext cx="28772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3544044" y="6129337"/>
            <a:ext cx="36195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7163544" y="6129337"/>
            <a:ext cx="43617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500" y="1247775"/>
            <a:ext cx="5715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500" y="5248275"/>
            <a:ext cx="571500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10025" y="173355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24475" y="173355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395287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Diagrama de Venn: Jóvenes y Deportes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3438525" y="1447800"/>
            <a:ext cx="981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No practican: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Daniel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Mariana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8115300" y="4714875"/>
            <a:ext cx="838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94A3B8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Universo 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3438525" y="5448300"/>
            <a:ext cx="5314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Resumen de Grupos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3438525" y="5772150"/>
            <a:ext cx="53149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B82F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●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Solo Fútbol: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Carlos, Sofía, Mateo.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3438525" y="6048375"/>
            <a:ext cx="53149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4444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●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Solo Baloncesto: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Valentina, Lucas, Isabella.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3438525" y="6324600"/>
            <a:ext cx="53149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855F7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●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Ambos Deportes: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Juan, Camila.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3438525" y="6600825"/>
            <a:ext cx="53149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●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Ningún Deporte: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Daniel, Mariana.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4029075" y="1419225"/>
            <a:ext cx="28194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D4ED8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Fútbol (A)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4165925" y="2705100"/>
            <a:ext cx="10347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Carlos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Sofía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Mateo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5343525" y="1419225"/>
            <a:ext cx="28194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91C1C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Baloncesto (B)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6943725" y="2705100"/>
            <a:ext cx="9132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Valentina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Lucas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Isabella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5848350" y="2400300"/>
            <a:ext cx="49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Juan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Camila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/>
        </p:nvSpPr>
        <p:spPr>
          <a:xfrm>
            <a:off x="666750" y="1564332"/>
            <a:ext cx="114014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Ejercicio: Interpretación de un Diagrama de Venn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66750" y="2078682"/>
            <a:ext cx="108585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 siguiente diagrama representa dos conjuntos, A y B, dentro de un conjunto universal U. Los elementos de cada conjunto están representados en el diagrama de Venn.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666750" y="2993082"/>
            <a:ext cx="1085850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Conjuntos dados: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6750" y="338822"/>
            <a:ext cx="28670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ITM </a:t>
            </a:r>
            <a:r>
              <a:rPr lang="en-US" sz="2100" b="0" i="0" u="none" strike="noStrike" cap="none" dirty="0" err="1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Institución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2100" b="1" i="0" u="none" strike="noStrike" cap="none" dirty="0" err="1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Universitaria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10725150" y="476250"/>
            <a:ext cx="800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80 </a:t>
            </a:r>
            <a:r>
              <a:rPr lang="en-US" sz="2400" b="0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Años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666750" y="3450282"/>
            <a:ext cx="10858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Universal: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U={1,2,3,4,5,6,7,8,9,10,11,12,13,14,15}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666750" y="4164657"/>
            <a:ext cx="10858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A (elementos en rojo):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A={1,2,3,4,6,12}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666750" y="4879032"/>
            <a:ext cx="10858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B (elementos en azul):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B={1,3,5,15}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247775"/>
            <a:ext cx="62865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8275" y="1828800"/>
            <a:ext cx="2667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14725" y="1828800"/>
            <a:ext cx="2667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34250" y="1247775"/>
            <a:ext cx="419100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34250" y="3600450"/>
            <a:ext cx="419100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395287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Interpretación de un Diagrama de Venn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962025" y="1447800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7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1438275" y="17335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8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057275" y="40957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9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1628775" y="457200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10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334125" y="1543050"/>
            <a:ext cx="133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11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6400800" y="419100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13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638800" y="457200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14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6638925" y="4714875"/>
            <a:ext cx="114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 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1457325" y="1514475"/>
            <a:ext cx="26289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91C1C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2790825" y="241935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12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2028825" y="289560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2409825" y="346710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4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2124075" y="394335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6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3533775" y="1514475"/>
            <a:ext cx="26289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D4ED8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B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5400675" y="308610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5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5429250" y="365760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15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7534275" y="1447800"/>
            <a:ext cx="223837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Conjuntos Dados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7534275" y="1743075"/>
            <a:ext cx="3790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Universal (U):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{1, 2, 3, 4, 5, 6, 7, 8, 9, 10, 11, 12, 13, 14, 15}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7534275" y="2247900"/>
            <a:ext cx="3790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B91C1C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B91C1C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{1, 2, 3, 4, 6, 12}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7534275" y="2752725"/>
            <a:ext cx="3790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4ED8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B: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1D4ED8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{1, 3, 5, 15}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7534275" y="3800475"/>
            <a:ext cx="116638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Desglose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7534275" y="4095750"/>
            <a:ext cx="379095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B91C1C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Solo en A (A - B): {2, 4, 6, 12}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7534275" y="4357687"/>
            <a:ext cx="379095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D4ED8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Solo en B (B - A): {5, 15}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7534275" y="4619625"/>
            <a:ext cx="379095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333EA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Intersección (A ∩ B): {1, 3}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7534275" y="4881562"/>
            <a:ext cx="3790950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Fuera de A y B: {7, 8, 9, 10, 11, 13, 14}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3776662" y="2781300"/>
            <a:ext cx="666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3762375" y="3352800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3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/>
          <p:nvPr/>
        </p:nvSpPr>
        <p:spPr>
          <a:xfrm>
            <a:off x="666750" y="1343025"/>
            <a:ext cx="1085850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Preguntas: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64400" y="96450"/>
            <a:ext cx="244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ITM </a:t>
            </a:r>
            <a:r>
              <a:rPr lang="en-US" sz="2100" b="0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Institución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2100" b="1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Universitaria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10725150" y="476250"/>
            <a:ext cx="800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80 </a:t>
            </a:r>
            <a:r>
              <a:rPr lang="en-US" sz="2400" b="0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Años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666750" y="1809750"/>
            <a:ext cx="10858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Ubicación de elementos: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666750" y="3867150"/>
            <a:ext cx="10858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Observación del diagrama: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752475" y="2162175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857250" y="2162175"/>
            <a:ext cx="10668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Identifica los elementos que pertenecen exclusivamente a A.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752475" y="2562225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857250" y="2562225"/>
            <a:ext cx="10668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Identifica los elementos que pertenecen exclusivamente a B.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752475" y="2962275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857250" y="2962275"/>
            <a:ext cx="10668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¿Cuáles son los elementos que aparecen dentro de ambos conjuntos?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752475" y="3362325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857250" y="3362325"/>
            <a:ext cx="10668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¿Cuáles son los elementos que no pertenecen a ninguno de los conjuntos?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752475" y="4219575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857250" y="4219575"/>
            <a:ext cx="10668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¿Cuántos elementos están representados dentro del diagrama de Venn?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752475" y="4619625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857250" y="4619625"/>
            <a:ext cx="10668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¿Cuántos elementos del conjunto universal no están en ningún conjunto?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9325" y="2571757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666750" y="1564332"/>
            <a:ext cx="114014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Ejercicio 2: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666750" y="2078682"/>
            <a:ext cx="108585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 diagrama representa un grupo de estudiantes que fueron encuestados y a los cuales se les pidio su opinión respecto de los temas A, B y C.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666750" y="476250"/>
            <a:ext cx="289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ITM </a:t>
            </a:r>
            <a:r>
              <a:rPr lang="en-US" sz="2100" b="0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Institución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2100" b="1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Universitaria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10725150" y="476250"/>
            <a:ext cx="159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80 </a:t>
            </a:r>
            <a:r>
              <a:rPr lang="en-US" sz="2400" b="0" i="0" u="none" strike="noStrike" cap="none">
                <a:solidFill>
                  <a:srgbClr val="00006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Años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5954600" y="2771782"/>
            <a:ext cx="152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Medium"/>
                <a:sym typeface="Inter Medium"/>
              </a:rPr>
              <a:t>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9516950" y="2771782"/>
            <a:ext cx="133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Medium"/>
                <a:sym typeface="Inter Medium"/>
              </a:rPr>
              <a:t>B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954600" y="6410332"/>
            <a:ext cx="152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Medium"/>
                <a:sym typeface="Inter Medium"/>
              </a:rPr>
              <a:t>C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6145100" y="2962282"/>
            <a:ext cx="2286000" cy="2286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7173800" y="2962282"/>
            <a:ext cx="2286000" cy="2286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6659450" y="4181482"/>
            <a:ext cx="2286000" cy="2286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6621350" y="3629032"/>
            <a:ext cx="381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13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8764475" y="3629032"/>
            <a:ext cx="35181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27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7750062" y="585788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7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7740537" y="3724282"/>
            <a:ext cx="123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4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7002350" y="500063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5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8488250" y="500063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5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7745300" y="429578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3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 txBox="1"/>
          <p:nvPr/>
        </p:nvSpPr>
        <p:spPr>
          <a:xfrm>
            <a:off x="666750" y="1343025"/>
            <a:ext cx="10858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Preguntas: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66750" y="476250"/>
            <a:ext cx="2972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66"/>
                </a:solidFill>
                <a:latin typeface="Inter"/>
                <a:ea typeface="Inter"/>
                <a:cs typeface="Inter"/>
                <a:sym typeface="Inter"/>
              </a:rPr>
              <a:t>ITM </a:t>
            </a:r>
            <a:r>
              <a:rPr lang="en-US" sz="2100" b="0" i="0" u="none" strike="noStrike" cap="none">
                <a:solidFill>
                  <a:srgbClr val="000066"/>
                </a:solidFill>
                <a:latin typeface="Inter"/>
                <a:ea typeface="Inter"/>
                <a:cs typeface="Inter"/>
                <a:sym typeface="Inter"/>
              </a:rPr>
              <a:t>Institución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1" i="0" u="none" strike="noStrike" cap="none">
                <a:solidFill>
                  <a:srgbClr val="000066"/>
                </a:solidFill>
                <a:latin typeface="Inter"/>
                <a:ea typeface="Inter"/>
                <a:cs typeface="Inter"/>
                <a:sym typeface="Inter"/>
              </a:rPr>
              <a:t>Universitaria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10725150" y="476250"/>
            <a:ext cx="8001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66"/>
                </a:solidFill>
                <a:latin typeface="Inter"/>
                <a:ea typeface="Inter"/>
                <a:cs typeface="Inter"/>
                <a:sym typeface="Inter"/>
              </a:rPr>
              <a:t>80 </a:t>
            </a:r>
            <a:r>
              <a:rPr lang="en-US" sz="2400" b="0" i="0" u="none" strike="noStrike" cap="none">
                <a:solidFill>
                  <a:srgbClr val="000066"/>
                </a:solidFill>
                <a:latin typeface="Inter"/>
                <a:ea typeface="Inter"/>
                <a:cs typeface="Inter"/>
                <a:sym typeface="Inter"/>
              </a:rPr>
              <a:t>Años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666750" y="1781175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¿Cuál es el número total de estudiantes encuestados?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666750" y="220980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¿Cuántos estudiantes opinaron sobre el tema B o el tema C?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666750" y="2638425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¿Cuántos estudiantes no opinaron sobre ningún tema?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666750" y="306705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¿Cuántos estudiantes que opinaron sobre el tema B también opinaron sobre los temas A o C?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666750" y="3495675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¿Cuántos estudiantes opinaron sobre los temas A y B?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666750" y="392430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¿Cuántos estudiantes dieron su opinión solamente sobre el tema A?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666750" y="4352925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¿Cuántos estudiantes opinaron sobre los tres temas?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666750" y="4781550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¿Cuántos estudiantes opinaron sobre el tema C pero no sobre el tema B?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514600"/>
            <a:ext cx="52387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5287" y="476250"/>
            <a:ext cx="114014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Diagramas de Carroll: Clasificación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Calibri"/>
                <a:sym typeface="Calibri"/>
              </a:rPr>
            </a:br>
            <a:r>
              <a:rPr lang="en-US" sz="3150" b="1" i="0" u="none" strike="noStrike" cap="none">
                <a:solidFill>
                  <a:srgbClr val="1E3A8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Visual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66750" y="2076450"/>
            <a:ext cx="55006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9D174D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¿Qué es?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66750" y="2514600"/>
            <a:ext cx="5238750" cy="88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 una tabla que clasifica elementos según </a:t>
            </a:r>
            <a:r>
              <a:rPr lang="en-US" sz="127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dos criterios opuestos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(Sí/No). Permite organizar información de manera estructurada y visual en cuatro cuadrantes.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66750" y="3624262"/>
            <a:ext cx="55006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9D174D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¿Cómo Funciona?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66750" y="4062412"/>
            <a:ext cx="5238750" cy="58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Cada cuadrante de la tabla responde a una combinación única de los dos criterios, cubriendo todas las posibilidades: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286500" y="2076450"/>
            <a:ext cx="55006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9D174D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Ejemplo: Clasificar Números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286500" y="3228975"/>
            <a:ext cx="5238750" cy="19526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graphicFrame>
        <p:nvGraphicFramePr>
          <p:cNvPr id="92" name="Google Shape;92;p13"/>
          <p:cNvGraphicFramePr/>
          <p:nvPr/>
        </p:nvGraphicFramePr>
        <p:xfrm>
          <a:off x="6286500" y="3228975"/>
          <a:ext cx="5229225" cy="20981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54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Criterio 1: ¿Es un número par?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Sí 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No 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Criterio 2: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</a:br>
                      <a: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        ¿Es mayor que 10?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Sí 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3" name="Google Shape;93;p13"/>
          <p:cNvSpPr txBox="1"/>
          <p:nvPr/>
        </p:nvSpPr>
        <p:spPr>
          <a:xfrm>
            <a:off x="752475" y="4688681"/>
            <a:ext cx="1047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57250" y="4691062"/>
            <a:ext cx="504825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Cumple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Criterio 1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y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Criterio 2.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752475" y="5036343"/>
            <a:ext cx="1047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57250" y="5038725"/>
            <a:ext cx="504825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Cumple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Criterio 1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pero no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Criterio 2.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52475" y="5384006"/>
            <a:ext cx="1047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857250" y="5386387"/>
            <a:ext cx="504825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No cumple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Criterio 1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pero sí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Criterio 2.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752475" y="5731668"/>
            <a:ext cx="1047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857250" y="5734050"/>
            <a:ext cx="504825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No cumple ninguno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los dos.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581400"/>
            <a:ext cx="52387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152900"/>
            <a:ext cx="5238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914900"/>
            <a:ext cx="5238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76900"/>
            <a:ext cx="52387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395287" y="47625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Ejercicio: Clasificación de Estudiantes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66750" y="1476375"/>
            <a:ext cx="55006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9D174D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Planteamiento del Problema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66750" y="1914525"/>
            <a:ext cx="5238750" cy="29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 grupo de estudiantes es clasificado según dos criterios: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66750" y="3195637"/>
            <a:ext cx="5238750" cy="29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Los datos de los estudiantes son: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286500" y="1476375"/>
            <a:ext cx="55006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9D174D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Completa la Tabla y Responde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286500" y="1914525"/>
            <a:ext cx="5238750" cy="20383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graphicFrame>
        <p:nvGraphicFramePr>
          <p:cNvPr id="115" name="Google Shape;115;p14"/>
          <p:cNvGraphicFramePr/>
          <p:nvPr/>
        </p:nvGraphicFramePr>
        <p:xfrm>
          <a:off x="6286500" y="1914525"/>
          <a:ext cx="5229225" cy="20383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Practican</a:t>
                      </a:r>
                      <a:b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</a:b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        deportes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No practican</a:t>
                      </a:r>
                      <a:b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</a:b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        deportes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Tocan un</a:t>
                      </a:r>
                      <a:b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</a:b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        instrumento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Ana, Carlos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Sofía, Tomás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No tocan un</a:t>
                      </a:r>
                      <a:b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</a:b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        instrumento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Luis,</a:t>
                      </a:r>
                      <a:b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US" sz="1200" b="0" i="0" u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Mariana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Diego, Laura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6" name="Google Shape;116;p14"/>
          <p:cNvSpPr txBox="1"/>
          <p:nvPr/>
        </p:nvSpPr>
        <p:spPr>
          <a:xfrm>
            <a:off x="752475" y="2316956"/>
            <a:ext cx="1047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857250" y="2319337"/>
            <a:ext cx="504825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 practican deportes / No practican deportes.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52475" y="2683668"/>
            <a:ext cx="1047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857250" y="2686050"/>
            <a:ext cx="504825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 tocan un instrumento musical / No tocan un instrumento.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6286500" y="4238625"/>
            <a:ext cx="52387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 ¿Cuántos estudiantes practican deportes?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6286500" y="4486275"/>
            <a:ext cx="5238750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BE185D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4 estudiantes (Ana, Carlos, Luis, Mariana).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6286500" y="4867275"/>
            <a:ext cx="52387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 ¿Cuántos estudiantes tocan un instrumento?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6286500" y="5114925"/>
            <a:ext cx="5238750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BE185D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4 estudiantes (Ana, Carlos, Sofía, Tomás).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6286500" y="5495925"/>
            <a:ext cx="52387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8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3. ¿Cuántos estudiantes cumplen ambas condiciones?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6286500" y="5743575"/>
            <a:ext cx="5238750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BE185D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2 estudiantes (Ana, Carlos).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/>
        </p:nvSpPr>
        <p:spPr>
          <a:xfrm>
            <a:off x="666750" y="571500"/>
            <a:ext cx="10858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Ejercicios para trabajo independiente:</a:t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9175"/>
            <a:ext cx="10963275" cy="45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/>
        </p:nvSpPr>
        <p:spPr>
          <a:xfrm>
            <a:off x="666750" y="571500"/>
            <a:ext cx="10858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Ejercicios para trabajo independiente:</a:t>
            </a:r>
            <a:endParaRPr/>
          </a:p>
        </p:txBody>
      </p:sp>
      <p:pic>
        <p:nvPicPr>
          <p:cNvPr id="137" name="Google Shape;13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9175"/>
            <a:ext cx="10934700" cy="50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73925"/>
            <a:ext cx="8572500" cy="64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2152650" y="416825"/>
            <a:ext cx="7886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♦</a:t>
            </a:r>
            <a:r>
              <a:rPr lang="en-US" sz="16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Ejercicio 5: Diagrama de Carroll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2152650" y="864500"/>
            <a:ext cx="78867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 grupo de estudiantes es clasificado según: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2152650" y="2159900"/>
            <a:ext cx="78867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Se encuestaron los siguientes estudiantes: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2152650" y="4303025"/>
            <a:ext cx="7886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C2626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📌 Completa el diagrama de Carroll: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152650" y="4645925"/>
            <a:ext cx="7886700" cy="1543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graphicFrame>
        <p:nvGraphicFramePr>
          <p:cNvPr id="148" name="Google Shape;148;p17"/>
          <p:cNvGraphicFramePr/>
          <p:nvPr/>
        </p:nvGraphicFramePr>
        <p:xfrm>
          <a:off x="2152650" y="4645925"/>
          <a:ext cx="7877175" cy="15430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6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Practican deportes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No practican deportes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Tocan un instrumento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No tocan un instrumento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9" name="Google Shape;149;p17"/>
          <p:cNvSpPr txBox="1"/>
          <p:nvPr/>
        </p:nvSpPr>
        <p:spPr>
          <a:xfrm>
            <a:off x="2247900" y="126455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2343150" y="1264550"/>
            <a:ext cx="76962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 practican deportes / No practican deportes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2247900" y="166460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2343150" y="1664600"/>
            <a:ext cx="76962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 tocan un instrumento musical / No tocan un instrumento musical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2247900" y="255995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2343150" y="2559950"/>
            <a:ext cx="76962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Ana y Carlos practican deportes y tocan un instrumento.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2247900" y="296000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2343150" y="2960000"/>
            <a:ext cx="76962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Luis y Mariana practican deportes, pero no tocan instrumentos.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2247900" y="336005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2343150" y="3360050"/>
            <a:ext cx="76962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Sofía y Tomás no practican deportes, pero tocan un instrumento.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2247900" y="376010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2343150" y="3760100"/>
            <a:ext cx="76962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Diego y Laura no practican deportes ni tocan instrumentos.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/>
        </p:nvSpPr>
        <p:spPr>
          <a:xfrm>
            <a:off x="666750" y="571500"/>
            <a:ext cx="10858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Ejercicios para trabajo independiente:</a:t>
            </a: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9175"/>
            <a:ext cx="9648825" cy="55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2739</Words>
  <Application>Microsoft Office PowerPoint</Application>
  <PresentationFormat>Panorámica</PresentationFormat>
  <Paragraphs>365</Paragraphs>
  <Slides>29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6" baseType="lpstr">
      <vt:lpstr>Arial</vt:lpstr>
      <vt:lpstr>Inter SemiBold</vt:lpstr>
      <vt:lpstr>Calibri</vt:lpstr>
      <vt:lpstr>Times New Roman</vt:lpstr>
      <vt:lpstr>Wingdings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 villada</dc:creator>
  <cp:lastModifiedBy>Sebastian Montoya Villada</cp:lastModifiedBy>
  <cp:revision>4</cp:revision>
  <dcterms:modified xsi:type="dcterms:W3CDTF">2026-03-19T14:32:19Z</dcterms:modified>
</cp:coreProperties>
</file>