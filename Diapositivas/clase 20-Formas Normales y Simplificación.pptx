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</p:sldIdLst>
  <p:sldSz cx="12192000" cy="6858000"/>
  <p:notesSz cx="6858000" cy="9144000"/>
  <p:embeddedFontLst>
    <p:embeddedFont>
      <p:font typeface="Fira Code" panose="020B0809050000020004" pitchFamily="49" charset="0"/>
      <p:regular r:id="rId28"/>
      <p:bold r:id="rId29"/>
    </p:embeddedFont>
    <p:embeddedFont>
      <p:font typeface="Lato" panose="020F0502020204030203" pitchFamily="34" charset="0"/>
      <p:regular r:id="rId30"/>
      <p:bold r:id="rId31"/>
      <p:italic r:id="rId32"/>
      <p:boldItalic r:id="rId33"/>
    </p:embeddedFont>
    <p:embeddedFont>
      <p:font typeface="Poppins" panose="00000500000000000000" pitchFamily="2" charset="0"/>
      <p:regular r:id="rId34"/>
      <p:bold r:id="rId35"/>
      <p:italic r:id="rId36"/>
      <p:boldItalic r:id="rId37"/>
    </p:embeddedFont>
    <p:embeddedFont>
      <p:font typeface="Poppins SemiBold" panose="00000700000000000000" pitchFamily="2" charset="0"/>
      <p:regular r:id="rId38"/>
      <p:bold r:id="rId39"/>
      <p:italic r:id="rId40"/>
      <p:boldItalic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DEE003D-FEE7-4D22-944B-CF89262BD658}">
  <a:tblStyle styleId="{BDEE003D-FEE7-4D22-944B-CF89262BD65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2.fntdata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font" Target="fonts/font13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font" Target="fonts/font11.fntdata"/><Relationship Id="rId20" Type="http://schemas.openxmlformats.org/officeDocument/2006/relationships/slide" Target="slides/slide19.xml"/><Relationship Id="rId41" Type="http://schemas.openxmlformats.org/officeDocument/2006/relationships/font" Target="fonts/font1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0" name="Google Shape;15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3" name="Google Shape;22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19.png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46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5" Type="http://schemas.openxmlformats.org/officeDocument/2006/relationships/image" Target="../media/image48.pn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Relationship Id="rId14" Type="http://schemas.openxmlformats.org/officeDocument/2006/relationships/image" Target="../media/image4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58.png"/><Relationship Id="rId3" Type="http://schemas.openxmlformats.org/officeDocument/2006/relationships/image" Target="../media/image36.png"/><Relationship Id="rId7" Type="http://schemas.openxmlformats.org/officeDocument/2006/relationships/image" Target="../media/image52.png"/><Relationship Id="rId12" Type="http://schemas.openxmlformats.org/officeDocument/2006/relationships/image" Target="../media/image5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11" Type="http://schemas.openxmlformats.org/officeDocument/2006/relationships/image" Target="../media/image56.png"/><Relationship Id="rId5" Type="http://schemas.openxmlformats.org/officeDocument/2006/relationships/image" Target="../media/image50.png"/><Relationship Id="rId10" Type="http://schemas.openxmlformats.org/officeDocument/2006/relationships/image" Target="../media/image55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36.png"/><Relationship Id="rId7" Type="http://schemas.openxmlformats.org/officeDocument/2006/relationships/image" Target="../media/image6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Relationship Id="rId9" Type="http://schemas.openxmlformats.org/officeDocument/2006/relationships/image" Target="../media/image6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36.png"/><Relationship Id="rId7" Type="http://schemas.openxmlformats.org/officeDocument/2006/relationships/image" Target="../media/image6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5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36.png"/><Relationship Id="rId7" Type="http://schemas.openxmlformats.org/officeDocument/2006/relationships/image" Target="../media/image7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10" Type="http://schemas.openxmlformats.org/officeDocument/2006/relationships/image" Target="../media/image77.png"/><Relationship Id="rId4" Type="http://schemas.openxmlformats.org/officeDocument/2006/relationships/image" Target="../media/image71.png"/><Relationship Id="rId9" Type="http://schemas.openxmlformats.org/officeDocument/2006/relationships/image" Target="../media/image7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8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13" Type="http://schemas.openxmlformats.org/officeDocument/2006/relationships/image" Target="../media/image88.png"/><Relationship Id="rId3" Type="http://schemas.openxmlformats.org/officeDocument/2006/relationships/image" Target="../media/image36.png"/><Relationship Id="rId7" Type="http://schemas.openxmlformats.org/officeDocument/2006/relationships/image" Target="../media/image82.png"/><Relationship Id="rId12" Type="http://schemas.openxmlformats.org/officeDocument/2006/relationships/image" Target="../media/image8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1.png"/><Relationship Id="rId11" Type="http://schemas.openxmlformats.org/officeDocument/2006/relationships/image" Target="../media/image86.png"/><Relationship Id="rId5" Type="http://schemas.openxmlformats.org/officeDocument/2006/relationships/image" Target="../media/image80.png"/><Relationship Id="rId10" Type="http://schemas.openxmlformats.org/officeDocument/2006/relationships/image" Target="../media/image85.png"/><Relationship Id="rId4" Type="http://schemas.openxmlformats.org/officeDocument/2006/relationships/image" Target="../media/image79.png"/><Relationship Id="rId9" Type="http://schemas.openxmlformats.org/officeDocument/2006/relationships/image" Target="../media/image8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13" Type="http://schemas.openxmlformats.org/officeDocument/2006/relationships/image" Target="../media/image103.png"/><Relationship Id="rId3" Type="http://schemas.openxmlformats.org/officeDocument/2006/relationships/image" Target="../media/image89.png"/><Relationship Id="rId7" Type="http://schemas.openxmlformats.org/officeDocument/2006/relationships/image" Target="../media/image97.png"/><Relationship Id="rId12" Type="http://schemas.openxmlformats.org/officeDocument/2006/relationships/image" Target="../media/image102.png"/><Relationship Id="rId2" Type="http://schemas.openxmlformats.org/officeDocument/2006/relationships/notesSlide" Target="../notesSlides/notesSlide23.xml"/><Relationship Id="rId16" Type="http://schemas.openxmlformats.org/officeDocument/2006/relationships/image" Target="../media/image10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6.png"/><Relationship Id="rId11" Type="http://schemas.openxmlformats.org/officeDocument/2006/relationships/image" Target="../media/image101.png"/><Relationship Id="rId5" Type="http://schemas.openxmlformats.org/officeDocument/2006/relationships/image" Target="../media/image95.png"/><Relationship Id="rId15" Type="http://schemas.openxmlformats.org/officeDocument/2006/relationships/image" Target="../media/image105.png"/><Relationship Id="rId10" Type="http://schemas.openxmlformats.org/officeDocument/2006/relationships/image" Target="../media/image100.png"/><Relationship Id="rId4" Type="http://schemas.openxmlformats.org/officeDocument/2006/relationships/image" Target="../media/image94.png"/><Relationship Id="rId9" Type="http://schemas.openxmlformats.org/officeDocument/2006/relationships/image" Target="../media/image99.png"/><Relationship Id="rId14" Type="http://schemas.openxmlformats.org/officeDocument/2006/relationships/image" Target="../media/image10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8.png"/><Relationship Id="rId4" Type="http://schemas.openxmlformats.org/officeDocument/2006/relationships/image" Target="../media/image10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7" Type="http://schemas.openxmlformats.org/officeDocument/2006/relationships/image" Target="../media/image11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1.png"/><Relationship Id="rId5" Type="http://schemas.openxmlformats.org/officeDocument/2006/relationships/image" Target="../media/image110.png"/><Relationship Id="rId4" Type="http://schemas.openxmlformats.org/officeDocument/2006/relationships/image" Target="../media/image10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420290" y="2491829"/>
            <a:ext cx="11351418" cy="146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Álgebra Booleana: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8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 Formas Normales y Simplificación</a:t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5524500" y="4431059"/>
            <a:ext cx="1143000" cy="571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1809750" y="4773959"/>
            <a:ext cx="8572500" cy="79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Fundamentos teóricos, métodos de construcción sistemática y aplicaciones prácticas en el diseño avanzado de circuitos digitales.</a:t>
            </a:r>
            <a:endParaRPr/>
          </a:p>
        </p:txBody>
      </p:sp>
      <p:pic>
        <p:nvPicPr>
          <p:cNvPr id="88" name="Google Shape;88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0" y="1377404"/>
            <a:ext cx="762000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613570"/>
            <a:ext cx="2547937" cy="3769518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05187" y="2613570"/>
            <a:ext cx="2547937" cy="3769518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38875" y="2613570"/>
            <a:ext cx="2547937" cy="3769518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72562" y="2613570"/>
            <a:ext cx="2547937" cy="3769518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571500" y="1676400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Un recorrido estructurado para dominar el modelado de funciones lógicas.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767834" y="3756570"/>
            <a:ext cx="2155269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Formas Canónicas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819150" y="4699545"/>
            <a:ext cx="2052637" cy="1340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Definición y principios teóricos de la FND y FNC en el álgebra booleana.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3709035" y="3756570"/>
            <a:ext cx="1940242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Construcción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3652837" y="4299495"/>
            <a:ext cx="2052637" cy="1340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Metodología paso a paso para derivar expresiones a partir de tablas de verdad.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487715" y="3756570"/>
            <a:ext cx="2050256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Simplificación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486525" y="4299495"/>
            <a:ext cx="2052637" cy="1340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Base matemática para la posterior optimización de circuitos lógicos.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9671446" y="3756570"/>
            <a:ext cx="1350168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Ejercicios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9320212" y="4299495"/>
            <a:ext cx="2052637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Desarrollo de casos prácticos y trabajo independiente guiado.</a:t>
            </a:r>
            <a:endParaRPr/>
          </a:p>
        </p:txBody>
      </p:sp>
      <p:pic>
        <p:nvPicPr>
          <p:cNvPr id="107" name="Google Shape;107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578768" y="3042195"/>
            <a:ext cx="5334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379118" y="3042195"/>
            <a:ext cx="60007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274718" y="3042195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4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046493" y="3042195"/>
            <a:ext cx="600075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4"/>
          <p:cNvSpPr txBox="1"/>
          <p:nvPr/>
        </p:nvSpPr>
        <p:spPr>
          <a:xfrm>
            <a:off x="571500" y="571500"/>
            <a:ext cx="116014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Contenido de la Sesión</a:t>
            </a:r>
            <a:endParaRPr/>
          </a:p>
        </p:txBody>
      </p:sp>
      <p:sp>
        <p:nvSpPr>
          <p:cNvPr id="112" name="Google Shape;112;p14"/>
          <p:cNvSpPr/>
          <p:nvPr/>
        </p:nvSpPr>
        <p:spPr>
          <a:xfrm>
            <a:off x="571500" y="126682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062882"/>
            <a:ext cx="5286375" cy="33694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3062882"/>
            <a:ext cx="5286375" cy="3369468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1333500" y="1676400"/>
            <a:ext cx="952500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Son métodos matemáticos estandarizados que permiten expresar </a:t>
            </a: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cualquier función lógica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manera estructurada. En una forma "canónica", cada término de la expresión debe contener </a:t>
            </a: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todas las variables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del sistema, ya sea en su forma directa o negada.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919400" y="4205882"/>
            <a:ext cx="4590573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Forma Normal Disyuntiva (FND)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819150" y="4748807"/>
            <a:ext cx="4791075" cy="1340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Conocida comúnmente como </a:t>
            </a: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"Suma de Productos"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(SOP por sus siglas en inglés). Se enfoca en las combinaciones de entrada que hacen que la función sea verdadera (salida 1). Utiliza Minitérminos.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6652021" y="4205882"/>
            <a:ext cx="465058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Forma Normal Conjuntiva (FNC)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6581775" y="4748807"/>
            <a:ext cx="4791075" cy="1340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Conocida como </a:t>
            </a: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"Producto de Sumas"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(POS por sus siglas en inglés). Se enfoca en las combinaciones de entrada que hacen que la función sea falsa (salida 0). Utiliza Maxitérminos.</a:t>
            </a:r>
            <a:endParaRPr/>
          </a:p>
        </p:txBody>
      </p:sp>
      <p:pic>
        <p:nvPicPr>
          <p:cNvPr id="125" name="Google Shape;125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976562" y="3491507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739187" y="3491507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5"/>
          <p:cNvSpPr txBox="1"/>
          <p:nvPr/>
        </p:nvSpPr>
        <p:spPr>
          <a:xfrm>
            <a:off x="571500" y="571500"/>
            <a:ext cx="116014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¿Qué son las Formas Normales Canónicas?</a:t>
            </a:r>
            <a:endParaRPr/>
          </a:p>
        </p:txBody>
      </p:sp>
      <p:sp>
        <p:nvSpPr>
          <p:cNvPr id="128" name="Google Shape;128;p15"/>
          <p:cNvSpPr/>
          <p:nvPr/>
        </p:nvSpPr>
        <p:spPr>
          <a:xfrm>
            <a:off x="571500" y="126682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/>
          <p:nvPr/>
        </p:nvSpPr>
        <p:spPr>
          <a:xfrm>
            <a:off x="857250" y="1676400"/>
            <a:ext cx="10477500" cy="1559867"/>
          </a:xfrm>
          <a:prstGeom prst="roundRect">
            <a:avLst>
              <a:gd name="adj" fmla="val 4885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 txBox="1"/>
          <p:nvPr/>
        </p:nvSpPr>
        <p:spPr>
          <a:xfrm>
            <a:off x="1571625" y="1914525"/>
            <a:ext cx="9525000" cy="1083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Sistematización del Diseño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Permiten trasladar directamente los requerimientos del sistema (plasmados en una tabla de verdad) a una ecuación algebraica sin necesidad de intuición o adivinanzas.</a:t>
            </a:r>
            <a:endParaRPr/>
          </a:p>
        </p:txBody>
      </p:sp>
      <p:sp>
        <p:nvSpPr>
          <p:cNvPr id="136" name="Google Shape;136;p16"/>
          <p:cNvSpPr/>
          <p:nvPr/>
        </p:nvSpPr>
        <p:spPr>
          <a:xfrm>
            <a:off x="857250" y="1676400"/>
            <a:ext cx="57150" cy="1559867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/>
          <p:nvPr/>
        </p:nvSpPr>
        <p:spPr>
          <a:xfrm>
            <a:off x="857250" y="3522017"/>
            <a:ext cx="10477500" cy="1559867"/>
          </a:xfrm>
          <a:prstGeom prst="roundRect">
            <a:avLst>
              <a:gd name="adj" fmla="val 4885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 txBox="1"/>
          <p:nvPr/>
        </p:nvSpPr>
        <p:spPr>
          <a:xfrm>
            <a:off x="1571625" y="3760142"/>
            <a:ext cx="9525000" cy="1083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Base para la Optimización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Son el punto de partida matemático estricto para aplicar técnicas de reducción como los Mapas de Karnaugh o el Algoritmo computacional de Quine-McCluskey.</a:t>
            </a:r>
            <a:endParaRPr/>
          </a:p>
        </p:txBody>
      </p:sp>
      <p:sp>
        <p:nvSpPr>
          <p:cNvPr id="139" name="Google Shape;139;p16"/>
          <p:cNvSpPr/>
          <p:nvPr/>
        </p:nvSpPr>
        <p:spPr>
          <a:xfrm>
            <a:off x="857250" y="3522017"/>
            <a:ext cx="57150" cy="1559867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857250" y="5367627"/>
            <a:ext cx="10477500" cy="1190400"/>
          </a:xfrm>
          <a:prstGeom prst="roundRect">
            <a:avLst>
              <a:gd name="adj" fmla="val 4885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 txBox="1"/>
          <p:nvPr/>
        </p:nvSpPr>
        <p:spPr>
          <a:xfrm>
            <a:off x="1571625" y="5605760"/>
            <a:ext cx="9525000" cy="1083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Implementación Directa en Hardware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Su estructura de dos niveles (AND-OR para FND, OR-AND para FNC) facilita enormemente la programación de dispositivos lógicos como FPGAs o CPLDs.</a:t>
            </a:r>
            <a:endParaRPr/>
          </a:p>
        </p:txBody>
      </p:sp>
      <p:sp>
        <p:nvSpPr>
          <p:cNvPr id="142" name="Google Shape;142;p16"/>
          <p:cNvSpPr/>
          <p:nvPr/>
        </p:nvSpPr>
        <p:spPr>
          <a:xfrm flipH="1">
            <a:off x="914700" y="5367625"/>
            <a:ext cx="57000" cy="1083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3" name="Google Shape;143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52525" y="1952625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52525" y="3798242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52525" y="5643860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 txBox="1"/>
          <p:nvPr/>
        </p:nvSpPr>
        <p:spPr>
          <a:xfrm>
            <a:off x="571500" y="571500"/>
            <a:ext cx="116014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¿Por qué son fundamentales en el Diseño Digital?</a:t>
            </a:r>
            <a:endParaRPr/>
          </a:p>
        </p:txBody>
      </p:sp>
      <p:sp>
        <p:nvSpPr>
          <p:cNvPr id="147" name="Google Shape;147;p16"/>
          <p:cNvSpPr/>
          <p:nvPr/>
        </p:nvSpPr>
        <p:spPr>
          <a:xfrm>
            <a:off x="571500" y="126682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227603"/>
            <a:ext cx="11333988" cy="10504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057400"/>
            <a:ext cx="5238750" cy="95428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7"/>
          <p:cNvSpPr txBox="1"/>
          <p:nvPr/>
        </p:nvSpPr>
        <p:spPr>
          <a:xfrm>
            <a:off x="571500" y="1676400"/>
            <a:ext cx="550068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Minitérminos (Suma de Productos)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571500" y="2219325"/>
            <a:ext cx="5238750" cy="1340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Un </a:t>
            </a:r>
            <a:r>
              <a:rPr lang="en-US" sz="1650" b="1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minitérmino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es un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producto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lógico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(AND)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que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contiene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todas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las variables de la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función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afirmadas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o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negadas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 Un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minitérmino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evalúa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 1 para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una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1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única</a:t>
            </a:r>
            <a:r>
              <a:rPr lang="en-US" sz="165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1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combinación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entradas.</a:t>
            </a:r>
            <a:endParaRPr dirty="0"/>
          </a:p>
        </p:txBody>
      </p:sp>
      <p:sp>
        <p:nvSpPr>
          <p:cNvPr id="157" name="Google Shape;157;p17"/>
          <p:cNvSpPr txBox="1"/>
          <p:nvPr/>
        </p:nvSpPr>
        <p:spPr>
          <a:xfrm>
            <a:off x="571500" y="3750468"/>
            <a:ext cx="523875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La FND organiza la función lógica como una suma lógica (OR) de todos los minitérminos que producen un 1 en la tabla de verdad.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6381750" y="3297435"/>
            <a:ext cx="5238750" cy="378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1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Donde mi representa los minitérminos activos.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857249" y="5337259"/>
            <a:ext cx="10710617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1D4ED8"/>
                </a:solidFill>
                <a:latin typeface="Poppins"/>
                <a:ea typeface="Poppins"/>
                <a:cs typeface="Poppins"/>
                <a:sym typeface="Poppins"/>
              </a:rPr>
              <a:t>Regla Fundamental:</a:t>
            </a:r>
            <a:endParaRPr dirty="0"/>
          </a:p>
        </p:txBody>
      </p:sp>
      <p:sp>
        <p:nvSpPr>
          <p:cNvPr id="160" name="Google Shape;160;p17"/>
          <p:cNvSpPr txBox="1"/>
          <p:nvPr/>
        </p:nvSpPr>
        <p:spPr>
          <a:xfrm>
            <a:off x="857250" y="5746834"/>
            <a:ext cx="10200589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 un minitérmino, si la variable de entrada vale </a:t>
            </a: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se escribe </a:t>
            </a:r>
            <a:r>
              <a:rPr lang="en-US" sz="1650" b="0" i="1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directa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(Ej: A). Si vale </a:t>
            </a: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se escribe </a:t>
            </a:r>
            <a:r>
              <a:rPr lang="en-US" sz="1650" b="0" i="1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negada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(Ej: A').</a:t>
            </a:r>
            <a:endParaRPr/>
          </a:p>
        </p:txBody>
      </p:sp>
      <p:pic>
        <p:nvPicPr>
          <p:cNvPr id="161" name="Google Shape;161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79147" y="2303264"/>
            <a:ext cx="1643955" cy="508396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/>
          <p:nvPr/>
        </p:nvSpPr>
        <p:spPr>
          <a:xfrm>
            <a:off x="571500" y="571500"/>
            <a:ext cx="116014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Forma Normal Disyuntiva (FND) - Teoría</a:t>
            </a:r>
            <a:endParaRPr/>
          </a:p>
        </p:txBody>
      </p:sp>
      <p:sp>
        <p:nvSpPr>
          <p:cNvPr id="163" name="Google Shape;163;p17"/>
          <p:cNvSpPr/>
          <p:nvPr/>
        </p:nvSpPr>
        <p:spPr>
          <a:xfrm>
            <a:off x="571500" y="126682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8"/>
          <p:cNvSpPr/>
          <p:nvPr/>
        </p:nvSpPr>
        <p:spPr>
          <a:xfrm>
            <a:off x="694182" y="1451150"/>
            <a:ext cx="11284458" cy="1085850"/>
          </a:xfrm>
          <a:prstGeom prst="roundRect">
            <a:avLst>
              <a:gd name="adj" fmla="val 4885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 txBox="1"/>
          <p:nvPr/>
        </p:nvSpPr>
        <p:spPr>
          <a:xfrm>
            <a:off x="1408556" y="1689274"/>
            <a:ext cx="10030629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Paso 1: Construir la Tabla de Verdad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Define todas las combinaciones posibles de entrada y el estado deseado de la salida (F) para cada una.</a:t>
            </a:r>
            <a:endParaRPr/>
          </a:p>
        </p:txBody>
      </p:sp>
      <p:sp>
        <p:nvSpPr>
          <p:cNvPr id="171" name="Google Shape;171;p18"/>
          <p:cNvSpPr/>
          <p:nvPr/>
        </p:nvSpPr>
        <p:spPr>
          <a:xfrm>
            <a:off x="694182" y="1451149"/>
            <a:ext cx="81914" cy="1085851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/>
          <p:nvPr/>
        </p:nvSpPr>
        <p:spPr>
          <a:xfrm>
            <a:off x="694181" y="2901777"/>
            <a:ext cx="11284458" cy="1144116"/>
          </a:xfrm>
          <a:prstGeom prst="roundRect">
            <a:avLst>
              <a:gd name="adj" fmla="val 4885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8"/>
          <p:cNvSpPr txBox="1"/>
          <p:nvPr/>
        </p:nvSpPr>
        <p:spPr>
          <a:xfrm>
            <a:off x="1408555" y="3139901"/>
            <a:ext cx="10030629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Paso 2: Identificar Salidas Activas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Localiza únicamente las filas donde la función tiene una salida verdadera (</a:t>
            </a:r>
            <a:r>
              <a:rPr lang="en-US" sz="1650" b="1" i="0" u="none" strike="noStrike" cap="none">
                <a:solidFill>
                  <a:srgbClr val="2563EB"/>
                </a:solidFill>
                <a:latin typeface="Lato"/>
                <a:ea typeface="Lato"/>
                <a:cs typeface="Lato"/>
                <a:sym typeface="Lato"/>
              </a:rPr>
              <a:t>F = 1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). Ignora los ceros.</a:t>
            </a:r>
            <a:endParaRPr/>
          </a:p>
        </p:txBody>
      </p:sp>
      <p:sp>
        <p:nvSpPr>
          <p:cNvPr id="174" name="Google Shape;174;p18"/>
          <p:cNvSpPr/>
          <p:nvPr/>
        </p:nvSpPr>
        <p:spPr>
          <a:xfrm>
            <a:off x="694181" y="2901777"/>
            <a:ext cx="81914" cy="114411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8"/>
          <p:cNvSpPr/>
          <p:nvPr/>
        </p:nvSpPr>
        <p:spPr>
          <a:xfrm>
            <a:off x="694181" y="4410670"/>
            <a:ext cx="11284458" cy="1144116"/>
          </a:xfrm>
          <a:prstGeom prst="roundRect">
            <a:avLst>
              <a:gd name="adj" fmla="val 4885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8"/>
          <p:cNvSpPr txBox="1"/>
          <p:nvPr/>
        </p:nvSpPr>
        <p:spPr>
          <a:xfrm>
            <a:off x="1408555" y="4648794"/>
            <a:ext cx="10030629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Paso 3: Construir el Minitérmino (Producto)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Para cada fila seleccionada, forma una compuerta AND multiplicando las variables. Si la variable es 0, colócala negada. Si es 1, colócala directa.</a:t>
            </a:r>
            <a:endParaRPr/>
          </a:p>
        </p:txBody>
      </p:sp>
      <p:sp>
        <p:nvSpPr>
          <p:cNvPr id="177" name="Google Shape;177;p18"/>
          <p:cNvSpPr/>
          <p:nvPr/>
        </p:nvSpPr>
        <p:spPr>
          <a:xfrm>
            <a:off x="694180" y="4410670"/>
            <a:ext cx="81915" cy="114411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8"/>
          <p:cNvSpPr/>
          <p:nvPr/>
        </p:nvSpPr>
        <p:spPr>
          <a:xfrm>
            <a:off x="1809750" y="7213252"/>
            <a:ext cx="8572500" cy="1559867"/>
          </a:xfrm>
          <a:prstGeom prst="roundRect">
            <a:avLst>
              <a:gd name="adj" fmla="val 4885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8"/>
          <p:cNvSpPr txBox="1"/>
          <p:nvPr/>
        </p:nvSpPr>
        <p:spPr>
          <a:xfrm>
            <a:off x="2524125" y="7451377"/>
            <a:ext cx="7620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Paso 4: Suma Lógica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Une todos los minitérminos resultantes utilizando compuertas OR (signo +). El resultado es la función en FND.</a:t>
            </a:r>
            <a:endParaRPr/>
          </a:p>
        </p:txBody>
      </p:sp>
      <p:sp>
        <p:nvSpPr>
          <p:cNvPr id="180" name="Google Shape;180;p18"/>
          <p:cNvSpPr/>
          <p:nvPr/>
        </p:nvSpPr>
        <p:spPr>
          <a:xfrm>
            <a:off x="1809750" y="7213252"/>
            <a:ext cx="57150" cy="1559867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1" name="Google Shape;181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89456" y="1727374"/>
            <a:ext cx="150459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89455" y="3178001"/>
            <a:ext cx="200613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89456" y="4686894"/>
            <a:ext cx="188074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05025" y="7489477"/>
            <a:ext cx="1714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8"/>
          <p:cNvSpPr txBox="1"/>
          <p:nvPr/>
        </p:nvSpPr>
        <p:spPr>
          <a:xfrm>
            <a:off x="571500" y="571500"/>
            <a:ext cx="116014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Pasos para construir la FND</a:t>
            </a:r>
            <a:endParaRPr/>
          </a:p>
        </p:txBody>
      </p:sp>
      <p:sp>
        <p:nvSpPr>
          <p:cNvPr id="186" name="Google Shape;186;p18"/>
          <p:cNvSpPr/>
          <p:nvPr/>
        </p:nvSpPr>
        <p:spPr>
          <a:xfrm>
            <a:off x="571500" y="126682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67260"/>
            <a:ext cx="5238750" cy="32283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4981277"/>
            <a:ext cx="5238750" cy="8858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4" name="Google Shape;194;p19"/>
          <p:cNvGraphicFramePr/>
          <p:nvPr/>
        </p:nvGraphicFramePr>
        <p:xfrm>
          <a:off x="581025" y="2376785"/>
          <a:ext cx="5219700" cy="3209375"/>
        </p:xfrm>
        <a:graphic>
          <a:graphicData uri="http://schemas.openxmlformats.org/drawingml/2006/table">
            <a:tbl>
              <a:tblPr firstRow="1" bandRow="1">
                <a:noFill/>
                <a:tableStyleId>{BDEE003D-FEE7-4D22-944B-CF89262BD658}</a:tableStyleId>
              </a:tblPr>
              <a:tblGrid>
                <a:gridCol w="511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1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5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82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1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 (Salida)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Minitérmino generado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1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94A3B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-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1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2563E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A' B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1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2563E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 B'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1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94A3B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-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5" name="Google Shape;195;p19"/>
          <p:cNvSpPr txBox="1"/>
          <p:nvPr/>
        </p:nvSpPr>
        <p:spPr>
          <a:xfrm>
            <a:off x="6381750" y="1905297"/>
            <a:ext cx="550068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Análisis del Resultado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6381750" y="2448222"/>
            <a:ext cx="52387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Al observar la tabla, la salida es 1 en la segunda y tercera fila.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6381750" y="4265116"/>
            <a:ext cx="52387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Finalmente, unimos mediante una suma lógica (OR):</a:t>
            </a:r>
            <a:endParaRPr/>
          </a:p>
        </p:txBody>
      </p:sp>
      <p:sp>
        <p:nvSpPr>
          <p:cNvPr id="198" name="Google Shape;198;p19"/>
          <p:cNvSpPr/>
          <p:nvPr/>
        </p:nvSpPr>
        <p:spPr>
          <a:xfrm>
            <a:off x="581025" y="3045321"/>
            <a:ext cx="511075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9"/>
          <p:cNvSpPr/>
          <p:nvPr/>
        </p:nvSpPr>
        <p:spPr>
          <a:xfrm>
            <a:off x="1092100" y="3045321"/>
            <a:ext cx="49143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9"/>
          <p:cNvSpPr/>
          <p:nvPr/>
        </p:nvSpPr>
        <p:spPr>
          <a:xfrm>
            <a:off x="1583531" y="3045321"/>
            <a:ext cx="1435149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9"/>
          <p:cNvSpPr/>
          <p:nvPr/>
        </p:nvSpPr>
        <p:spPr>
          <a:xfrm>
            <a:off x="3018680" y="3045321"/>
            <a:ext cx="2782044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9"/>
          <p:cNvSpPr txBox="1"/>
          <p:nvPr/>
        </p:nvSpPr>
        <p:spPr>
          <a:xfrm>
            <a:off x="6448425" y="3309997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03" name="Google Shape;203;p19"/>
          <p:cNvSpPr txBox="1"/>
          <p:nvPr/>
        </p:nvSpPr>
        <p:spPr>
          <a:xfrm>
            <a:off x="6572250" y="3309044"/>
            <a:ext cx="50482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Fila 2: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A=0, B=1 → Minitérmino: A'B</a:t>
            </a:r>
            <a:endParaRPr/>
          </a:p>
        </p:txBody>
      </p:sp>
      <p:sp>
        <p:nvSpPr>
          <p:cNvPr id="204" name="Google Shape;204;p19"/>
          <p:cNvSpPr txBox="1"/>
          <p:nvPr/>
        </p:nvSpPr>
        <p:spPr>
          <a:xfrm>
            <a:off x="6448425" y="3645157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05" name="Google Shape;205;p19"/>
          <p:cNvSpPr txBox="1"/>
          <p:nvPr/>
        </p:nvSpPr>
        <p:spPr>
          <a:xfrm>
            <a:off x="6572250" y="3644205"/>
            <a:ext cx="50482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Fila 3: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A=1, B=0 → Minitérmino: AB'</a:t>
            </a:r>
            <a:endParaRPr/>
          </a:p>
        </p:txBody>
      </p:sp>
      <p:sp>
        <p:nvSpPr>
          <p:cNvPr id="206" name="Google Shape;206;p19"/>
          <p:cNvSpPr/>
          <p:nvPr/>
        </p:nvSpPr>
        <p:spPr>
          <a:xfrm>
            <a:off x="581025" y="3690044"/>
            <a:ext cx="5110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9"/>
          <p:cNvSpPr/>
          <p:nvPr/>
        </p:nvSpPr>
        <p:spPr>
          <a:xfrm>
            <a:off x="1092100" y="3690044"/>
            <a:ext cx="4914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9"/>
          <p:cNvSpPr/>
          <p:nvPr/>
        </p:nvSpPr>
        <p:spPr>
          <a:xfrm>
            <a:off x="1583531" y="3690044"/>
            <a:ext cx="143514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9"/>
          <p:cNvSpPr/>
          <p:nvPr/>
        </p:nvSpPr>
        <p:spPr>
          <a:xfrm>
            <a:off x="3018680" y="3690044"/>
            <a:ext cx="278204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9"/>
          <p:cNvSpPr/>
          <p:nvPr/>
        </p:nvSpPr>
        <p:spPr>
          <a:xfrm>
            <a:off x="581025" y="4320480"/>
            <a:ext cx="5110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9"/>
          <p:cNvSpPr/>
          <p:nvPr/>
        </p:nvSpPr>
        <p:spPr>
          <a:xfrm>
            <a:off x="1092100" y="4320480"/>
            <a:ext cx="4914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9"/>
          <p:cNvSpPr/>
          <p:nvPr/>
        </p:nvSpPr>
        <p:spPr>
          <a:xfrm>
            <a:off x="1583531" y="4320480"/>
            <a:ext cx="143514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9"/>
          <p:cNvSpPr/>
          <p:nvPr/>
        </p:nvSpPr>
        <p:spPr>
          <a:xfrm>
            <a:off x="3018680" y="4320480"/>
            <a:ext cx="278204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9"/>
          <p:cNvSpPr/>
          <p:nvPr/>
        </p:nvSpPr>
        <p:spPr>
          <a:xfrm>
            <a:off x="581025" y="4950916"/>
            <a:ext cx="5110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9"/>
          <p:cNvSpPr/>
          <p:nvPr/>
        </p:nvSpPr>
        <p:spPr>
          <a:xfrm>
            <a:off x="1092100" y="4950916"/>
            <a:ext cx="4914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9"/>
          <p:cNvSpPr/>
          <p:nvPr/>
        </p:nvSpPr>
        <p:spPr>
          <a:xfrm>
            <a:off x="1583531" y="4950916"/>
            <a:ext cx="143514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9"/>
          <p:cNvSpPr/>
          <p:nvPr/>
        </p:nvSpPr>
        <p:spPr>
          <a:xfrm>
            <a:off x="3018680" y="4950916"/>
            <a:ext cx="278204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8" name="Google Shape;218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091957" y="5198566"/>
            <a:ext cx="3818334" cy="46851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9"/>
          <p:cNvSpPr txBox="1"/>
          <p:nvPr/>
        </p:nvSpPr>
        <p:spPr>
          <a:xfrm>
            <a:off x="571500" y="571500"/>
            <a:ext cx="116014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Ejemplo de Construcción FND (Compuerta XOR)</a:t>
            </a:r>
            <a:endParaRPr/>
          </a:p>
        </p:txBody>
      </p:sp>
      <p:sp>
        <p:nvSpPr>
          <p:cNvPr id="220" name="Google Shape;220;p19"/>
          <p:cNvSpPr/>
          <p:nvPr/>
        </p:nvSpPr>
        <p:spPr>
          <a:xfrm>
            <a:off x="571500" y="126682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802147"/>
            <a:ext cx="11242548" cy="15780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057400"/>
            <a:ext cx="5238750" cy="954285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0"/>
          <p:cNvSpPr txBox="1"/>
          <p:nvPr/>
        </p:nvSpPr>
        <p:spPr>
          <a:xfrm>
            <a:off x="571500" y="1676400"/>
            <a:ext cx="550068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Maxitérminos (Producto de Sumas)</a:t>
            </a:r>
            <a:endParaRPr/>
          </a:p>
        </p:txBody>
      </p:sp>
      <p:sp>
        <p:nvSpPr>
          <p:cNvPr id="229" name="Google Shape;229;p20"/>
          <p:cNvSpPr txBox="1"/>
          <p:nvPr/>
        </p:nvSpPr>
        <p:spPr>
          <a:xfrm>
            <a:off x="571500" y="2219325"/>
            <a:ext cx="523875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Un </a:t>
            </a: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maxitérmino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es una suma lógica (OR) que contiene todas las variables de la función. Un maxitérmino evalúa a 0 para una </a:t>
            </a: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única combinación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entradas.</a:t>
            </a:r>
            <a:endParaRPr/>
          </a:p>
        </p:txBody>
      </p:sp>
      <p:sp>
        <p:nvSpPr>
          <p:cNvPr id="230" name="Google Shape;230;p20"/>
          <p:cNvSpPr txBox="1"/>
          <p:nvPr/>
        </p:nvSpPr>
        <p:spPr>
          <a:xfrm>
            <a:off x="571500" y="3415307"/>
            <a:ext cx="523875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 diferencia de la FND, la FNC organiza la función lógica como un producto lógico (AND) de todos los maxitérminos que producen un 0 en la tabla de verdad.</a:t>
            </a:r>
            <a:endParaRPr/>
          </a:p>
        </p:txBody>
      </p:sp>
      <p:sp>
        <p:nvSpPr>
          <p:cNvPr id="231" name="Google Shape;231;p20"/>
          <p:cNvSpPr txBox="1"/>
          <p:nvPr/>
        </p:nvSpPr>
        <p:spPr>
          <a:xfrm>
            <a:off x="6381750" y="3297435"/>
            <a:ext cx="5238750" cy="378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1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Donde Mi representa los maxitérminos activos.</a:t>
            </a:r>
            <a:endParaRPr/>
          </a:p>
        </p:txBody>
      </p:sp>
      <p:sp>
        <p:nvSpPr>
          <p:cNvPr id="232" name="Google Shape;232;p20"/>
          <p:cNvSpPr txBox="1"/>
          <p:nvPr/>
        </p:nvSpPr>
        <p:spPr>
          <a:xfrm>
            <a:off x="857250" y="5040271"/>
            <a:ext cx="10624206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B91C1C"/>
                </a:solidFill>
                <a:latin typeface="Poppins"/>
                <a:ea typeface="Poppins"/>
                <a:cs typeface="Poppins"/>
                <a:sym typeface="Poppins"/>
              </a:rPr>
              <a:t>Lógica Inversa (Dualidad):</a:t>
            </a:r>
            <a:endParaRPr/>
          </a:p>
        </p:txBody>
      </p:sp>
      <p:sp>
        <p:nvSpPr>
          <p:cNvPr id="233" name="Google Shape;233;p20"/>
          <p:cNvSpPr txBox="1"/>
          <p:nvPr/>
        </p:nvSpPr>
        <p:spPr>
          <a:xfrm>
            <a:off x="857250" y="5449846"/>
            <a:ext cx="10118293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 un maxitérmino, si la variable de entrada vale </a:t>
            </a: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se escribe </a:t>
            </a:r>
            <a:r>
              <a:rPr lang="en-US" sz="1650" b="0" i="1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directa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(Ej: A). Si vale </a:t>
            </a: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se escribe </a:t>
            </a:r>
            <a:r>
              <a:rPr lang="en-US" sz="1650" b="0" i="1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negada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(Ej: A'). Es exactamente lo opuesto a la FND.</a:t>
            </a:r>
            <a:endParaRPr/>
          </a:p>
        </p:txBody>
      </p:sp>
      <p:pic>
        <p:nvPicPr>
          <p:cNvPr id="234" name="Google Shape;234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34796" y="2303264"/>
            <a:ext cx="1732657" cy="508396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0"/>
          <p:cNvSpPr txBox="1"/>
          <p:nvPr/>
        </p:nvSpPr>
        <p:spPr>
          <a:xfrm>
            <a:off x="571500" y="571500"/>
            <a:ext cx="116014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Forma Normal Conjuntiva (FNC) - Teoría</a:t>
            </a:r>
            <a:endParaRPr/>
          </a:p>
        </p:txBody>
      </p:sp>
      <p:sp>
        <p:nvSpPr>
          <p:cNvPr id="236" name="Google Shape;236;p20"/>
          <p:cNvSpPr/>
          <p:nvPr/>
        </p:nvSpPr>
        <p:spPr>
          <a:xfrm>
            <a:off x="571500" y="126682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90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1"/>
          <p:cNvSpPr/>
          <p:nvPr/>
        </p:nvSpPr>
        <p:spPr>
          <a:xfrm>
            <a:off x="688086" y="1370559"/>
            <a:ext cx="11503914" cy="750689"/>
          </a:xfrm>
          <a:prstGeom prst="roundRect">
            <a:avLst>
              <a:gd name="adj" fmla="val 6221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1"/>
          <p:cNvSpPr txBox="1"/>
          <p:nvPr/>
        </p:nvSpPr>
        <p:spPr>
          <a:xfrm>
            <a:off x="1353692" y="1608684"/>
            <a:ext cx="10269051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Paso 1: Construir la Tabla de Verdad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Exactamente igual que en el método anterior.</a:t>
            </a:r>
            <a:endParaRPr/>
          </a:p>
        </p:txBody>
      </p:sp>
      <p:sp>
        <p:nvSpPr>
          <p:cNvPr id="244" name="Google Shape;244;p21"/>
          <p:cNvSpPr/>
          <p:nvPr/>
        </p:nvSpPr>
        <p:spPr>
          <a:xfrm>
            <a:off x="634571" y="1370558"/>
            <a:ext cx="47300" cy="750689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1"/>
          <p:cNvSpPr/>
          <p:nvPr/>
        </p:nvSpPr>
        <p:spPr>
          <a:xfrm>
            <a:off x="626483" y="2291174"/>
            <a:ext cx="11552682" cy="1085851"/>
          </a:xfrm>
          <a:prstGeom prst="roundRect">
            <a:avLst>
              <a:gd name="adj" fmla="val 4885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1"/>
          <p:cNvSpPr txBox="1"/>
          <p:nvPr/>
        </p:nvSpPr>
        <p:spPr>
          <a:xfrm>
            <a:off x="1340857" y="2529299"/>
            <a:ext cx="10269051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Paso 2: </a:t>
            </a:r>
            <a:r>
              <a:rPr lang="en-US" sz="1650" b="1" i="0" u="none" strike="noStrike" cap="none" dirty="0" err="1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Identificar</a:t>
            </a:r>
            <a:r>
              <a:rPr lang="en-US" sz="1650" b="1" i="0" u="none" strike="noStrike" cap="none" dirty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 Salidas </a:t>
            </a:r>
            <a:r>
              <a:rPr lang="en-US" sz="1650" b="1" i="0" u="none" strike="noStrike" cap="none" dirty="0" err="1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en</a:t>
            </a:r>
            <a:r>
              <a:rPr lang="en-US" sz="1650" b="1" i="0" u="none" strike="noStrike" cap="none" dirty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 Cero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Localiza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únicamente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las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filas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donde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la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función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tiene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una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salida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falsa (</a:t>
            </a:r>
            <a:r>
              <a:rPr lang="en-US" sz="1650" b="1" i="0" u="none" strike="noStrike" cap="none" dirty="0">
                <a:solidFill>
                  <a:srgbClr val="EF4444"/>
                </a:solidFill>
                <a:latin typeface="Lato"/>
                <a:ea typeface="Lato"/>
                <a:cs typeface="Lato"/>
                <a:sym typeface="Lato"/>
              </a:rPr>
              <a:t>F = 0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).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Ignora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los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unos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247" name="Google Shape;247;p21"/>
          <p:cNvSpPr/>
          <p:nvPr/>
        </p:nvSpPr>
        <p:spPr>
          <a:xfrm>
            <a:off x="626483" y="2291174"/>
            <a:ext cx="48768" cy="1085851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1"/>
          <p:cNvSpPr/>
          <p:nvPr/>
        </p:nvSpPr>
        <p:spPr>
          <a:xfrm>
            <a:off x="620268" y="3546952"/>
            <a:ext cx="11552682" cy="1085852"/>
          </a:xfrm>
          <a:prstGeom prst="roundRect">
            <a:avLst>
              <a:gd name="adj" fmla="val 4885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1"/>
          <p:cNvSpPr txBox="1"/>
          <p:nvPr/>
        </p:nvSpPr>
        <p:spPr>
          <a:xfrm>
            <a:off x="1334642" y="3785076"/>
            <a:ext cx="10269051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Paso 3: Construir el Maxitérmino (Suma)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Para cada fila, forma una compuerta OR sumando las variables. Recuerda la dualidad: Si la variable es 1, va negada. Si es 0, va directa.</a:t>
            </a:r>
            <a:endParaRPr/>
          </a:p>
        </p:txBody>
      </p:sp>
      <p:sp>
        <p:nvSpPr>
          <p:cNvPr id="250" name="Google Shape;250;p21"/>
          <p:cNvSpPr/>
          <p:nvPr/>
        </p:nvSpPr>
        <p:spPr>
          <a:xfrm>
            <a:off x="620268" y="3546952"/>
            <a:ext cx="48768" cy="10858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1"/>
          <p:cNvSpPr/>
          <p:nvPr/>
        </p:nvSpPr>
        <p:spPr>
          <a:xfrm>
            <a:off x="620268" y="4811241"/>
            <a:ext cx="11552682" cy="1150647"/>
          </a:xfrm>
          <a:prstGeom prst="roundRect">
            <a:avLst>
              <a:gd name="adj" fmla="val 4885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1"/>
          <p:cNvSpPr txBox="1"/>
          <p:nvPr/>
        </p:nvSpPr>
        <p:spPr>
          <a:xfrm>
            <a:off x="1334642" y="5049366"/>
            <a:ext cx="10269051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Paso 4: Multiplicación Lógica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Une todos los maxitérminos resultantes utilizando compuertas AND (paréntesis/signo de multiplicación).</a:t>
            </a:r>
            <a:endParaRPr/>
          </a:p>
        </p:txBody>
      </p:sp>
      <p:sp>
        <p:nvSpPr>
          <p:cNvPr id="253" name="Google Shape;253;p21"/>
          <p:cNvSpPr/>
          <p:nvPr/>
        </p:nvSpPr>
        <p:spPr>
          <a:xfrm>
            <a:off x="620268" y="4811241"/>
            <a:ext cx="48768" cy="1150647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4" name="Google Shape;254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4593" y="1646784"/>
            <a:ext cx="154036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21757" y="2567399"/>
            <a:ext cx="205381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15543" y="3823176"/>
            <a:ext cx="19254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15543" y="5087466"/>
            <a:ext cx="231054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1"/>
          <p:cNvSpPr txBox="1"/>
          <p:nvPr/>
        </p:nvSpPr>
        <p:spPr>
          <a:xfrm>
            <a:off x="571500" y="571500"/>
            <a:ext cx="116014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Pasos para construir la FNC</a:t>
            </a:r>
            <a:endParaRPr/>
          </a:p>
        </p:txBody>
      </p:sp>
      <p:sp>
        <p:nvSpPr>
          <p:cNvPr id="259" name="Google Shape;259;p21"/>
          <p:cNvSpPr/>
          <p:nvPr/>
        </p:nvSpPr>
        <p:spPr>
          <a:xfrm>
            <a:off x="571500" y="126682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32834" y="4981277"/>
            <a:ext cx="6087665" cy="8858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67" name="Google Shape;267;p22"/>
          <p:cNvGraphicFramePr/>
          <p:nvPr>
            <p:extLst>
              <p:ext uri="{D42A27DB-BD31-4B8C-83A1-F6EECF244321}">
                <p14:modId xmlns:p14="http://schemas.microsoft.com/office/powerpoint/2010/main" val="932891871"/>
              </p:ext>
            </p:extLst>
          </p:nvPr>
        </p:nvGraphicFramePr>
        <p:xfrm>
          <a:off x="389001" y="2117661"/>
          <a:ext cx="4370775" cy="3544500"/>
        </p:xfrm>
        <a:graphic>
          <a:graphicData uri="http://schemas.openxmlformats.org/drawingml/2006/table">
            <a:tbl>
              <a:tblPr firstRow="1" bandRow="1">
                <a:noFill/>
                <a:tableStyleId>{BDEE003D-FEE7-4D22-944B-CF89262BD658}</a:tableStyleId>
              </a:tblPr>
              <a:tblGrid>
                <a:gridCol w="495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0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8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8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 dirty="0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 dirty="0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 (Salida)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 dirty="0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Maxitérmino </a:t>
                      </a:r>
                      <a:r>
                        <a:rPr lang="en-US" sz="1650" b="1" i="0" u="none" strike="noStrike" cap="none" dirty="0" err="1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generado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8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EF444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(A + B)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8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94A3B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-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8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94A3B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-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8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EF444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 dirty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(A' + B')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68" name="Google Shape;268;p22"/>
          <p:cNvSpPr txBox="1"/>
          <p:nvPr/>
        </p:nvSpPr>
        <p:spPr>
          <a:xfrm>
            <a:off x="5532834" y="1905297"/>
            <a:ext cx="6392048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Análisis del Resultado</a:t>
            </a:r>
            <a:endParaRPr/>
          </a:p>
        </p:txBody>
      </p:sp>
      <p:sp>
        <p:nvSpPr>
          <p:cNvPr id="269" name="Google Shape;269;p22"/>
          <p:cNvSpPr txBox="1"/>
          <p:nvPr/>
        </p:nvSpPr>
        <p:spPr>
          <a:xfrm>
            <a:off x="5532834" y="2448222"/>
            <a:ext cx="608766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 este caso nos enfocamos donde la salida es 0 (primera y cuarta fila).</a:t>
            </a:r>
            <a:endParaRPr/>
          </a:p>
        </p:txBody>
      </p:sp>
      <p:sp>
        <p:nvSpPr>
          <p:cNvPr id="270" name="Google Shape;270;p22"/>
          <p:cNvSpPr txBox="1"/>
          <p:nvPr/>
        </p:nvSpPr>
        <p:spPr>
          <a:xfrm>
            <a:off x="5532834" y="4265116"/>
            <a:ext cx="608766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Finalmente, unimos mediante un producto lógico (AND):</a:t>
            </a:r>
            <a:endParaRPr/>
          </a:p>
        </p:txBody>
      </p:sp>
      <p:sp>
        <p:nvSpPr>
          <p:cNvPr id="275" name="Google Shape;275;p22"/>
          <p:cNvSpPr txBox="1"/>
          <p:nvPr/>
        </p:nvSpPr>
        <p:spPr>
          <a:xfrm>
            <a:off x="5599509" y="3309997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76" name="Google Shape;276;p22"/>
          <p:cNvSpPr txBox="1"/>
          <p:nvPr/>
        </p:nvSpPr>
        <p:spPr>
          <a:xfrm>
            <a:off x="5723334" y="3309044"/>
            <a:ext cx="589716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Fila 1: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A=0, B=0 → Maxitérmino: (A+B)</a:t>
            </a:r>
            <a:endParaRPr/>
          </a:p>
        </p:txBody>
      </p:sp>
      <p:sp>
        <p:nvSpPr>
          <p:cNvPr id="277" name="Google Shape;277;p22"/>
          <p:cNvSpPr txBox="1"/>
          <p:nvPr/>
        </p:nvSpPr>
        <p:spPr>
          <a:xfrm>
            <a:off x="5599509" y="3645157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78" name="Google Shape;278;p22"/>
          <p:cNvSpPr txBox="1"/>
          <p:nvPr/>
        </p:nvSpPr>
        <p:spPr>
          <a:xfrm>
            <a:off x="5723334" y="3644205"/>
            <a:ext cx="589716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Fila 4: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A=1, B=1 → Maxitérmino: (A'+B')</a:t>
            </a:r>
            <a:endParaRPr/>
          </a:p>
        </p:txBody>
      </p:sp>
      <p:pic>
        <p:nvPicPr>
          <p:cNvPr id="291" name="Google Shape;291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32859" y="5198566"/>
            <a:ext cx="5687615" cy="46851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2"/>
          <p:cNvSpPr txBox="1"/>
          <p:nvPr/>
        </p:nvSpPr>
        <p:spPr>
          <a:xfrm>
            <a:off x="571500" y="571500"/>
            <a:ext cx="116014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Ejemplo de Construcción FNC (Compuerta XOR)</a:t>
            </a:r>
            <a:endParaRPr/>
          </a:p>
        </p:txBody>
      </p:sp>
      <p:sp>
        <p:nvSpPr>
          <p:cNvPr id="293" name="Google Shape;293;p22"/>
          <p:cNvSpPr/>
          <p:nvPr/>
        </p:nvSpPr>
        <p:spPr>
          <a:xfrm>
            <a:off x="571500" y="126682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3"/>
          <p:cNvSpPr txBox="1"/>
          <p:nvPr/>
        </p:nvSpPr>
        <p:spPr>
          <a:xfrm>
            <a:off x="370332" y="1519207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Dada la siguiente tabla de verdad de 3 variables, derive tanto la ecuación en </a:t>
            </a: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FND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como en </a:t>
            </a: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FNC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301" name="Google Shape;301;p23"/>
          <p:cNvSpPr txBox="1"/>
          <p:nvPr/>
        </p:nvSpPr>
        <p:spPr>
          <a:xfrm>
            <a:off x="571500" y="8190309"/>
            <a:ext cx="11049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Pista: Debes encontrar 4 minitérminos para la FND y 4 maxitérminos para la FNC.</a:t>
            </a:r>
            <a:endParaRPr/>
          </a:p>
        </p:txBody>
      </p:sp>
      <p:graphicFrame>
        <p:nvGraphicFramePr>
          <p:cNvPr id="302" name="Google Shape;302;p23"/>
          <p:cNvGraphicFramePr/>
          <p:nvPr>
            <p:extLst>
              <p:ext uri="{D42A27DB-BD31-4B8C-83A1-F6EECF244321}">
                <p14:modId xmlns:p14="http://schemas.microsoft.com/office/powerpoint/2010/main" val="816621016"/>
              </p:ext>
            </p:extLst>
          </p:nvPr>
        </p:nvGraphicFramePr>
        <p:xfrm>
          <a:off x="1203305" y="2025849"/>
          <a:ext cx="9383052" cy="4455883"/>
        </p:xfrm>
        <a:graphic>
          <a:graphicData uri="http://schemas.openxmlformats.org/drawingml/2006/table">
            <a:tbl>
              <a:tblPr firstRow="1" bandRow="1">
                <a:noFill/>
                <a:tableStyleId>{BDEE003D-FEE7-4D22-944B-CF89262BD658}</a:tableStyleId>
              </a:tblPr>
              <a:tblGrid>
                <a:gridCol w="23457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57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457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457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509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 dirty="0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 dirty="0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09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09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09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509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509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509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509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 dirty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511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 dirty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32" name="Google Shape;332;p23"/>
          <p:cNvSpPr/>
          <p:nvPr/>
        </p:nvSpPr>
        <p:spPr>
          <a:xfrm>
            <a:off x="4195762" y="7355085"/>
            <a:ext cx="19002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3"/>
          <p:cNvSpPr/>
          <p:nvPr/>
        </p:nvSpPr>
        <p:spPr>
          <a:xfrm>
            <a:off x="6096000" y="7355085"/>
            <a:ext cx="19002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3"/>
          <p:cNvSpPr/>
          <p:nvPr/>
        </p:nvSpPr>
        <p:spPr>
          <a:xfrm>
            <a:off x="7996237" y="7355085"/>
            <a:ext cx="19002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3"/>
          <p:cNvSpPr txBox="1"/>
          <p:nvPr/>
        </p:nvSpPr>
        <p:spPr>
          <a:xfrm>
            <a:off x="571500" y="571500"/>
            <a:ext cx="116014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Actividad: Construcción de Formas Normales</a:t>
            </a:r>
            <a:endParaRPr/>
          </a:p>
        </p:txBody>
      </p:sp>
      <p:sp>
        <p:nvSpPr>
          <p:cNvPr id="336" name="Google Shape;336;p23"/>
          <p:cNvSpPr/>
          <p:nvPr/>
        </p:nvSpPr>
        <p:spPr>
          <a:xfrm>
            <a:off x="571500" y="126682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2596" y="4698652"/>
            <a:ext cx="5293221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50989" y="5873767"/>
            <a:ext cx="8679507" cy="60007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571500" y="1419225"/>
            <a:ext cx="555788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1. Forma Normal Disyuntiva (FND)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1895475"/>
            <a:ext cx="5293221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 identifican las filas donde la salida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 = 1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292596" y="4439989"/>
            <a:ext cx="5293221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Sumamos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los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productos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obtenidos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Minitérminos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):</a:t>
            </a:r>
            <a:endParaRPr dirty="0"/>
          </a:p>
        </p:txBody>
      </p:sp>
      <p:sp>
        <p:nvSpPr>
          <p:cNvPr id="90" name="Google Shape;90;p13"/>
          <p:cNvSpPr txBox="1"/>
          <p:nvPr/>
        </p:nvSpPr>
        <p:spPr>
          <a:xfrm>
            <a:off x="6340971" y="1419225"/>
            <a:ext cx="5851028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2. Forma Normal Conjuntiva (FNC)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6340971" y="1895475"/>
            <a:ext cx="5851028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 identifican las filas donde la salida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 = 0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292596" y="5574200"/>
            <a:ext cx="5851028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Multiplicamos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las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sumas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obtenidas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Maxitérminos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):</a:t>
            </a:r>
            <a:endParaRPr dirty="0"/>
          </a:p>
        </p:txBody>
      </p:sp>
      <p:sp>
        <p:nvSpPr>
          <p:cNvPr id="93" name="Google Shape;93;p13"/>
          <p:cNvSpPr txBox="1"/>
          <p:nvPr/>
        </p:nvSpPr>
        <p:spPr>
          <a:xfrm>
            <a:off x="742949" y="236877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857250" y="2312640"/>
            <a:ext cx="5007471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(0,0,1) →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742949" y="281644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857250" y="2760315"/>
            <a:ext cx="5007471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(0,1,0) →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742949" y="326412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857250" y="3207990"/>
            <a:ext cx="5007471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(1,0,0) →</a:t>
            </a:r>
            <a:endParaRPr/>
          </a:p>
        </p:txBody>
      </p:sp>
      <p:sp>
        <p:nvSpPr>
          <p:cNvPr id="99" name="Google Shape;99;p13"/>
          <p:cNvSpPr txBox="1"/>
          <p:nvPr/>
        </p:nvSpPr>
        <p:spPr>
          <a:xfrm>
            <a:off x="742949" y="371179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0" name="Google Shape;100;p13"/>
          <p:cNvSpPr txBox="1"/>
          <p:nvPr/>
        </p:nvSpPr>
        <p:spPr>
          <a:xfrm>
            <a:off x="857250" y="3655665"/>
            <a:ext cx="5007471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(1,1,1) →</a:t>
            </a:r>
            <a:endParaRPr/>
          </a:p>
        </p:txBody>
      </p:sp>
      <p:pic>
        <p:nvPicPr>
          <p:cNvPr id="101" name="Google Shape;101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44996" y="4856261"/>
            <a:ext cx="4988421" cy="290066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3"/>
          <p:cNvSpPr txBox="1"/>
          <p:nvPr/>
        </p:nvSpPr>
        <p:spPr>
          <a:xfrm>
            <a:off x="6417171" y="231264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3" name="Google Shape;103;p13"/>
          <p:cNvSpPr txBox="1"/>
          <p:nvPr/>
        </p:nvSpPr>
        <p:spPr>
          <a:xfrm>
            <a:off x="6626721" y="2312640"/>
            <a:ext cx="5565278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(0,0,0) →</a:t>
            </a:r>
            <a:endParaRPr/>
          </a:p>
        </p:txBody>
      </p:sp>
      <p:sp>
        <p:nvSpPr>
          <p:cNvPr id="104" name="Google Shape;104;p13"/>
          <p:cNvSpPr txBox="1"/>
          <p:nvPr/>
        </p:nvSpPr>
        <p:spPr>
          <a:xfrm>
            <a:off x="6417171" y="276031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5" name="Google Shape;105;p13"/>
          <p:cNvSpPr txBox="1"/>
          <p:nvPr/>
        </p:nvSpPr>
        <p:spPr>
          <a:xfrm>
            <a:off x="6626721" y="2760315"/>
            <a:ext cx="5565278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(0,1,1) →</a:t>
            </a:r>
            <a:endParaRPr/>
          </a:p>
        </p:txBody>
      </p:sp>
      <p:sp>
        <p:nvSpPr>
          <p:cNvPr id="106" name="Google Shape;106;p13"/>
          <p:cNvSpPr txBox="1"/>
          <p:nvPr/>
        </p:nvSpPr>
        <p:spPr>
          <a:xfrm>
            <a:off x="6417171" y="320799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7" name="Google Shape;107;p13"/>
          <p:cNvSpPr txBox="1"/>
          <p:nvPr/>
        </p:nvSpPr>
        <p:spPr>
          <a:xfrm>
            <a:off x="6626721" y="3207990"/>
            <a:ext cx="5565278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(1,0,1) →</a:t>
            </a:r>
            <a:endParaRPr/>
          </a:p>
        </p:txBody>
      </p:sp>
      <p:sp>
        <p:nvSpPr>
          <p:cNvPr id="108" name="Google Shape;108;p13"/>
          <p:cNvSpPr txBox="1"/>
          <p:nvPr/>
        </p:nvSpPr>
        <p:spPr>
          <a:xfrm>
            <a:off x="6417171" y="365566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9" name="Google Shape;109;p13"/>
          <p:cNvSpPr txBox="1"/>
          <p:nvPr/>
        </p:nvSpPr>
        <p:spPr>
          <a:xfrm>
            <a:off x="6626721" y="3655665"/>
            <a:ext cx="5565278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(1,1,0) →</a:t>
            </a:r>
            <a:endParaRPr/>
          </a:p>
        </p:txBody>
      </p:sp>
      <p:pic>
        <p:nvPicPr>
          <p:cNvPr id="110" name="Google Shape;110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03389" y="6031376"/>
            <a:ext cx="8374707" cy="2900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752599" y="2417439"/>
            <a:ext cx="391864" cy="179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752599" y="2865114"/>
            <a:ext cx="391864" cy="179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752599" y="3312789"/>
            <a:ext cx="391864" cy="179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3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752599" y="3807047"/>
            <a:ext cx="391864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3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426821" y="2398365"/>
            <a:ext cx="1156543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3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7426821" y="2808982"/>
            <a:ext cx="1156543" cy="2275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3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7426821" y="3256657"/>
            <a:ext cx="1156543" cy="2275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3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7426821" y="3704332"/>
            <a:ext cx="1156543" cy="227558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3"/>
          <p:cNvSpPr txBox="1"/>
          <p:nvPr/>
        </p:nvSpPr>
        <p:spPr>
          <a:xfrm>
            <a:off x="571500" y="47625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Solución: Construcción de FND y FNC</a:t>
            </a:r>
            <a:endParaRPr/>
          </a:p>
        </p:txBody>
      </p:sp>
      <p:sp>
        <p:nvSpPr>
          <p:cNvPr id="120" name="Google Shape;120;p13"/>
          <p:cNvSpPr/>
          <p:nvPr/>
        </p:nvSpPr>
        <p:spPr>
          <a:xfrm>
            <a:off x="571500" y="11144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09775"/>
            <a:ext cx="11049000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0100" y="3552825"/>
            <a:ext cx="1806178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0100" y="4760565"/>
            <a:ext cx="1613445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0100" y="5968305"/>
            <a:ext cx="2328713" cy="60007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4"/>
          <p:cNvSpPr txBox="1"/>
          <p:nvPr/>
        </p:nvSpPr>
        <p:spPr>
          <a:xfrm>
            <a:off x="571500" y="1419225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Simplificar la siguiente expresión lógica utilizando los postulados y teoremas:</a:t>
            </a:r>
            <a:endParaRPr/>
          </a:p>
        </p:txBody>
      </p:sp>
      <p:pic>
        <p:nvPicPr>
          <p:cNvPr id="131" name="Google Shape;131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013573" y="2314575"/>
            <a:ext cx="2164705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4"/>
          <p:cNvSpPr/>
          <p:nvPr/>
        </p:nvSpPr>
        <p:spPr>
          <a:xfrm>
            <a:off x="571500" y="3152775"/>
            <a:ext cx="11049000" cy="1064865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4"/>
          <p:cNvSpPr txBox="1"/>
          <p:nvPr/>
        </p:nvSpPr>
        <p:spPr>
          <a:xfrm>
            <a:off x="762000" y="3295650"/>
            <a:ext cx="10668000" cy="779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Paso 1: Expandir aplicando la ley distributiva</a:t>
            </a:r>
            <a:endParaRPr/>
          </a:p>
        </p:txBody>
      </p:sp>
      <p:sp>
        <p:nvSpPr>
          <p:cNvPr id="134" name="Google Shape;134;p14"/>
          <p:cNvSpPr/>
          <p:nvPr/>
        </p:nvSpPr>
        <p:spPr>
          <a:xfrm>
            <a:off x="571500" y="3152775"/>
            <a:ext cx="38100" cy="106486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4"/>
          <p:cNvSpPr/>
          <p:nvPr/>
        </p:nvSpPr>
        <p:spPr>
          <a:xfrm>
            <a:off x="571500" y="4360515"/>
            <a:ext cx="11049000" cy="1064865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4"/>
          <p:cNvSpPr txBox="1"/>
          <p:nvPr/>
        </p:nvSpPr>
        <p:spPr>
          <a:xfrm>
            <a:off x="762000" y="4503390"/>
            <a:ext cx="10668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Paso 2: </a:t>
            </a:r>
            <a:r>
              <a:rPr lang="en-US" sz="1500" b="1" i="0" u="none" strike="noStrike" cap="none" dirty="0" err="1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Simplificar</a:t>
            </a:r>
            <a:r>
              <a:rPr lang="en-US" sz="1500" b="1" i="0" u="none" strike="noStrike" cap="none" dirty="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1" i="0" u="none" strike="noStrike" cap="none" dirty="0" err="1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usando</a:t>
            </a:r>
            <a:r>
              <a:rPr lang="en-US" sz="1500" b="1" i="0" u="none" strike="noStrike" cap="none" dirty="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la ley de </a:t>
            </a:r>
            <a:r>
              <a:rPr lang="en-US" sz="1500" b="1" i="0" u="none" strike="noStrike" cap="none" dirty="0" err="1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Idempotencia</a:t>
            </a:r>
            <a:r>
              <a:rPr lang="en-US" sz="1500" b="1" i="0" u="none" strike="noStrike" cap="none" dirty="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(                  )</a:t>
            </a:r>
            <a:endParaRPr dirty="0"/>
          </a:p>
        </p:txBody>
      </p:sp>
      <p:sp>
        <p:nvSpPr>
          <p:cNvPr id="137" name="Google Shape;137;p14"/>
          <p:cNvSpPr/>
          <p:nvPr/>
        </p:nvSpPr>
        <p:spPr>
          <a:xfrm>
            <a:off x="571500" y="4360515"/>
            <a:ext cx="38100" cy="106486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4"/>
          <p:cNvSpPr/>
          <p:nvPr/>
        </p:nvSpPr>
        <p:spPr>
          <a:xfrm>
            <a:off x="571500" y="5568255"/>
            <a:ext cx="11049000" cy="1064865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4"/>
          <p:cNvSpPr txBox="1"/>
          <p:nvPr/>
        </p:nvSpPr>
        <p:spPr>
          <a:xfrm>
            <a:off x="762000" y="5711130"/>
            <a:ext cx="10668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Paso 3: </a:t>
            </a:r>
            <a:r>
              <a:rPr lang="en-US" sz="1500" b="1" i="0" u="none" strike="noStrike" cap="none" dirty="0" err="1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Aplicar</a:t>
            </a:r>
            <a:r>
              <a:rPr lang="en-US" sz="1500" b="1" i="0" u="none" strike="noStrike" cap="none" dirty="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la ley de </a:t>
            </a:r>
            <a:r>
              <a:rPr lang="en-US" sz="1500" b="1" i="0" u="none" strike="noStrike" cap="none" dirty="0" err="1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Absorción</a:t>
            </a:r>
            <a:r>
              <a:rPr lang="en-US" sz="1500" b="1" i="0" u="none" strike="noStrike" cap="none" dirty="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(                      )</a:t>
            </a:r>
            <a:endParaRPr dirty="0"/>
          </a:p>
        </p:txBody>
      </p:sp>
      <p:sp>
        <p:nvSpPr>
          <p:cNvPr id="140" name="Google Shape;140;p14"/>
          <p:cNvSpPr/>
          <p:nvPr/>
        </p:nvSpPr>
        <p:spPr>
          <a:xfrm>
            <a:off x="571500" y="5568255"/>
            <a:ext cx="38100" cy="106486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1" name="Google Shape;141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52500" y="3771900"/>
            <a:ext cx="1501378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013573" y="4619946"/>
            <a:ext cx="795337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4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52500" y="4979640"/>
            <a:ext cx="130864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4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793852" y="5834955"/>
            <a:ext cx="966341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4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952500" y="6177855"/>
            <a:ext cx="2023913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4"/>
          <p:cNvSpPr txBox="1"/>
          <p:nvPr/>
        </p:nvSpPr>
        <p:spPr>
          <a:xfrm>
            <a:off x="571500" y="47625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Ejemplo de Simplificación Paso a Paso (I)</a:t>
            </a:r>
            <a:endParaRPr/>
          </a:p>
        </p:txBody>
      </p:sp>
      <p:sp>
        <p:nvSpPr>
          <p:cNvPr id="147" name="Google Shape;147;p14"/>
          <p:cNvSpPr/>
          <p:nvPr/>
        </p:nvSpPr>
        <p:spPr>
          <a:xfrm>
            <a:off x="571500" y="11144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57450"/>
            <a:ext cx="4970859" cy="25108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18609" y="2457450"/>
            <a:ext cx="5621089" cy="25108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0100" y="3459511"/>
            <a:ext cx="4551759" cy="7355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47209" y="3541365"/>
            <a:ext cx="5201989" cy="653653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5"/>
          <p:cNvSpPr txBox="1"/>
          <p:nvPr/>
        </p:nvSpPr>
        <p:spPr>
          <a:xfrm>
            <a:off x="571500" y="1419225"/>
            <a:ext cx="11049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Objetivo del ejercicio: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Aplicar las leyes del complemento, idempotencia, distributiva y absorción para reducir las funciones a su mínima expresión.</a:t>
            </a:r>
            <a:endParaRPr/>
          </a:p>
        </p:txBody>
      </p:sp>
      <p:sp>
        <p:nvSpPr>
          <p:cNvPr id="158" name="Google Shape;158;p15"/>
          <p:cNvSpPr txBox="1"/>
          <p:nvPr/>
        </p:nvSpPr>
        <p:spPr>
          <a:xfrm>
            <a:off x="800100" y="2647950"/>
            <a:ext cx="4779347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Ejercicio 1:</a:t>
            </a:r>
            <a:endParaRPr/>
          </a:p>
        </p:txBody>
      </p:sp>
      <p:sp>
        <p:nvSpPr>
          <p:cNvPr id="159" name="Google Shape;159;p15"/>
          <p:cNvSpPr txBox="1"/>
          <p:nvPr/>
        </p:nvSpPr>
        <p:spPr>
          <a:xfrm>
            <a:off x="800100" y="3124200"/>
            <a:ext cx="4551759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Reduce la siguiente suma de productos:</a:t>
            </a:r>
            <a:endParaRPr/>
          </a:p>
        </p:txBody>
      </p:sp>
      <p:sp>
        <p:nvSpPr>
          <p:cNvPr id="160" name="Google Shape;160;p15"/>
          <p:cNvSpPr txBox="1"/>
          <p:nvPr/>
        </p:nvSpPr>
        <p:spPr>
          <a:xfrm>
            <a:off x="800100" y="4147393"/>
            <a:ext cx="4551759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Pista: Recuerda qué sucede cuando multiplicas una variable por su complemento.</a:t>
            </a:r>
            <a:endParaRPr/>
          </a:p>
        </p:txBody>
      </p:sp>
      <p:sp>
        <p:nvSpPr>
          <p:cNvPr id="161" name="Google Shape;161;p15"/>
          <p:cNvSpPr txBox="1"/>
          <p:nvPr/>
        </p:nvSpPr>
        <p:spPr>
          <a:xfrm>
            <a:off x="6247209" y="2647950"/>
            <a:ext cx="5462088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Ejercicio 2:</a:t>
            </a:r>
            <a:endParaRPr/>
          </a:p>
        </p:txBody>
      </p:sp>
      <p:sp>
        <p:nvSpPr>
          <p:cNvPr id="162" name="Google Shape;162;p15"/>
          <p:cNvSpPr txBox="1"/>
          <p:nvPr/>
        </p:nvSpPr>
        <p:spPr>
          <a:xfrm>
            <a:off x="6247209" y="3124200"/>
            <a:ext cx="5201989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Reduce este producto de sumas mixto:</a:t>
            </a:r>
            <a:endParaRPr/>
          </a:p>
        </p:txBody>
      </p:sp>
      <p:sp>
        <p:nvSpPr>
          <p:cNvPr id="163" name="Google Shape;163;p15"/>
          <p:cNvSpPr txBox="1"/>
          <p:nvPr/>
        </p:nvSpPr>
        <p:spPr>
          <a:xfrm>
            <a:off x="6247209" y="4147393"/>
            <a:ext cx="5201989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Pista: Multiplica los paréntesis primero, o usa el teorema de simplificación correspondiente.</a:t>
            </a:r>
            <a:endParaRPr/>
          </a:p>
        </p:txBody>
      </p:sp>
      <p:pic>
        <p:nvPicPr>
          <p:cNvPr id="164" name="Google Shape;164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47750" y="3588990"/>
            <a:ext cx="4056459" cy="3679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494859" y="3588990"/>
            <a:ext cx="4706689" cy="367903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5"/>
          <p:cNvSpPr txBox="1"/>
          <p:nvPr/>
        </p:nvSpPr>
        <p:spPr>
          <a:xfrm>
            <a:off x="571500" y="47625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Actividad Práctica en Clase (Simplificación)</a:t>
            </a:r>
            <a:endParaRPr/>
          </a:p>
        </p:txBody>
      </p:sp>
      <p:sp>
        <p:nvSpPr>
          <p:cNvPr id="167" name="Google Shape;167;p15"/>
          <p:cNvSpPr/>
          <p:nvPr/>
        </p:nvSpPr>
        <p:spPr>
          <a:xfrm>
            <a:off x="571500" y="11144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57400"/>
            <a:ext cx="11049000" cy="217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6"/>
          <p:cNvSpPr txBox="1"/>
          <p:nvPr/>
        </p:nvSpPr>
        <p:spPr>
          <a:xfrm>
            <a:off x="571500" y="1419225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 partir de la siguiente topología de un circuito lógico digital:</a:t>
            </a:r>
            <a:endParaRPr/>
          </a:p>
        </p:txBody>
      </p:sp>
      <p:sp>
        <p:nvSpPr>
          <p:cNvPr id="175" name="Google Shape;175;p16"/>
          <p:cNvSpPr txBox="1"/>
          <p:nvPr/>
        </p:nvSpPr>
        <p:spPr>
          <a:xfrm>
            <a:off x="571500" y="4514850"/>
            <a:ext cx="1160145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Actividades a realizar:</a:t>
            </a:r>
            <a:endParaRPr/>
          </a:p>
        </p:txBody>
      </p:sp>
      <p:sp>
        <p:nvSpPr>
          <p:cNvPr id="176" name="Google Shape;176;p16"/>
          <p:cNvSpPr txBox="1"/>
          <p:nvPr/>
        </p:nvSpPr>
        <p:spPr>
          <a:xfrm>
            <a:off x="657225" y="5065068"/>
            <a:ext cx="219075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1.</a:t>
            </a:r>
            <a:endParaRPr/>
          </a:p>
        </p:txBody>
      </p:sp>
      <p:sp>
        <p:nvSpPr>
          <p:cNvPr id="177" name="Google Shape;177;p16"/>
          <p:cNvSpPr txBox="1"/>
          <p:nvPr/>
        </p:nvSpPr>
        <p:spPr>
          <a:xfrm>
            <a:off x="809625" y="4991100"/>
            <a:ext cx="10810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Determina la función booleana que representa matemáticamente este circuito.</a:t>
            </a:r>
            <a:endParaRPr/>
          </a:p>
        </p:txBody>
      </p:sp>
      <p:sp>
        <p:nvSpPr>
          <p:cNvPr id="178" name="Google Shape;178;p16"/>
          <p:cNvSpPr txBox="1"/>
          <p:nvPr/>
        </p:nvSpPr>
        <p:spPr>
          <a:xfrm>
            <a:off x="657225" y="5369868"/>
            <a:ext cx="219075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2.</a:t>
            </a:r>
            <a:endParaRPr/>
          </a:p>
        </p:txBody>
      </p:sp>
      <p:sp>
        <p:nvSpPr>
          <p:cNvPr id="179" name="Google Shape;179;p16"/>
          <p:cNvSpPr txBox="1"/>
          <p:nvPr/>
        </p:nvSpPr>
        <p:spPr>
          <a:xfrm>
            <a:off x="809625" y="5295900"/>
            <a:ext cx="10810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Construye la tabla de verdad completa analizando todas las combinaciones.</a:t>
            </a:r>
            <a:endParaRPr/>
          </a:p>
        </p:txBody>
      </p:sp>
      <p:sp>
        <p:nvSpPr>
          <p:cNvPr id="180" name="Google Shape;180;p16"/>
          <p:cNvSpPr txBox="1"/>
          <p:nvPr/>
        </p:nvSpPr>
        <p:spPr>
          <a:xfrm>
            <a:off x="657225" y="5674668"/>
            <a:ext cx="219075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3.</a:t>
            </a:r>
            <a:endParaRPr/>
          </a:p>
        </p:txBody>
      </p:sp>
      <p:sp>
        <p:nvSpPr>
          <p:cNvPr id="181" name="Google Shape;181;p16"/>
          <p:cNvSpPr txBox="1"/>
          <p:nvPr/>
        </p:nvSpPr>
        <p:spPr>
          <a:xfrm>
            <a:off x="809625" y="5600700"/>
            <a:ext cx="10810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Simplifica la expresión resultante utilizando las Leyes de De Morgan.</a:t>
            </a:r>
            <a:endParaRPr/>
          </a:p>
        </p:txBody>
      </p:sp>
      <p:sp>
        <p:nvSpPr>
          <p:cNvPr id="182" name="Google Shape;182;p16"/>
          <p:cNvSpPr txBox="1"/>
          <p:nvPr/>
        </p:nvSpPr>
        <p:spPr>
          <a:xfrm>
            <a:off x="657225" y="5979468"/>
            <a:ext cx="219075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4.</a:t>
            </a:r>
            <a:endParaRPr/>
          </a:p>
        </p:txBody>
      </p:sp>
      <p:sp>
        <p:nvSpPr>
          <p:cNvPr id="183" name="Google Shape;183;p16"/>
          <p:cNvSpPr txBox="1"/>
          <p:nvPr/>
        </p:nvSpPr>
        <p:spPr>
          <a:xfrm>
            <a:off x="809625" y="5905500"/>
            <a:ext cx="10810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Describe verbalmente (lenguaje natural) bajo qué condiciones se activa la salida S.</a:t>
            </a:r>
            <a:endParaRPr/>
          </a:p>
        </p:txBody>
      </p:sp>
      <p:sp>
        <p:nvSpPr>
          <p:cNvPr id="184" name="Google Shape;184;p16"/>
          <p:cNvSpPr txBox="1"/>
          <p:nvPr/>
        </p:nvSpPr>
        <p:spPr>
          <a:xfrm>
            <a:off x="876300" y="224790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85" name="Google Shape;185;p16"/>
          <p:cNvSpPr txBox="1"/>
          <p:nvPr/>
        </p:nvSpPr>
        <p:spPr>
          <a:xfrm>
            <a:off x="1085850" y="2247900"/>
            <a:ext cx="103441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 circuito posee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tres entradas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denominadas: A, B, y C.</a:t>
            </a:r>
            <a:endParaRPr/>
          </a:p>
        </p:txBody>
      </p:sp>
      <p:sp>
        <p:nvSpPr>
          <p:cNvPr id="186" name="Google Shape;186;p16"/>
          <p:cNvSpPr txBox="1"/>
          <p:nvPr/>
        </p:nvSpPr>
        <p:spPr>
          <a:xfrm>
            <a:off x="876300" y="269557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87" name="Google Shape;187;p16"/>
          <p:cNvSpPr txBox="1"/>
          <p:nvPr/>
        </p:nvSpPr>
        <p:spPr>
          <a:xfrm>
            <a:off x="1085850" y="2695575"/>
            <a:ext cx="103441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Las señales A y B ingresan juntas a una compuerta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AND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188" name="Google Shape;188;p16"/>
          <p:cNvSpPr txBox="1"/>
          <p:nvPr/>
        </p:nvSpPr>
        <p:spPr>
          <a:xfrm>
            <a:off x="876300" y="314325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89" name="Google Shape;189;p16"/>
          <p:cNvSpPr txBox="1"/>
          <p:nvPr/>
        </p:nvSpPr>
        <p:spPr>
          <a:xfrm>
            <a:off x="1085850" y="3143250"/>
            <a:ext cx="103441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La salida de dicha compuerta AND se combina con la entrada C mediante una compuerta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OR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190" name="Google Shape;190;p16"/>
          <p:cNvSpPr txBox="1"/>
          <p:nvPr/>
        </p:nvSpPr>
        <p:spPr>
          <a:xfrm>
            <a:off x="876300" y="359092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91" name="Google Shape;191;p16"/>
          <p:cNvSpPr txBox="1"/>
          <p:nvPr/>
        </p:nvSpPr>
        <p:spPr>
          <a:xfrm>
            <a:off x="1085850" y="3590925"/>
            <a:ext cx="103441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Finalmente, la señal resultante pasa por una compuerta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NOT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(inversor) para producir la salida S.</a:t>
            </a:r>
            <a:endParaRPr/>
          </a:p>
        </p:txBody>
      </p:sp>
      <p:sp>
        <p:nvSpPr>
          <p:cNvPr id="192" name="Google Shape;192;p16"/>
          <p:cNvSpPr txBox="1"/>
          <p:nvPr/>
        </p:nvSpPr>
        <p:spPr>
          <a:xfrm>
            <a:off x="571500" y="47625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Estudio de Caso 1: Del Circuito a la Lógica</a:t>
            </a:r>
            <a:endParaRPr/>
          </a:p>
        </p:txBody>
      </p:sp>
      <p:sp>
        <p:nvSpPr>
          <p:cNvPr id="193" name="Google Shape;193;p16"/>
          <p:cNvSpPr/>
          <p:nvPr/>
        </p:nvSpPr>
        <p:spPr>
          <a:xfrm>
            <a:off x="571500" y="11144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654296"/>
            <a:ext cx="2929830" cy="691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895475"/>
            <a:ext cx="5286375" cy="4325987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7"/>
          <p:cNvSpPr txBox="1"/>
          <p:nvPr/>
        </p:nvSpPr>
        <p:spPr>
          <a:xfrm>
            <a:off x="571500" y="1419225"/>
            <a:ext cx="5550693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1. Función Lógica del Circuito</a:t>
            </a:r>
            <a:endParaRPr/>
          </a:p>
        </p:txBody>
      </p:sp>
      <p:sp>
        <p:nvSpPr>
          <p:cNvPr id="202" name="Google Shape;202;p17"/>
          <p:cNvSpPr txBox="1"/>
          <p:nvPr/>
        </p:nvSpPr>
        <p:spPr>
          <a:xfrm>
            <a:off x="6334125" y="1419225"/>
            <a:ext cx="5550693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2. Tabla de Verdad (Paso a paso)</a:t>
            </a:r>
            <a:endParaRPr/>
          </a:p>
        </p:txBody>
      </p:sp>
      <p:sp>
        <p:nvSpPr>
          <p:cNvPr id="203" name="Google Shape;203;p17"/>
          <p:cNvSpPr/>
          <p:nvPr/>
        </p:nvSpPr>
        <p:spPr>
          <a:xfrm>
            <a:off x="571500" y="1895475"/>
            <a:ext cx="5286375" cy="9029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7"/>
          <p:cNvSpPr txBox="1"/>
          <p:nvPr/>
        </p:nvSpPr>
        <p:spPr>
          <a:xfrm>
            <a:off x="762000" y="2038350"/>
            <a:ext cx="4905375" cy="617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Primero, hay un AND entre A y B: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sp>
        <p:nvSpPr>
          <p:cNvPr id="205" name="Google Shape;205;p17"/>
          <p:cNvSpPr/>
          <p:nvPr/>
        </p:nvSpPr>
        <p:spPr>
          <a:xfrm>
            <a:off x="571500" y="1895475"/>
            <a:ext cx="38100" cy="9029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7"/>
          <p:cNvSpPr/>
          <p:nvPr/>
        </p:nvSpPr>
        <p:spPr>
          <a:xfrm>
            <a:off x="571500" y="2941290"/>
            <a:ext cx="5286375" cy="9029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7"/>
          <p:cNvSpPr txBox="1"/>
          <p:nvPr/>
        </p:nvSpPr>
        <p:spPr>
          <a:xfrm>
            <a:off x="762000" y="3084165"/>
            <a:ext cx="4905375" cy="617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Luego, D se combina en un OR con C: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sp>
        <p:nvSpPr>
          <p:cNvPr id="208" name="Google Shape;208;p17"/>
          <p:cNvSpPr/>
          <p:nvPr/>
        </p:nvSpPr>
        <p:spPr>
          <a:xfrm>
            <a:off x="571500" y="2941290"/>
            <a:ext cx="38100" cy="9029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7"/>
          <p:cNvSpPr/>
          <p:nvPr/>
        </p:nvSpPr>
        <p:spPr>
          <a:xfrm>
            <a:off x="571500" y="3987105"/>
            <a:ext cx="5286375" cy="5905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7"/>
          <p:cNvSpPr txBox="1"/>
          <p:nvPr/>
        </p:nvSpPr>
        <p:spPr>
          <a:xfrm>
            <a:off x="762000" y="4129980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Finalmente, todo pasa por una NOT (inversión total):</a:t>
            </a:r>
            <a:endParaRPr/>
          </a:p>
        </p:txBody>
      </p:sp>
      <p:sp>
        <p:nvSpPr>
          <p:cNvPr id="211" name="Google Shape;211;p17"/>
          <p:cNvSpPr/>
          <p:nvPr/>
        </p:nvSpPr>
        <p:spPr>
          <a:xfrm>
            <a:off x="571500" y="3987105"/>
            <a:ext cx="38100" cy="5905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2" name="Google Shape;212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150" y="4753421"/>
            <a:ext cx="2434530" cy="38695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13" name="Google Shape;213;p17"/>
          <p:cNvGraphicFramePr/>
          <p:nvPr/>
        </p:nvGraphicFramePr>
        <p:xfrm>
          <a:off x="6343650" y="1905000"/>
          <a:ext cx="5267325" cy="43069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569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4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09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8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A·B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(A·B)+C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 (Salida)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8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8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8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8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8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8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8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8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214" name="Google Shape;214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0100" y="2381250"/>
            <a:ext cx="10572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00100" y="3427065"/>
            <a:ext cx="16859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7"/>
          <p:cNvSpPr/>
          <p:nvPr/>
        </p:nvSpPr>
        <p:spPr>
          <a:xfrm>
            <a:off x="6343650" y="2398365"/>
            <a:ext cx="569714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7"/>
          <p:cNvSpPr/>
          <p:nvPr/>
        </p:nvSpPr>
        <p:spPr>
          <a:xfrm>
            <a:off x="6913364" y="2398365"/>
            <a:ext cx="554384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7"/>
          <p:cNvSpPr/>
          <p:nvPr/>
        </p:nvSpPr>
        <p:spPr>
          <a:xfrm>
            <a:off x="7467748" y="2398365"/>
            <a:ext cx="554384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7"/>
          <p:cNvSpPr/>
          <p:nvPr/>
        </p:nvSpPr>
        <p:spPr>
          <a:xfrm>
            <a:off x="8022133" y="2398365"/>
            <a:ext cx="816173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7"/>
          <p:cNvSpPr/>
          <p:nvPr/>
        </p:nvSpPr>
        <p:spPr>
          <a:xfrm>
            <a:off x="8838307" y="2398365"/>
            <a:ext cx="1309092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7"/>
          <p:cNvSpPr/>
          <p:nvPr/>
        </p:nvSpPr>
        <p:spPr>
          <a:xfrm>
            <a:off x="10147399" y="2398365"/>
            <a:ext cx="1463575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7"/>
          <p:cNvSpPr/>
          <p:nvPr/>
        </p:nvSpPr>
        <p:spPr>
          <a:xfrm>
            <a:off x="6343650" y="2886967"/>
            <a:ext cx="5697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7"/>
          <p:cNvSpPr/>
          <p:nvPr/>
        </p:nvSpPr>
        <p:spPr>
          <a:xfrm>
            <a:off x="6913364" y="2886967"/>
            <a:ext cx="55438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7"/>
          <p:cNvSpPr/>
          <p:nvPr/>
        </p:nvSpPr>
        <p:spPr>
          <a:xfrm>
            <a:off x="7467748" y="2886967"/>
            <a:ext cx="55438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7"/>
          <p:cNvSpPr/>
          <p:nvPr/>
        </p:nvSpPr>
        <p:spPr>
          <a:xfrm>
            <a:off x="8022133" y="2886967"/>
            <a:ext cx="8161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7"/>
          <p:cNvSpPr/>
          <p:nvPr/>
        </p:nvSpPr>
        <p:spPr>
          <a:xfrm>
            <a:off x="8838307" y="2886967"/>
            <a:ext cx="130909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7"/>
          <p:cNvSpPr/>
          <p:nvPr/>
        </p:nvSpPr>
        <p:spPr>
          <a:xfrm>
            <a:off x="10147399" y="2886967"/>
            <a:ext cx="14635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7"/>
          <p:cNvSpPr/>
          <p:nvPr/>
        </p:nvSpPr>
        <p:spPr>
          <a:xfrm>
            <a:off x="6343650" y="3361283"/>
            <a:ext cx="5697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7"/>
          <p:cNvSpPr/>
          <p:nvPr/>
        </p:nvSpPr>
        <p:spPr>
          <a:xfrm>
            <a:off x="6913364" y="3361283"/>
            <a:ext cx="55438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7"/>
          <p:cNvSpPr/>
          <p:nvPr/>
        </p:nvSpPr>
        <p:spPr>
          <a:xfrm>
            <a:off x="7467748" y="3361283"/>
            <a:ext cx="55438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7"/>
          <p:cNvSpPr/>
          <p:nvPr/>
        </p:nvSpPr>
        <p:spPr>
          <a:xfrm>
            <a:off x="8022133" y="3361283"/>
            <a:ext cx="8161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7"/>
          <p:cNvSpPr/>
          <p:nvPr/>
        </p:nvSpPr>
        <p:spPr>
          <a:xfrm>
            <a:off x="8838307" y="3361283"/>
            <a:ext cx="130909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7"/>
          <p:cNvSpPr/>
          <p:nvPr/>
        </p:nvSpPr>
        <p:spPr>
          <a:xfrm>
            <a:off x="10147399" y="3361283"/>
            <a:ext cx="14635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7"/>
          <p:cNvSpPr/>
          <p:nvPr/>
        </p:nvSpPr>
        <p:spPr>
          <a:xfrm>
            <a:off x="6343650" y="3835598"/>
            <a:ext cx="5697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7"/>
          <p:cNvSpPr/>
          <p:nvPr/>
        </p:nvSpPr>
        <p:spPr>
          <a:xfrm>
            <a:off x="6913364" y="3835598"/>
            <a:ext cx="55438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7"/>
          <p:cNvSpPr/>
          <p:nvPr/>
        </p:nvSpPr>
        <p:spPr>
          <a:xfrm>
            <a:off x="7467748" y="3835598"/>
            <a:ext cx="55438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7"/>
          <p:cNvSpPr/>
          <p:nvPr/>
        </p:nvSpPr>
        <p:spPr>
          <a:xfrm>
            <a:off x="8022133" y="3835598"/>
            <a:ext cx="8161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7"/>
          <p:cNvSpPr/>
          <p:nvPr/>
        </p:nvSpPr>
        <p:spPr>
          <a:xfrm>
            <a:off x="8838307" y="3835598"/>
            <a:ext cx="130909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7"/>
          <p:cNvSpPr/>
          <p:nvPr/>
        </p:nvSpPr>
        <p:spPr>
          <a:xfrm>
            <a:off x="10147399" y="3835598"/>
            <a:ext cx="14635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7"/>
          <p:cNvSpPr/>
          <p:nvPr/>
        </p:nvSpPr>
        <p:spPr>
          <a:xfrm>
            <a:off x="6343650" y="4309913"/>
            <a:ext cx="5697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7"/>
          <p:cNvSpPr/>
          <p:nvPr/>
        </p:nvSpPr>
        <p:spPr>
          <a:xfrm>
            <a:off x="6913364" y="4309913"/>
            <a:ext cx="55438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7"/>
          <p:cNvSpPr/>
          <p:nvPr/>
        </p:nvSpPr>
        <p:spPr>
          <a:xfrm>
            <a:off x="7467748" y="4309913"/>
            <a:ext cx="55438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7"/>
          <p:cNvSpPr/>
          <p:nvPr/>
        </p:nvSpPr>
        <p:spPr>
          <a:xfrm>
            <a:off x="8022133" y="4309913"/>
            <a:ext cx="8161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7"/>
          <p:cNvSpPr/>
          <p:nvPr/>
        </p:nvSpPr>
        <p:spPr>
          <a:xfrm>
            <a:off x="8838307" y="4309913"/>
            <a:ext cx="130909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7"/>
          <p:cNvSpPr/>
          <p:nvPr/>
        </p:nvSpPr>
        <p:spPr>
          <a:xfrm>
            <a:off x="10147399" y="4309913"/>
            <a:ext cx="14635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7"/>
          <p:cNvSpPr/>
          <p:nvPr/>
        </p:nvSpPr>
        <p:spPr>
          <a:xfrm>
            <a:off x="6343650" y="4784228"/>
            <a:ext cx="5697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7"/>
          <p:cNvSpPr/>
          <p:nvPr/>
        </p:nvSpPr>
        <p:spPr>
          <a:xfrm>
            <a:off x="6913364" y="4784228"/>
            <a:ext cx="55438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7"/>
          <p:cNvSpPr/>
          <p:nvPr/>
        </p:nvSpPr>
        <p:spPr>
          <a:xfrm>
            <a:off x="7467748" y="4784228"/>
            <a:ext cx="55438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7"/>
          <p:cNvSpPr/>
          <p:nvPr/>
        </p:nvSpPr>
        <p:spPr>
          <a:xfrm>
            <a:off x="8022133" y="4784228"/>
            <a:ext cx="8161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7"/>
          <p:cNvSpPr/>
          <p:nvPr/>
        </p:nvSpPr>
        <p:spPr>
          <a:xfrm>
            <a:off x="8838307" y="4784228"/>
            <a:ext cx="130909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7"/>
          <p:cNvSpPr/>
          <p:nvPr/>
        </p:nvSpPr>
        <p:spPr>
          <a:xfrm>
            <a:off x="10147399" y="4784228"/>
            <a:ext cx="14635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7"/>
          <p:cNvSpPr/>
          <p:nvPr/>
        </p:nvSpPr>
        <p:spPr>
          <a:xfrm>
            <a:off x="6343650" y="5258544"/>
            <a:ext cx="5697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7"/>
          <p:cNvSpPr/>
          <p:nvPr/>
        </p:nvSpPr>
        <p:spPr>
          <a:xfrm>
            <a:off x="6913364" y="5258544"/>
            <a:ext cx="55438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7"/>
          <p:cNvSpPr/>
          <p:nvPr/>
        </p:nvSpPr>
        <p:spPr>
          <a:xfrm>
            <a:off x="7467748" y="5258544"/>
            <a:ext cx="55438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7"/>
          <p:cNvSpPr/>
          <p:nvPr/>
        </p:nvSpPr>
        <p:spPr>
          <a:xfrm>
            <a:off x="8022133" y="5258544"/>
            <a:ext cx="8161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7"/>
          <p:cNvSpPr/>
          <p:nvPr/>
        </p:nvSpPr>
        <p:spPr>
          <a:xfrm>
            <a:off x="8838307" y="5258544"/>
            <a:ext cx="130909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7"/>
          <p:cNvSpPr/>
          <p:nvPr/>
        </p:nvSpPr>
        <p:spPr>
          <a:xfrm>
            <a:off x="10147399" y="5258544"/>
            <a:ext cx="14635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7"/>
          <p:cNvSpPr/>
          <p:nvPr/>
        </p:nvSpPr>
        <p:spPr>
          <a:xfrm>
            <a:off x="6343650" y="5732859"/>
            <a:ext cx="5697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7"/>
          <p:cNvSpPr/>
          <p:nvPr/>
        </p:nvSpPr>
        <p:spPr>
          <a:xfrm>
            <a:off x="6913364" y="5732859"/>
            <a:ext cx="55438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7"/>
          <p:cNvSpPr/>
          <p:nvPr/>
        </p:nvSpPr>
        <p:spPr>
          <a:xfrm>
            <a:off x="7467748" y="5732859"/>
            <a:ext cx="55438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7"/>
          <p:cNvSpPr/>
          <p:nvPr/>
        </p:nvSpPr>
        <p:spPr>
          <a:xfrm>
            <a:off x="8022133" y="5732859"/>
            <a:ext cx="8161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7"/>
          <p:cNvSpPr/>
          <p:nvPr/>
        </p:nvSpPr>
        <p:spPr>
          <a:xfrm>
            <a:off x="8838307" y="5732859"/>
            <a:ext cx="130909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7"/>
          <p:cNvSpPr/>
          <p:nvPr/>
        </p:nvSpPr>
        <p:spPr>
          <a:xfrm>
            <a:off x="10147399" y="5732859"/>
            <a:ext cx="14635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7"/>
          <p:cNvSpPr txBox="1"/>
          <p:nvPr/>
        </p:nvSpPr>
        <p:spPr>
          <a:xfrm>
            <a:off x="571500" y="47625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Solución Caso 1: Función y Tabla de Verdad</a:t>
            </a:r>
            <a:endParaRPr/>
          </a:p>
        </p:txBody>
      </p:sp>
      <p:sp>
        <p:nvSpPr>
          <p:cNvPr id="265" name="Google Shape;265;p17"/>
          <p:cNvSpPr/>
          <p:nvPr/>
        </p:nvSpPr>
        <p:spPr>
          <a:xfrm>
            <a:off x="571500" y="11144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39E94D79-9EF5-6A56-F8EF-FA8F0CD21CF0}"/>
              </a:ext>
            </a:extLst>
          </p:cNvPr>
          <p:cNvCxnSpPr/>
          <p:nvPr/>
        </p:nvCxnSpPr>
        <p:spPr>
          <a:xfrm>
            <a:off x="1490472" y="4784228"/>
            <a:ext cx="176320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" name="Google Shape;297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57400"/>
            <a:ext cx="11049000" cy="217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19"/>
          <p:cNvSpPr txBox="1"/>
          <p:nvPr/>
        </p:nvSpPr>
        <p:spPr>
          <a:xfrm>
            <a:off x="571500" y="1419225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 partir de la siguiente descripción, realice el análisis completo:</a:t>
            </a:r>
            <a:endParaRPr/>
          </a:p>
        </p:txBody>
      </p:sp>
      <p:sp>
        <p:nvSpPr>
          <p:cNvPr id="300" name="Google Shape;300;p19"/>
          <p:cNvSpPr txBox="1"/>
          <p:nvPr/>
        </p:nvSpPr>
        <p:spPr>
          <a:xfrm>
            <a:off x="571500" y="4514850"/>
            <a:ext cx="1160145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Pasos a realizar:</a:t>
            </a:r>
            <a:endParaRPr/>
          </a:p>
        </p:txBody>
      </p:sp>
      <p:sp>
        <p:nvSpPr>
          <p:cNvPr id="301" name="Google Shape;301;p19"/>
          <p:cNvSpPr txBox="1"/>
          <p:nvPr/>
        </p:nvSpPr>
        <p:spPr>
          <a:xfrm>
            <a:off x="657225" y="4991100"/>
            <a:ext cx="15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1.</a:t>
            </a:r>
            <a:endParaRPr/>
          </a:p>
        </p:txBody>
      </p:sp>
      <p:sp>
        <p:nvSpPr>
          <p:cNvPr id="302" name="Google Shape;302;p19"/>
          <p:cNvSpPr txBox="1"/>
          <p:nvPr/>
        </p:nvSpPr>
        <p:spPr>
          <a:xfrm>
            <a:off x="809625" y="4991100"/>
            <a:ext cx="10810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Determina la función lógica que representa el circuito.</a:t>
            </a:r>
            <a:endParaRPr/>
          </a:p>
        </p:txBody>
      </p:sp>
      <p:sp>
        <p:nvSpPr>
          <p:cNvPr id="303" name="Google Shape;303;p19"/>
          <p:cNvSpPr txBox="1"/>
          <p:nvPr/>
        </p:nvSpPr>
        <p:spPr>
          <a:xfrm>
            <a:off x="657225" y="5295900"/>
            <a:ext cx="15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2.</a:t>
            </a:r>
            <a:endParaRPr/>
          </a:p>
        </p:txBody>
      </p:sp>
      <p:sp>
        <p:nvSpPr>
          <p:cNvPr id="304" name="Google Shape;304;p19"/>
          <p:cNvSpPr txBox="1"/>
          <p:nvPr/>
        </p:nvSpPr>
        <p:spPr>
          <a:xfrm>
            <a:off x="809625" y="5295900"/>
            <a:ext cx="10810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Construye la tabla de verdad completa (recuerda cómo opera un XOR).</a:t>
            </a:r>
            <a:endParaRPr/>
          </a:p>
        </p:txBody>
      </p:sp>
      <p:sp>
        <p:nvSpPr>
          <p:cNvPr id="305" name="Google Shape;305;p19"/>
          <p:cNvSpPr txBox="1"/>
          <p:nvPr/>
        </p:nvSpPr>
        <p:spPr>
          <a:xfrm>
            <a:off x="657225" y="5600700"/>
            <a:ext cx="15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3.</a:t>
            </a:r>
            <a:endParaRPr/>
          </a:p>
        </p:txBody>
      </p:sp>
      <p:sp>
        <p:nvSpPr>
          <p:cNvPr id="306" name="Google Shape;306;p19"/>
          <p:cNvSpPr txBox="1"/>
          <p:nvPr/>
        </p:nvSpPr>
        <p:spPr>
          <a:xfrm>
            <a:off x="809625" y="5600700"/>
            <a:ext cx="10810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Extrae la Forma Normal Disyuntiva (FND) directamente de los resultados de la tabla.</a:t>
            </a:r>
            <a:endParaRPr/>
          </a:p>
        </p:txBody>
      </p:sp>
      <p:sp>
        <p:nvSpPr>
          <p:cNvPr id="307" name="Google Shape;307;p19"/>
          <p:cNvSpPr txBox="1"/>
          <p:nvPr/>
        </p:nvSpPr>
        <p:spPr>
          <a:xfrm>
            <a:off x="876300" y="224790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08" name="Google Shape;308;p19"/>
          <p:cNvSpPr txBox="1"/>
          <p:nvPr/>
        </p:nvSpPr>
        <p:spPr>
          <a:xfrm>
            <a:off x="1085850" y="2247900"/>
            <a:ext cx="103441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 sistema cuenta con tres entradas: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A, B, y C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309" name="Google Shape;309;p19"/>
          <p:cNvSpPr txBox="1"/>
          <p:nvPr/>
        </p:nvSpPr>
        <p:spPr>
          <a:xfrm>
            <a:off x="876300" y="269557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10" name="Google Shape;310;p19"/>
          <p:cNvSpPr txBox="1"/>
          <p:nvPr/>
        </p:nvSpPr>
        <p:spPr>
          <a:xfrm>
            <a:off x="1085850" y="2695575"/>
            <a:ext cx="103441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Las entradas A y B se conectan directamente a una compuerta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XOR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(OR Exclusiva).</a:t>
            </a:r>
            <a:endParaRPr/>
          </a:p>
        </p:txBody>
      </p:sp>
      <p:sp>
        <p:nvSpPr>
          <p:cNvPr id="311" name="Google Shape;311;p19"/>
          <p:cNvSpPr txBox="1"/>
          <p:nvPr/>
        </p:nvSpPr>
        <p:spPr>
          <a:xfrm>
            <a:off x="876300" y="314325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12" name="Google Shape;312;p19"/>
          <p:cNvSpPr txBox="1"/>
          <p:nvPr/>
        </p:nvSpPr>
        <p:spPr>
          <a:xfrm>
            <a:off x="1085850" y="3143250"/>
            <a:ext cx="103441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 resultado de esta compuerta XOR se conecta a una compuerta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AND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junto con la entrada C.</a:t>
            </a:r>
            <a:endParaRPr/>
          </a:p>
        </p:txBody>
      </p:sp>
      <p:sp>
        <p:nvSpPr>
          <p:cNvPr id="313" name="Google Shape;313;p19"/>
          <p:cNvSpPr txBox="1"/>
          <p:nvPr/>
        </p:nvSpPr>
        <p:spPr>
          <a:xfrm>
            <a:off x="876300" y="359092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14" name="Google Shape;314;p19"/>
          <p:cNvSpPr txBox="1"/>
          <p:nvPr/>
        </p:nvSpPr>
        <p:spPr>
          <a:xfrm>
            <a:off x="1085850" y="3590925"/>
            <a:ext cx="103441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La salida final de este circuito se denomina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315" name="Google Shape;315;p19"/>
          <p:cNvSpPr txBox="1"/>
          <p:nvPr/>
        </p:nvSpPr>
        <p:spPr>
          <a:xfrm>
            <a:off x="571500" y="47625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Ejercicio 1: Circuito con Compuerta XOR</a:t>
            </a:r>
            <a:endParaRPr/>
          </a:p>
        </p:txBody>
      </p:sp>
      <p:sp>
        <p:nvSpPr>
          <p:cNvPr id="316" name="Google Shape;316;p19"/>
          <p:cNvSpPr/>
          <p:nvPr/>
        </p:nvSpPr>
        <p:spPr>
          <a:xfrm>
            <a:off x="571500" y="11144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1" name="Google Shape;321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79017" y="1274415"/>
            <a:ext cx="2368153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1000" y="2428888"/>
            <a:ext cx="5381625" cy="43259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44382" y="4895850"/>
            <a:ext cx="2732930" cy="847725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20"/>
          <p:cNvSpPr txBox="1"/>
          <p:nvPr/>
        </p:nvSpPr>
        <p:spPr>
          <a:xfrm>
            <a:off x="571500" y="1419225"/>
            <a:ext cx="5650706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1. Función Lógica</a:t>
            </a:r>
            <a:endParaRPr/>
          </a:p>
        </p:txBody>
      </p:sp>
      <p:sp>
        <p:nvSpPr>
          <p:cNvPr id="326" name="Google Shape;326;p20"/>
          <p:cNvSpPr txBox="1"/>
          <p:nvPr/>
        </p:nvSpPr>
        <p:spPr>
          <a:xfrm>
            <a:off x="571500" y="2152650"/>
            <a:ext cx="5650706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2. Tabla de Verdad</a:t>
            </a:r>
            <a:endParaRPr/>
          </a:p>
        </p:txBody>
      </p:sp>
      <p:sp>
        <p:nvSpPr>
          <p:cNvPr id="327" name="Google Shape;327;p20"/>
          <p:cNvSpPr txBox="1"/>
          <p:nvPr/>
        </p:nvSpPr>
        <p:spPr>
          <a:xfrm>
            <a:off x="6238875" y="1419225"/>
            <a:ext cx="5650706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3. Extracción de la FND</a:t>
            </a:r>
            <a:endParaRPr/>
          </a:p>
        </p:txBody>
      </p:sp>
      <p:sp>
        <p:nvSpPr>
          <p:cNvPr id="328" name="Google Shape;328;p20"/>
          <p:cNvSpPr txBox="1"/>
          <p:nvPr/>
        </p:nvSpPr>
        <p:spPr>
          <a:xfrm>
            <a:off x="6238875" y="1847850"/>
            <a:ext cx="5381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Buscamos las filas donde </a:t>
            </a:r>
            <a:r>
              <a:rPr lang="en-US" sz="1500" b="1" i="0" u="none" strike="noStrike" cap="none">
                <a:solidFill>
                  <a:srgbClr val="EF4444"/>
                </a:solidFill>
                <a:latin typeface="Lato"/>
                <a:ea typeface="Lato"/>
                <a:cs typeface="Lato"/>
                <a:sym typeface="Lato"/>
              </a:rPr>
              <a:t>F = 1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/>
          </a:p>
        </p:txBody>
      </p:sp>
      <p:sp>
        <p:nvSpPr>
          <p:cNvPr id="329" name="Google Shape;329;p20"/>
          <p:cNvSpPr txBox="1"/>
          <p:nvPr/>
        </p:nvSpPr>
        <p:spPr>
          <a:xfrm>
            <a:off x="6238875" y="4514850"/>
            <a:ext cx="53816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Ecuación final en Suma de Productos:</a:t>
            </a:r>
            <a:endParaRPr/>
          </a:p>
        </p:txBody>
      </p:sp>
      <p:pic>
        <p:nvPicPr>
          <p:cNvPr id="330" name="Google Shape;330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531417" y="1474440"/>
            <a:ext cx="2063353" cy="2476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1" name="Google Shape;331;p20"/>
          <p:cNvGraphicFramePr/>
          <p:nvPr>
            <p:extLst>
              <p:ext uri="{D42A27DB-BD31-4B8C-83A1-F6EECF244321}">
                <p14:modId xmlns:p14="http://schemas.microsoft.com/office/powerpoint/2010/main" val="1317561201"/>
              </p:ext>
            </p:extLst>
          </p:nvPr>
        </p:nvGraphicFramePr>
        <p:xfrm>
          <a:off x="381000" y="2447925"/>
          <a:ext cx="5362550" cy="43069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72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7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5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66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8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 ⊕ B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 (Salida)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8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8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8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8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EF4444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8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8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EF4444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8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8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32" name="Google Shape;332;p20"/>
          <p:cNvSpPr/>
          <p:nvPr/>
        </p:nvSpPr>
        <p:spPr>
          <a:xfrm>
            <a:off x="6238875" y="2295525"/>
            <a:ext cx="5381625" cy="942975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0"/>
          <p:cNvSpPr txBox="1"/>
          <p:nvPr/>
        </p:nvSpPr>
        <p:spPr>
          <a:xfrm>
            <a:off x="6429375" y="2438400"/>
            <a:ext cx="5000625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Fila 4: (A=0, B=1, C=1)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Genera el minitérmino:</a:t>
            </a:r>
            <a:endParaRPr/>
          </a:p>
        </p:txBody>
      </p:sp>
      <p:sp>
        <p:nvSpPr>
          <p:cNvPr id="334" name="Google Shape;334;p20"/>
          <p:cNvSpPr/>
          <p:nvPr/>
        </p:nvSpPr>
        <p:spPr>
          <a:xfrm>
            <a:off x="6238875" y="2295525"/>
            <a:ext cx="38100" cy="9429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0"/>
          <p:cNvSpPr/>
          <p:nvPr/>
        </p:nvSpPr>
        <p:spPr>
          <a:xfrm>
            <a:off x="6238875" y="3381375"/>
            <a:ext cx="5381625" cy="942975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0"/>
          <p:cNvSpPr txBox="1"/>
          <p:nvPr/>
        </p:nvSpPr>
        <p:spPr>
          <a:xfrm>
            <a:off x="6429375" y="3524250"/>
            <a:ext cx="5000625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Fila 6: (A=1, B=0, C=1)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Genera el minitérmino:</a:t>
            </a:r>
            <a:endParaRPr/>
          </a:p>
        </p:txBody>
      </p:sp>
      <p:sp>
        <p:nvSpPr>
          <p:cNvPr id="337" name="Google Shape;337;p20"/>
          <p:cNvSpPr/>
          <p:nvPr/>
        </p:nvSpPr>
        <p:spPr>
          <a:xfrm>
            <a:off x="6238875" y="3381375"/>
            <a:ext cx="38100" cy="9429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8" name="Google Shape;338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92032" y="5137547"/>
            <a:ext cx="2237630" cy="291703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20"/>
          <p:cNvSpPr/>
          <p:nvPr/>
        </p:nvSpPr>
        <p:spPr>
          <a:xfrm>
            <a:off x="390525" y="2931778"/>
            <a:ext cx="726727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0"/>
          <p:cNvSpPr/>
          <p:nvPr/>
        </p:nvSpPr>
        <p:spPr>
          <a:xfrm>
            <a:off x="1117252" y="2931778"/>
            <a:ext cx="707082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0"/>
          <p:cNvSpPr/>
          <p:nvPr/>
        </p:nvSpPr>
        <p:spPr>
          <a:xfrm>
            <a:off x="1824335" y="2931778"/>
            <a:ext cx="707082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0"/>
          <p:cNvSpPr/>
          <p:nvPr/>
        </p:nvSpPr>
        <p:spPr>
          <a:xfrm>
            <a:off x="2531417" y="2931778"/>
            <a:ext cx="1355228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0"/>
          <p:cNvSpPr/>
          <p:nvPr/>
        </p:nvSpPr>
        <p:spPr>
          <a:xfrm>
            <a:off x="3886646" y="2931778"/>
            <a:ext cx="1866453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4" name="Google Shape;344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626352" y="2941303"/>
            <a:ext cx="391864" cy="179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20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557293" y="4011588"/>
            <a:ext cx="391864" cy="179933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20"/>
          <p:cNvSpPr/>
          <p:nvPr/>
        </p:nvSpPr>
        <p:spPr>
          <a:xfrm>
            <a:off x="390525" y="3420380"/>
            <a:ext cx="72672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0"/>
          <p:cNvSpPr/>
          <p:nvPr/>
        </p:nvSpPr>
        <p:spPr>
          <a:xfrm>
            <a:off x="1117252" y="3420380"/>
            <a:ext cx="7070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0"/>
          <p:cNvSpPr/>
          <p:nvPr/>
        </p:nvSpPr>
        <p:spPr>
          <a:xfrm>
            <a:off x="1824335" y="3420380"/>
            <a:ext cx="7070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0"/>
          <p:cNvSpPr/>
          <p:nvPr/>
        </p:nvSpPr>
        <p:spPr>
          <a:xfrm>
            <a:off x="2531417" y="3420380"/>
            <a:ext cx="135522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0"/>
          <p:cNvSpPr/>
          <p:nvPr/>
        </p:nvSpPr>
        <p:spPr>
          <a:xfrm>
            <a:off x="3886646" y="3420380"/>
            <a:ext cx="186645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0"/>
          <p:cNvSpPr/>
          <p:nvPr/>
        </p:nvSpPr>
        <p:spPr>
          <a:xfrm>
            <a:off x="390525" y="3894696"/>
            <a:ext cx="72672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0"/>
          <p:cNvSpPr/>
          <p:nvPr/>
        </p:nvSpPr>
        <p:spPr>
          <a:xfrm>
            <a:off x="1117252" y="3894696"/>
            <a:ext cx="7070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0"/>
          <p:cNvSpPr/>
          <p:nvPr/>
        </p:nvSpPr>
        <p:spPr>
          <a:xfrm>
            <a:off x="1824335" y="3894696"/>
            <a:ext cx="7070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0"/>
          <p:cNvSpPr/>
          <p:nvPr/>
        </p:nvSpPr>
        <p:spPr>
          <a:xfrm>
            <a:off x="2531417" y="3894696"/>
            <a:ext cx="135522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0"/>
          <p:cNvSpPr/>
          <p:nvPr/>
        </p:nvSpPr>
        <p:spPr>
          <a:xfrm>
            <a:off x="3886646" y="3894696"/>
            <a:ext cx="186645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0"/>
          <p:cNvSpPr/>
          <p:nvPr/>
        </p:nvSpPr>
        <p:spPr>
          <a:xfrm>
            <a:off x="390525" y="4369011"/>
            <a:ext cx="72672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0"/>
          <p:cNvSpPr/>
          <p:nvPr/>
        </p:nvSpPr>
        <p:spPr>
          <a:xfrm>
            <a:off x="1117252" y="4369011"/>
            <a:ext cx="7070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0"/>
          <p:cNvSpPr/>
          <p:nvPr/>
        </p:nvSpPr>
        <p:spPr>
          <a:xfrm>
            <a:off x="1824335" y="4369011"/>
            <a:ext cx="7070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0"/>
          <p:cNvSpPr/>
          <p:nvPr/>
        </p:nvSpPr>
        <p:spPr>
          <a:xfrm>
            <a:off x="2531417" y="4369011"/>
            <a:ext cx="135522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0"/>
          <p:cNvSpPr/>
          <p:nvPr/>
        </p:nvSpPr>
        <p:spPr>
          <a:xfrm>
            <a:off x="3886646" y="4369011"/>
            <a:ext cx="186645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0"/>
          <p:cNvSpPr/>
          <p:nvPr/>
        </p:nvSpPr>
        <p:spPr>
          <a:xfrm>
            <a:off x="390525" y="4843326"/>
            <a:ext cx="72672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0"/>
          <p:cNvSpPr/>
          <p:nvPr/>
        </p:nvSpPr>
        <p:spPr>
          <a:xfrm>
            <a:off x="1117252" y="4843326"/>
            <a:ext cx="7070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0"/>
          <p:cNvSpPr/>
          <p:nvPr/>
        </p:nvSpPr>
        <p:spPr>
          <a:xfrm>
            <a:off x="1824335" y="4843326"/>
            <a:ext cx="7070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0"/>
          <p:cNvSpPr/>
          <p:nvPr/>
        </p:nvSpPr>
        <p:spPr>
          <a:xfrm>
            <a:off x="2531417" y="4843326"/>
            <a:ext cx="135522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0"/>
          <p:cNvSpPr/>
          <p:nvPr/>
        </p:nvSpPr>
        <p:spPr>
          <a:xfrm>
            <a:off x="3886646" y="4843326"/>
            <a:ext cx="186645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0"/>
          <p:cNvSpPr/>
          <p:nvPr/>
        </p:nvSpPr>
        <p:spPr>
          <a:xfrm>
            <a:off x="390525" y="5317641"/>
            <a:ext cx="72672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0"/>
          <p:cNvSpPr/>
          <p:nvPr/>
        </p:nvSpPr>
        <p:spPr>
          <a:xfrm>
            <a:off x="1117252" y="5317641"/>
            <a:ext cx="7070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0"/>
          <p:cNvSpPr/>
          <p:nvPr/>
        </p:nvSpPr>
        <p:spPr>
          <a:xfrm>
            <a:off x="1824335" y="5317641"/>
            <a:ext cx="7070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0"/>
          <p:cNvSpPr/>
          <p:nvPr/>
        </p:nvSpPr>
        <p:spPr>
          <a:xfrm>
            <a:off x="2531417" y="5317641"/>
            <a:ext cx="135522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0"/>
          <p:cNvSpPr/>
          <p:nvPr/>
        </p:nvSpPr>
        <p:spPr>
          <a:xfrm>
            <a:off x="3886646" y="5317641"/>
            <a:ext cx="186645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0"/>
          <p:cNvSpPr/>
          <p:nvPr/>
        </p:nvSpPr>
        <p:spPr>
          <a:xfrm>
            <a:off x="390525" y="5791957"/>
            <a:ext cx="72672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0"/>
          <p:cNvSpPr/>
          <p:nvPr/>
        </p:nvSpPr>
        <p:spPr>
          <a:xfrm>
            <a:off x="1117252" y="5791957"/>
            <a:ext cx="7070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0"/>
          <p:cNvSpPr/>
          <p:nvPr/>
        </p:nvSpPr>
        <p:spPr>
          <a:xfrm>
            <a:off x="1824335" y="5791957"/>
            <a:ext cx="7070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0"/>
          <p:cNvSpPr/>
          <p:nvPr/>
        </p:nvSpPr>
        <p:spPr>
          <a:xfrm>
            <a:off x="2531417" y="5791957"/>
            <a:ext cx="135522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0"/>
          <p:cNvSpPr/>
          <p:nvPr/>
        </p:nvSpPr>
        <p:spPr>
          <a:xfrm>
            <a:off x="3886646" y="5791957"/>
            <a:ext cx="186645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0"/>
          <p:cNvSpPr/>
          <p:nvPr/>
        </p:nvSpPr>
        <p:spPr>
          <a:xfrm>
            <a:off x="390525" y="6266272"/>
            <a:ext cx="72672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0"/>
          <p:cNvSpPr/>
          <p:nvPr/>
        </p:nvSpPr>
        <p:spPr>
          <a:xfrm>
            <a:off x="1117252" y="6266272"/>
            <a:ext cx="7070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0"/>
          <p:cNvSpPr/>
          <p:nvPr/>
        </p:nvSpPr>
        <p:spPr>
          <a:xfrm>
            <a:off x="1824335" y="6266272"/>
            <a:ext cx="7070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0"/>
          <p:cNvSpPr/>
          <p:nvPr/>
        </p:nvSpPr>
        <p:spPr>
          <a:xfrm>
            <a:off x="2531417" y="6266272"/>
            <a:ext cx="135522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0"/>
          <p:cNvSpPr/>
          <p:nvPr/>
        </p:nvSpPr>
        <p:spPr>
          <a:xfrm>
            <a:off x="3886646" y="6266272"/>
            <a:ext cx="186645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0"/>
          <p:cNvSpPr txBox="1"/>
          <p:nvPr/>
        </p:nvSpPr>
        <p:spPr>
          <a:xfrm>
            <a:off x="571500" y="47625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Solución Ejercicio 1</a:t>
            </a:r>
            <a:endParaRPr/>
          </a:p>
        </p:txBody>
      </p:sp>
      <p:sp>
        <p:nvSpPr>
          <p:cNvPr id="382" name="Google Shape;382;p20"/>
          <p:cNvSpPr/>
          <p:nvPr/>
        </p:nvSpPr>
        <p:spPr>
          <a:xfrm>
            <a:off x="571500" y="11144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7" name="Google Shape;387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57400"/>
            <a:ext cx="11049000" cy="2619375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21"/>
          <p:cNvSpPr txBox="1"/>
          <p:nvPr/>
        </p:nvSpPr>
        <p:spPr>
          <a:xfrm>
            <a:off x="571500" y="1419225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 partir de la siguiente descripción de un circuito:</a:t>
            </a:r>
            <a:endParaRPr/>
          </a:p>
        </p:txBody>
      </p:sp>
      <p:sp>
        <p:nvSpPr>
          <p:cNvPr id="390" name="Google Shape;390;p21"/>
          <p:cNvSpPr txBox="1"/>
          <p:nvPr/>
        </p:nvSpPr>
        <p:spPr>
          <a:xfrm>
            <a:off x="571500" y="4962525"/>
            <a:ext cx="1160145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Actividades a desarrollar:</a:t>
            </a:r>
            <a:endParaRPr/>
          </a:p>
        </p:txBody>
      </p:sp>
      <p:sp>
        <p:nvSpPr>
          <p:cNvPr id="391" name="Google Shape;391;p21"/>
          <p:cNvSpPr txBox="1"/>
          <p:nvPr/>
        </p:nvSpPr>
        <p:spPr>
          <a:xfrm>
            <a:off x="709612" y="5504334"/>
            <a:ext cx="333375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1.</a:t>
            </a:r>
            <a:endParaRPr/>
          </a:p>
        </p:txBody>
      </p:sp>
      <p:sp>
        <p:nvSpPr>
          <p:cNvPr id="392" name="Google Shape;392;p21"/>
          <p:cNvSpPr txBox="1"/>
          <p:nvPr/>
        </p:nvSpPr>
        <p:spPr>
          <a:xfrm>
            <a:off x="809625" y="5438775"/>
            <a:ext cx="10810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Dibuja el circuito lógico utilizando las compuertas correspondientes </a:t>
            </a:r>
            <a:r>
              <a:rPr lang="en-US" sz="1500" b="0" i="1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(Actividad en cuaderno)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393" name="Google Shape;393;p21"/>
          <p:cNvSpPr txBox="1"/>
          <p:nvPr/>
        </p:nvSpPr>
        <p:spPr>
          <a:xfrm>
            <a:off x="709612" y="5809134"/>
            <a:ext cx="333375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2.</a:t>
            </a:r>
            <a:endParaRPr/>
          </a:p>
        </p:txBody>
      </p:sp>
      <p:sp>
        <p:nvSpPr>
          <p:cNvPr id="394" name="Google Shape;394;p21"/>
          <p:cNvSpPr txBox="1"/>
          <p:nvPr/>
        </p:nvSpPr>
        <p:spPr>
          <a:xfrm>
            <a:off x="809625" y="5743575"/>
            <a:ext cx="10810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Escribe la función booleana lógica del circuito.</a:t>
            </a:r>
            <a:endParaRPr/>
          </a:p>
        </p:txBody>
      </p:sp>
      <p:sp>
        <p:nvSpPr>
          <p:cNvPr id="395" name="Google Shape;395;p21"/>
          <p:cNvSpPr txBox="1"/>
          <p:nvPr/>
        </p:nvSpPr>
        <p:spPr>
          <a:xfrm>
            <a:off x="709612" y="6113934"/>
            <a:ext cx="333375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3.</a:t>
            </a:r>
            <a:endParaRPr/>
          </a:p>
        </p:txBody>
      </p:sp>
      <p:sp>
        <p:nvSpPr>
          <p:cNvPr id="396" name="Google Shape;396;p21"/>
          <p:cNvSpPr txBox="1"/>
          <p:nvPr/>
        </p:nvSpPr>
        <p:spPr>
          <a:xfrm>
            <a:off x="809625" y="6048375"/>
            <a:ext cx="10810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Construye la tabla de verdad completa para la función G.</a:t>
            </a:r>
            <a:endParaRPr/>
          </a:p>
        </p:txBody>
      </p:sp>
      <p:sp>
        <p:nvSpPr>
          <p:cNvPr id="397" name="Google Shape;397;p21"/>
          <p:cNvSpPr txBox="1"/>
          <p:nvPr/>
        </p:nvSpPr>
        <p:spPr>
          <a:xfrm>
            <a:off x="709612" y="6418734"/>
            <a:ext cx="333375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4.</a:t>
            </a:r>
            <a:endParaRPr/>
          </a:p>
        </p:txBody>
      </p:sp>
      <p:sp>
        <p:nvSpPr>
          <p:cNvPr id="398" name="Google Shape;398;p21"/>
          <p:cNvSpPr txBox="1"/>
          <p:nvPr/>
        </p:nvSpPr>
        <p:spPr>
          <a:xfrm>
            <a:off x="809625" y="6353175"/>
            <a:ext cx="10810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Determina la Forma Normal Conjuntiva (FNC) correspondiente a partir de las salidas donde G = 0.</a:t>
            </a:r>
            <a:endParaRPr/>
          </a:p>
        </p:txBody>
      </p:sp>
      <p:sp>
        <p:nvSpPr>
          <p:cNvPr id="399" name="Google Shape;399;p21"/>
          <p:cNvSpPr txBox="1"/>
          <p:nvPr/>
        </p:nvSpPr>
        <p:spPr>
          <a:xfrm>
            <a:off x="876300" y="224790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400" name="Google Shape;400;p21"/>
          <p:cNvSpPr txBox="1"/>
          <p:nvPr/>
        </p:nvSpPr>
        <p:spPr>
          <a:xfrm>
            <a:off x="1085850" y="2247900"/>
            <a:ext cx="103441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Las entradas son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X, Y, y Z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401" name="Google Shape;401;p21"/>
          <p:cNvSpPr txBox="1"/>
          <p:nvPr/>
        </p:nvSpPr>
        <p:spPr>
          <a:xfrm>
            <a:off x="876300" y="269557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402" name="Google Shape;402;p21"/>
          <p:cNvSpPr txBox="1"/>
          <p:nvPr/>
        </p:nvSpPr>
        <p:spPr>
          <a:xfrm>
            <a:off x="1085850" y="2695575"/>
            <a:ext cx="103441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X y Y se conectan a una compuerta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AND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403" name="Google Shape;403;p21"/>
          <p:cNvSpPr txBox="1"/>
          <p:nvPr/>
        </p:nvSpPr>
        <p:spPr>
          <a:xfrm>
            <a:off x="876300" y="314325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404" name="Google Shape;404;p21"/>
          <p:cNvSpPr txBox="1"/>
          <p:nvPr/>
        </p:nvSpPr>
        <p:spPr>
          <a:xfrm>
            <a:off x="1085850" y="3143250"/>
            <a:ext cx="103441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 resultado del AND se conecta a una compuerta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OR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junto con Z.</a:t>
            </a:r>
            <a:endParaRPr/>
          </a:p>
        </p:txBody>
      </p:sp>
      <p:sp>
        <p:nvSpPr>
          <p:cNvPr id="405" name="Google Shape;405;p21"/>
          <p:cNvSpPr txBox="1"/>
          <p:nvPr/>
        </p:nvSpPr>
        <p:spPr>
          <a:xfrm>
            <a:off x="876300" y="359092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406" name="Google Shape;406;p21"/>
          <p:cNvSpPr txBox="1"/>
          <p:nvPr/>
        </p:nvSpPr>
        <p:spPr>
          <a:xfrm>
            <a:off x="1085850" y="3590925"/>
            <a:ext cx="103441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La salida de la compuerta OR pasa por una compuerta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NOT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407" name="Google Shape;407;p21"/>
          <p:cNvSpPr txBox="1"/>
          <p:nvPr/>
        </p:nvSpPr>
        <p:spPr>
          <a:xfrm>
            <a:off x="876300" y="403860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408" name="Google Shape;408;p21"/>
          <p:cNvSpPr txBox="1"/>
          <p:nvPr/>
        </p:nvSpPr>
        <p:spPr>
          <a:xfrm>
            <a:off x="1085850" y="4038600"/>
            <a:ext cx="103441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La salida final del circuito se llama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409" name="Google Shape;409;p21"/>
          <p:cNvSpPr txBox="1"/>
          <p:nvPr/>
        </p:nvSpPr>
        <p:spPr>
          <a:xfrm>
            <a:off x="571500" y="47625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Ejercicio 2: Circuito NOR Equivalente</a:t>
            </a:r>
            <a:endParaRPr/>
          </a:p>
        </p:txBody>
      </p:sp>
      <p:sp>
        <p:nvSpPr>
          <p:cNvPr id="410" name="Google Shape;410;p21"/>
          <p:cNvSpPr/>
          <p:nvPr/>
        </p:nvSpPr>
        <p:spPr>
          <a:xfrm>
            <a:off x="571500" y="11144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5" name="Google Shape;415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71339" y="1258267"/>
            <a:ext cx="2353121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3201" y="2343045"/>
            <a:ext cx="5031878" cy="4325987"/>
          </a:xfrm>
          <a:prstGeom prst="rect">
            <a:avLst/>
          </a:prstGeom>
          <a:noFill/>
          <a:ln>
            <a:noFill/>
          </a:ln>
        </p:spPr>
      </p:pic>
      <p:pic>
        <p:nvPicPr>
          <p:cNvPr id="418" name="Google Shape;418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89128" y="6336952"/>
            <a:ext cx="5731371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22"/>
          <p:cNvSpPr txBox="1"/>
          <p:nvPr/>
        </p:nvSpPr>
        <p:spPr>
          <a:xfrm>
            <a:off x="571500" y="1419225"/>
            <a:ext cx="5283472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1. Función Lógica</a:t>
            </a:r>
            <a:endParaRPr/>
          </a:p>
        </p:txBody>
      </p:sp>
      <p:sp>
        <p:nvSpPr>
          <p:cNvPr id="421" name="Google Shape;421;p22"/>
          <p:cNvSpPr txBox="1"/>
          <p:nvPr/>
        </p:nvSpPr>
        <p:spPr>
          <a:xfrm>
            <a:off x="571500" y="2000676"/>
            <a:ext cx="5283472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2.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Tabla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de Verdad</a:t>
            </a:r>
            <a:endParaRPr dirty="0"/>
          </a:p>
        </p:txBody>
      </p:sp>
      <p:sp>
        <p:nvSpPr>
          <p:cNvPr id="422" name="Google Shape;422;p22"/>
          <p:cNvSpPr txBox="1"/>
          <p:nvPr/>
        </p:nvSpPr>
        <p:spPr>
          <a:xfrm>
            <a:off x="5889128" y="1419225"/>
            <a:ext cx="601793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3. Forma Normal Conjuntiva (FNC)</a:t>
            </a:r>
            <a:endParaRPr/>
          </a:p>
        </p:txBody>
      </p:sp>
      <p:sp>
        <p:nvSpPr>
          <p:cNvPr id="423" name="Google Shape;423;p22"/>
          <p:cNvSpPr txBox="1"/>
          <p:nvPr/>
        </p:nvSpPr>
        <p:spPr>
          <a:xfrm>
            <a:off x="5889128" y="1847850"/>
            <a:ext cx="5731371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Buscamos las filas donde </a:t>
            </a:r>
            <a:r>
              <a:rPr lang="en-US" sz="1200" b="1" i="0" u="none" strike="noStrike" cap="none">
                <a:solidFill>
                  <a:srgbClr val="EF4444"/>
                </a:solidFill>
                <a:latin typeface="Lato"/>
                <a:ea typeface="Lato"/>
                <a:cs typeface="Lato"/>
                <a:sym typeface="Lato"/>
              </a:rPr>
              <a:t>G = 0</a:t>
            </a:r>
            <a:r>
              <a:rPr lang="en-US" sz="12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y construimos Sumas (Maxitérminos), recordando invertir el valor lógico (0=Directa, 1=Negada):</a:t>
            </a:r>
            <a:endParaRPr/>
          </a:p>
        </p:txBody>
      </p:sp>
      <p:sp>
        <p:nvSpPr>
          <p:cNvPr id="424" name="Google Shape;424;p22"/>
          <p:cNvSpPr txBox="1"/>
          <p:nvPr/>
        </p:nvSpPr>
        <p:spPr>
          <a:xfrm>
            <a:off x="5879575" y="6003577"/>
            <a:ext cx="5731371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Multiplicamos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todo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para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obtener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la FNC:</a:t>
            </a:r>
            <a:endParaRPr dirty="0"/>
          </a:p>
        </p:txBody>
      </p:sp>
      <p:pic>
        <p:nvPicPr>
          <p:cNvPr id="425" name="Google Shape;425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423739" y="1396826"/>
            <a:ext cx="2048321" cy="30911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26" name="Google Shape;426;p22"/>
          <p:cNvGraphicFramePr/>
          <p:nvPr>
            <p:extLst>
              <p:ext uri="{D42A27DB-BD31-4B8C-83A1-F6EECF244321}">
                <p14:modId xmlns:p14="http://schemas.microsoft.com/office/powerpoint/2010/main" val="961790895"/>
              </p:ext>
            </p:extLst>
          </p:nvPr>
        </p:nvGraphicFramePr>
        <p:xfrm>
          <a:off x="512726" y="2352570"/>
          <a:ext cx="5012800" cy="43069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665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5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7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1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47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8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X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Z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XY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(XY)+Z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8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8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EF4444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8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8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EF4444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8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8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EF4444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8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EF4444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8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>
                          <a:solidFill>
                            <a:srgbClr val="EF4444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27" name="Google Shape;427;p22"/>
          <p:cNvSpPr/>
          <p:nvPr/>
        </p:nvSpPr>
        <p:spPr>
          <a:xfrm>
            <a:off x="5889128" y="2430660"/>
            <a:ext cx="5731371" cy="5905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2"/>
          <p:cNvSpPr txBox="1"/>
          <p:nvPr/>
        </p:nvSpPr>
        <p:spPr>
          <a:xfrm>
            <a:off x="6079628" y="2573535"/>
            <a:ext cx="5350371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Fila 2 (0,0,1) →</a:t>
            </a:r>
            <a:endParaRPr/>
          </a:p>
        </p:txBody>
      </p:sp>
      <p:sp>
        <p:nvSpPr>
          <p:cNvPr id="429" name="Google Shape;429;p22"/>
          <p:cNvSpPr/>
          <p:nvPr/>
        </p:nvSpPr>
        <p:spPr>
          <a:xfrm>
            <a:off x="5889128" y="2430660"/>
            <a:ext cx="38100" cy="5905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22"/>
          <p:cNvSpPr/>
          <p:nvPr/>
        </p:nvSpPr>
        <p:spPr>
          <a:xfrm>
            <a:off x="5889128" y="3164085"/>
            <a:ext cx="5731371" cy="5905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22"/>
          <p:cNvSpPr txBox="1"/>
          <p:nvPr/>
        </p:nvSpPr>
        <p:spPr>
          <a:xfrm>
            <a:off x="6079628" y="3306960"/>
            <a:ext cx="5350371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Fila 4 (0,1,1) →</a:t>
            </a:r>
            <a:endParaRPr/>
          </a:p>
        </p:txBody>
      </p:sp>
      <p:sp>
        <p:nvSpPr>
          <p:cNvPr id="432" name="Google Shape;432;p22"/>
          <p:cNvSpPr/>
          <p:nvPr/>
        </p:nvSpPr>
        <p:spPr>
          <a:xfrm>
            <a:off x="5889128" y="3164085"/>
            <a:ext cx="38100" cy="5905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2"/>
          <p:cNvSpPr/>
          <p:nvPr/>
        </p:nvSpPr>
        <p:spPr>
          <a:xfrm>
            <a:off x="5889128" y="3897510"/>
            <a:ext cx="5731371" cy="5905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2"/>
          <p:cNvSpPr txBox="1"/>
          <p:nvPr/>
        </p:nvSpPr>
        <p:spPr>
          <a:xfrm>
            <a:off x="6079628" y="4040385"/>
            <a:ext cx="5350371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Fila 6 (1,0,1) →</a:t>
            </a:r>
            <a:endParaRPr/>
          </a:p>
        </p:txBody>
      </p:sp>
      <p:sp>
        <p:nvSpPr>
          <p:cNvPr id="435" name="Google Shape;435;p22"/>
          <p:cNvSpPr/>
          <p:nvPr/>
        </p:nvSpPr>
        <p:spPr>
          <a:xfrm>
            <a:off x="5889128" y="3897510"/>
            <a:ext cx="38100" cy="5905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2"/>
          <p:cNvSpPr/>
          <p:nvPr/>
        </p:nvSpPr>
        <p:spPr>
          <a:xfrm>
            <a:off x="5889128" y="4630935"/>
            <a:ext cx="5731371" cy="5905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2"/>
          <p:cNvSpPr txBox="1"/>
          <p:nvPr/>
        </p:nvSpPr>
        <p:spPr>
          <a:xfrm>
            <a:off x="6079628" y="4773810"/>
            <a:ext cx="5350371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Fila 7 (1,1,0) →</a:t>
            </a:r>
            <a:endParaRPr/>
          </a:p>
        </p:txBody>
      </p:sp>
      <p:sp>
        <p:nvSpPr>
          <p:cNvPr id="438" name="Google Shape;438;p22"/>
          <p:cNvSpPr/>
          <p:nvPr/>
        </p:nvSpPr>
        <p:spPr>
          <a:xfrm>
            <a:off x="5889128" y="4630935"/>
            <a:ext cx="38100" cy="5905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22"/>
          <p:cNvSpPr/>
          <p:nvPr/>
        </p:nvSpPr>
        <p:spPr>
          <a:xfrm>
            <a:off x="5889128" y="5364360"/>
            <a:ext cx="5731371" cy="5905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22"/>
          <p:cNvSpPr txBox="1"/>
          <p:nvPr/>
        </p:nvSpPr>
        <p:spPr>
          <a:xfrm>
            <a:off x="6079628" y="5507235"/>
            <a:ext cx="5350371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Fila 8 (1,1,1) →</a:t>
            </a:r>
            <a:endParaRPr/>
          </a:p>
        </p:txBody>
      </p:sp>
      <p:sp>
        <p:nvSpPr>
          <p:cNvPr id="441" name="Google Shape;441;p22"/>
          <p:cNvSpPr/>
          <p:nvPr/>
        </p:nvSpPr>
        <p:spPr>
          <a:xfrm>
            <a:off x="5889128" y="5364360"/>
            <a:ext cx="38100" cy="5905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2" name="Google Shape;442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993903" y="6427440"/>
            <a:ext cx="5521821" cy="214312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22"/>
          <p:cNvSpPr/>
          <p:nvPr/>
        </p:nvSpPr>
        <p:spPr>
          <a:xfrm>
            <a:off x="512726" y="2845935"/>
            <a:ext cx="665857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22"/>
          <p:cNvSpPr/>
          <p:nvPr/>
        </p:nvSpPr>
        <p:spPr>
          <a:xfrm>
            <a:off x="1178583" y="2845935"/>
            <a:ext cx="665857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22"/>
          <p:cNvSpPr/>
          <p:nvPr/>
        </p:nvSpPr>
        <p:spPr>
          <a:xfrm>
            <a:off x="1844440" y="2845935"/>
            <a:ext cx="647402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2"/>
          <p:cNvSpPr/>
          <p:nvPr/>
        </p:nvSpPr>
        <p:spPr>
          <a:xfrm>
            <a:off x="2491842" y="2845935"/>
            <a:ext cx="887759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22"/>
          <p:cNvSpPr/>
          <p:nvPr/>
        </p:nvSpPr>
        <p:spPr>
          <a:xfrm>
            <a:off x="3379602" y="2845935"/>
            <a:ext cx="1461194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22"/>
          <p:cNvSpPr/>
          <p:nvPr/>
        </p:nvSpPr>
        <p:spPr>
          <a:xfrm>
            <a:off x="4840796" y="2845935"/>
            <a:ext cx="684758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9" name="Google Shape;449;p22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403603" y="2622202"/>
            <a:ext cx="1156394" cy="227558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22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403603" y="3355627"/>
            <a:ext cx="1156394" cy="227558"/>
          </a:xfrm>
          <a:prstGeom prst="rect">
            <a:avLst/>
          </a:prstGeom>
          <a:noFill/>
          <a:ln>
            <a:noFill/>
          </a:ln>
        </p:spPr>
      </p:pic>
      <p:pic>
        <p:nvPicPr>
          <p:cNvPr id="451" name="Google Shape;451;p22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403603" y="4089052"/>
            <a:ext cx="1156394" cy="227558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p22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403603" y="4822477"/>
            <a:ext cx="1156394" cy="227558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p22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7403603" y="5555902"/>
            <a:ext cx="1156394" cy="227558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22"/>
          <p:cNvSpPr/>
          <p:nvPr/>
        </p:nvSpPr>
        <p:spPr>
          <a:xfrm>
            <a:off x="512726" y="3334538"/>
            <a:ext cx="6658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22"/>
          <p:cNvSpPr/>
          <p:nvPr/>
        </p:nvSpPr>
        <p:spPr>
          <a:xfrm>
            <a:off x="1178583" y="3334538"/>
            <a:ext cx="6658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2"/>
          <p:cNvSpPr/>
          <p:nvPr/>
        </p:nvSpPr>
        <p:spPr>
          <a:xfrm>
            <a:off x="1844440" y="3334538"/>
            <a:ext cx="64740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2"/>
          <p:cNvSpPr/>
          <p:nvPr/>
        </p:nvSpPr>
        <p:spPr>
          <a:xfrm>
            <a:off x="2491842" y="3334538"/>
            <a:ext cx="88775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2"/>
          <p:cNvSpPr/>
          <p:nvPr/>
        </p:nvSpPr>
        <p:spPr>
          <a:xfrm>
            <a:off x="3379602" y="3334538"/>
            <a:ext cx="14611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22"/>
          <p:cNvSpPr/>
          <p:nvPr/>
        </p:nvSpPr>
        <p:spPr>
          <a:xfrm>
            <a:off x="4840796" y="3334538"/>
            <a:ext cx="68475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2"/>
          <p:cNvSpPr/>
          <p:nvPr/>
        </p:nvSpPr>
        <p:spPr>
          <a:xfrm>
            <a:off x="512726" y="3808853"/>
            <a:ext cx="6658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2"/>
          <p:cNvSpPr/>
          <p:nvPr/>
        </p:nvSpPr>
        <p:spPr>
          <a:xfrm>
            <a:off x="1178583" y="3808853"/>
            <a:ext cx="6658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22"/>
          <p:cNvSpPr/>
          <p:nvPr/>
        </p:nvSpPr>
        <p:spPr>
          <a:xfrm>
            <a:off x="1844440" y="3808853"/>
            <a:ext cx="64740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2"/>
          <p:cNvSpPr/>
          <p:nvPr/>
        </p:nvSpPr>
        <p:spPr>
          <a:xfrm>
            <a:off x="2491842" y="3808853"/>
            <a:ext cx="88775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22"/>
          <p:cNvSpPr/>
          <p:nvPr/>
        </p:nvSpPr>
        <p:spPr>
          <a:xfrm>
            <a:off x="3379602" y="3808853"/>
            <a:ext cx="14611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22"/>
          <p:cNvSpPr/>
          <p:nvPr/>
        </p:nvSpPr>
        <p:spPr>
          <a:xfrm>
            <a:off x="4840796" y="3808853"/>
            <a:ext cx="68475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2"/>
          <p:cNvSpPr/>
          <p:nvPr/>
        </p:nvSpPr>
        <p:spPr>
          <a:xfrm>
            <a:off x="512726" y="4283168"/>
            <a:ext cx="6658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2"/>
          <p:cNvSpPr/>
          <p:nvPr/>
        </p:nvSpPr>
        <p:spPr>
          <a:xfrm>
            <a:off x="1178583" y="4283168"/>
            <a:ext cx="6658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2"/>
          <p:cNvSpPr/>
          <p:nvPr/>
        </p:nvSpPr>
        <p:spPr>
          <a:xfrm>
            <a:off x="1844440" y="4283168"/>
            <a:ext cx="64740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2"/>
          <p:cNvSpPr/>
          <p:nvPr/>
        </p:nvSpPr>
        <p:spPr>
          <a:xfrm>
            <a:off x="2491842" y="4283168"/>
            <a:ext cx="88775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2"/>
          <p:cNvSpPr/>
          <p:nvPr/>
        </p:nvSpPr>
        <p:spPr>
          <a:xfrm>
            <a:off x="3379602" y="4283168"/>
            <a:ext cx="14611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2"/>
          <p:cNvSpPr/>
          <p:nvPr/>
        </p:nvSpPr>
        <p:spPr>
          <a:xfrm>
            <a:off x="4840796" y="4283168"/>
            <a:ext cx="68475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2"/>
          <p:cNvSpPr/>
          <p:nvPr/>
        </p:nvSpPr>
        <p:spPr>
          <a:xfrm>
            <a:off x="512726" y="4757484"/>
            <a:ext cx="6658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2"/>
          <p:cNvSpPr/>
          <p:nvPr/>
        </p:nvSpPr>
        <p:spPr>
          <a:xfrm>
            <a:off x="1178583" y="4757484"/>
            <a:ext cx="6658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22"/>
          <p:cNvSpPr/>
          <p:nvPr/>
        </p:nvSpPr>
        <p:spPr>
          <a:xfrm>
            <a:off x="1844440" y="4757484"/>
            <a:ext cx="64740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22"/>
          <p:cNvSpPr/>
          <p:nvPr/>
        </p:nvSpPr>
        <p:spPr>
          <a:xfrm>
            <a:off x="2491842" y="4757484"/>
            <a:ext cx="88775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22"/>
          <p:cNvSpPr/>
          <p:nvPr/>
        </p:nvSpPr>
        <p:spPr>
          <a:xfrm>
            <a:off x="3379602" y="4757484"/>
            <a:ext cx="14611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2"/>
          <p:cNvSpPr/>
          <p:nvPr/>
        </p:nvSpPr>
        <p:spPr>
          <a:xfrm>
            <a:off x="4840796" y="4757484"/>
            <a:ext cx="68475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22"/>
          <p:cNvSpPr/>
          <p:nvPr/>
        </p:nvSpPr>
        <p:spPr>
          <a:xfrm>
            <a:off x="512726" y="5231799"/>
            <a:ext cx="6658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22"/>
          <p:cNvSpPr/>
          <p:nvPr/>
        </p:nvSpPr>
        <p:spPr>
          <a:xfrm>
            <a:off x="1178583" y="5231799"/>
            <a:ext cx="6658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22"/>
          <p:cNvSpPr/>
          <p:nvPr/>
        </p:nvSpPr>
        <p:spPr>
          <a:xfrm>
            <a:off x="1844440" y="5231799"/>
            <a:ext cx="64740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22"/>
          <p:cNvSpPr/>
          <p:nvPr/>
        </p:nvSpPr>
        <p:spPr>
          <a:xfrm>
            <a:off x="2491842" y="5231799"/>
            <a:ext cx="88775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22"/>
          <p:cNvSpPr/>
          <p:nvPr/>
        </p:nvSpPr>
        <p:spPr>
          <a:xfrm>
            <a:off x="3379602" y="5231799"/>
            <a:ext cx="14611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2"/>
          <p:cNvSpPr/>
          <p:nvPr/>
        </p:nvSpPr>
        <p:spPr>
          <a:xfrm>
            <a:off x="4840796" y="5231799"/>
            <a:ext cx="68475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22"/>
          <p:cNvSpPr/>
          <p:nvPr/>
        </p:nvSpPr>
        <p:spPr>
          <a:xfrm>
            <a:off x="512726" y="5706114"/>
            <a:ext cx="6658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2"/>
          <p:cNvSpPr/>
          <p:nvPr/>
        </p:nvSpPr>
        <p:spPr>
          <a:xfrm>
            <a:off x="1178583" y="5706114"/>
            <a:ext cx="6658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22"/>
          <p:cNvSpPr/>
          <p:nvPr/>
        </p:nvSpPr>
        <p:spPr>
          <a:xfrm>
            <a:off x="1844440" y="5706114"/>
            <a:ext cx="64740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22"/>
          <p:cNvSpPr/>
          <p:nvPr/>
        </p:nvSpPr>
        <p:spPr>
          <a:xfrm>
            <a:off x="2491842" y="5706114"/>
            <a:ext cx="88775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2"/>
          <p:cNvSpPr/>
          <p:nvPr/>
        </p:nvSpPr>
        <p:spPr>
          <a:xfrm>
            <a:off x="3379602" y="5706114"/>
            <a:ext cx="14611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2"/>
          <p:cNvSpPr/>
          <p:nvPr/>
        </p:nvSpPr>
        <p:spPr>
          <a:xfrm>
            <a:off x="4840796" y="5706114"/>
            <a:ext cx="68475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2"/>
          <p:cNvSpPr/>
          <p:nvPr/>
        </p:nvSpPr>
        <p:spPr>
          <a:xfrm>
            <a:off x="512726" y="6180429"/>
            <a:ext cx="6658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22"/>
          <p:cNvSpPr/>
          <p:nvPr/>
        </p:nvSpPr>
        <p:spPr>
          <a:xfrm>
            <a:off x="1178583" y="6180429"/>
            <a:ext cx="6658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2"/>
          <p:cNvSpPr/>
          <p:nvPr/>
        </p:nvSpPr>
        <p:spPr>
          <a:xfrm>
            <a:off x="1844440" y="6180429"/>
            <a:ext cx="64740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2"/>
          <p:cNvSpPr/>
          <p:nvPr/>
        </p:nvSpPr>
        <p:spPr>
          <a:xfrm>
            <a:off x="2491842" y="6180429"/>
            <a:ext cx="88775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22"/>
          <p:cNvSpPr/>
          <p:nvPr/>
        </p:nvSpPr>
        <p:spPr>
          <a:xfrm>
            <a:off x="3379602" y="6180429"/>
            <a:ext cx="14611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2"/>
          <p:cNvSpPr/>
          <p:nvPr/>
        </p:nvSpPr>
        <p:spPr>
          <a:xfrm>
            <a:off x="4840796" y="6180429"/>
            <a:ext cx="68475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2"/>
          <p:cNvSpPr txBox="1"/>
          <p:nvPr/>
        </p:nvSpPr>
        <p:spPr>
          <a:xfrm>
            <a:off x="571500" y="47625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Solución Ejercicio 2</a:t>
            </a:r>
            <a:endParaRPr/>
          </a:p>
        </p:txBody>
      </p:sp>
      <p:sp>
        <p:nvSpPr>
          <p:cNvPr id="497" name="Google Shape;497;p22"/>
          <p:cNvSpPr/>
          <p:nvPr/>
        </p:nvSpPr>
        <p:spPr>
          <a:xfrm>
            <a:off x="571500" y="11144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660570" y="2432893"/>
            <a:ext cx="6870858" cy="66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Trabajo Independiente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005488" y="3381523"/>
            <a:ext cx="818102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Consolidación de Conocimientos: Álgebra Booleana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5715000" y="4124473"/>
            <a:ext cx="762000" cy="47625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2286000" y="4457848"/>
            <a:ext cx="762000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Los siguientes ejercicios están diseñados para fortalecer tu capacidad de abstracción lógica, construcción de formas canónicas y simplificación algebraica. </a:t>
            </a:r>
            <a:r>
              <a:rPr lang="en-US" sz="1650" b="1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Debes documentar el paso a paso de cada solución.</a:t>
            </a:r>
            <a:endParaRPr/>
          </a:p>
        </p:txBody>
      </p:sp>
      <p:pic>
        <p:nvPicPr>
          <p:cNvPr id="89" name="Google Shape;89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76900" y="1470868"/>
            <a:ext cx="838200" cy="66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09687" y="2219325"/>
            <a:ext cx="3810000" cy="4325987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419225"/>
            <a:ext cx="5286375" cy="4880371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566737"/>
            <a:ext cx="36195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571500" y="1419225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Dada la siguiente tabla de verdad que modela un sistema de control de calidad (Z) basado en tres sensores (P, Q, R):</a:t>
            </a:r>
            <a:endParaRPr/>
          </a:p>
        </p:txBody>
      </p:sp>
      <p:graphicFrame>
        <p:nvGraphicFramePr>
          <p:cNvPr id="99" name="Google Shape;99;p14"/>
          <p:cNvGraphicFramePr/>
          <p:nvPr/>
        </p:nvGraphicFramePr>
        <p:xfrm>
          <a:off x="1319212" y="2228850"/>
          <a:ext cx="3790950" cy="43069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921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0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7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1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8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Q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Z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8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8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284C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8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284C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8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8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284C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8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8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8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284C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0" name="Google Shape;100;p14"/>
          <p:cNvSpPr txBox="1"/>
          <p:nvPr/>
        </p:nvSpPr>
        <p:spPr>
          <a:xfrm>
            <a:off x="6581775" y="1666875"/>
            <a:ext cx="5030628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Entregables:</a:t>
            </a:r>
            <a:endParaRPr/>
          </a:p>
        </p:txBody>
      </p:sp>
      <p:sp>
        <p:nvSpPr>
          <p:cNvPr id="101" name="Google Shape;101;p14"/>
          <p:cNvSpPr/>
          <p:nvPr/>
        </p:nvSpPr>
        <p:spPr>
          <a:xfrm>
            <a:off x="1319212" y="2722215"/>
            <a:ext cx="921394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2240607" y="2722215"/>
            <a:ext cx="1000273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/>
          <p:nvPr/>
        </p:nvSpPr>
        <p:spPr>
          <a:xfrm>
            <a:off x="3240881" y="2722215"/>
            <a:ext cx="947737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4188618" y="2722215"/>
            <a:ext cx="921543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/>
          <p:nvPr/>
        </p:nvSpPr>
        <p:spPr>
          <a:xfrm>
            <a:off x="6581775" y="2143125"/>
            <a:ext cx="4791075" cy="83433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6772275" y="2286000"/>
            <a:ext cx="44100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Paso 1: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Escribe explícitamente los minitérminos generados por las filas donde la salida es 1.</a:t>
            </a:r>
            <a:endParaRPr/>
          </a:p>
        </p:txBody>
      </p:sp>
      <p:sp>
        <p:nvSpPr>
          <p:cNvPr id="107" name="Google Shape;107;p14"/>
          <p:cNvSpPr/>
          <p:nvPr/>
        </p:nvSpPr>
        <p:spPr>
          <a:xfrm>
            <a:off x="6581775" y="2143125"/>
            <a:ext cx="38100" cy="83433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/>
          <p:nvPr/>
        </p:nvSpPr>
        <p:spPr>
          <a:xfrm>
            <a:off x="6581775" y="3120330"/>
            <a:ext cx="4791075" cy="83433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4"/>
          <p:cNvSpPr txBox="1"/>
          <p:nvPr/>
        </p:nvSpPr>
        <p:spPr>
          <a:xfrm>
            <a:off x="6772275" y="3263205"/>
            <a:ext cx="44100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Paso 2: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Presenta la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ecuación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final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Forma Normal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Disyuntiva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(Suma de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Productos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).</a:t>
            </a:r>
            <a:endParaRPr dirty="0"/>
          </a:p>
        </p:txBody>
      </p:sp>
      <p:sp>
        <p:nvSpPr>
          <p:cNvPr id="110" name="Google Shape;110;p14"/>
          <p:cNvSpPr/>
          <p:nvPr/>
        </p:nvSpPr>
        <p:spPr>
          <a:xfrm>
            <a:off x="6581775" y="3120330"/>
            <a:ext cx="38100" cy="83433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/>
          <p:cNvSpPr/>
          <p:nvPr/>
        </p:nvSpPr>
        <p:spPr>
          <a:xfrm>
            <a:off x="6581775" y="4097535"/>
            <a:ext cx="4791075" cy="83433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6772275" y="4240410"/>
            <a:ext cx="44100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Paso 3: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Escribe explícitamente los maxitérminos generados por las filas donde la salida es 0.</a:t>
            </a:r>
            <a:endParaRPr/>
          </a:p>
        </p:txBody>
      </p:sp>
      <p:sp>
        <p:nvSpPr>
          <p:cNvPr id="113" name="Google Shape;113;p14"/>
          <p:cNvSpPr/>
          <p:nvPr/>
        </p:nvSpPr>
        <p:spPr>
          <a:xfrm>
            <a:off x="6581775" y="4097535"/>
            <a:ext cx="38100" cy="83433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4"/>
          <p:cNvSpPr/>
          <p:nvPr/>
        </p:nvSpPr>
        <p:spPr>
          <a:xfrm>
            <a:off x="6581775" y="5074741"/>
            <a:ext cx="4791075" cy="83433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4"/>
          <p:cNvSpPr txBox="1"/>
          <p:nvPr/>
        </p:nvSpPr>
        <p:spPr>
          <a:xfrm>
            <a:off x="6772275" y="5217616"/>
            <a:ext cx="44100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Paso 4: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Presenta la ecuación final en Forma Normal Conjuntiva (Producto de Sumas).</a:t>
            </a:r>
            <a:endParaRPr/>
          </a:p>
        </p:txBody>
      </p:sp>
      <p:sp>
        <p:nvSpPr>
          <p:cNvPr id="116" name="Google Shape;116;p14"/>
          <p:cNvSpPr/>
          <p:nvPr/>
        </p:nvSpPr>
        <p:spPr>
          <a:xfrm>
            <a:off x="6581775" y="5074741"/>
            <a:ext cx="38100" cy="83433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4"/>
          <p:cNvSpPr/>
          <p:nvPr/>
        </p:nvSpPr>
        <p:spPr>
          <a:xfrm>
            <a:off x="1319212" y="3210817"/>
            <a:ext cx="9213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/>
          <p:nvPr/>
        </p:nvSpPr>
        <p:spPr>
          <a:xfrm>
            <a:off x="2240607" y="3210817"/>
            <a:ext cx="10002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4"/>
          <p:cNvSpPr/>
          <p:nvPr/>
        </p:nvSpPr>
        <p:spPr>
          <a:xfrm>
            <a:off x="3240881" y="3210817"/>
            <a:ext cx="9477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4"/>
          <p:cNvSpPr/>
          <p:nvPr/>
        </p:nvSpPr>
        <p:spPr>
          <a:xfrm>
            <a:off x="4188618" y="3210817"/>
            <a:ext cx="92154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4"/>
          <p:cNvSpPr/>
          <p:nvPr/>
        </p:nvSpPr>
        <p:spPr>
          <a:xfrm>
            <a:off x="1319212" y="3685133"/>
            <a:ext cx="9213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/>
          <p:cNvSpPr/>
          <p:nvPr/>
        </p:nvSpPr>
        <p:spPr>
          <a:xfrm>
            <a:off x="2240607" y="3685133"/>
            <a:ext cx="10002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4"/>
          <p:cNvSpPr/>
          <p:nvPr/>
        </p:nvSpPr>
        <p:spPr>
          <a:xfrm>
            <a:off x="3240881" y="3685133"/>
            <a:ext cx="9477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4"/>
          <p:cNvSpPr/>
          <p:nvPr/>
        </p:nvSpPr>
        <p:spPr>
          <a:xfrm>
            <a:off x="4188618" y="3685133"/>
            <a:ext cx="92154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4"/>
          <p:cNvSpPr/>
          <p:nvPr/>
        </p:nvSpPr>
        <p:spPr>
          <a:xfrm>
            <a:off x="1319212" y="4159448"/>
            <a:ext cx="9213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4"/>
          <p:cNvSpPr/>
          <p:nvPr/>
        </p:nvSpPr>
        <p:spPr>
          <a:xfrm>
            <a:off x="2240607" y="4159448"/>
            <a:ext cx="10002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4"/>
          <p:cNvSpPr/>
          <p:nvPr/>
        </p:nvSpPr>
        <p:spPr>
          <a:xfrm>
            <a:off x="3240881" y="4159448"/>
            <a:ext cx="9477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4"/>
          <p:cNvSpPr/>
          <p:nvPr/>
        </p:nvSpPr>
        <p:spPr>
          <a:xfrm>
            <a:off x="4188618" y="4159448"/>
            <a:ext cx="92154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4"/>
          <p:cNvSpPr/>
          <p:nvPr/>
        </p:nvSpPr>
        <p:spPr>
          <a:xfrm>
            <a:off x="1319212" y="4633763"/>
            <a:ext cx="9213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4"/>
          <p:cNvSpPr/>
          <p:nvPr/>
        </p:nvSpPr>
        <p:spPr>
          <a:xfrm>
            <a:off x="2240607" y="4633763"/>
            <a:ext cx="10002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4"/>
          <p:cNvSpPr/>
          <p:nvPr/>
        </p:nvSpPr>
        <p:spPr>
          <a:xfrm>
            <a:off x="3240881" y="4633763"/>
            <a:ext cx="9477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4"/>
          <p:cNvSpPr/>
          <p:nvPr/>
        </p:nvSpPr>
        <p:spPr>
          <a:xfrm>
            <a:off x="4188618" y="4633763"/>
            <a:ext cx="92154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4"/>
          <p:cNvSpPr/>
          <p:nvPr/>
        </p:nvSpPr>
        <p:spPr>
          <a:xfrm>
            <a:off x="1319212" y="5108078"/>
            <a:ext cx="9213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4"/>
          <p:cNvSpPr/>
          <p:nvPr/>
        </p:nvSpPr>
        <p:spPr>
          <a:xfrm>
            <a:off x="2240607" y="5108078"/>
            <a:ext cx="10002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4"/>
          <p:cNvSpPr/>
          <p:nvPr/>
        </p:nvSpPr>
        <p:spPr>
          <a:xfrm>
            <a:off x="3240881" y="5108078"/>
            <a:ext cx="9477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4"/>
          <p:cNvSpPr/>
          <p:nvPr/>
        </p:nvSpPr>
        <p:spPr>
          <a:xfrm>
            <a:off x="4188618" y="5108078"/>
            <a:ext cx="92154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4"/>
          <p:cNvSpPr/>
          <p:nvPr/>
        </p:nvSpPr>
        <p:spPr>
          <a:xfrm>
            <a:off x="1319212" y="5582394"/>
            <a:ext cx="9213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4"/>
          <p:cNvSpPr/>
          <p:nvPr/>
        </p:nvSpPr>
        <p:spPr>
          <a:xfrm>
            <a:off x="2240607" y="5582394"/>
            <a:ext cx="10002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4"/>
          <p:cNvSpPr/>
          <p:nvPr/>
        </p:nvSpPr>
        <p:spPr>
          <a:xfrm>
            <a:off x="3240881" y="5582394"/>
            <a:ext cx="9477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4"/>
          <p:cNvSpPr/>
          <p:nvPr/>
        </p:nvSpPr>
        <p:spPr>
          <a:xfrm>
            <a:off x="4188618" y="5582394"/>
            <a:ext cx="92154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4"/>
          <p:cNvSpPr/>
          <p:nvPr/>
        </p:nvSpPr>
        <p:spPr>
          <a:xfrm>
            <a:off x="1319212" y="6056709"/>
            <a:ext cx="9213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4"/>
          <p:cNvSpPr/>
          <p:nvPr/>
        </p:nvSpPr>
        <p:spPr>
          <a:xfrm>
            <a:off x="2240607" y="6056709"/>
            <a:ext cx="10002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4"/>
          <p:cNvSpPr/>
          <p:nvPr/>
        </p:nvSpPr>
        <p:spPr>
          <a:xfrm>
            <a:off x="3240881" y="6056709"/>
            <a:ext cx="9477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4"/>
          <p:cNvSpPr/>
          <p:nvPr/>
        </p:nvSpPr>
        <p:spPr>
          <a:xfrm>
            <a:off x="4188618" y="6056709"/>
            <a:ext cx="92154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4"/>
          <p:cNvSpPr txBox="1"/>
          <p:nvPr/>
        </p:nvSpPr>
        <p:spPr>
          <a:xfrm>
            <a:off x="1076325" y="476250"/>
            <a:ext cx="11071383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Reto 1: Construcción Canónica Múltiple</a:t>
            </a:r>
            <a:endParaRPr/>
          </a:p>
        </p:txBody>
      </p:sp>
      <p:sp>
        <p:nvSpPr>
          <p:cNvPr id="150" name="Google Shape;150;p14"/>
          <p:cNvSpPr/>
          <p:nvPr/>
        </p:nvSpPr>
        <p:spPr>
          <a:xfrm>
            <a:off x="571500" y="11144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14575"/>
            <a:ext cx="11049000" cy="97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476625"/>
            <a:ext cx="11049000" cy="97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638675"/>
            <a:ext cx="11049000" cy="9992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45568" y="2409825"/>
            <a:ext cx="3357413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770756" y="3571875"/>
            <a:ext cx="4928889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094101" y="4743896"/>
            <a:ext cx="2880866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71500" y="566737"/>
            <a:ext cx="36195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5"/>
          <p:cNvSpPr txBox="1"/>
          <p:nvPr/>
        </p:nvSpPr>
        <p:spPr>
          <a:xfrm>
            <a:off x="571500" y="1419225"/>
            <a:ext cx="11049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Aplica los postulados y teoremas del álgebra de Boole para llevar cada función a su expresión más reducida posible.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Justifica qué teorema aplicas en cada paso.</a:t>
            </a:r>
            <a:endParaRPr/>
          </a:p>
        </p:txBody>
      </p:sp>
      <p:pic>
        <p:nvPicPr>
          <p:cNvPr id="164" name="Google Shape;164;p1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19150" y="2562225"/>
            <a:ext cx="12001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5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19150" y="3724275"/>
            <a:ext cx="2905125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5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19150" y="4914007"/>
            <a:ext cx="2219325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5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2226543" y="2544366"/>
            <a:ext cx="3052613" cy="2940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5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3923155" y="3733419"/>
            <a:ext cx="4624089" cy="2940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5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3246501" y="4855294"/>
            <a:ext cx="2576066" cy="35555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5"/>
          <p:cNvSpPr txBox="1"/>
          <p:nvPr/>
        </p:nvSpPr>
        <p:spPr>
          <a:xfrm>
            <a:off x="1076325" y="476250"/>
            <a:ext cx="11071383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Reto 2: Gimnasio de Simplificación Algebraica</a:t>
            </a:r>
            <a:endParaRPr/>
          </a:p>
        </p:txBody>
      </p:sp>
      <p:sp>
        <p:nvSpPr>
          <p:cNvPr id="171" name="Google Shape;171;p15"/>
          <p:cNvSpPr/>
          <p:nvPr/>
        </p:nvSpPr>
        <p:spPr>
          <a:xfrm>
            <a:off x="571500" y="11144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419225"/>
            <a:ext cx="5286375" cy="43317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566737"/>
            <a:ext cx="45720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6"/>
          <p:cNvSpPr txBox="1"/>
          <p:nvPr/>
        </p:nvSpPr>
        <p:spPr>
          <a:xfrm>
            <a:off x="571500" y="1419225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 te ha entregado un dispositivo de hardware en "caja negra" pero tienes los planos lógicos textuales. La descripción topológica es la siguiente:</a:t>
            </a:r>
            <a:endParaRPr/>
          </a:p>
        </p:txBody>
      </p:sp>
      <p:sp>
        <p:nvSpPr>
          <p:cNvPr id="180" name="Google Shape;180;p16"/>
          <p:cNvSpPr/>
          <p:nvPr/>
        </p:nvSpPr>
        <p:spPr>
          <a:xfrm>
            <a:off x="571500" y="2476500"/>
            <a:ext cx="5286375" cy="28765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6"/>
          <p:cNvSpPr txBox="1"/>
          <p:nvPr/>
        </p:nvSpPr>
        <p:spPr>
          <a:xfrm>
            <a:off x="809625" y="2714625"/>
            <a:ext cx="4810125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"El sistema tiene tres pines de entrada (</a:t>
            </a:r>
            <a:r>
              <a:rPr lang="en-US" sz="15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A, B, C</a:t>
            </a:r>
            <a:r>
              <a:rPr lang="en-US" sz="15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). Las señales </a:t>
            </a:r>
            <a:r>
              <a:rPr lang="en-US" sz="15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 y B</a:t>
            </a:r>
            <a:r>
              <a:rPr lang="en-US" sz="15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se procesan primero a través de una compuerta lógica </a:t>
            </a:r>
            <a:r>
              <a:rPr lang="en-US" sz="15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OR</a:t>
            </a:r>
            <a:r>
              <a:rPr lang="en-US" sz="15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. La salida resultante de esta operación se enruta hacia una compuerta </a:t>
            </a:r>
            <a:r>
              <a:rPr lang="en-US" sz="15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AND</a:t>
            </a:r>
            <a:r>
              <a:rPr lang="en-US" sz="15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. El segundo pin de entrada para esta compuerta AND proviene de la señal </a:t>
            </a:r>
            <a:r>
              <a:rPr lang="en-US" sz="15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C, la cual ha sido invertida (NOT)</a:t>
            </a:r>
            <a:r>
              <a:rPr lang="en-US" sz="15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previamente. El resultado del AND es la salida final </a:t>
            </a:r>
            <a:r>
              <a:rPr lang="en-US" sz="15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W</a:t>
            </a:r>
            <a:r>
              <a:rPr lang="en-US" sz="15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."</a:t>
            </a:r>
            <a:endParaRPr/>
          </a:p>
        </p:txBody>
      </p:sp>
      <p:sp>
        <p:nvSpPr>
          <p:cNvPr id="182" name="Google Shape;182;p16"/>
          <p:cNvSpPr/>
          <p:nvPr/>
        </p:nvSpPr>
        <p:spPr>
          <a:xfrm>
            <a:off x="571500" y="2476500"/>
            <a:ext cx="47625" cy="287655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6"/>
          <p:cNvSpPr txBox="1"/>
          <p:nvPr/>
        </p:nvSpPr>
        <p:spPr>
          <a:xfrm>
            <a:off x="6581775" y="1666875"/>
            <a:ext cx="5030628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Tu misión como analista:</a:t>
            </a:r>
            <a:endParaRPr/>
          </a:p>
        </p:txBody>
      </p:sp>
      <p:sp>
        <p:nvSpPr>
          <p:cNvPr id="184" name="Google Shape;184;p16"/>
          <p:cNvSpPr/>
          <p:nvPr/>
        </p:nvSpPr>
        <p:spPr>
          <a:xfrm>
            <a:off x="6581775" y="2143125"/>
            <a:ext cx="4791075" cy="56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6"/>
          <p:cNvSpPr txBox="1"/>
          <p:nvPr/>
        </p:nvSpPr>
        <p:spPr>
          <a:xfrm>
            <a:off x="6772275" y="2286000"/>
            <a:ext cx="44100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1. Extrae la función booleana exacta W(A,B,C).</a:t>
            </a:r>
            <a:endParaRPr/>
          </a:p>
        </p:txBody>
      </p:sp>
      <p:sp>
        <p:nvSpPr>
          <p:cNvPr id="186" name="Google Shape;186;p16"/>
          <p:cNvSpPr/>
          <p:nvPr/>
        </p:nvSpPr>
        <p:spPr>
          <a:xfrm>
            <a:off x="6581775" y="2143125"/>
            <a:ext cx="38100" cy="56004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6"/>
          <p:cNvSpPr/>
          <p:nvPr/>
        </p:nvSpPr>
        <p:spPr>
          <a:xfrm>
            <a:off x="6581775" y="2846040"/>
            <a:ext cx="4791075" cy="83433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6"/>
          <p:cNvSpPr txBox="1"/>
          <p:nvPr/>
        </p:nvSpPr>
        <p:spPr>
          <a:xfrm>
            <a:off x="6772275" y="2988915"/>
            <a:ext cx="44100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2. Construye la Tabla de Verdad evaluando la ecuación paso a paso.</a:t>
            </a:r>
            <a:endParaRPr/>
          </a:p>
        </p:txBody>
      </p:sp>
      <p:sp>
        <p:nvSpPr>
          <p:cNvPr id="189" name="Google Shape;189;p16"/>
          <p:cNvSpPr/>
          <p:nvPr/>
        </p:nvSpPr>
        <p:spPr>
          <a:xfrm>
            <a:off x="6581775" y="2846040"/>
            <a:ext cx="38100" cy="83433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6"/>
          <p:cNvSpPr/>
          <p:nvPr/>
        </p:nvSpPr>
        <p:spPr>
          <a:xfrm>
            <a:off x="6581775" y="3823245"/>
            <a:ext cx="4791075" cy="56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6"/>
          <p:cNvSpPr txBox="1"/>
          <p:nvPr/>
        </p:nvSpPr>
        <p:spPr>
          <a:xfrm>
            <a:off x="6772275" y="3966120"/>
            <a:ext cx="44100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3. Escribe la FND derivada directamente de tu tabla.</a:t>
            </a:r>
            <a:endParaRPr/>
          </a:p>
        </p:txBody>
      </p:sp>
      <p:sp>
        <p:nvSpPr>
          <p:cNvPr id="192" name="Google Shape;192;p16"/>
          <p:cNvSpPr/>
          <p:nvPr/>
        </p:nvSpPr>
        <p:spPr>
          <a:xfrm>
            <a:off x="6581775" y="3823245"/>
            <a:ext cx="38100" cy="56004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6"/>
          <p:cNvSpPr/>
          <p:nvPr/>
        </p:nvSpPr>
        <p:spPr>
          <a:xfrm>
            <a:off x="6581775" y="4526160"/>
            <a:ext cx="4791075" cy="83433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6"/>
          <p:cNvSpPr txBox="1"/>
          <p:nvPr/>
        </p:nvSpPr>
        <p:spPr>
          <a:xfrm>
            <a:off x="6772275" y="4669035"/>
            <a:ext cx="44100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4. </a:t>
            </a:r>
            <a:r>
              <a:rPr lang="en-US" sz="1350" b="0" i="1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(Opcional)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Dibuja el esquemático del circuito en tu cuaderno.</a:t>
            </a:r>
            <a:endParaRPr/>
          </a:p>
        </p:txBody>
      </p:sp>
      <p:sp>
        <p:nvSpPr>
          <p:cNvPr id="195" name="Google Shape;195;p16"/>
          <p:cNvSpPr/>
          <p:nvPr/>
        </p:nvSpPr>
        <p:spPr>
          <a:xfrm>
            <a:off x="6581775" y="4526160"/>
            <a:ext cx="38100" cy="83433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6"/>
          <p:cNvSpPr txBox="1"/>
          <p:nvPr/>
        </p:nvSpPr>
        <p:spPr>
          <a:xfrm>
            <a:off x="1171575" y="476250"/>
            <a:ext cx="10971371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Reto 3: Ingeniería Inversa Lógica</a:t>
            </a:r>
            <a:endParaRPr/>
          </a:p>
        </p:txBody>
      </p:sp>
      <p:sp>
        <p:nvSpPr>
          <p:cNvPr id="201" name="Google Shape;201;p16"/>
          <p:cNvSpPr/>
          <p:nvPr/>
        </p:nvSpPr>
        <p:spPr>
          <a:xfrm>
            <a:off x="571500" y="11144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419225"/>
            <a:ext cx="5286375" cy="41774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566737"/>
            <a:ext cx="36195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1419225"/>
            <a:ext cx="3228975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7"/>
          <p:cNvSpPr txBox="1"/>
          <p:nvPr/>
        </p:nvSpPr>
        <p:spPr>
          <a:xfrm>
            <a:off x="571500" y="1800225"/>
            <a:ext cx="5286375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Debes diseñar la lógica para la alarma (A) de un cuarto de servidores. Existen tres sensores digitales:</a:t>
            </a:r>
            <a:endParaRPr/>
          </a:p>
        </p:txBody>
      </p:sp>
      <p:pic>
        <p:nvPicPr>
          <p:cNvPr id="211" name="Google Shape;211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3674566"/>
            <a:ext cx="5286375" cy="2022574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7"/>
          <p:cNvSpPr txBox="1"/>
          <p:nvPr/>
        </p:nvSpPr>
        <p:spPr>
          <a:xfrm>
            <a:off x="647700" y="2569666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13" name="Google Shape;213;p17"/>
          <p:cNvSpPr txBox="1"/>
          <p:nvPr/>
        </p:nvSpPr>
        <p:spPr>
          <a:xfrm>
            <a:off x="762000" y="2569666"/>
            <a:ext cx="5095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Sensor de Temperatura (1 = Alta, 0 = Normal)</a:t>
            </a:r>
            <a:endParaRPr/>
          </a:p>
        </p:txBody>
      </p:sp>
      <p:sp>
        <p:nvSpPr>
          <p:cNvPr id="214" name="Google Shape;214;p17"/>
          <p:cNvSpPr txBox="1"/>
          <p:nvPr/>
        </p:nvSpPr>
        <p:spPr>
          <a:xfrm>
            <a:off x="647700" y="2874466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15" name="Google Shape;215;p17"/>
          <p:cNvSpPr txBox="1"/>
          <p:nvPr/>
        </p:nvSpPr>
        <p:spPr>
          <a:xfrm>
            <a:off x="762000" y="2874466"/>
            <a:ext cx="5095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Sensor de Humo (1 = Detectado, 0 = Limpio)</a:t>
            </a:r>
            <a:endParaRPr/>
          </a:p>
        </p:txBody>
      </p:sp>
      <p:sp>
        <p:nvSpPr>
          <p:cNvPr id="216" name="Google Shape;216;p17"/>
          <p:cNvSpPr txBox="1"/>
          <p:nvPr/>
        </p:nvSpPr>
        <p:spPr>
          <a:xfrm>
            <a:off x="647700" y="3179266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17" name="Google Shape;217;p17"/>
          <p:cNvSpPr txBox="1"/>
          <p:nvPr/>
        </p:nvSpPr>
        <p:spPr>
          <a:xfrm>
            <a:off x="762000" y="3179266"/>
            <a:ext cx="5095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Interruptor Manual (1 = Activado, 0 = Reposo)</a:t>
            </a:r>
            <a:endParaRPr/>
          </a:p>
        </p:txBody>
      </p:sp>
      <p:sp>
        <p:nvSpPr>
          <p:cNvPr id="218" name="Google Shape;218;p17"/>
          <p:cNvSpPr txBox="1"/>
          <p:nvPr/>
        </p:nvSpPr>
        <p:spPr>
          <a:xfrm>
            <a:off x="6581775" y="1666875"/>
            <a:ext cx="5030628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2410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Flujo de Diseño:</a:t>
            </a:r>
            <a:endParaRPr/>
          </a:p>
        </p:txBody>
      </p:sp>
      <p:sp>
        <p:nvSpPr>
          <p:cNvPr id="219" name="Google Shape;219;p17"/>
          <p:cNvSpPr/>
          <p:nvPr/>
        </p:nvSpPr>
        <p:spPr>
          <a:xfrm>
            <a:off x="6581775" y="2143125"/>
            <a:ext cx="4791075" cy="83433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7"/>
          <p:cNvSpPr txBox="1"/>
          <p:nvPr/>
        </p:nvSpPr>
        <p:spPr>
          <a:xfrm>
            <a:off x="6772275" y="2286000"/>
            <a:ext cx="44100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1. Tabla de Verdad: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Llena la tabla traduciendo las reglas del texto a ceros y unos.</a:t>
            </a:r>
            <a:endParaRPr/>
          </a:p>
        </p:txBody>
      </p:sp>
      <p:sp>
        <p:nvSpPr>
          <p:cNvPr id="221" name="Google Shape;221;p17"/>
          <p:cNvSpPr/>
          <p:nvPr/>
        </p:nvSpPr>
        <p:spPr>
          <a:xfrm>
            <a:off x="6581775" y="2143125"/>
            <a:ext cx="38100" cy="83433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7"/>
          <p:cNvSpPr/>
          <p:nvPr/>
        </p:nvSpPr>
        <p:spPr>
          <a:xfrm>
            <a:off x="6581775" y="3120330"/>
            <a:ext cx="4791075" cy="83433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7"/>
          <p:cNvSpPr txBox="1"/>
          <p:nvPr/>
        </p:nvSpPr>
        <p:spPr>
          <a:xfrm>
            <a:off x="6772275" y="3263205"/>
            <a:ext cx="44100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2. FND Canónica: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Extrae la ecuación en suma de productos (obtendrás 5 minitérminos).</a:t>
            </a:r>
            <a:endParaRPr/>
          </a:p>
        </p:txBody>
      </p:sp>
      <p:sp>
        <p:nvSpPr>
          <p:cNvPr id="224" name="Google Shape;224;p17"/>
          <p:cNvSpPr/>
          <p:nvPr/>
        </p:nvSpPr>
        <p:spPr>
          <a:xfrm>
            <a:off x="6581775" y="3120330"/>
            <a:ext cx="38100" cy="83433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7"/>
          <p:cNvSpPr/>
          <p:nvPr/>
        </p:nvSpPr>
        <p:spPr>
          <a:xfrm>
            <a:off x="6581775" y="4097535"/>
            <a:ext cx="4791075" cy="11086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7"/>
          <p:cNvSpPr txBox="1"/>
          <p:nvPr/>
        </p:nvSpPr>
        <p:spPr>
          <a:xfrm>
            <a:off x="6772275" y="4240410"/>
            <a:ext cx="441007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3. Simplificación: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Usa álgebra para reducir la ecuación. Deberías llegar a una expresión muy lógica e intuitiva acorde a la lectura.</a:t>
            </a:r>
            <a:endParaRPr/>
          </a:p>
        </p:txBody>
      </p:sp>
      <p:sp>
        <p:nvSpPr>
          <p:cNvPr id="227" name="Google Shape;227;p17"/>
          <p:cNvSpPr/>
          <p:nvPr/>
        </p:nvSpPr>
        <p:spPr>
          <a:xfrm>
            <a:off x="6581775" y="4097535"/>
            <a:ext cx="38100" cy="11086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7"/>
          <p:cNvSpPr txBox="1"/>
          <p:nvPr/>
        </p:nvSpPr>
        <p:spPr>
          <a:xfrm>
            <a:off x="1076325" y="476250"/>
            <a:ext cx="11071383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Reto 4: Diseño de Sistema Real (Problema Aplicado)</a:t>
            </a:r>
            <a:endParaRPr/>
          </a:p>
        </p:txBody>
      </p:sp>
      <p:sp>
        <p:nvSpPr>
          <p:cNvPr id="232" name="Google Shape;232;p17"/>
          <p:cNvSpPr/>
          <p:nvPr/>
        </p:nvSpPr>
        <p:spPr>
          <a:xfrm>
            <a:off x="571500" y="11144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2639</Words>
  <Application>Microsoft Office PowerPoint</Application>
  <PresentationFormat>Panorámica</PresentationFormat>
  <Paragraphs>480</Paragraphs>
  <Slides>25</Slides>
  <Notes>25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32" baseType="lpstr">
      <vt:lpstr>Poppins</vt:lpstr>
      <vt:lpstr>Calibri</vt:lpstr>
      <vt:lpstr>Fira Code</vt:lpstr>
      <vt:lpstr>Lato</vt:lpstr>
      <vt:lpstr>Poppins SemiBold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Sebastian Montoya Villada</dc:creator>
  <cp:lastModifiedBy>SEBASTIAN MONTOYA VILLADA</cp:lastModifiedBy>
  <cp:revision>2</cp:revision>
  <dcterms:modified xsi:type="dcterms:W3CDTF">2026-05-08T14:53:08Z</dcterms:modified>
</cp:coreProperties>
</file>