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0" r:id="rId16"/>
    <p:sldId id="270" r:id="rId17"/>
    <p:sldId id="271" r:id="rId18"/>
    <p:sldId id="275" r:id="rId19"/>
    <p:sldId id="276" r:id="rId20"/>
    <p:sldId id="277" r:id="rId21"/>
    <p:sldId id="282" r:id="rId22"/>
    <p:sldId id="281" r:id="rId23"/>
    <p:sldId id="272" r:id="rId24"/>
    <p:sldId id="273" r:id="rId25"/>
    <p:sldId id="274" r:id="rId26"/>
  </p:sldIdLst>
  <p:sldSz cx="12192000" cy="6858000"/>
  <p:notesSz cx="6858000" cy="9144000"/>
  <p:embeddedFontLst>
    <p:embeddedFont>
      <p:font typeface="Inter" panose="020B0604020202020204" charset="0"/>
      <p:regular r:id="rId28"/>
      <p:bold r:id="rId29"/>
      <p:italic r:id="rId30"/>
      <p:boldItalic r:id="rId31"/>
    </p:embeddedFont>
    <p:embeddedFont>
      <p:font typeface="Inter Medium" panose="020B0604020202020204" charset="0"/>
      <p:regular r:id="rId32"/>
      <p:bold r:id="rId33"/>
      <p:italic r:id="rId34"/>
      <p:boldItalic r:id="rId35"/>
    </p:embeddedFont>
    <p:embeddedFont>
      <p:font typeface="Inter SemiBold" panose="020B0604020202020204" charset="0"/>
      <p:regular r:id="rId36"/>
      <p:bold r:id="rId37"/>
      <p:italic r:id="rId38"/>
      <p:boldItalic r:id="rId39"/>
    </p:embeddedFont>
    <p:embeddedFont>
      <p:font typeface="Poppins" panose="00000500000000000000" pitchFamily="2" charset="0"/>
      <p:regular r:id="rId40"/>
      <p:bold r:id="rId41"/>
      <p:italic r:id="rId42"/>
      <p:boldItalic r:id="rId43"/>
    </p:embeddedFont>
    <p:embeddedFont>
      <p:font typeface="Poppins SemiBold" panose="00000700000000000000" pitchFamily="2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1A010A2-E722-4512-93BC-6B16CE555473}">
  <a:tblStyle styleId="{C1A010A2-E722-4512-93BC-6B16CE55547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713" autoAdjust="0"/>
    <p:restoredTop sz="94660"/>
  </p:normalViewPr>
  <p:slideViewPr>
    <p:cSldViewPr snapToGrid="0">
      <p:cViewPr>
        <p:scale>
          <a:sx n="75" d="100"/>
          <a:sy n="75" d="100"/>
        </p:scale>
        <p:origin x="282" y="7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schemas.openxmlformats.org/officeDocument/2006/relationships/font" Target="fonts/font20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font" Target="fonts/font19.fntdata"/><Relationship Id="rId20" Type="http://schemas.openxmlformats.org/officeDocument/2006/relationships/slide" Target="slides/slide19.xml"/><Relationship Id="rId41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e3a18ee3cd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g3e3a18ee3cd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e3a18ee3cd_1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g3e3a18ee3cd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e3a18ee3cd_1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g3e3a18ee3cd_1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e3a18ee3cd_1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g3e3a18ee3cd_1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e3a18ee3cd_1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g3e3a18ee3cd_1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>
          <a:extLst>
            <a:ext uri="{FF2B5EF4-FFF2-40B4-BE49-F238E27FC236}">
              <a16:creationId xmlns:a16="http://schemas.microsoft.com/office/drawing/2014/main" id="{F81B19B4-5509-9885-57F9-1CC94BA43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e3a18ee3cd_1_134:notes">
            <a:extLst>
              <a:ext uri="{FF2B5EF4-FFF2-40B4-BE49-F238E27FC236}">
                <a16:creationId xmlns:a16="http://schemas.microsoft.com/office/drawing/2014/main" id="{1F2CBDCA-6B03-3C4A-8629-F33416E002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g3e3a18ee3cd_1_134:notes">
            <a:extLst>
              <a:ext uri="{FF2B5EF4-FFF2-40B4-BE49-F238E27FC236}">
                <a16:creationId xmlns:a16="http://schemas.microsoft.com/office/drawing/2014/main" id="{370A71C4-D5BD-71D8-3010-72F4E55961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85884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e3a18ee3cd_1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g3e3a18ee3cd_1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e3a18ee3cd_1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g3e3a18ee3cd_1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DEEA1F91-ACB8-1E75-4DE3-A9C19E5B4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>
            <a:extLst>
              <a:ext uri="{FF2B5EF4-FFF2-40B4-BE49-F238E27FC236}">
                <a16:creationId xmlns:a16="http://schemas.microsoft.com/office/drawing/2014/main" id="{92FF285D-6FAA-939C-FB7D-AC6D082FD4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4:notes">
            <a:extLst>
              <a:ext uri="{FF2B5EF4-FFF2-40B4-BE49-F238E27FC236}">
                <a16:creationId xmlns:a16="http://schemas.microsoft.com/office/drawing/2014/main" id="{44FCA7C3-72D6-89D5-B529-CA53838CC8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15802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06DF453B-F2EB-E1B6-A50F-C503C6C46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>
            <a:extLst>
              <a:ext uri="{FF2B5EF4-FFF2-40B4-BE49-F238E27FC236}">
                <a16:creationId xmlns:a16="http://schemas.microsoft.com/office/drawing/2014/main" id="{4C512B46-8CA4-6A3C-DA5B-0E78099A49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4:notes">
            <a:extLst>
              <a:ext uri="{FF2B5EF4-FFF2-40B4-BE49-F238E27FC236}">
                <a16:creationId xmlns:a16="http://schemas.microsoft.com/office/drawing/2014/main" id="{67CBE00B-263B-A3BA-CD7D-6499E41A7F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48888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e3a18ee3cd_1_3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g3e3a18ee3cd_1_3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e3a18ee3cd_1_3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g3e3a18ee3cd_1_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e3a18ee3cd_1_3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g3e3a18ee3cd_1_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1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1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1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085373" y="2297608"/>
            <a:ext cx="10021252" cy="134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Diseño y Simplificación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 de Circuitos Combinacionales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3829050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Conceptos teóricos, metodologías de reducción (Mapas de Karnaugh) y desarrollo de casos prácticos aplicados.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524500" y="2510879"/>
            <a:ext cx="1143000" cy="5715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2555557" y="2853779"/>
            <a:ext cx="708088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Contenido de la Sesión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286000" y="3901529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 recorrido estructurado desde los fundamentos lógicos hasta el diseño de un sistema automático de control.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Repaso de Compuertas Lógicas Fundamentales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D84B8D6-3F53-0CAA-AA0B-A3105FC700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99" y="1771650"/>
            <a:ext cx="11349117" cy="47053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/>
          <p:nvPr/>
        </p:nvSpPr>
        <p:spPr>
          <a:xfrm>
            <a:off x="1333500" y="1701254"/>
            <a:ext cx="9525000" cy="1282005"/>
          </a:xfrm>
          <a:prstGeom prst="roundRect">
            <a:avLst>
              <a:gd name="adj" fmla="val 5943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1905000" y="1891754"/>
            <a:ext cx="8763000" cy="901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0336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1. Análisis del Enunciado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Identificar claramente las variables de entrada del sistema y las condiciones específicas que deben cumplirse para que la salida sea activa (Estado lógico 1).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1333500" y="1701254"/>
            <a:ext cx="38100" cy="1282005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1333500" y="3221384"/>
            <a:ext cx="9525000" cy="1282005"/>
          </a:xfrm>
          <a:prstGeom prst="roundRect">
            <a:avLst>
              <a:gd name="adj" fmla="val 5943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1905000" y="3411884"/>
            <a:ext cx="8763000" cy="901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0336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2. Definición de la Tabla de Verdad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Mapear exhaustivamente todas las combinaciones posibles de entrada (Para n variables existen 2^n combinaciones) y asignar el valor de salida correspondiente a cada fila.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1333500" y="3221384"/>
            <a:ext cx="38100" cy="1282005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1333500" y="4741515"/>
            <a:ext cx="9525000" cy="1282005"/>
          </a:xfrm>
          <a:prstGeom prst="roundRect">
            <a:avLst>
              <a:gd name="adj" fmla="val 5943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1905000" y="4932015"/>
            <a:ext cx="8763000" cy="901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0336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3. Obtención de la Función Lógica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Extraer la ecuación algebraica en su forma canónica (Suma de Productos - SOP o Producto de Sumas - POS) y proceder con su simplificación mediante álgebra de Boole o Mapas de Karnaugh.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1333500" y="4741515"/>
            <a:ext cx="38100" cy="1282005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62100" y="190127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62100" y="342140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62100" y="4941540"/>
            <a:ext cx="1714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Metodología General de Diseño</a:t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19348"/>
            <a:ext cx="5286375" cy="5524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219348"/>
            <a:ext cx="5286375" cy="5524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4650" y="5192910"/>
            <a:ext cx="4505325" cy="101724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1564481" y="1773584"/>
            <a:ext cx="330041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Mapeo de Minterminos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1576387" y="2316509"/>
            <a:ext cx="3276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Minterminos (unos): </a:t>
            </a:r>
            <a:r>
              <a:rPr lang="en-US" sz="12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m(0, 2, 8, 10, 5, 7, 13, 15)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1528762" y="2846040"/>
            <a:ext cx="3371850" cy="33432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8" name="Google Shape;158;p17"/>
          <p:cNvGraphicFramePr/>
          <p:nvPr/>
        </p:nvGraphicFramePr>
        <p:xfrm>
          <a:off x="1528762" y="2846040"/>
          <a:ext cx="3362325" cy="3343250"/>
        </p:xfrm>
        <a:graphic>
          <a:graphicData uri="http://schemas.openxmlformats.org/drawingml/2006/table">
            <a:tbl>
              <a:tblPr firstRow="1" bandRow="1">
                <a:noFill/>
                <a:tableStyleId>{C1A010A2-E722-4512-93BC-6B16CE555473}</a:tableStyleId>
              </a:tblPr>
              <a:tblGrid>
                <a:gridCol w="695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8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003366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AB\CD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3366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3366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3366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3366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3366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B4530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B4530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8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3366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3366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3366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8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3366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3366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3366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8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3366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B4530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B4530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9" name="Google Shape;159;p17"/>
          <p:cNvSpPr txBox="1"/>
          <p:nvPr/>
        </p:nvSpPr>
        <p:spPr>
          <a:xfrm>
            <a:off x="6724650" y="1609873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Análisis y Simplificación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724650" y="2152798"/>
            <a:ext cx="45053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Agrupando los minterminos adyacentes obtenemos dos grupos principales de 4 celdas, los cuales permiten eliminar 2 variables cada uno: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724650" y="3118544"/>
            <a:ext cx="45053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■ Grupo Naranja: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Comparte las características de que la variable B siempre es 0 (negada) y la variable D siempre es 0 (negada). Resultado: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B'D'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724650" y="4084290"/>
            <a:ext cx="45053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80FF"/>
                </a:solidFill>
                <a:latin typeface="Inter"/>
                <a:ea typeface="Inter"/>
                <a:cs typeface="Inter"/>
                <a:sym typeface="Inter"/>
              </a:rPr>
              <a:t>■ Grupo Azul: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Comparte las características de que la variable B siempre es 1 y la variable D siempre es 1. Resultado: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BD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6953250" y="5383410"/>
            <a:ext cx="40862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Función Simplificada Esperada:</a:t>
            </a:r>
            <a:endParaRPr/>
          </a:p>
        </p:txBody>
      </p:sp>
      <p:pic>
        <p:nvPicPr>
          <p:cNvPr id="164" name="Google Shape;16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06382" y="5752951"/>
            <a:ext cx="1579959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571500" y="114448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Simplificación con Mapas de Karnaugh (4 Variables)</a:t>
            </a: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571500" y="809773"/>
            <a:ext cx="11049000" cy="28575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/>
          <p:nvPr/>
        </p:nvSpPr>
        <p:spPr>
          <a:xfrm>
            <a:off x="5524500" y="2510879"/>
            <a:ext cx="1143000" cy="5715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2325528" y="2853779"/>
            <a:ext cx="7540942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Caso Práctico Integrado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2286000" y="3901529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Diseño paso a paso de un Sistema Lógico de Control de Ventiladores basado en Condiciones Múltiples de sensores ambientales.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87103"/>
            <a:ext cx="5286375" cy="47888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587103"/>
            <a:ext cx="5286375" cy="4788842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962025" y="2383333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Variables del Sistema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962025" y="2926258"/>
            <a:ext cx="45053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 diseña un sistema inteligente con 4 señales de entrada digitales y una única salida de activación: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962025" y="5162550"/>
            <a:ext cx="45053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Salida V: Sistema del ventilador (1 = Encendido)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6724650" y="1977628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Condiciones de Activación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6724650" y="2520553"/>
            <a:ext cx="45053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Los ventiladores se encienden si se cumple ALGUNA de las siguientes lógicas independientes:</a:t>
            </a:r>
            <a:endParaRPr/>
          </a:p>
        </p:txBody>
      </p:sp>
      <p:pic>
        <p:nvPicPr>
          <p:cNvPr id="187" name="Google Shape;187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44048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1057275" y="3769161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1152525" y="3770114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Sensor de temperatura alta (1 = Sí)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1057275" y="4043451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1152525" y="4044404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Sensor de humedad alta (1 = Sí)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1057275" y="431774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1152525" y="4318694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Sensor de gases tóxicos (1 = Sí)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1057275" y="459203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1152525" y="4592984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Sistema en modo automático (1 = Sí)</a:t>
            </a:r>
            <a:endParaRPr/>
          </a:p>
        </p:txBody>
      </p:sp>
      <p:pic>
        <p:nvPicPr>
          <p:cNvPr id="196" name="Google Shape;196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203477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6819900" y="3363456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6915150" y="3364408"/>
            <a:ext cx="43148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Bloque Térmico: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 activa si hay presencia simultánea de alta temperatura (A) y alta humedad (B).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6819900" y="4355439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6915150" y="4356392"/>
            <a:ext cx="43148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Bloque de </a:t>
            </a:r>
            <a:r>
              <a:rPr lang="en-US" sz="1350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Emergencia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activa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sistema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detecta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gases (C)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mientras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opera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modo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automático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(D).</a:t>
            </a:r>
            <a:endParaRPr dirty="0"/>
          </a:p>
        </p:txBody>
      </p:sp>
      <p:sp>
        <p:nvSpPr>
          <p:cNvPr id="201" name="Google Shape;201;p19"/>
          <p:cNvSpPr txBox="1"/>
          <p:nvPr/>
        </p:nvSpPr>
        <p:spPr>
          <a:xfrm>
            <a:off x="6819900" y="528737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6915150" y="5288325"/>
            <a:ext cx="43148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Refuerzo </a:t>
            </a:r>
            <a:r>
              <a:rPr lang="en-US" sz="1350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Adicional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activa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obligatoriamente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hay gases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detectados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(C) e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intencionalmente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sistema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NO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está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modo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automático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(~D).</a:t>
            </a:r>
            <a:endParaRPr dirty="0"/>
          </a:p>
        </p:txBody>
      </p:sp>
      <p:sp>
        <p:nvSpPr>
          <p:cNvPr id="203" name="Google Shape;203;p19"/>
          <p:cNvSpPr txBox="1"/>
          <p:nvPr/>
        </p:nvSpPr>
        <p:spPr>
          <a:xfrm>
            <a:off x="571500" y="482203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Especificaciones del Sistema de Ventilación</a:t>
            </a:r>
            <a:endParaRPr/>
          </a:p>
        </p:txBody>
      </p:sp>
      <p:sp>
        <p:nvSpPr>
          <p:cNvPr id="204" name="Google Shape;204;p19"/>
          <p:cNvSpPr/>
          <p:nvPr/>
        </p:nvSpPr>
        <p:spPr>
          <a:xfrm>
            <a:off x="571500" y="1177528"/>
            <a:ext cx="11049000" cy="28575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68933"/>
            <a:ext cx="3492549" cy="5025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468933"/>
            <a:ext cx="3492549" cy="5025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468933"/>
            <a:ext cx="3492549" cy="5025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95924" y="5690221"/>
            <a:ext cx="2901999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41450" y="1811833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1002536" y="3002458"/>
            <a:ext cx="263032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Paso 1 y 2: Bloques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866775" y="3545383"/>
            <a:ext cx="29019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 </a:t>
            </a:r>
            <a:r>
              <a:rPr lang="en-US" sz="11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bloque térmico (X1)</a:t>
            </a: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requiere ambas condiciones ambientales:</a:t>
            </a:r>
            <a:endParaRPr/>
          </a:p>
        </p:txBody>
      </p:sp>
      <p:pic>
        <p:nvPicPr>
          <p:cNvPr id="217" name="Google Shape;217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931937" y="4240708"/>
            <a:ext cx="771525" cy="180082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0"/>
          <p:cNvSpPr txBox="1"/>
          <p:nvPr/>
        </p:nvSpPr>
        <p:spPr>
          <a:xfrm>
            <a:off x="866775" y="4516040"/>
            <a:ext cx="29019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 </a:t>
            </a:r>
            <a:r>
              <a:rPr lang="en-US" sz="11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bloque de emergencia (X2)</a:t>
            </a: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depende de los gases en modo auto:</a:t>
            </a:r>
            <a:endParaRPr/>
          </a:p>
        </p:txBody>
      </p:sp>
      <p:pic>
        <p:nvPicPr>
          <p:cNvPr id="219" name="Google Shape;219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908125" y="5211365"/>
            <a:ext cx="819150" cy="180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619750" y="1811833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 txBox="1"/>
          <p:nvPr/>
        </p:nvSpPr>
        <p:spPr>
          <a:xfrm>
            <a:off x="4572524" y="3002458"/>
            <a:ext cx="3047099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Paso 3 y 4: Combinación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4645074" y="3945433"/>
            <a:ext cx="29019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Unimos X1 y X2 (compuerta OR) generando X3:</a:t>
            </a:r>
            <a:endParaRPr/>
          </a:p>
        </p:txBody>
      </p:sp>
      <p:pic>
        <p:nvPicPr>
          <p:cNvPr id="223" name="Google Shape;223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395912" y="4640758"/>
            <a:ext cx="1400175" cy="189607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0"/>
          <p:cNvSpPr txBox="1"/>
          <p:nvPr/>
        </p:nvSpPr>
        <p:spPr>
          <a:xfrm>
            <a:off x="4645074" y="4925615"/>
            <a:ext cx="29019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 </a:t>
            </a:r>
            <a:r>
              <a:rPr lang="en-US" sz="11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refuerzo manual (X4)</a:t>
            </a: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actúa si hay gases y no hay modo auto:</a:t>
            </a:r>
            <a:endParaRPr/>
          </a:p>
        </p:txBody>
      </p:sp>
      <p:pic>
        <p:nvPicPr>
          <p:cNvPr id="225" name="Google Shape;225;p20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686425" y="5620940"/>
            <a:ext cx="819150" cy="245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0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398049" y="1811833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0"/>
          <p:cNvSpPr txBox="1"/>
          <p:nvPr/>
        </p:nvSpPr>
        <p:spPr>
          <a:xfrm>
            <a:off x="8350824" y="3002458"/>
            <a:ext cx="3047099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Paso 5: Ecuación Final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8859887" y="3945433"/>
            <a:ext cx="20288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La salida total es </a:t>
            </a:r>
            <a:r>
              <a:rPr lang="en-US" sz="11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 = X3 + X4</a:t>
            </a: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/>
          </a:p>
        </p:txBody>
      </p:sp>
      <p:pic>
        <p:nvPicPr>
          <p:cNvPr id="229" name="Google Shape;229;p20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727727" y="4530804"/>
            <a:ext cx="2293143" cy="203596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 txBox="1"/>
          <p:nvPr/>
        </p:nvSpPr>
        <p:spPr>
          <a:xfrm>
            <a:off x="8645574" y="4806255"/>
            <a:ext cx="245745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Álgebra Boole: C·D + C·D' = C(D+D') = C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9126587" y="5099595"/>
            <a:ext cx="14954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Expresión Minimizada:</a:t>
            </a:r>
            <a:endParaRPr/>
          </a:p>
        </p:txBody>
      </p:sp>
      <p:pic>
        <p:nvPicPr>
          <p:cNvPr id="232" name="Google Shape;232;p20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2051000" y="2049958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0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5857875" y="2049958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0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9636174" y="2049958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0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9329361" y="5880721"/>
            <a:ext cx="1273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0"/>
          <p:cNvSpPr txBox="1"/>
          <p:nvPr/>
        </p:nvSpPr>
        <p:spPr>
          <a:xfrm>
            <a:off x="571500" y="364033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Desarrollo de Ecuaciones Lógicas</a:t>
            </a:r>
            <a:endParaRPr/>
          </a:p>
        </p:txBody>
      </p:sp>
      <p:sp>
        <p:nvSpPr>
          <p:cNvPr id="237" name="Google Shape;237;p20"/>
          <p:cNvSpPr/>
          <p:nvPr/>
        </p:nvSpPr>
        <p:spPr>
          <a:xfrm>
            <a:off x="571500" y="1059358"/>
            <a:ext cx="11049000" cy="28575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1"/>
          <p:cNvSpPr txBox="1"/>
          <p:nvPr/>
        </p:nvSpPr>
        <p:spPr>
          <a:xfrm>
            <a:off x="571500" y="1930896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03366"/>
                </a:solidFill>
                <a:latin typeface="Inter Medium"/>
                <a:ea typeface="Inter Medium"/>
                <a:cs typeface="Inter Medium"/>
                <a:sym typeface="Inter Medium"/>
              </a:rPr>
              <a:t>Validación: La salida </a:t>
            </a:r>
            <a:r>
              <a:rPr lang="en-US" sz="135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V</a:t>
            </a:r>
            <a:r>
              <a:rPr lang="en-US" sz="1350" b="0" i="0" u="none" strike="noStrike" cap="none">
                <a:solidFill>
                  <a:srgbClr val="003366"/>
                </a:solidFill>
                <a:latin typeface="Inter Medium"/>
                <a:ea typeface="Inter Medium"/>
                <a:cs typeface="Inter Medium"/>
                <a:sym typeface="Inter Medium"/>
              </a:rPr>
              <a:t> se activa cuando </a:t>
            </a:r>
            <a:r>
              <a:rPr lang="en-US" sz="135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C=1</a:t>
            </a:r>
            <a:r>
              <a:rPr lang="en-US" sz="1350" b="0" i="0" u="none" strike="noStrike" cap="none">
                <a:solidFill>
                  <a:srgbClr val="003366"/>
                </a:solidFill>
                <a:latin typeface="Inter Medium"/>
                <a:ea typeface="Inter Medium"/>
                <a:cs typeface="Inter Medium"/>
                <a:sym typeface="Inter Medium"/>
              </a:rPr>
              <a:t> (Gases) o cuando simultáneamente </a:t>
            </a:r>
            <a:r>
              <a:rPr lang="en-US" sz="135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A=1 y B=1</a:t>
            </a:r>
            <a:r>
              <a:rPr lang="en-US" sz="1350" b="0" i="0" u="none" strike="noStrike" cap="none">
                <a:solidFill>
                  <a:srgbClr val="003366"/>
                </a:solidFill>
                <a:latin typeface="Inter Medium"/>
                <a:ea typeface="Inter Medium"/>
                <a:cs typeface="Inter Medium"/>
                <a:sym typeface="Inter Medium"/>
              </a:rPr>
              <a:t> (Térmico).</a:t>
            </a:r>
            <a:endParaRPr/>
          </a:p>
        </p:txBody>
      </p:sp>
      <p:sp>
        <p:nvSpPr>
          <p:cNvPr id="244" name="Google Shape;244;p21"/>
          <p:cNvSpPr/>
          <p:nvPr/>
        </p:nvSpPr>
        <p:spPr>
          <a:xfrm>
            <a:off x="571500" y="2443311"/>
            <a:ext cx="5286375" cy="358854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5" name="Google Shape;245;p21"/>
          <p:cNvGraphicFramePr/>
          <p:nvPr/>
        </p:nvGraphicFramePr>
        <p:xfrm>
          <a:off x="571500" y="2443311"/>
          <a:ext cx="5286350" cy="3588525"/>
        </p:xfrm>
        <a:graphic>
          <a:graphicData uri="http://schemas.openxmlformats.org/drawingml/2006/table">
            <a:tbl>
              <a:tblPr firstRow="1" bandRow="1">
                <a:noFill/>
                <a:tableStyleId>{C1A010A2-E722-4512-93BC-6B16CE555473}</a:tableStyleId>
              </a:tblPr>
              <a:tblGrid>
                <a:gridCol w="789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9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0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8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V (Salida)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8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8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8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8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46" name="Google Shape;246;p21"/>
          <p:cNvSpPr/>
          <p:nvPr/>
        </p:nvSpPr>
        <p:spPr>
          <a:xfrm>
            <a:off x="6334125" y="2443311"/>
            <a:ext cx="5286375" cy="358854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7" name="Google Shape;247;p21"/>
          <p:cNvGraphicFramePr/>
          <p:nvPr/>
        </p:nvGraphicFramePr>
        <p:xfrm>
          <a:off x="6334125" y="2443311"/>
          <a:ext cx="5286350" cy="3588525"/>
        </p:xfrm>
        <a:graphic>
          <a:graphicData uri="http://schemas.openxmlformats.org/drawingml/2006/table">
            <a:tbl>
              <a:tblPr firstRow="1" bandRow="1">
                <a:noFill/>
                <a:tableStyleId>{C1A010A2-E722-4512-93BC-6B16CE555473}</a:tableStyleId>
              </a:tblPr>
              <a:tblGrid>
                <a:gridCol w="789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9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0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8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V (Salida)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8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336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8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8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336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8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8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336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8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8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336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8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48" name="Google Shape;248;p21"/>
          <p:cNvSpPr/>
          <p:nvPr/>
        </p:nvSpPr>
        <p:spPr>
          <a:xfrm>
            <a:off x="571500" y="2781448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1361033" y="2781448"/>
            <a:ext cx="7676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2128688" y="2781448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2918221" y="2781448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3707755" y="2781448"/>
            <a:ext cx="21501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6334125" y="2781448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7123658" y="2781448"/>
            <a:ext cx="7676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7891313" y="2781448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8680846" y="2781448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9470380" y="2781448"/>
            <a:ext cx="21501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571500" y="3187154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1361033" y="3187154"/>
            <a:ext cx="7676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2128688" y="3187154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2918221" y="3187154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3707755" y="3187154"/>
            <a:ext cx="21501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571500" y="3592859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1361033" y="3592859"/>
            <a:ext cx="7676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2128688" y="3592859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2918221" y="3592859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3707755" y="3592859"/>
            <a:ext cx="21501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571500" y="3998565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1361033" y="3998565"/>
            <a:ext cx="7676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2128688" y="3998565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2918221" y="3998565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3707755" y="3998565"/>
            <a:ext cx="21501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571500" y="4404270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1361033" y="4404270"/>
            <a:ext cx="7676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2128688" y="4404270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2918221" y="4404270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3707755" y="4404270"/>
            <a:ext cx="21501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1"/>
          <p:cNvSpPr/>
          <p:nvPr/>
        </p:nvSpPr>
        <p:spPr>
          <a:xfrm>
            <a:off x="571500" y="4809976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1"/>
          <p:cNvSpPr/>
          <p:nvPr/>
        </p:nvSpPr>
        <p:spPr>
          <a:xfrm>
            <a:off x="1361033" y="4809976"/>
            <a:ext cx="7676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1"/>
          <p:cNvSpPr/>
          <p:nvPr/>
        </p:nvSpPr>
        <p:spPr>
          <a:xfrm>
            <a:off x="2128688" y="4809976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2918221" y="4809976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1"/>
          <p:cNvSpPr/>
          <p:nvPr/>
        </p:nvSpPr>
        <p:spPr>
          <a:xfrm>
            <a:off x="3707755" y="4809976"/>
            <a:ext cx="21501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571500" y="5215681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1361033" y="5215681"/>
            <a:ext cx="7676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2128688" y="5215681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2918221" y="5215681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1"/>
          <p:cNvSpPr/>
          <p:nvPr/>
        </p:nvSpPr>
        <p:spPr>
          <a:xfrm>
            <a:off x="3707755" y="5215681"/>
            <a:ext cx="21501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571500" y="5621387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1361033" y="5621387"/>
            <a:ext cx="7676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1"/>
          <p:cNvSpPr/>
          <p:nvPr/>
        </p:nvSpPr>
        <p:spPr>
          <a:xfrm>
            <a:off x="2128688" y="5621387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1"/>
          <p:cNvSpPr/>
          <p:nvPr/>
        </p:nvSpPr>
        <p:spPr>
          <a:xfrm>
            <a:off x="2918221" y="5621387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1"/>
          <p:cNvSpPr/>
          <p:nvPr/>
        </p:nvSpPr>
        <p:spPr>
          <a:xfrm>
            <a:off x="3707755" y="5621387"/>
            <a:ext cx="21501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1"/>
          <p:cNvSpPr/>
          <p:nvPr/>
        </p:nvSpPr>
        <p:spPr>
          <a:xfrm>
            <a:off x="6334125" y="3187154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1"/>
          <p:cNvSpPr/>
          <p:nvPr/>
        </p:nvSpPr>
        <p:spPr>
          <a:xfrm>
            <a:off x="7123658" y="3187154"/>
            <a:ext cx="7676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1"/>
          <p:cNvSpPr/>
          <p:nvPr/>
        </p:nvSpPr>
        <p:spPr>
          <a:xfrm>
            <a:off x="7891313" y="3187154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1"/>
          <p:cNvSpPr/>
          <p:nvPr/>
        </p:nvSpPr>
        <p:spPr>
          <a:xfrm>
            <a:off x="8680846" y="3187154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1"/>
          <p:cNvSpPr/>
          <p:nvPr/>
        </p:nvSpPr>
        <p:spPr>
          <a:xfrm>
            <a:off x="9470380" y="3187154"/>
            <a:ext cx="21501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6334125" y="3592859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1"/>
          <p:cNvSpPr/>
          <p:nvPr/>
        </p:nvSpPr>
        <p:spPr>
          <a:xfrm>
            <a:off x="7123658" y="3592859"/>
            <a:ext cx="7676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7891313" y="3592859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1"/>
          <p:cNvSpPr/>
          <p:nvPr/>
        </p:nvSpPr>
        <p:spPr>
          <a:xfrm>
            <a:off x="8680846" y="3592859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9470380" y="3592859"/>
            <a:ext cx="21501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1"/>
          <p:cNvSpPr/>
          <p:nvPr/>
        </p:nvSpPr>
        <p:spPr>
          <a:xfrm>
            <a:off x="6334125" y="3998565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1"/>
          <p:cNvSpPr/>
          <p:nvPr/>
        </p:nvSpPr>
        <p:spPr>
          <a:xfrm>
            <a:off x="7123658" y="3998565"/>
            <a:ext cx="7676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1"/>
          <p:cNvSpPr/>
          <p:nvPr/>
        </p:nvSpPr>
        <p:spPr>
          <a:xfrm>
            <a:off x="7891313" y="3998565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8680846" y="3998565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9470380" y="3998565"/>
            <a:ext cx="21501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1"/>
          <p:cNvSpPr/>
          <p:nvPr/>
        </p:nvSpPr>
        <p:spPr>
          <a:xfrm>
            <a:off x="6334125" y="4404270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1"/>
          <p:cNvSpPr/>
          <p:nvPr/>
        </p:nvSpPr>
        <p:spPr>
          <a:xfrm>
            <a:off x="7123658" y="4404270"/>
            <a:ext cx="7676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1"/>
          <p:cNvSpPr/>
          <p:nvPr/>
        </p:nvSpPr>
        <p:spPr>
          <a:xfrm>
            <a:off x="7891313" y="4404270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1"/>
          <p:cNvSpPr/>
          <p:nvPr/>
        </p:nvSpPr>
        <p:spPr>
          <a:xfrm>
            <a:off x="8680846" y="4404270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1"/>
          <p:cNvSpPr/>
          <p:nvPr/>
        </p:nvSpPr>
        <p:spPr>
          <a:xfrm>
            <a:off x="9470380" y="4404270"/>
            <a:ext cx="21501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1"/>
          <p:cNvSpPr/>
          <p:nvPr/>
        </p:nvSpPr>
        <p:spPr>
          <a:xfrm>
            <a:off x="6334125" y="4809976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1"/>
          <p:cNvSpPr/>
          <p:nvPr/>
        </p:nvSpPr>
        <p:spPr>
          <a:xfrm>
            <a:off x="7123658" y="4809976"/>
            <a:ext cx="7676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1"/>
          <p:cNvSpPr/>
          <p:nvPr/>
        </p:nvSpPr>
        <p:spPr>
          <a:xfrm>
            <a:off x="7891313" y="4809976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1"/>
          <p:cNvSpPr/>
          <p:nvPr/>
        </p:nvSpPr>
        <p:spPr>
          <a:xfrm>
            <a:off x="8680846" y="4809976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1"/>
          <p:cNvSpPr/>
          <p:nvPr/>
        </p:nvSpPr>
        <p:spPr>
          <a:xfrm>
            <a:off x="9470380" y="4809976"/>
            <a:ext cx="21501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1"/>
          <p:cNvSpPr/>
          <p:nvPr/>
        </p:nvSpPr>
        <p:spPr>
          <a:xfrm>
            <a:off x="6334125" y="5215681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1"/>
          <p:cNvSpPr/>
          <p:nvPr/>
        </p:nvSpPr>
        <p:spPr>
          <a:xfrm>
            <a:off x="7123658" y="5215681"/>
            <a:ext cx="7676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1"/>
          <p:cNvSpPr/>
          <p:nvPr/>
        </p:nvSpPr>
        <p:spPr>
          <a:xfrm>
            <a:off x="7891313" y="5215681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8680846" y="5215681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1"/>
          <p:cNvSpPr/>
          <p:nvPr/>
        </p:nvSpPr>
        <p:spPr>
          <a:xfrm>
            <a:off x="9470380" y="5215681"/>
            <a:ext cx="21501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1"/>
          <p:cNvSpPr/>
          <p:nvPr/>
        </p:nvSpPr>
        <p:spPr>
          <a:xfrm>
            <a:off x="6334125" y="5621387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1"/>
          <p:cNvSpPr/>
          <p:nvPr/>
        </p:nvSpPr>
        <p:spPr>
          <a:xfrm>
            <a:off x="7123658" y="5621387"/>
            <a:ext cx="7676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1"/>
          <p:cNvSpPr/>
          <p:nvPr/>
        </p:nvSpPr>
        <p:spPr>
          <a:xfrm>
            <a:off x="7891313" y="5621387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1"/>
          <p:cNvSpPr/>
          <p:nvPr/>
        </p:nvSpPr>
        <p:spPr>
          <a:xfrm>
            <a:off x="8680846" y="5621387"/>
            <a:ext cx="789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1"/>
          <p:cNvSpPr/>
          <p:nvPr/>
        </p:nvSpPr>
        <p:spPr>
          <a:xfrm>
            <a:off x="9470380" y="5621387"/>
            <a:ext cx="21501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1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Tabla de Verdad del Sistema Terminado</a:t>
            </a:r>
            <a:endParaRPr/>
          </a:p>
        </p:txBody>
      </p:sp>
      <p:sp>
        <p:nvSpPr>
          <p:cNvPr id="329" name="Google Shape;329;p21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18344"/>
            <a:ext cx="5286375" cy="4830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518344"/>
            <a:ext cx="5286375" cy="4830961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2"/>
          <p:cNvSpPr/>
          <p:nvPr/>
        </p:nvSpPr>
        <p:spPr>
          <a:xfrm>
            <a:off x="1540668" y="1813619"/>
            <a:ext cx="3348000" cy="334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0" name="Google Shape;340;p22"/>
          <p:cNvGraphicFramePr/>
          <p:nvPr/>
        </p:nvGraphicFramePr>
        <p:xfrm>
          <a:off x="1540668" y="1813619"/>
          <a:ext cx="3333750" cy="3348000"/>
        </p:xfrm>
        <a:graphic>
          <a:graphicData uri="http://schemas.openxmlformats.org/drawingml/2006/table">
            <a:tbl>
              <a:tblPr firstRow="1" bandRow="1">
                <a:noFill/>
                <a:tableStyleId>{C1A010A2-E722-4512-93BC-6B16CE555473}</a:tableStyleId>
              </a:tblPr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9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003366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AB \ CD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3366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3366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3366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3366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3366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B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3366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B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3366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3366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B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1" name="Google Shape;341;p22"/>
          <p:cNvSpPr txBox="1"/>
          <p:nvPr/>
        </p:nvSpPr>
        <p:spPr>
          <a:xfrm>
            <a:off x="6629400" y="1813619"/>
            <a:ext cx="49305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Agrupaciones Posibles:</a:t>
            </a:r>
            <a:endParaRPr/>
          </a:p>
        </p:txBody>
      </p:sp>
      <p:sp>
        <p:nvSpPr>
          <p:cNvPr id="342" name="Google Shape;342;p22"/>
          <p:cNvSpPr txBox="1"/>
          <p:nvPr/>
        </p:nvSpPr>
        <p:spPr>
          <a:xfrm>
            <a:off x="6629400" y="3779490"/>
            <a:ext cx="46959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Función lógica mínima resultante:</a:t>
            </a:r>
            <a:endParaRPr/>
          </a:p>
        </p:txBody>
      </p:sp>
      <p:sp>
        <p:nvSpPr>
          <p:cNvPr id="344" name="Google Shape;344;p22"/>
          <p:cNvSpPr txBox="1"/>
          <p:nvPr/>
        </p:nvSpPr>
        <p:spPr>
          <a:xfrm>
            <a:off x="6724650" y="2479417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45" name="Google Shape;345;p22"/>
          <p:cNvSpPr txBox="1"/>
          <p:nvPr/>
        </p:nvSpPr>
        <p:spPr>
          <a:xfrm>
            <a:off x="6819900" y="2480369"/>
            <a:ext cx="450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1. Vertical en columna 11: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Simplifica a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 · D</a:t>
            </a:r>
            <a:endParaRPr/>
          </a:p>
        </p:txBody>
      </p:sp>
      <p:sp>
        <p:nvSpPr>
          <p:cNvPr id="346" name="Google Shape;346;p22"/>
          <p:cNvSpPr txBox="1"/>
          <p:nvPr/>
        </p:nvSpPr>
        <p:spPr>
          <a:xfrm>
            <a:off x="6724650" y="2848957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47" name="Google Shape;347;p22"/>
          <p:cNvSpPr txBox="1"/>
          <p:nvPr/>
        </p:nvSpPr>
        <p:spPr>
          <a:xfrm>
            <a:off x="6819900" y="2849909"/>
            <a:ext cx="450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2. Vertical en columna 10: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Simplifica a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 · D'</a:t>
            </a:r>
            <a:endParaRPr/>
          </a:p>
        </p:txBody>
      </p:sp>
      <p:sp>
        <p:nvSpPr>
          <p:cNvPr id="348" name="Google Shape;348;p22"/>
          <p:cNvSpPr txBox="1"/>
          <p:nvPr/>
        </p:nvSpPr>
        <p:spPr>
          <a:xfrm>
            <a:off x="6724650" y="3218497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49" name="Google Shape;349;p22"/>
          <p:cNvSpPr txBox="1"/>
          <p:nvPr/>
        </p:nvSpPr>
        <p:spPr>
          <a:xfrm>
            <a:off x="6819900" y="3219450"/>
            <a:ext cx="450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3. Horizontal en fila 11: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Simplifica a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 · B</a:t>
            </a:r>
            <a:endParaRPr/>
          </a:p>
        </p:txBody>
      </p:sp>
      <p:sp>
        <p:nvSpPr>
          <p:cNvPr id="352" name="Google Shape;352;p22"/>
          <p:cNvSpPr txBox="1"/>
          <p:nvPr/>
        </p:nvSpPr>
        <p:spPr>
          <a:xfrm>
            <a:off x="571500" y="508694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Conclusión: Mapa de Karnaugh (Ventiladores)</a:t>
            </a:r>
            <a:endParaRPr/>
          </a:p>
        </p:txBody>
      </p:sp>
      <p:sp>
        <p:nvSpPr>
          <p:cNvPr id="353" name="Google Shape;353;p22"/>
          <p:cNvSpPr/>
          <p:nvPr/>
        </p:nvSpPr>
        <p:spPr>
          <a:xfrm>
            <a:off x="571500" y="1204019"/>
            <a:ext cx="11049000" cy="2850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13;p20" descr="image.png">
            <a:extLst>
              <a:ext uri="{FF2B5EF4-FFF2-40B4-BE49-F238E27FC236}">
                <a16:creationId xmlns:a16="http://schemas.microsoft.com/office/drawing/2014/main" id="{DB71C883-23CF-43BB-A0D4-BBFFB49EF65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400" y="4518570"/>
            <a:ext cx="2901999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35;p20" descr="image.png">
            <a:extLst>
              <a:ext uri="{FF2B5EF4-FFF2-40B4-BE49-F238E27FC236}">
                <a16:creationId xmlns:a16="http://schemas.microsoft.com/office/drawing/2014/main" id="{BE6154CC-1F24-187B-E95C-FF2CC279304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012119" y="4709070"/>
            <a:ext cx="1273075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81150"/>
            <a:ext cx="5286375" cy="47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581150"/>
            <a:ext cx="5286375" cy="47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400" y="5038576"/>
            <a:ext cx="4695825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3"/>
          <p:cNvSpPr txBox="1"/>
          <p:nvPr/>
        </p:nvSpPr>
        <p:spPr>
          <a:xfrm>
            <a:off x="866775" y="2695575"/>
            <a:ext cx="46959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 desea diseñar un sistema lógico que active una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bomba de riego (R = 1)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bajo las siguientes condiciones estipuladas:</a:t>
            </a:r>
            <a:endParaRPr/>
          </a:p>
        </p:txBody>
      </p:sp>
      <p:graphicFrame>
        <p:nvGraphicFramePr>
          <p:cNvPr id="363" name="Google Shape;363;p23"/>
          <p:cNvGraphicFramePr/>
          <p:nvPr/>
        </p:nvGraphicFramePr>
        <p:xfrm>
          <a:off x="6629400" y="2695575"/>
          <a:ext cx="4638675" cy="1592500"/>
        </p:xfrm>
        <a:graphic>
          <a:graphicData uri="http://schemas.openxmlformats.org/drawingml/2006/table">
            <a:tbl>
              <a:tblPr firstRow="1" bandRow="1">
                <a:noFill/>
                <a:tableStyleId>{C1A010A2-E722-4512-93BC-6B16CE555473}</a:tableStyleId>
              </a:tblPr>
              <a:tblGrid>
                <a:gridCol w="276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S:</a:t>
                      </a: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Sensor de suelo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(1 = Seco)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D:</a:t>
                      </a: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Sensor de luz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(1 = Día)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B:</a:t>
                      </a: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Botón manual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(1 = Activado)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R: Bomba de Riego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(Salida)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8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4" name="Google Shape;364;p23"/>
          <p:cNvSpPr txBox="1"/>
          <p:nvPr/>
        </p:nvSpPr>
        <p:spPr>
          <a:xfrm>
            <a:off x="6629400" y="4478535"/>
            <a:ext cx="46959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Expresión Lógica Extraída:</a:t>
            </a:r>
            <a:endParaRPr/>
          </a:p>
        </p:txBody>
      </p:sp>
      <p:pic>
        <p:nvPicPr>
          <p:cNvPr id="365" name="Google Shape;365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1876425"/>
            <a:ext cx="54292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3"/>
          <p:cNvSpPr txBox="1"/>
          <p:nvPr/>
        </p:nvSpPr>
        <p:spPr>
          <a:xfrm>
            <a:off x="1552575" y="1933575"/>
            <a:ext cx="32604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Enunciado del Problema</a:t>
            </a:r>
            <a:endParaRPr/>
          </a:p>
        </p:txBody>
      </p:sp>
      <p:sp>
        <p:nvSpPr>
          <p:cNvPr id="367" name="Google Shape;367;p23"/>
          <p:cNvSpPr txBox="1"/>
          <p:nvPr/>
        </p:nvSpPr>
        <p:spPr>
          <a:xfrm>
            <a:off x="962025" y="3812768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68" name="Google Shape;368;p23"/>
          <p:cNvSpPr txBox="1"/>
          <p:nvPr/>
        </p:nvSpPr>
        <p:spPr>
          <a:xfrm>
            <a:off x="1057275" y="3813720"/>
            <a:ext cx="45054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 sensor de humedad del suelo indica que está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seco (S = 1)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369" name="Google Shape;369;p23"/>
          <p:cNvSpPr txBox="1"/>
          <p:nvPr/>
        </p:nvSpPr>
        <p:spPr>
          <a:xfrm>
            <a:off x="962025" y="4361348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0" name="Google Shape;370;p23"/>
          <p:cNvSpPr txBox="1"/>
          <p:nvPr/>
        </p:nvSpPr>
        <p:spPr>
          <a:xfrm>
            <a:off x="1057275" y="4362301"/>
            <a:ext cx="450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Y simultáneamente es de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día (D = 1)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371" name="Google Shape;371;p23"/>
          <p:cNvSpPr txBox="1"/>
          <p:nvPr/>
        </p:nvSpPr>
        <p:spPr>
          <a:xfrm>
            <a:off x="962025" y="4635638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2" name="Google Shape;372;p23"/>
          <p:cNvSpPr txBox="1"/>
          <p:nvPr/>
        </p:nvSpPr>
        <p:spPr>
          <a:xfrm>
            <a:off x="1057275" y="4636591"/>
            <a:ext cx="45054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el usuario activa manualmente el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botón (B = 1)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en cualquier momento.</a:t>
            </a:r>
            <a:endParaRPr/>
          </a:p>
        </p:txBody>
      </p:sp>
      <p:pic>
        <p:nvPicPr>
          <p:cNvPr id="373" name="Google Shape;373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29400" y="1876425"/>
            <a:ext cx="71437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3"/>
          <p:cNvSpPr txBox="1"/>
          <p:nvPr/>
        </p:nvSpPr>
        <p:spPr>
          <a:xfrm>
            <a:off x="7486650" y="1933575"/>
            <a:ext cx="28404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Variables y Expresión</a:t>
            </a:r>
            <a:endParaRPr/>
          </a:p>
        </p:txBody>
      </p:sp>
      <p:pic>
        <p:nvPicPr>
          <p:cNvPr id="375" name="Google Shape;375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76766" y="5181451"/>
            <a:ext cx="1639192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3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Ejemplo 2: Sistema de Riego Automático</a:t>
            </a:r>
            <a:endParaRPr/>
          </a:p>
        </p:txBody>
      </p:sp>
      <p:sp>
        <p:nvSpPr>
          <p:cNvPr id="377" name="Google Shape;377;p23"/>
          <p:cNvSpPr/>
          <p:nvPr/>
        </p:nvSpPr>
        <p:spPr>
          <a:xfrm>
            <a:off x="571500" y="1266825"/>
            <a:ext cx="11049000" cy="2850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569839"/>
            <a:ext cx="5286375" cy="4727971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24"/>
          <p:cNvSpPr txBox="1"/>
          <p:nvPr/>
        </p:nvSpPr>
        <p:spPr>
          <a:xfrm>
            <a:off x="6724650" y="2218432"/>
            <a:ext cx="47307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Observaciones Analíticas</a:t>
            </a:r>
            <a:endParaRPr/>
          </a:p>
        </p:txBody>
      </p:sp>
      <p:sp>
        <p:nvSpPr>
          <p:cNvPr id="387" name="Google Shape;387;p24"/>
          <p:cNvSpPr txBox="1"/>
          <p:nvPr/>
        </p:nvSpPr>
        <p:spPr>
          <a:xfrm>
            <a:off x="6724650" y="2732782"/>
            <a:ext cx="45054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Al evaluar las 8 combinaciones posibles (2^3), la tabla corrobora perfectamente la lógica del enunciado:</a:t>
            </a:r>
            <a:endParaRPr/>
          </a:p>
        </p:txBody>
      </p:sp>
      <p:pic>
        <p:nvPicPr>
          <p:cNvPr id="392" name="Google Shape;392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24650" y="2275582"/>
            <a:ext cx="1905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24"/>
          <p:cNvSpPr txBox="1"/>
          <p:nvPr/>
        </p:nvSpPr>
        <p:spPr>
          <a:xfrm>
            <a:off x="6819900" y="3575685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94" name="Google Shape;394;p24"/>
          <p:cNvSpPr txBox="1"/>
          <p:nvPr/>
        </p:nvSpPr>
        <p:spPr>
          <a:xfrm>
            <a:off x="6915150" y="3576637"/>
            <a:ext cx="4314900" cy="12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Siempre que el botón manual se activa (</a:t>
            </a: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 = 1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), la bomba enciende (R = 1) sin importar las condiciones ambientales (Filas sombreadas en azul).</a:t>
            </a:r>
            <a:endParaRPr/>
          </a:p>
        </p:txBody>
      </p:sp>
      <p:sp>
        <p:nvSpPr>
          <p:cNvPr id="395" name="Google Shape;395;p24"/>
          <p:cNvSpPr txBox="1"/>
          <p:nvPr/>
        </p:nvSpPr>
        <p:spPr>
          <a:xfrm>
            <a:off x="6819900" y="4398555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96" name="Google Shape;396;p24"/>
          <p:cNvSpPr txBox="1"/>
          <p:nvPr/>
        </p:nvSpPr>
        <p:spPr>
          <a:xfrm>
            <a:off x="6915150" y="4399508"/>
            <a:ext cx="4314900" cy="12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botón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no se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presiona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(B = 0), la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bomba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solo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enciende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cuando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la tierra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está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seca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 = 1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) y es de día (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 = 1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)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simultáneamente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(Filas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sombreadas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verde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dirty="0"/>
          </a:p>
        </p:txBody>
      </p:sp>
      <p:sp>
        <p:nvSpPr>
          <p:cNvPr id="425" name="Google Shape;425;p24"/>
          <p:cNvSpPr txBox="1"/>
          <p:nvPr/>
        </p:nvSpPr>
        <p:spPr>
          <a:xfrm>
            <a:off x="571500" y="560189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Tabla de Verdad (Sistema de Riego)</a:t>
            </a:r>
            <a:endParaRPr/>
          </a:p>
        </p:txBody>
      </p:sp>
      <p:sp>
        <p:nvSpPr>
          <p:cNvPr id="426" name="Google Shape;426;p24"/>
          <p:cNvSpPr/>
          <p:nvPr/>
        </p:nvSpPr>
        <p:spPr>
          <a:xfrm>
            <a:off x="571500" y="1255514"/>
            <a:ext cx="11049000" cy="2850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6AB772A-CB2B-B8E7-A185-14D0D784D9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650" y="1605178"/>
            <a:ext cx="5286375" cy="480438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Google Shape;43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42304"/>
            <a:ext cx="6219825" cy="4931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77075" y="1542305"/>
            <a:ext cx="4543425" cy="4931646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25"/>
          <p:cNvSpPr txBox="1"/>
          <p:nvPr/>
        </p:nvSpPr>
        <p:spPr>
          <a:xfrm>
            <a:off x="866775" y="1837580"/>
            <a:ext cx="59106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Compuertas Necesarias</a:t>
            </a:r>
            <a:endParaRPr/>
          </a:p>
        </p:txBody>
      </p:sp>
      <p:sp>
        <p:nvSpPr>
          <p:cNvPr id="438" name="Google Shape;438;p25"/>
          <p:cNvSpPr txBox="1"/>
          <p:nvPr/>
        </p:nvSpPr>
        <p:spPr>
          <a:xfrm>
            <a:off x="866775" y="2351930"/>
            <a:ext cx="5629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Para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implementar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 = (S · D) + B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requerimos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dirty="0"/>
          </a:p>
        </p:txBody>
      </p:sp>
      <p:sp>
        <p:nvSpPr>
          <p:cNvPr id="439" name="Google Shape;439;p25"/>
          <p:cNvSpPr txBox="1"/>
          <p:nvPr/>
        </p:nvSpPr>
        <p:spPr>
          <a:xfrm>
            <a:off x="7372350" y="1837580"/>
            <a:ext cx="41505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Pasos para Simular</a:t>
            </a:r>
            <a:endParaRPr/>
          </a:p>
        </p:txBody>
      </p:sp>
      <p:sp>
        <p:nvSpPr>
          <p:cNvPr id="440" name="Google Shape;440;p25"/>
          <p:cNvSpPr txBox="1"/>
          <p:nvPr/>
        </p:nvSpPr>
        <p:spPr>
          <a:xfrm>
            <a:off x="7372350" y="2351930"/>
            <a:ext cx="39528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Validación recomendada en plataformas como </a:t>
            </a:r>
            <a:r>
              <a:rPr lang="en-US" sz="1200" b="0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CircuitVerse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/>
          </a:p>
        </p:txBody>
      </p:sp>
      <p:sp>
        <p:nvSpPr>
          <p:cNvPr id="441" name="Google Shape;441;p25"/>
          <p:cNvSpPr txBox="1"/>
          <p:nvPr/>
        </p:nvSpPr>
        <p:spPr>
          <a:xfrm>
            <a:off x="962025" y="2920543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42" name="Google Shape;442;p25"/>
          <p:cNvSpPr txBox="1"/>
          <p:nvPr/>
        </p:nvSpPr>
        <p:spPr>
          <a:xfrm>
            <a:off x="1057275" y="2921496"/>
            <a:ext cx="5438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 compuerta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AND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para (S · D)</a:t>
            </a:r>
            <a:endParaRPr/>
          </a:p>
        </p:txBody>
      </p:sp>
      <p:sp>
        <p:nvSpPr>
          <p:cNvPr id="443" name="Google Shape;443;p25"/>
          <p:cNvSpPr txBox="1"/>
          <p:nvPr/>
        </p:nvSpPr>
        <p:spPr>
          <a:xfrm>
            <a:off x="962025" y="3194833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44" name="Google Shape;444;p25"/>
          <p:cNvSpPr txBox="1"/>
          <p:nvPr/>
        </p:nvSpPr>
        <p:spPr>
          <a:xfrm>
            <a:off x="1057275" y="3195786"/>
            <a:ext cx="5438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 compuerta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OR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para sumar B</a:t>
            </a:r>
            <a:endParaRPr/>
          </a:p>
        </p:txBody>
      </p:sp>
      <p:sp>
        <p:nvSpPr>
          <p:cNvPr id="448" name="Google Shape;448;p25"/>
          <p:cNvSpPr txBox="1"/>
          <p:nvPr/>
        </p:nvSpPr>
        <p:spPr>
          <a:xfrm>
            <a:off x="7448550" y="3133814"/>
            <a:ext cx="114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/>
          </a:p>
        </p:txBody>
      </p:sp>
      <p:sp>
        <p:nvSpPr>
          <p:cNvPr id="449" name="Google Shape;449;p25"/>
          <p:cNvSpPr txBox="1"/>
          <p:nvPr/>
        </p:nvSpPr>
        <p:spPr>
          <a:xfrm>
            <a:off x="7562850" y="3134766"/>
            <a:ext cx="37623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Crear entradas para S, D, B con switches/pulsadores.</a:t>
            </a:r>
            <a:endParaRPr/>
          </a:p>
        </p:txBody>
      </p:sp>
      <p:sp>
        <p:nvSpPr>
          <p:cNvPr id="450" name="Google Shape;450;p25"/>
          <p:cNvSpPr txBox="1"/>
          <p:nvPr/>
        </p:nvSpPr>
        <p:spPr>
          <a:xfrm>
            <a:off x="7410450" y="3682394"/>
            <a:ext cx="152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/>
          </a:p>
        </p:txBody>
      </p:sp>
      <p:sp>
        <p:nvSpPr>
          <p:cNvPr id="451" name="Google Shape;451;p25"/>
          <p:cNvSpPr txBox="1"/>
          <p:nvPr/>
        </p:nvSpPr>
        <p:spPr>
          <a:xfrm>
            <a:off x="7562850" y="3683347"/>
            <a:ext cx="3762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Añadir las compuertas lógicas (AND, OR).</a:t>
            </a:r>
            <a:endParaRPr/>
          </a:p>
        </p:txBody>
      </p:sp>
      <p:sp>
        <p:nvSpPr>
          <p:cNvPr id="452" name="Google Shape;452;p25"/>
          <p:cNvSpPr txBox="1"/>
          <p:nvPr/>
        </p:nvSpPr>
        <p:spPr>
          <a:xfrm>
            <a:off x="7410450" y="3956685"/>
            <a:ext cx="152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/>
          </a:p>
        </p:txBody>
      </p:sp>
      <p:sp>
        <p:nvSpPr>
          <p:cNvPr id="453" name="Google Shape;453;p25"/>
          <p:cNvSpPr txBox="1"/>
          <p:nvPr/>
        </p:nvSpPr>
        <p:spPr>
          <a:xfrm>
            <a:off x="7562850" y="3957637"/>
            <a:ext cx="3762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Conectar la salida AND con S y D.</a:t>
            </a:r>
            <a:endParaRPr/>
          </a:p>
        </p:txBody>
      </p:sp>
      <p:sp>
        <p:nvSpPr>
          <p:cNvPr id="454" name="Google Shape;454;p25"/>
          <p:cNvSpPr txBox="1"/>
          <p:nvPr/>
        </p:nvSpPr>
        <p:spPr>
          <a:xfrm>
            <a:off x="7410450" y="4230975"/>
            <a:ext cx="152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/>
          </a:p>
        </p:txBody>
      </p:sp>
      <p:sp>
        <p:nvSpPr>
          <p:cNvPr id="455" name="Google Shape;455;p25"/>
          <p:cNvSpPr txBox="1"/>
          <p:nvPr/>
        </p:nvSpPr>
        <p:spPr>
          <a:xfrm>
            <a:off x="7562850" y="4231927"/>
            <a:ext cx="37623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Conectar salida de la AND a la OR, junto con la entrada B.</a:t>
            </a:r>
            <a:endParaRPr/>
          </a:p>
        </p:txBody>
      </p:sp>
      <p:sp>
        <p:nvSpPr>
          <p:cNvPr id="456" name="Google Shape;456;p25"/>
          <p:cNvSpPr txBox="1"/>
          <p:nvPr/>
        </p:nvSpPr>
        <p:spPr>
          <a:xfrm>
            <a:off x="7410450" y="4779555"/>
            <a:ext cx="152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5.</a:t>
            </a:r>
            <a:endParaRPr/>
          </a:p>
        </p:txBody>
      </p:sp>
      <p:sp>
        <p:nvSpPr>
          <p:cNvPr id="457" name="Google Shape;457;p25"/>
          <p:cNvSpPr txBox="1"/>
          <p:nvPr/>
        </p:nvSpPr>
        <p:spPr>
          <a:xfrm>
            <a:off x="7562850" y="4780508"/>
            <a:ext cx="3762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Conectar un LED a la salida final R.</a:t>
            </a:r>
            <a:endParaRPr/>
          </a:p>
        </p:txBody>
      </p:sp>
      <p:sp>
        <p:nvSpPr>
          <p:cNvPr id="458" name="Google Shape;458;p25"/>
          <p:cNvSpPr txBox="1"/>
          <p:nvPr/>
        </p:nvSpPr>
        <p:spPr>
          <a:xfrm>
            <a:off x="7419975" y="5053845"/>
            <a:ext cx="1428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6.</a:t>
            </a:r>
            <a:endParaRPr/>
          </a:p>
        </p:txBody>
      </p:sp>
      <p:sp>
        <p:nvSpPr>
          <p:cNvPr id="459" name="Google Shape;459;p25"/>
          <p:cNvSpPr txBox="1"/>
          <p:nvPr/>
        </p:nvSpPr>
        <p:spPr>
          <a:xfrm>
            <a:off x="7562850" y="5054798"/>
            <a:ext cx="37623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Probar las 8 combinaciones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y comparar rigurosamente con la tabla de verdad diseñada.</a:t>
            </a:r>
            <a:endParaRPr/>
          </a:p>
        </p:txBody>
      </p:sp>
      <p:sp>
        <p:nvSpPr>
          <p:cNvPr id="466" name="Google Shape;466;p25"/>
          <p:cNvSpPr txBox="1"/>
          <p:nvPr/>
        </p:nvSpPr>
        <p:spPr>
          <a:xfrm>
            <a:off x="571500" y="532655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Diagrama Lógico y Validación</a:t>
            </a:r>
            <a:endParaRPr/>
          </a:p>
        </p:txBody>
      </p:sp>
      <p:sp>
        <p:nvSpPr>
          <p:cNvPr id="467" name="Google Shape;467;p25"/>
          <p:cNvSpPr/>
          <p:nvPr/>
        </p:nvSpPr>
        <p:spPr>
          <a:xfrm>
            <a:off x="571500" y="1227980"/>
            <a:ext cx="11049000" cy="2850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A6FB637-BF72-D361-90A8-D7EE03AE7E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275" y="3672590"/>
            <a:ext cx="3218262" cy="221392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0351306-AFFC-1CDE-CE3E-5C8798F953A3}"/>
              </a:ext>
            </a:extLst>
          </p:cNvPr>
          <p:cNvSpPr txBox="1"/>
          <p:nvPr/>
        </p:nvSpPr>
        <p:spPr>
          <a:xfrm>
            <a:off x="962025" y="6083003"/>
            <a:ext cx="61984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latin typeface="Inter" panose="020B0604020202020204" charset="0"/>
                <a:ea typeface="Inter" panose="020B0604020202020204" charset="0"/>
              </a:rPr>
              <a:t>Validación en https://circuitverse.org/simulator</a:t>
            </a:r>
            <a:endParaRPr lang="es-419" dirty="0"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81150"/>
            <a:ext cx="5286375" cy="47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581150"/>
            <a:ext cx="5286375" cy="470535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26"/>
          <p:cNvSpPr txBox="1"/>
          <p:nvPr/>
        </p:nvSpPr>
        <p:spPr>
          <a:xfrm>
            <a:off x="815974" y="2583120"/>
            <a:ext cx="4835526" cy="3545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 un edificio académico se desea diseñar un sistema lógico para controlar automáticamente la iluminación de un pasillo. La luz debe encenderse únicamente si el sistema general está habilitado y se cumple alguna condición válida de activación.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1800" dirty="0">
              <a:solidFill>
                <a:srgbClr val="334155"/>
              </a:solidFill>
              <a:latin typeface="Inter"/>
              <a:ea typeface="Inter"/>
              <a:sym typeface="Inter"/>
            </a:endParaRPr>
          </a:p>
        </p:txBody>
      </p:sp>
      <p:graphicFrame>
        <p:nvGraphicFramePr>
          <p:cNvPr id="478" name="Google Shape;478;p26"/>
          <p:cNvGraphicFramePr/>
          <p:nvPr>
            <p:extLst>
              <p:ext uri="{D42A27DB-BD31-4B8C-83A1-F6EECF244321}">
                <p14:modId xmlns:p14="http://schemas.microsoft.com/office/powerpoint/2010/main" val="2561206976"/>
              </p:ext>
            </p:extLst>
          </p:nvPr>
        </p:nvGraphicFramePr>
        <p:xfrm>
          <a:off x="6629400" y="2695575"/>
          <a:ext cx="4695825" cy="2692400"/>
        </p:xfrm>
        <a:graphic>
          <a:graphicData uri="http://schemas.openxmlformats.org/drawingml/2006/table">
            <a:tbl>
              <a:tblPr firstRow="1" bandRow="1">
                <a:noFill/>
                <a:tableStyleId>{C1A010A2-E722-4512-93BC-6B16CE555473}</a:tableStyleId>
              </a:tblPr>
              <a:tblGrid>
                <a:gridCol w="44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1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</a:t>
                      </a:r>
                      <a:endParaRPr sz="24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 dirty="0" err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Movimiento</a:t>
                      </a:r>
                      <a:r>
                        <a:rPr lang="en-US" sz="2000" b="0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2000" b="0" i="0" u="none" strike="noStrike" cap="none" dirty="0" err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detectado</a:t>
                      </a:r>
                      <a:endParaRPr sz="24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(1 = Sí)</a:t>
                      </a:r>
                      <a:endParaRPr sz="24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sym typeface="Inter"/>
                        </a:rPr>
                        <a:t>D</a:t>
                      </a:r>
                      <a:endParaRPr sz="24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Sensor de luz </a:t>
                      </a:r>
                      <a:r>
                        <a:rPr lang="en-US" sz="2000" b="0" i="0" u="none" strike="noStrike" cap="none" dirty="0" err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ambiente</a:t>
                      </a:r>
                      <a:endParaRPr sz="24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(1 = Sí)</a:t>
                      </a:r>
                      <a:endParaRPr sz="24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</a:t>
                      </a:r>
                      <a:endParaRPr sz="24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Interruptor manual</a:t>
                      </a:r>
                      <a:endParaRPr sz="24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(1 = Encendido)</a:t>
                      </a:r>
                      <a:endParaRPr sz="24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sym typeface="Inter"/>
                        </a:rPr>
                        <a:t>H</a:t>
                      </a:r>
                      <a:endParaRPr sz="24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Sistema </a:t>
                      </a:r>
                      <a:r>
                        <a:rPr lang="en-US" sz="2000" b="0" i="0" u="none" strike="noStrike" cap="none" dirty="0" err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habilitado</a:t>
                      </a:r>
                      <a:endParaRPr sz="24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(1 = Sí)</a:t>
                      </a:r>
                      <a:endParaRPr sz="24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>
                          <a:solidFill>
                            <a:srgbClr val="0080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</a:t>
                      </a:r>
                      <a:endParaRPr sz="24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0080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Luz encendida</a:t>
                      </a:r>
                      <a:endParaRPr sz="24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cap="none" dirty="0">
                          <a:solidFill>
                            <a:srgbClr val="0080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(Salida)</a:t>
                      </a:r>
                      <a:endParaRPr sz="24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80" name="Google Shape;480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1876425"/>
            <a:ext cx="54292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26"/>
          <p:cNvSpPr txBox="1"/>
          <p:nvPr/>
        </p:nvSpPr>
        <p:spPr>
          <a:xfrm>
            <a:off x="1552575" y="1933575"/>
            <a:ext cx="33405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 err="1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Enunciado</a:t>
            </a:r>
            <a:endParaRPr dirty="0"/>
          </a:p>
        </p:txBody>
      </p:sp>
      <p:pic>
        <p:nvPicPr>
          <p:cNvPr id="486" name="Google Shape;486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29400" y="1876425"/>
            <a:ext cx="62865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26"/>
          <p:cNvSpPr txBox="1"/>
          <p:nvPr/>
        </p:nvSpPr>
        <p:spPr>
          <a:xfrm>
            <a:off x="7400925" y="1933575"/>
            <a:ext cx="25104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Tabla de Variables</a:t>
            </a:r>
            <a:endParaRPr/>
          </a:p>
        </p:txBody>
      </p:sp>
      <p:sp>
        <p:nvSpPr>
          <p:cNvPr id="489" name="Google Shape;489;p26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Ejemplo 3: Encendido Automático de Luces</a:t>
            </a:r>
            <a:endParaRPr/>
          </a:p>
        </p:txBody>
      </p:sp>
      <p:sp>
        <p:nvSpPr>
          <p:cNvPr id="490" name="Google Shape;490;p26"/>
          <p:cNvSpPr/>
          <p:nvPr/>
        </p:nvSpPr>
        <p:spPr>
          <a:xfrm>
            <a:off x="571500" y="1266825"/>
            <a:ext cx="11049000" cy="2850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1">
          <a:extLst>
            <a:ext uri="{FF2B5EF4-FFF2-40B4-BE49-F238E27FC236}">
              <a16:creationId xmlns:a16="http://schemas.microsoft.com/office/drawing/2014/main" id="{A9C80F09-CD2D-A51B-0C28-3ADBA372A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p26" descr="image.png">
            <a:extLst>
              <a:ext uri="{FF2B5EF4-FFF2-40B4-BE49-F238E27FC236}">
                <a16:creationId xmlns:a16="http://schemas.microsoft.com/office/drawing/2014/main" id="{7C8B2D9F-73A7-B586-718A-9BD2F58A308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26" descr="image.png">
            <a:extLst>
              <a:ext uri="{FF2B5EF4-FFF2-40B4-BE49-F238E27FC236}">
                <a16:creationId xmlns:a16="http://schemas.microsoft.com/office/drawing/2014/main" id="{370C665F-6299-7E2D-FF75-D6D54B646DA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81150"/>
            <a:ext cx="11049000" cy="494151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26">
            <a:extLst>
              <a:ext uri="{FF2B5EF4-FFF2-40B4-BE49-F238E27FC236}">
                <a16:creationId xmlns:a16="http://schemas.microsoft.com/office/drawing/2014/main" id="{31EF5D3C-61AC-705B-F76B-C8E15258FAEE}"/>
              </a:ext>
            </a:extLst>
          </p:cNvPr>
          <p:cNvSpPr txBox="1"/>
          <p:nvPr/>
        </p:nvSpPr>
        <p:spPr>
          <a:xfrm>
            <a:off x="815974" y="2583120"/>
            <a:ext cx="10677526" cy="3939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La luz debe encenderse en los siguientes casos:</a:t>
            </a:r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s-ES" sz="20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Modo automático: si hay movimiento, no es de día y el sistema está habilitado.</a:t>
            </a:r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s-ES" sz="2000" b="0" i="0" u="none" strike="noStrike" cap="none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s-ES" sz="20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Modo manual: si el interruptor manual está activado y el sistema está habilitado.</a:t>
            </a:r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s-ES" sz="2000" b="0" i="0" u="none" strike="noStrike" cap="none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s-ES" sz="20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Refuerzo de seguridad: si el interruptor manual está activado, no es de día y el sistema está habilitado, la luz debe permanecer encendida aunque no haya movimiento.</a:t>
            </a:r>
          </a:p>
        </p:txBody>
      </p:sp>
      <p:pic>
        <p:nvPicPr>
          <p:cNvPr id="480" name="Google Shape;480;p26" descr="image.png">
            <a:extLst>
              <a:ext uri="{FF2B5EF4-FFF2-40B4-BE49-F238E27FC236}">
                <a16:creationId xmlns:a16="http://schemas.microsoft.com/office/drawing/2014/main" id="{016AC720-6C6A-4A6D-C3A5-77832576C1E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775" y="1876425"/>
            <a:ext cx="54292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26">
            <a:extLst>
              <a:ext uri="{FF2B5EF4-FFF2-40B4-BE49-F238E27FC236}">
                <a16:creationId xmlns:a16="http://schemas.microsoft.com/office/drawing/2014/main" id="{1C60DC9A-1A7A-9EB6-22E6-0E9979E61D71}"/>
              </a:ext>
            </a:extLst>
          </p:cNvPr>
          <p:cNvSpPr txBox="1"/>
          <p:nvPr/>
        </p:nvSpPr>
        <p:spPr>
          <a:xfrm>
            <a:off x="1552575" y="1933575"/>
            <a:ext cx="334050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dirty="0">
                <a:solidFill>
                  <a:srgbClr val="003366"/>
                </a:solidFill>
                <a:latin typeface="Poppins SemiBold"/>
                <a:cs typeface="Poppins SemiBold"/>
                <a:sym typeface="Poppins SemiBold"/>
              </a:rPr>
              <a:t>CONDICIONES</a:t>
            </a:r>
            <a:endParaRPr dirty="0"/>
          </a:p>
        </p:txBody>
      </p:sp>
      <p:sp>
        <p:nvSpPr>
          <p:cNvPr id="489" name="Google Shape;489;p26">
            <a:extLst>
              <a:ext uri="{FF2B5EF4-FFF2-40B4-BE49-F238E27FC236}">
                <a16:creationId xmlns:a16="http://schemas.microsoft.com/office/drawing/2014/main" id="{C0F15816-765E-A216-B632-EE48920F713C}"/>
              </a:ext>
            </a:extLst>
          </p:cNvPr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Ejemplo 3: Encendido Automático de Luces</a:t>
            </a:r>
            <a:endParaRPr/>
          </a:p>
        </p:txBody>
      </p:sp>
      <p:sp>
        <p:nvSpPr>
          <p:cNvPr id="490" name="Google Shape;490;p26">
            <a:extLst>
              <a:ext uri="{FF2B5EF4-FFF2-40B4-BE49-F238E27FC236}">
                <a16:creationId xmlns:a16="http://schemas.microsoft.com/office/drawing/2014/main" id="{C484B6B6-319C-DF84-3AE0-F6951CDE70D2}"/>
              </a:ext>
            </a:extLst>
          </p:cNvPr>
          <p:cNvSpPr/>
          <p:nvPr/>
        </p:nvSpPr>
        <p:spPr>
          <a:xfrm>
            <a:off x="571500" y="1266825"/>
            <a:ext cx="11049000" cy="2850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3992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D9C9E1C-71DD-6C9F-BEEA-FF67A692BAD0}"/>
              </a:ext>
            </a:extLst>
          </p:cNvPr>
          <p:cNvSpPr txBox="1"/>
          <p:nvPr/>
        </p:nvSpPr>
        <p:spPr>
          <a:xfrm>
            <a:off x="3048000" y="3275112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CO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4CCC253-4525-1F6A-3C56-F96C00F4C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F60115E-55E4-987A-6E34-D86644A471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936426"/>
            <a:ext cx="5286375" cy="5653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936426"/>
            <a:ext cx="5286375" cy="565306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914400" y="2098476"/>
            <a:ext cx="4600575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 una instalación de alta seguridad, se requiere implementar un sistema automático que active el protocolo de evacuación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(E = 1)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bajo las siguientes condiciones:</a:t>
            </a:r>
            <a:endParaRPr/>
          </a:p>
        </p:txBody>
      </p:sp>
      <p:pic>
        <p:nvPicPr>
          <p:cNvPr id="96" name="Google Shape;9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1279326"/>
            <a:ext cx="59055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1647825" y="1336476"/>
            <a:ext cx="326040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Enunciado del Problema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09650" y="348996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104900" y="3490912"/>
            <a:ext cx="44100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Si hay fuego detectado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(F)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y simultáneamente no hay luz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(~L)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009650" y="403854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104900" y="4039492"/>
            <a:ext cx="44100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Si se detecta fuga de gas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(G)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y la puerta de emergencia no está bloqueada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(~B)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09650" y="458712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104900" y="4588073"/>
            <a:ext cx="44100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O si el botón de emergencia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(M)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ha sido presionado manualmente.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86550" y="1560314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172325" y="1288851"/>
            <a:ext cx="4300537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080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Instrucciones para el Estudiante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6686550" y="2555676"/>
            <a:ext cx="4581525" cy="85338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115175" y="2698551"/>
            <a:ext cx="396240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Identifica y define las variables lógicas en una tabla.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6686550" y="3523357"/>
            <a:ext cx="4581525" cy="85338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7143750" y="3666232"/>
            <a:ext cx="3933825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Dibuja el circuito lógico utilizando compuertas básicas (AND, OR, NOT).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6686550" y="4491037"/>
            <a:ext cx="4581525" cy="85338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7143750" y="4633912"/>
            <a:ext cx="3933825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Simula el circuito en una herramienta como CircuitVerse.</a:t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6686550" y="5458717"/>
            <a:ext cx="4581525" cy="85338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7162800" y="5601592"/>
            <a:ext cx="3914775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Entrega: Tabla de verdad, mapa de Karnaugh, función mínima y captura del circuito.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6686550" y="3399532"/>
            <a:ext cx="458152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6686550" y="4367212"/>
            <a:ext cx="458152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6686550" y="5334892"/>
            <a:ext cx="458152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6686550" y="6302573"/>
            <a:ext cx="458152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886575" y="2882354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886575" y="3850034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886575" y="481771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886575" y="5785395"/>
            <a:ext cx="1428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4"/>
          <p:cNvSpPr txBox="1"/>
          <p:nvPr/>
        </p:nvSpPr>
        <p:spPr>
          <a:xfrm>
            <a:off x="571500" y="32503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Reto 1: Sistema </a:t>
            </a:r>
            <a:r>
              <a:rPr lang="en-US" sz="3150" b="0" i="0" u="none" strike="noStrike" cap="none" dirty="0" err="1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Inteligente</a:t>
            </a:r>
            <a:r>
              <a:rPr lang="en-US" sz="3150" b="0" i="0" u="none" strike="noStrike" cap="none" dirty="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de </a:t>
            </a:r>
            <a:r>
              <a:rPr lang="en-US" sz="3150" b="0" i="0" u="none" strike="noStrike" cap="none" dirty="0" err="1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Evacuación</a:t>
            </a:r>
            <a:endParaRPr dirty="0"/>
          </a:p>
        </p:txBody>
      </p:sp>
      <p:sp>
        <p:nvSpPr>
          <p:cNvPr id="123" name="Google Shape;123;p14"/>
          <p:cNvSpPr/>
          <p:nvPr/>
        </p:nvSpPr>
        <p:spPr>
          <a:xfrm>
            <a:off x="571500" y="622101"/>
            <a:ext cx="11049000" cy="28575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24625" y="2338536"/>
            <a:ext cx="4905375" cy="724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24625" y="3396704"/>
            <a:ext cx="4905375" cy="147176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/>
          <p:nvPr/>
        </p:nvSpPr>
        <p:spPr>
          <a:xfrm>
            <a:off x="595014" y="874959"/>
            <a:ext cx="5286375" cy="581560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2" name="Google Shape;132;p15"/>
          <p:cNvGraphicFramePr/>
          <p:nvPr>
            <p:extLst>
              <p:ext uri="{D42A27DB-BD31-4B8C-83A1-F6EECF244321}">
                <p14:modId xmlns:p14="http://schemas.microsoft.com/office/powerpoint/2010/main" val="914701751"/>
              </p:ext>
            </p:extLst>
          </p:nvPr>
        </p:nvGraphicFramePr>
        <p:xfrm>
          <a:off x="595014" y="874959"/>
          <a:ext cx="5286350" cy="5848353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2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547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Símbolo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Variable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Estado Lógico "1"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Estado Lógico "0"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547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Fuego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Hay fuego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 hay fuego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547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Luz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Hay luz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 hay luz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547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Gas </a:t>
                      </a:r>
                      <a:r>
                        <a:rPr lang="en-US" sz="1350" b="0" i="0" u="none" strike="noStrike" cap="none" dirty="0" err="1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detectado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Hay gas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 hay gas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547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Puerta Emergencia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Está bloqueada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Está libre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547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Botón Emergencia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Botón presionado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Botón no activo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3547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Evacuación</a:t>
                      </a: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 (Salida)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Protocolo</a:t>
                      </a: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Activo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No se </a:t>
                      </a:r>
                      <a:r>
                        <a:rPr lang="en-US" sz="1350" b="0" i="0" u="none" strike="noStrike" cap="none" dirty="0" err="1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activa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8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3" name="Google Shape;133;p15"/>
          <p:cNvSpPr txBox="1"/>
          <p:nvPr/>
        </p:nvSpPr>
        <p:spPr>
          <a:xfrm>
            <a:off x="6401990" y="1216521"/>
            <a:ext cx="515064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Expresión Lógica Resultante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7153275" y="1730871"/>
            <a:ext cx="36480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Transformando el texto en álgebra de Boole:</a:t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595014" y="1736971"/>
            <a:ext cx="10572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1652289" y="1736971"/>
            <a:ext cx="15490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3201292" y="1736971"/>
            <a:ext cx="14620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4663379" y="1736971"/>
            <a:ext cx="12180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67885" y="2548086"/>
            <a:ext cx="3218854" cy="30569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 txBox="1"/>
          <p:nvPr/>
        </p:nvSpPr>
        <p:spPr>
          <a:xfrm>
            <a:off x="6724650" y="3596729"/>
            <a:ext cx="4505325" cy="107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Análisis</a:t>
            </a:r>
            <a:r>
              <a:rPr lang="en-US" sz="12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Al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tener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5 variables de entrada (F, L, G, B, M), la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tabla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verdad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requerirá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filas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La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simulación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es clave para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verificar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diseño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41" name="Google Shape;141;p15"/>
          <p:cNvSpPr/>
          <p:nvPr/>
        </p:nvSpPr>
        <p:spPr>
          <a:xfrm>
            <a:off x="595014" y="2561777"/>
            <a:ext cx="10572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1652289" y="2561777"/>
            <a:ext cx="15490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3201292" y="2561777"/>
            <a:ext cx="14620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4663379" y="2561777"/>
            <a:ext cx="12180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595014" y="3386582"/>
            <a:ext cx="10572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1652289" y="3386582"/>
            <a:ext cx="15490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3201292" y="3386582"/>
            <a:ext cx="14620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4663379" y="3386582"/>
            <a:ext cx="12180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595014" y="4211388"/>
            <a:ext cx="10572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1652289" y="4211388"/>
            <a:ext cx="15490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3201292" y="4211388"/>
            <a:ext cx="14620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4663379" y="4211388"/>
            <a:ext cx="12180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595014" y="5036193"/>
            <a:ext cx="10572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1652289" y="5036193"/>
            <a:ext cx="15490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3201292" y="5036193"/>
            <a:ext cx="14620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4663379" y="5036193"/>
            <a:ext cx="12180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595014" y="5860998"/>
            <a:ext cx="10572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1652289" y="5860998"/>
            <a:ext cx="15490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3201292" y="5860998"/>
            <a:ext cx="14620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4663379" y="5860998"/>
            <a:ext cx="12180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48" y="5313208"/>
            <a:ext cx="4505325" cy="90358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5"/>
          <p:cNvSpPr txBox="1"/>
          <p:nvPr/>
        </p:nvSpPr>
        <p:spPr>
          <a:xfrm>
            <a:off x="571500" y="16371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Definición Formal (Sistema de Evacuación)</a:t>
            </a:r>
            <a:endParaRPr/>
          </a:p>
        </p:txBody>
      </p:sp>
      <p:sp>
        <p:nvSpPr>
          <p:cNvPr id="163" name="Google Shape;163;p15"/>
          <p:cNvSpPr/>
          <p:nvPr/>
        </p:nvSpPr>
        <p:spPr>
          <a:xfrm>
            <a:off x="571500" y="711696"/>
            <a:ext cx="11049000" cy="28575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81150"/>
            <a:ext cx="6339780" cy="48101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97030" y="1581149"/>
            <a:ext cx="4423469" cy="4810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1876425"/>
            <a:ext cx="59055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6"/>
          <p:cNvSpPr txBox="1"/>
          <p:nvPr/>
        </p:nvSpPr>
        <p:spPr>
          <a:xfrm>
            <a:off x="1600200" y="1933575"/>
            <a:ext cx="3990498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Lógica de Apertura y Alarmas</a:t>
            </a:r>
            <a:endParaRPr/>
          </a:p>
        </p:txBody>
      </p:sp>
      <p:pic>
        <p:nvPicPr>
          <p:cNvPr id="183" name="Google Shape;18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53300" y="1678543"/>
            <a:ext cx="62865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6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Reto 2: Control de Acceso a Zona Restringida</a:t>
            </a:r>
            <a:endParaRPr/>
          </a:p>
        </p:txBody>
      </p:sp>
      <p:sp>
        <p:nvSpPr>
          <p:cNvPr id="190" name="Google Shape;190;p16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8B352EC-5A8B-1E8C-0998-5D9B968010FD}"/>
              </a:ext>
            </a:extLst>
          </p:cNvPr>
          <p:cNvSpPr txBox="1"/>
          <p:nvPr/>
        </p:nvSpPr>
        <p:spPr>
          <a:xfrm>
            <a:off x="815280" y="2690336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latin typeface="Inter" panose="020B0604020202020204" charset="0"/>
                <a:ea typeface="Inter" panose="020B0604020202020204" charset="0"/>
              </a:rPr>
              <a:t>En una zona restringida de una institución, se desea diseñar un sistema lógico que controle el acceso a una puerta de seguridad. El sistema debe decidir cuándo abrir la puerta y cuándo activar una alarma.</a:t>
            </a:r>
          </a:p>
          <a:p>
            <a:endParaRPr lang="es-ES" dirty="0">
              <a:latin typeface="Inter" panose="020B0604020202020204" charset="0"/>
              <a:ea typeface="Inter" panose="020B0604020202020204" charset="0"/>
            </a:endParaRPr>
          </a:p>
          <a:p>
            <a:r>
              <a:rPr lang="es-ES" dirty="0">
                <a:latin typeface="Inter" panose="020B0604020202020204" charset="0"/>
                <a:ea typeface="Inter" panose="020B0604020202020204" charset="0"/>
              </a:rPr>
              <a:t>El sistema tiene dos salidas:</a:t>
            </a:r>
            <a:endParaRPr lang="es-CO" dirty="0">
              <a:latin typeface="Inter" panose="020B0604020202020204" charset="0"/>
              <a:ea typeface="Inter" panose="020B0604020202020204" charset="0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865D6ABE-496F-19E6-B28C-3EBC44DE19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132965"/>
              </p:ext>
            </p:extLst>
          </p:nvPr>
        </p:nvGraphicFramePr>
        <p:xfrm>
          <a:off x="866775" y="4289970"/>
          <a:ext cx="5876229" cy="914400"/>
        </p:xfrm>
        <a:graphic>
          <a:graphicData uri="http://schemas.openxmlformats.org/drawingml/2006/table">
            <a:tbl>
              <a:tblPr/>
              <a:tblGrid>
                <a:gridCol w="1012129">
                  <a:extLst>
                    <a:ext uri="{9D8B030D-6E8A-4147-A177-3AD203B41FA5}">
                      <a16:colId xmlns:a16="http://schemas.microsoft.com/office/drawing/2014/main" val="4184730767"/>
                    </a:ext>
                  </a:extLst>
                </a:gridCol>
                <a:gridCol w="4864100">
                  <a:extLst>
                    <a:ext uri="{9D8B030D-6E8A-4147-A177-3AD203B41FA5}">
                      <a16:colId xmlns:a16="http://schemas.microsoft.com/office/drawing/2014/main" val="35708964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Salida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Significado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0937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b="1" dirty="0"/>
                        <a:t>Z</a:t>
                      </a:r>
                      <a:endParaRPr lang="es-CO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Apertura de puerta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1261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b="1"/>
                        <a:t>A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dirty="0"/>
                        <a:t>Activación de alarma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5769029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A8E15176-8B63-075C-C0D9-80FD794C1C24}"/>
              </a:ext>
            </a:extLst>
          </p:cNvPr>
          <p:cNvSpPr txBox="1"/>
          <p:nvPr/>
        </p:nvSpPr>
        <p:spPr>
          <a:xfrm>
            <a:off x="7353300" y="2471301"/>
            <a:ext cx="4267199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1. La puerta debe abrirse si se cumple alguna de las siguientes condiciones:</a:t>
            </a:r>
          </a:p>
          <a:p>
            <a:pPr>
              <a:buNone/>
            </a:pPr>
            <a:endParaRPr lang="es-ES" dirty="0">
              <a:solidFill>
                <a:schemeClr val="bg1"/>
              </a:solidFill>
              <a:latin typeface="Inter" panose="020B0604020202020204" charset="0"/>
              <a:ea typeface="Inter" panose="020B0604020202020204" charset="0"/>
            </a:endParaRPr>
          </a:p>
          <a:p>
            <a:r>
              <a:rPr lang="es-ES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- El empleado presenta una </a:t>
            </a:r>
            <a:r>
              <a:rPr lang="es-ES" b="1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tarjeta válida</a:t>
            </a:r>
            <a:r>
              <a:rPr lang="es-ES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 y su </a:t>
            </a:r>
            <a:r>
              <a:rPr lang="es-ES" b="1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biometría es correcta</a:t>
            </a:r>
            <a:r>
              <a:rPr lang="es-ES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, siempre que el sistema esté habilitado. 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>
              <a:solidFill>
                <a:schemeClr val="bg1"/>
              </a:solidFill>
              <a:latin typeface="Inter" panose="020B0604020202020204" charset="0"/>
              <a:ea typeface="Inter" panose="020B0604020202020204" charset="0"/>
            </a:endParaRPr>
          </a:p>
          <a:p>
            <a:r>
              <a:rPr lang="es-ES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- El jefe de seguridad ingresa un </a:t>
            </a:r>
            <a:r>
              <a:rPr lang="es-ES" b="1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código especial</a:t>
            </a:r>
            <a:r>
              <a:rPr lang="es-ES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, siempre que el sistema esté habilitado. 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>
              <a:solidFill>
                <a:schemeClr val="bg1"/>
              </a:solidFill>
              <a:latin typeface="Inter" panose="020B0604020202020204" charset="0"/>
              <a:ea typeface="Inter" panose="020B0604020202020204" charset="0"/>
            </a:endParaRPr>
          </a:p>
          <a:p>
            <a:r>
              <a:rPr lang="es-ES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Existe una </a:t>
            </a:r>
            <a:r>
              <a:rPr lang="es-ES" b="1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emergencia activa</a:t>
            </a:r>
            <a:r>
              <a:rPr lang="es-ES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, en cuyo caso la puerta debe abrirse sin restricciones. 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>
              <a:solidFill>
                <a:schemeClr val="bg1"/>
              </a:solidFill>
              <a:latin typeface="Inter" panose="020B0604020202020204" charset="0"/>
              <a:ea typeface="Inter" panose="020B0604020202020204" charset="0"/>
            </a:endParaRPr>
          </a:p>
          <a:p>
            <a:pPr>
              <a:buNone/>
            </a:pPr>
            <a:r>
              <a:rPr lang="es-ES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2. La alarma debe activarse si alguien intenta acceder sin ninguna autorización válida y no hay emergencia activa.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1CBF7A9A-398E-9DAC-C2D1-016C2E5AB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D596DBF1-5558-26D3-96B5-6B7EAB18E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8461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AC3F0909-E322-E830-57E9-FF6643796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705ACB9D-F73C-E188-0D8F-53D47DB8E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5417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29"/>
          <p:cNvSpPr/>
          <p:nvPr/>
        </p:nvSpPr>
        <p:spPr>
          <a:xfrm>
            <a:off x="5524500" y="2510879"/>
            <a:ext cx="1143000" cy="5730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9"/>
          <p:cNvSpPr txBox="1"/>
          <p:nvPr/>
        </p:nvSpPr>
        <p:spPr>
          <a:xfrm>
            <a:off x="2785586" y="2853779"/>
            <a:ext cx="66207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Ejercicios Propuestos</a:t>
            </a:r>
            <a:endParaRPr/>
          </a:p>
        </p:txBody>
      </p:sp>
      <p:sp>
        <p:nvSpPr>
          <p:cNvPr id="609" name="Google Shape;609;p29"/>
          <p:cNvSpPr txBox="1"/>
          <p:nvPr/>
        </p:nvSpPr>
        <p:spPr>
          <a:xfrm>
            <a:off x="2286000" y="3901529"/>
            <a:ext cx="76200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Retos adicionales para afianzar el diseño lógico, abstracción de variables y simulación en el trabajo independiente.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" name="Google Shape;614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2600" y="780230"/>
            <a:ext cx="6400800" cy="5803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30" descr="image.png"/>
          <p:cNvPicPr preferRelativeResize="0"/>
          <p:nvPr/>
        </p:nvPicPr>
        <p:blipFill rotWithShape="1">
          <a:blip r:embed="rId5">
            <a:alphaModFix/>
          </a:blip>
          <a:srcRect b="5355"/>
          <a:stretch>
            <a:fillRect/>
          </a:stretch>
        </p:blipFill>
        <p:spPr>
          <a:xfrm>
            <a:off x="7448550" y="780230"/>
            <a:ext cx="4267200" cy="6049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0425" y="4347746"/>
            <a:ext cx="5715000" cy="773310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30"/>
          <p:cNvSpPr txBox="1"/>
          <p:nvPr/>
        </p:nvSpPr>
        <p:spPr>
          <a:xfrm>
            <a:off x="914400" y="1494680"/>
            <a:ext cx="57150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 una banda transportadora, un brazo robótico debe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aceptar una caja (C = 1)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si cumple ciertas métricas de calidad. La caja se acepta si:</a:t>
            </a:r>
            <a:endParaRPr/>
          </a:p>
        </p:txBody>
      </p:sp>
      <p:sp>
        <p:nvSpPr>
          <p:cNvPr id="620" name="Google Shape;620;p30"/>
          <p:cNvSpPr txBox="1"/>
          <p:nvPr/>
        </p:nvSpPr>
        <p:spPr>
          <a:xfrm>
            <a:off x="7800200" y="4511964"/>
            <a:ext cx="3740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Misión:</a:t>
            </a:r>
            <a:endParaRPr/>
          </a:p>
        </p:txBody>
      </p:sp>
      <p:pic>
        <p:nvPicPr>
          <p:cNvPr id="622" name="Google Shape;622;p3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025" y="815769"/>
            <a:ext cx="66675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30"/>
          <p:cNvSpPr txBox="1"/>
          <p:nvPr/>
        </p:nvSpPr>
        <p:spPr>
          <a:xfrm>
            <a:off x="1695450" y="1017425"/>
            <a:ext cx="32604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 err="1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Enunciado</a:t>
            </a:r>
            <a:r>
              <a:rPr lang="en-US" sz="1950" b="0" i="0" u="none" strike="noStrike" cap="none" dirty="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del </a:t>
            </a:r>
            <a:r>
              <a:rPr lang="en-US" sz="1950" b="0" i="0" u="none" strike="noStrike" cap="none" dirty="0" err="1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Problema</a:t>
            </a:r>
            <a:endParaRPr dirty="0"/>
          </a:p>
        </p:txBody>
      </p:sp>
      <p:sp>
        <p:nvSpPr>
          <p:cNvPr id="624" name="Google Shape;624;p30"/>
          <p:cNvSpPr txBox="1"/>
          <p:nvPr/>
        </p:nvSpPr>
        <p:spPr>
          <a:xfrm>
            <a:off x="1009650" y="2337583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•</a:t>
            </a:r>
            <a:endParaRPr/>
          </a:p>
        </p:txBody>
      </p:sp>
      <p:sp>
        <p:nvSpPr>
          <p:cNvPr id="625" name="Google Shape;625;p30"/>
          <p:cNvSpPr txBox="1"/>
          <p:nvPr/>
        </p:nvSpPr>
        <p:spPr>
          <a:xfrm>
            <a:off x="1104900" y="2338536"/>
            <a:ext cx="5524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El peso es correcto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(P)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y el tamaño es correcto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(T)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  <a:endParaRPr/>
          </a:p>
        </p:txBody>
      </p:sp>
      <p:sp>
        <p:nvSpPr>
          <p:cNvPr id="626" name="Google Shape;626;p30"/>
          <p:cNvSpPr txBox="1"/>
          <p:nvPr/>
        </p:nvSpPr>
        <p:spPr>
          <a:xfrm>
            <a:off x="1009650" y="2611874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•</a:t>
            </a:r>
            <a:endParaRPr/>
          </a:p>
        </p:txBody>
      </p:sp>
      <p:sp>
        <p:nvSpPr>
          <p:cNvPr id="627" name="Google Shape;627;p30"/>
          <p:cNvSpPr txBox="1"/>
          <p:nvPr/>
        </p:nvSpPr>
        <p:spPr>
          <a:xfrm>
            <a:off x="1104900" y="2612826"/>
            <a:ext cx="55245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O bien, el tamaño es correcto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(T)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y el código de barras es legible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(L)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  <a:endParaRPr/>
          </a:p>
        </p:txBody>
      </p:sp>
      <p:sp>
        <p:nvSpPr>
          <p:cNvPr id="628" name="Google Shape;628;p30"/>
          <p:cNvSpPr txBox="1"/>
          <p:nvPr/>
        </p:nvSpPr>
        <p:spPr>
          <a:xfrm>
            <a:off x="1009650" y="3160454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•</a:t>
            </a:r>
            <a:endParaRPr/>
          </a:p>
        </p:txBody>
      </p:sp>
      <p:sp>
        <p:nvSpPr>
          <p:cNvPr id="629" name="Google Shape;629;p30"/>
          <p:cNvSpPr txBox="1"/>
          <p:nvPr/>
        </p:nvSpPr>
        <p:spPr>
          <a:xfrm>
            <a:off x="1104900" y="3161407"/>
            <a:ext cx="55245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O si un supervisor presiona el botón de aceptación manual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(M)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ante una excepción.</a:t>
            </a:r>
            <a:endParaRPr/>
          </a:p>
        </p:txBody>
      </p:sp>
      <p:sp>
        <p:nvSpPr>
          <p:cNvPr id="630" name="Google Shape;630;p30"/>
          <p:cNvSpPr txBox="1"/>
          <p:nvPr/>
        </p:nvSpPr>
        <p:spPr>
          <a:xfrm>
            <a:off x="971400" y="4490621"/>
            <a:ext cx="53913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Nota para </a:t>
            </a:r>
            <a:r>
              <a:rPr lang="en-US" sz="1200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2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estudiante</a:t>
            </a:r>
            <a:r>
              <a:rPr lang="en-US" sz="12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Analice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cómo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la variable "T" se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repite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dos de las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condiciones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cómo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afectará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simplificación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algebraica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graphicFrame>
        <p:nvGraphicFramePr>
          <p:cNvPr id="632" name="Google Shape;632;p30"/>
          <p:cNvGraphicFramePr/>
          <p:nvPr>
            <p:extLst>
              <p:ext uri="{D42A27DB-BD31-4B8C-83A1-F6EECF244321}">
                <p14:modId xmlns:p14="http://schemas.microsoft.com/office/powerpoint/2010/main" val="4148515776"/>
              </p:ext>
            </p:extLst>
          </p:nvPr>
        </p:nvGraphicFramePr>
        <p:xfrm>
          <a:off x="7839225" y="1121311"/>
          <a:ext cx="3562350" cy="2981125"/>
        </p:xfrm>
        <a:graphic>
          <a:graphicData uri="http://schemas.openxmlformats.org/drawingml/2006/table">
            <a:tbl>
              <a:tblPr firstRow="1" bandRow="1">
                <a:noFill/>
                <a:tableStyleId>{C1A010A2-E722-4512-93BC-6B16CE555473}</a:tableStyleId>
              </a:tblPr>
              <a:tblGrid>
                <a:gridCol w="88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1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6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Variable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Significado</a:t>
                      </a:r>
                      <a:r>
                        <a:rPr lang="en-US" sz="1200" b="0" i="0" u="none" strike="noStrike" cap="none" dirty="0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 (Estado = 1)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Peso correcto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Tamaño correcto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Código de barras legible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Botón supervisor presionado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Salida: </a:t>
                      </a:r>
                      <a:r>
                        <a:rPr lang="en-US" sz="1350" b="0" i="0" u="none" strike="noStrike" cap="none" dirty="0" err="1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Aceptar</a:t>
                      </a: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caja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8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33" name="Google Shape;633;p30"/>
          <p:cNvSpPr/>
          <p:nvPr/>
        </p:nvSpPr>
        <p:spPr>
          <a:xfrm>
            <a:off x="7800200" y="4797714"/>
            <a:ext cx="3562200" cy="491400"/>
          </a:xfrm>
          <a:prstGeom prst="roundRect">
            <a:avLst>
              <a:gd name="adj" fmla="val 15505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0"/>
          <p:cNvSpPr txBox="1"/>
          <p:nvPr/>
        </p:nvSpPr>
        <p:spPr>
          <a:xfrm>
            <a:off x="8228825" y="4912014"/>
            <a:ext cx="299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Hallar la expresión lógica sin simplificar.</a:t>
            </a:r>
            <a:endParaRPr/>
          </a:p>
        </p:txBody>
      </p:sp>
      <p:sp>
        <p:nvSpPr>
          <p:cNvPr id="635" name="Google Shape;635;p30"/>
          <p:cNvSpPr/>
          <p:nvPr/>
        </p:nvSpPr>
        <p:spPr>
          <a:xfrm>
            <a:off x="7800200" y="5384394"/>
            <a:ext cx="3562200" cy="491400"/>
          </a:xfrm>
          <a:prstGeom prst="roundRect">
            <a:avLst>
              <a:gd name="adj" fmla="val 15505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30"/>
          <p:cNvSpPr txBox="1"/>
          <p:nvPr/>
        </p:nvSpPr>
        <p:spPr>
          <a:xfrm>
            <a:off x="8209775" y="5498694"/>
            <a:ext cx="3009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Aplicar factor común algebraico.</a:t>
            </a:r>
            <a:endParaRPr/>
          </a:p>
        </p:txBody>
      </p:sp>
      <p:sp>
        <p:nvSpPr>
          <p:cNvPr id="637" name="Google Shape;637;p30"/>
          <p:cNvSpPr/>
          <p:nvPr/>
        </p:nvSpPr>
        <p:spPr>
          <a:xfrm>
            <a:off x="7800200" y="5971074"/>
            <a:ext cx="3562200" cy="491400"/>
          </a:xfrm>
          <a:prstGeom prst="roundRect">
            <a:avLst>
              <a:gd name="adj" fmla="val 15505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30"/>
          <p:cNvSpPr txBox="1"/>
          <p:nvPr/>
        </p:nvSpPr>
        <p:spPr>
          <a:xfrm>
            <a:off x="8228825" y="6085374"/>
            <a:ext cx="299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Simular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el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circuito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minimizado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  <a:endParaRPr dirty="0"/>
          </a:p>
        </p:txBody>
      </p:sp>
      <p:sp>
        <p:nvSpPr>
          <p:cNvPr id="640" name="Google Shape;640;p30"/>
          <p:cNvSpPr/>
          <p:nvPr/>
        </p:nvSpPr>
        <p:spPr>
          <a:xfrm>
            <a:off x="7797787" y="1157975"/>
            <a:ext cx="880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30"/>
          <p:cNvSpPr/>
          <p:nvPr/>
        </p:nvSpPr>
        <p:spPr>
          <a:xfrm>
            <a:off x="8678700" y="1157975"/>
            <a:ext cx="2681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30"/>
          <p:cNvSpPr/>
          <p:nvPr/>
        </p:nvSpPr>
        <p:spPr>
          <a:xfrm>
            <a:off x="7800200" y="5279619"/>
            <a:ext cx="35622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30"/>
          <p:cNvSpPr/>
          <p:nvPr/>
        </p:nvSpPr>
        <p:spPr>
          <a:xfrm>
            <a:off x="7800200" y="5866299"/>
            <a:ext cx="35622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30"/>
          <p:cNvSpPr/>
          <p:nvPr/>
        </p:nvSpPr>
        <p:spPr>
          <a:xfrm>
            <a:off x="7800200" y="6452980"/>
            <a:ext cx="35622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30"/>
          <p:cNvSpPr/>
          <p:nvPr/>
        </p:nvSpPr>
        <p:spPr>
          <a:xfrm>
            <a:off x="7797787" y="1670390"/>
            <a:ext cx="880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0"/>
          <p:cNvSpPr/>
          <p:nvPr/>
        </p:nvSpPr>
        <p:spPr>
          <a:xfrm>
            <a:off x="8678700" y="1670390"/>
            <a:ext cx="2681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30"/>
          <p:cNvSpPr/>
          <p:nvPr/>
        </p:nvSpPr>
        <p:spPr>
          <a:xfrm>
            <a:off x="7797787" y="2182805"/>
            <a:ext cx="880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30"/>
          <p:cNvSpPr/>
          <p:nvPr/>
        </p:nvSpPr>
        <p:spPr>
          <a:xfrm>
            <a:off x="8678700" y="2182805"/>
            <a:ext cx="2681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30"/>
          <p:cNvSpPr/>
          <p:nvPr/>
        </p:nvSpPr>
        <p:spPr>
          <a:xfrm>
            <a:off x="7797787" y="2695221"/>
            <a:ext cx="880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30"/>
          <p:cNvSpPr/>
          <p:nvPr/>
        </p:nvSpPr>
        <p:spPr>
          <a:xfrm>
            <a:off x="8678700" y="2695221"/>
            <a:ext cx="2681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30"/>
          <p:cNvSpPr/>
          <p:nvPr/>
        </p:nvSpPr>
        <p:spPr>
          <a:xfrm>
            <a:off x="7797787" y="3207636"/>
            <a:ext cx="880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30"/>
          <p:cNvSpPr/>
          <p:nvPr/>
        </p:nvSpPr>
        <p:spPr>
          <a:xfrm>
            <a:off x="8678700" y="3207636"/>
            <a:ext cx="2681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3" name="Google Shape;653;p3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952600" y="4952941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3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952600" y="553962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3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952600" y="6126302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30"/>
          <p:cNvSpPr txBox="1"/>
          <p:nvPr/>
        </p:nvSpPr>
        <p:spPr>
          <a:xfrm>
            <a:off x="571500" y="-3995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Reto 3: Sistema de Control de Calidad Industrial</a:t>
            </a:r>
            <a:endParaRPr/>
          </a:p>
        </p:txBody>
      </p:sp>
      <p:sp>
        <p:nvSpPr>
          <p:cNvPr id="657" name="Google Shape;657;p30"/>
          <p:cNvSpPr/>
          <p:nvPr/>
        </p:nvSpPr>
        <p:spPr>
          <a:xfrm>
            <a:off x="571500" y="691329"/>
            <a:ext cx="11049000" cy="2850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2" name="Google Shape;662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717742"/>
            <a:ext cx="6400800" cy="6200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31" descr="image.png"/>
          <p:cNvPicPr preferRelativeResize="0"/>
          <p:nvPr/>
        </p:nvPicPr>
        <p:blipFill rotWithShape="1">
          <a:blip r:embed="rId5">
            <a:alphaModFix/>
          </a:blip>
          <a:srcRect b="10573"/>
          <a:stretch>
            <a:fillRect/>
          </a:stretch>
        </p:blipFill>
        <p:spPr>
          <a:xfrm>
            <a:off x="7353300" y="746242"/>
            <a:ext cx="4267200" cy="6111758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31"/>
          <p:cNvSpPr txBox="1"/>
          <p:nvPr/>
        </p:nvSpPr>
        <p:spPr>
          <a:xfrm>
            <a:off x="914400" y="1349424"/>
            <a:ext cx="57150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Para proteger un cultivo hidropónico, se debe automatizar un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extractor de aire (E = 1)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basándose en las condiciones ambientales. El extractor se enciende si:</a:t>
            </a:r>
            <a:endParaRPr/>
          </a:p>
        </p:txBody>
      </p:sp>
      <p:sp>
        <p:nvSpPr>
          <p:cNvPr id="667" name="Google Shape;667;p31"/>
          <p:cNvSpPr txBox="1"/>
          <p:nvPr/>
        </p:nvSpPr>
        <p:spPr>
          <a:xfrm>
            <a:off x="914400" y="3907631"/>
            <a:ext cx="57150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 cualquier otro escenario (por ejemplo, hace calor pero las ventilas están abiertas, permitiendo refrigeración natural), el extractor debe permanecer apagado para ahorrar energía.</a:t>
            </a:r>
            <a:endParaRPr/>
          </a:p>
        </p:txBody>
      </p:sp>
      <p:sp>
        <p:nvSpPr>
          <p:cNvPr id="668" name="Google Shape;668;p31"/>
          <p:cNvSpPr txBox="1"/>
          <p:nvPr/>
        </p:nvSpPr>
        <p:spPr>
          <a:xfrm>
            <a:off x="7692825" y="4252401"/>
            <a:ext cx="3740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3366"/>
                </a:solidFill>
                <a:latin typeface="Inter"/>
                <a:ea typeface="Inter"/>
                <a:cs typeface="Inter"/>
                <a:sym typeface="Inter"/>
              </a:rPr>
              <a:t>Misión:</a:t>
            </a:r>
            <a:endParaRPr/>
          </a:p>
        </p:txBody>
      </p:sp>
      <p:pic>
        <p:nvPicPr>
          <p:cNvPr id="670" name="Google Shape;670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" y="758874"/>
            <a:ext cx="59055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31"/>
          <p:cNvSpPr txBox="1"/>
          <p:nvPr/>
        </p:nvSpPr>
        <p:spPr>
          <a:xfrm>
            <a:off x="2141700" y="755842"/>
            <a:ext cx="32604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 err="1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Enunciado</a:t>
            </a:r>
            <a:r>
              <a:rPr lang="en-US" sz="1950" b="0" i="0" u="none" strike="noStrike" cap="none" dirty="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del </a:t>
            </a:r>
            <a:r>
              <a:rPr lang="en-US" sz="1950" b="0" i="0" u="none" strike="noStrike" cap="none" dirty="0" err="1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Problema</a:t>
            </a:r>
            <a:endParaRPr dirty="0"/>
          </a:p>
        </p:txBody>
      </p:sp>
      <p:sp>
        <p:nvSpPr>
          <p:cNvPr id="672" name="Google Shape;672;p31"/>
          <p:cNvSpPr txBox="1"/>
          <p:nvPr/>
        </p:nvSpPr>
        <p:spPr>
          <a:xfrm>
            <a:off x="1009650" y="2466617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•</a:t>
            </a:r>
            <a:endParaRPr/>
          </a:p>
        </p:txBody>
      </p:sp>
      <p:sp>
        <p:nvSpPr>
          <p:cNvPr id="673" name="Google Shape;673;p31"/>
          <p:cNvSpPr txBox="1"/>
          <p:nvPr/>
        </p:nvSpPr>
        <p:spPr>
          <a:xfrm>
            <a:off x="1104900" y="2467570"/>
            <a:ext cx="55245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La temperatura interior es alta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(A)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y las ventilas del techo están cerradas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(~V)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  <a:endParaRPr/>
          </a:p>
        </p:txBody>
      </p:sp>
      <p:sp>
        <p:nvSpPr>
          <p:cNvPr id="674" name="Google Shape;674;p31"/>
          <p:cNvSpPr txBox="1"/>
          <p:nvPr/>
        </p:nvSpPr>
        <p:spPr>
          <a:xfrm>
            <a:off x="1009650" y="3015198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•</a:t>
            </a:r>
            <a:endParaRPr/>
          </a:p>
        </p:txBody>
      </p:sp>
      <p:sp>
        <p:nvSpPr>
          <p:cNvPr id="675" name="Google Shape;675;p31"/>
          <p:cNvSpPr txBox="1"/>
          <p:nvPr/>
        </p:nvSpPr>
        <p:spPr>
          <a:xfrm>
            <a:off x="1104900" y="3016150"/>
            <a:ext cx="55245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O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si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la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humedad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relativa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es extrema 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(H)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durante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el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periodo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de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noche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(N)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  <a:endParaRPr dirty="0"/>
          </a:p>
        </p:txBody>
      </p:sp>
      <p:sp>
        <p:nvSpPr>
          <p:cNvPr id="676" name="Google Shape;676;p31"/>
          <p:cNvSpPr/>
          <p:nvPr/>
        </p:nvSpPr>
        <p:spPr>
          <a:xfrm>
            <a:off x="7692825" y="985475"/>
            <a:ext cx="3562200" cy="29811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77" name="Google Shape;677;p31"/>
          <p:cNvGraphicFramePr/>
          <p:nvPr>
            <p:extLst>
              <p:ext uri="{D42A27DB-BD31-4B8C-83A1-F6EECF244321}">
                <p14:modId xmlns:p14="http://schemas.microsoft.com/office/powerpoint/2010/main" val="1455273607"/>
              </p:ext>
            </p:extLst>
          </p:nvPr>
        </p:nvGraphicFramePr>
        <p:xfrm>
          <a:off x="7692825" y="985475"/>
          <a:ext cx="3562350" cy="2981125"/>
        </p:xfrm>
        <a:graphic>
          <a:graphicData uri="http://schemas.openxmlformats.org/drawingml/2006/table">
            <a:tbl>
              <a:tblPr firstRow="1" bandRow="1">
                <a:noFill/>
                <a:tableStyleId>{C1A010A2-E722-4512-93BC-6B16CE555473}</a:tableStyleId>
              </a:tblPr>
              <a:tblGrid>
                <a:gridCol w="99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2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6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Variable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Significado (Estado = 1)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Temperatura alta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Ventilas abiertas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Humedad extrema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 de noche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8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Salida: Activar extractor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8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78" name="Google Shape;678;p31"/>
          <p:cNvSpPr/>
          <p:nvPr/>
        </p:nvSpPr>
        <p:spPr>
          <a:xfrm>
            <a:off x="7692825" y="4538151"/>
            <a:ext cx="3562200" cy="491400"/>
          </a:xfrm>
          <a:prstGeom prst="roundRect">
            <a:avLst>
              <a:gd name="adj" fmla="val 15505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1"/>
          <p:cNvSpPr txBox="1"/>
          <p:nvPr/>
        </p:nvSpPr>
        <p:spPr>
          <a:xfrm>
            <a:off x="8121450" y="4652451"/>
            <a:ext cx="299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Construir la tabla de verdad (16 filas).</a:t>
            </a:r>
            <a:endParaRPr/>
          </a:p>
        </p:txBody>
      </p:sp>
      <p:sp>
        <p:nvSpPr>
          <p:cNvPr id="680" name="Google Shape;680;p31"/>
          <p:cNvSpPr/>
          <p:nvPr/>
        </p:nvSpPr>
        <p:spPr>
          <a:xfrm>
            <a:off x="7692825" y="5124832"/>
            <a:ext cx="3562200" cy="491400"/>
          </a:xfrm>
          <a:prstGeom prst="roundRect">
            <a:avLst>
              <a:gd name="adj" fmla="val 15505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1"/>
          <p:cNvSpPr txBox="1"/>
          <p:nvPr/>
        </p:nvSpPr>
        <p:spPr>
          <a:xfrm>
            <a:off x="8102400" y="5239132"/>
            <a:ext cx="3009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Dibujar el Mapa de Karnaugh de 4x4.</a:t>
            </a:r>
            <a:endParaRPr/>
          </a:p>
        </p:txBody>
      </p:sp>
      <p:sp>
        <p:nvSpPr>
          <p:cNvPr id="682" name="Google Shape;682;p31"/>
          <p:cNvSpPr/>
          <p:nvPr/>
        </p:nvSpPr>
        <p:spPr>
          <a:xfrm>
            <a:off x="7692825" y="5711512"/>
            <a:ext cx="3562200" cy="735300"/>
          </a:xfrm>
          <a:prstGeom prst="roundRect">
            <a:avLst>
              <a:gd name="adj" fmla="val 10364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1"/>
          <p:cNvSpPr txBox="1"/>
          <p:nvPr/>
        </p:nvSpPr>
        <p:spPr>
          <a:xfrm>
            <a:off x="8140500" y="5825812"/>
            <a:ext cx="29718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Diseñar diagrama con compuertas lógicas.</a:t>
            </a:r>
            <a:endParaRPr/>
          </a:p>
        </p:txBody>
      </p:sp>
      <p:sp>
        <p:nvSpPr>
          <p:cNvPr id="685" name="Google Shape;685;p31"/>
          <p:cNvSpPr/>
          <p:nvPr/>
        </p:nvSpPr>
        <p:spPr>
          <a:xfrm>
            <a:off x="7692825" y="1399813"/>
            <a:ext cx="990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1"/>
          <p:cNvSpPr/>
          <p:nvPr/>
        </p:nvSpPr>
        <p:spPr>
          <a:xfrm>
            <a:off x="8682829" y="1399813"/>
            <a:ext cx="2572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1"/>
          <p:cNvSpPr/>
          <p:nvPr/>
        </p:nvSpPr>
        <p:spPr>
          <a:xfrm>
            <a:off x="7692825" y="5020057"/>
            <a:ext cx="35622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1"/>
          <p:cNvSpPr/>
          <p:nvPr/>
        </p:nvSpPr>
        <p:spPr>
          <a:xfrm>
            <a:off x="7692825" y="5606737"/>
            <a:ext cx="35622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1"/>
          <p:cNvSpPr/>
          <p:nvPr/>
        </p:nvSpPr>
        <p:spPr>
          <a:xfrm>
            <a:off x="7692825" y="6437198"/>
            <a:ext cx="35622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1"/>
          <p:cNvSpPr/>
          <p:nvPr/>
        </p:nvSpPr>
        <p:spPr>
          <a:xfrm>
            <a:off x="7692825" y="1912228"/>
            <a:ext cx="990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1"/>
          <p:cNvSpPr/>
          <p:nvPr/>
        </p:nvSpPr>
        <p:spPr>
          <a:xfrm>
            <a:off x="8682829" y="1912228"/>
            <a:ext cx="2572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31"/>
          <p:cNvSpPr/>
          <p:nvPr/>
        </p:nvSpPr>
        <p:spPr>
          <a:xfrm>
            <a:off x="7692825" y="2424643"/>
            <a:ext cx="990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1"/>
          <p:cNvSpPr/>
          <p:nvPr/>
        </p:nvSpPr>
        <p:spPr>
          <a:xfrm>
            <a:off x="8682829" y="2424643"/>
            <a:ext cx="2572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1"/>
          <p:cNvSpPr/>
          <p:nvPr/>
        </p:nvSpPr>
        <p:spPr>
          <a:xfrm>
            <a:off x="7692825" y="2937058"/>
            <a:ext cx="990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1"/>
          <p:cNvSpPr/>
          <p:nvPr/>
        </p:nvSpPr>
        <p:spPr>
          <a:xfrm>
            <a:off x="8682829" y="2937058"/>
            <a:ext cx="2572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1"/>
          <p:cNvSpPr/>
          <p:nvPr/>
        </p:nvSpPr>
        <p:spPr>
          <a:xfrm>
            <a:off x="7692825" y="3449474"/>
            <a:ext cx="990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1"/>
          <p:cNvSpPr/>
          <p:nvPr/>
        </p:nvSpPr>
        <p:spPr>
          <a:xfrm>
            <a:off x="8682829" y="3449474"/>
            <a:ext cx="2572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8" name="Google Shape;698;p3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45225" y="469337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3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45225" y="5280059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p3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845225" y="5988630"/>
            <a:ext cx="1905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31"/>
          <p:cNvSpPr txBox="1"/>
          <p:nvPr/>
        </p:nvSpPr>
        <p:spPr>
          <a:xfrm>
            <a:off x="571500" y="-4594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Reto 4: Climatización de Invernadero Inteligente</a:t>
            </a:r>
            <a:endParaRPr/>
          </a:p>
        </p:txBody>
      </p:sp>
      <p:sp>
        <p:nvSpPr>
          <p:cNvPr id="702" name="Google Shape;702;p31"/>
          <p:cNvSpPr/>
          <p:nvPr/>
        </p:nvSpPr>
        <p:spPr>
          <a:xfrm>
            <a:off x="590400" y="647858"/>
            <a:ext cx="11049000" cy="2850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2582</TotalTime>
  <Words>2117</Words>
  <Application>Microsoft Office PowerPoint</Application>
  <PresentationFormat>Panorámica</PresentationFormat>
  <Paragraphs>394</Paragraphs>
  <Slides>25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3" baseType="lpstr">
      <vt:lpstr>Inter SemiBold</vt:lpstr>
      <vt:lpstr>Calibri</vt:lpstr>
      <vt:lpstr>Inter</vt:lpstr>
      <vt:lpstr>Poppins</vt:lpstr>
      <vt:lpstr>Poppins SemiBold</vt:lpstr>
      <vt:lpstr>Inter Medium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SEBASTIAN MONTOYA VILLADA</cp:lastModifiedBy>
  <cp:revision>3</cp:revision>
  <dcterms:modified xsi:type="dcterms:W3CDTF">2026-05-22T15:00:22Z</dcterms:modified>
</cp:coreProperties>
</file>