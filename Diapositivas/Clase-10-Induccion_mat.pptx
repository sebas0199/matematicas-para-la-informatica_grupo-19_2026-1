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77" r:id="rId6"/>
    <p:sldId id="260" r:id="rId7"/>
    <p:sldId id="261" r:id="rId8"/>
    <p:sldId id="262" r:id="rId9"/>
    <p:sldId id="263" r:id="rId10"/>
    <p:sldId id="264" r:id="rId11"/>
    <p:sldId id="278" r:id="rId12"/>
    <p:sldId id="265" r:id="rId13"/>
    <p:sldId id="266" r:id="rId14"/>
    <p:sldId id="269" r:id="rId15"/>
    <p:sldId id="270" r:id="rId16"/>
    <p:sldId id="271" r:id="rId17"/>
    <p:sldId id="279" r:id="rId18"/>
    <p:sldId id="272" r:id="rId19"/>
    <p:sldId id="273" r:id="rId20"/>
    <p:sldId id="274" r:id="rId21"/>
    <p:sldId id="275"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108" y="1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4777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C0B3-FA78-9D38-9B6B-5DF34E0345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FB5DFB-19DE-EA26-B2F3-9B77E5BF02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8E0E9-6A13-9933-CF24-310DD3D8CC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DF07E0-4BDF-A284-FE03-9B588664251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471180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D95FE-2FF1-66CF-DDB7-E72DD6FCA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46F66-9190-CFAD-ACB6-03C50A0CB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076C0-9F61-D2AC-C1B4-3419080859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2D764C-4F67-D7F3-8B6D-F7FFA465FC4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761779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rot="900000">
            <a:off x="6858000" y="-457200"/>
            <a:ext cx="3657600" cy="6400800"/>
          </a:xfrm>
          <a:prstGeom prst="rect">
            <a:avLst/>
          </a:prstGeom>
          <a:solidFill>
            <a:srgbClr val="162D4A"/>
          </a:solidFill>
          <a:ln/>
        </p:spPr>
        <p:txBody>
          <a:bodyPr/>
          <a:lstStyle/>
          <a:p>
            <a:endParaRPr lang="es-CO"/>
          </a:p>
        </p:txBody>
      </p:sp>
      <p:sp>
        <p:nvSpPr>
          <p:cNvPr id="3" name="Text 1"/>
          <p:cNvSpPr/>
          <p:nvPr/>
        </p:nvSpPr>
        <p:spPr>
          <a:xfrm>
            <a:off x="731520" y="1097280"/>
            <a:ext cx="6400800" cy="9144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Matemáticas para la Informática</a:t>
            </a:r>
            <a:endParaRPr lang="en-US" sz="3600" dirty="0"/>
          </a:p>
        </p:txBody>
      </p:sp>
      <p:sp>
        <p:nvSpPr>
          <p:cNvPr id="4" name="Shape 2"/>
          <p:cNvSpPr/>
          <p:nvPr/>
        </p:nvSpPr>
        <p:spPr>
          <a:xfrm>
            <a:off x="731520" y="2148840"/>
            <a:ext cx="1097280" cy="45720"/>
          </a:xfrm>
          <a:prstGeom prst="rect">
            <a:avLst/>
          </a:prstGeom>
          <a:solidFill>
            <a:srgbClr val="FFFFFF"/>
          </a:solidFill>
          <a:ln/>
        </p:spPr>
        <p:txBody>
          <a:bodyPr/>
          <a:lstStyle/>
          <a:p>
            <a:endParaRPr lang="es-CO"/>
          </a:p>
        </p:txBody>
      </p:sp>
      <p:sp>
        <p:nvSpPr>
          <p:cNvPr id="5" name="Text 3"/>
          <p:cNvSpPr/>
          <p:nvPr/>
        </p:nvSpPr>
        <p:spPr>
          <a:xfrm>
            <a:off x="731520" y="2423160"/>
            <a:ext cx="6400800" cy="548640"/>
          </a:xfrm>
          <a:prstGeom prst="rect">
            <a:avLst/>
          </a:prstGeom>
          <a:noFill/>
          <a:ln/>
        </p:spPr>
        <p:txBody>
          <a:bodyPr wrap="square" rtlCol="0" anchor="ctr"/>
          <a:lstStyle/>
          <a:p>
            <a:pPr marL="0" indent="0">
              <a:buNone/>
            </a:pPr>
            <a:r>
              <a:rPr lang="en-US" sz="2200" dirty="0">
                <a:solidFill>
                  <a:srgbClr val="B0C4DE"/>
                </a:solidFill>
                <a:latin typeface="Calibri" pitchFamily="34" charset="0"/>
                <a:ea typeface="Calibri" pitchFamily="34" charset="-122"/>
                <a:cs typeface="Calibri" pitchFamily="34" charset="-120"/>
              </a:rPr>
              <a:t>Sesión 9: Inducción Matemática</a:t>
            </a:r>
            <a:endParaRPr lang="en-US" sz="2200" dirty="0"/>
          </a:p>
        </p:txBody>
      </p:sp>
      <p:sp>
        <p:nvSpPr>
          <p:cNvPr id="6" name="Text 4"/>
          <p:cNvSpPr/>
          <p:nvPr/>
        </p:nvSpPr>
        <p:spPr>
          <a:xfrm>
            <a:off x="731520" y="3383280"/>
            <a:ext cx="6400800" cy="457200"/>
          </a:xfrm>
          <a:prstGeom prst="rect">
            <a:avLst/>
          </a:prstGeom>
          <a:noFill/>
          <a:ln/>
        </p:spPr>
        <p:txBody>
          <a:bodyPr wrap="square" rtlCol="0" anchor="ctr"/>
          <a:lstStyle/>
          <a:p>
            <a:pPr marL="0" indent="0">
              <a:buNone/>
            </a:pPr>
            <a:r>
              <a:rPr lang="en-US" sz="1600" dirty="0">
                <a:solidFill>
                  <a:srgbClr val="8AAED0"/>
                </a:solidFill>
                <a:latin typeface="Calibri" pitchFamily="34" charset="0"/>
                <a:ea typeface="Calibri" pitchFamily="34" charset="-122"/>
                <a:cs typeface="Calibri" pitchFamily="34" charset="-120"/>
              </a:rPr>
              <a:t>Sebastian Montoya Villada</a:t>
            </a:r>
            <a:endParaRPr lang="en-US" sz="1600" dirty="0"/>
          </a:p>
        </p:txBody>
      </p:sp>
      <p:sp>
        <p:nvSpPr>
          <p:cNvPr id="7" name="Text 5"/>
          <p:cNvSpPr/>
          <p:nvPr/>
        </p:nvSpPr>
        <p:spPr>
          <a:xfrm>
            <a:off x="731520" y="3840480"/>
            <a:ext cx="6400800" cy="365760"/>
          </a:xfrm>
          <a:prstGeom prst="rect">
            <a:avLst/>
          </a:prstGeom>
          <a:noFill/>
          <a:ln/>
        </p:spPr>
        <p:txBody>
          <a:bodyPr wrap="square" rtlCol="0" anchor="ctr"/>
          <a:lstStyle/>
          <a:p>
            <a:pPr marL="0" indent="0">
              <a:buNone/>
            </a:pPr>
            <a:r>
              <a:rPr lang="en-US" sz="1200" dirty="0">
                <a:solidFill>
                  <a:srgbClr val="6A8EB0"/>
                </a:solidFill>
                <a:latin typeface="Calibri" pitchFamily="34" charset="0"/>
                <a:ea typeface="Calibri" pitchFamily="34" charset="-122"/>
                <a:cs typeface="Calibri" pitchFamily="34" charset="-120"/>
              </a:rPr>
              <a:t>ITM — Institución Universitaria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731520" y="365760"/>
            <a:ext cx="7315200" cy="640080"/>
          </a:xfrm>
          <a:prstGeom prst="rect">
            <a:avLst/>
          </a:prstGeom>
          <a:noFill/>
          <a:ln/>
        </p:spPr>
        <p:txBody>
          <a:bodyPr wrap="square" rtlCol="0" anchor="ctr"/>
          <a:lstStyle/>
          <a:p>
            <a:pPr marL="0" indent="0">
              <a:buNone/>
            </a:pPr>
            <a:r>
              <a:rPr lang="en-US" sz="3000" b="1" dirty="0">
                <a:solidFill>
                  <a:srgbClr val="1E3A5F"/>
                </a:solidFill>
                <a:latin typeface="Calibri" pitchFamily="34" charset="0"/>
                <a:ea typeface="Calibri" pitchFamily="34" charset="-122"/>
                <a:cs typeface="Calibri" pitchFamily="34" charset="-120"/>
              </a:rPr>
              <a:t>Contenido de la Sesión</a:t>
            </a:r>
            <a:endParaRPr lang="en-US" sz="3000" dirty="0"/>
          </a:p>
        </p:txBody>
      </p:sp>
      <p:sp>
        <p:nvSpPr>
          <p:cNvPr id="5" name="Shape 3"/>
          <p:cNvSpPr/>
          <p:nvPr/>
        </p:nvSpPr>
        <p:spPr>
          <a:xfrm>
            <a:off x="731520" y="1371600"/>
            <a:ext cx="7498080" cy="91440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6" name="Text 4"/>
          <p:cNvSpPr/>
          <p:nvPr/>
        </p:nvSpPr>
        <p:spPr>
          <a:xfrm>
            <a:off x="914400" y="1463040"/>
            <a:ext cx="548640" cy="73152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01</a:t>
            </a:r>
            <a:endParaRPr lang="en-US" sz="2800" dirty="0"/>
          </a:p>
        </p:txBody>
      </p:sp>
      <p:sp>
        <p:nvSpPr>
          <p:cNvPr id="7" name="Text 5"/>
          <p:cNvSpPr/>
          <p:nvPr/>
        </p:nvSpPr>
        <p:spPr>
          <a:xfrm>
            <a:off x="1554480" y="1463040"/>
            <a:ext cx="6400800" cy="365760"/>
          </a:xfrm>
          <a:prstGeom prst="rect">
            <a:avLst/>
          </a:prstGeom>
          <a:noFill/>
          <a:ln/>
        </p:spPr>
        <p:txBody>
          <a:bodyPr wrap="square" rtlCol="0" anchor="ctr"/>
          <a:lstStyle/>
          <a:p>
            <a:pPr marL="0" indent="0">
              <a:buNone/>
            </a:pPr>
            <a:r>
              <a:rPr lang="en-US" sz="1600" b="1" dirty="0">
                <a:solidFill>
                  <a:srgbClr val="1E3A5F"/>
                </a:solidFill>
                <a:latin typeface="Calibri" pitchFamily="34" charset="0"/>
                <a:ea typeface="Calibri" pitchFamily="34" charset="-122"/>
                <a:cs typeface="Calibri" pitchFamily="34" charset="-120"/>
              </a:rPr>
              <a:t>Concepto de Inducción</a:t>
            </a:r>
            <a:endParaRPr lang="en-US" sz="1600" dirty="0"/>
          </a:p>
        </p:txBody>
      </p:sp>
      <p:sp>
        <p:nvSpPr>
          <p:cNvPr id="8" name="Text 6"/>
          <p:cNvSpPr/>
          <p:nvPr/>
        </p:nvSpPr>
        <p:spPr>
          <a:xfrm>
            <a:off x="1554480" y="1828800"/>
            <a:ext cx="6400800" cy="36576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Explicar qué es la inducción matemática y cómo funciona como método de demostración.</a:t>
            </a:r>
            <a:endParaRPr lang="en-US" sz="1200" dirty="0"/>
          </a:p>
        </p:txBody>
      </p:sp>
      <p:sp>
        <p:nvSpPr>
          <p:cNvPr id="9" name="Shape 7"/>
          <p:cNvSpPr/>
          <p:nvPr/>
        </p:nvSpPr>
        <p:spPr>
          <a:xfrm>
            <a:off x="731520" y="2468880"/>
            <a:ext cx="7498080" cy="91440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10" name="Text 8"/>
          <p:cNvSpPr/>
          <p:nvPr/>
        </p:nvSpPr>
        <p:spPr>
          <a:xfrm>
            <a:off x="914400" y="2560320"/>
            <a:ext cx="548640" cy="73152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02</a:t>
            </a:r>
            <a:endParaRPr lang="en-US" sz="2800" dirty="0"/>
          </a:p>
        </p:txBody>
      </p:sp>
      <p:sp>
        <p:nvSpPr>
          <p:cNvPr id="11" name="Text 9"/>
          <p:cNvSpPr/>
          <p:nvPr/>
        </p:nvSpPr>
        <p:spPr>
          <a:xfrm>
            <a:off x="1554480" y="2560320"/>
            <a:ext cx="6400800" cy="365760"/>
          </a:xfrm>
          <a:prstGeom prst="rect">
            <a:avLst/>
          </a:prstGeom>
          <a:noFill/>
          <a:ln/>
        </p:spPr>
        <p:txBody>
          <a:bodyPr wrap="square" rtlCol="0" anchor="ctr"/>
          <a:lstStyle/>
          <a:p>
            <a:pPr marL="0" indent="0">
              <a:buNone/>
            </a:pPr>
            <a:r>
              <a:rPr lang="en-US" sz="1600" b="1" dirty="0">
                <a:solidFill>
                  <a:srgbClr val="1E3A5F"/>
                </a:solidFill>
                <a:latin typeface="Calibri" pitchFamily="34" charset="0"/>
                <a:ea typeface="Calibri" pitchFamily="34" charset="-122"/>
                <a:cs typeface="Calibri" pitchFamily="34" charset="-120"/>
              </a:rPr>
              <a:t>Aplicación Práctica</a:t>
            </a:r>
            <a:endParaRPr lang="en-US" sz="1600" dirty="0"/>
          </a:p>
        </p:txBody>
      </p:sp>
      <p:sp>
        <p:nvSpPr>
          <p:cNvPr id="12" name="Text 10"/>
          <p:cNvSpPr/>
          <p:nvPr/>
        </p:nvSpPr>
        <p:spPr>
          <a:xfrm>
            <a:off x="1554480" y="2926080"/>
            <a:ext cx="6400800" cy="36576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Aprender a aplicar la inducción en diferentes contextos: sumatorias, desigualdades y series.</a:t>
            </a:r>
            <a:endParaRPr lang="en-US" sz="1200" dirty="0"/>
          </a:p>
        </p:txBody>
      </p:sp>
      <p:sp>
        <p:nvSpPr>
          <p:cNvPr id="13" name="Shape 11"/>
          <p:cNvSpPr/>
          <p:nvPr/>
        </p:nvSpPr>
        <p:spPr>
          <a:xfrm>
            <a:off x="731520" y="3566160"/>
            <a:ext cx="7498080" cy="91440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14" name="Text 12"/>
          <p:cNvSpPr/>
          <p:nvPr/>
        </p:nvSpPr>
        <p:spPr>
          <a:xfrm>
            <a:off x="914400" y="3657600"/>
            <a:ext cx="548640" cy="73152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03</a:t>
            </a:r>
            <a:endParaRPr lang="en-US" sz="2800" dirty="0"/>
          </a:p>
        </p:txBody>
      </p:sp>
      <p:sp>
        <p:nvSpPr>
          <p:cNvPr id="15" name="Text 13"/>
          <p:cNvSpPr/>
          <p:nvPr/>
        </p:nvSpPr>
        <p:spPr>
          <a:xfrm>
            <a:off x="1554480" y="3657600"/>
            <a:ext cx="6400800" cy="365760"/>
          </a:xfrm>
          <a:prstGeom prst="rect">
            <a:avLst/>
          </a:prstGeom>
          <a:noFill/>
          <a:ln/>
        </p:spPr>
        <p:txBody>
          <a:bodyPr wrap="square" rtlCol="0" anchor="ctr"/>
          <a:lstStyle/>
          <a:p>
            <a:pPr marL="0" indent="0">
              <a:buNone/>
            </a:pPr>
            <a:r>
              <a:rPr lang="en-US" sz="1600" b="1" dirty="0">
                <a:solidFill>
                  <a:srgbClr val="1E3A5F"/>
                </a:solidFill>
                <a:latin typeface="Calibri" pitchFamily="34" charset="0"/>
                <a:ea typeface="Calibri" pitchFamily="34" charset="-122"/>
                <a:cs typeface="Calibri" pitchFamily="34" charset="-120"/>
              </a:rPr>
              <a:t>Ejemplos Paso a Paso</a:t>
            </a:r>
            <a:endParaRPr lang="en-US" sz="1600" dirty="0"/>
          </a:p>
        </p:txBody>
      </p:sp>
      <p:sp>
        <p:nvSpPr>
          <p:cNvPr id="16" name="Text 14"/>
          <p:cNvSpPr/>
          <p:nvPr/>
        </p:nvSpPr>
        <p:spPr>
          <a:xfrm>
            <a:off x="1554480" y="4023360"/>
            <a:ext cx="6400800" cy="36576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Resolver ejemplos prácticos detallados con el procedimiento completo de inducción.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¿Qué es la Inducción Matemática?</a:t>
            </a:r>
            <a:endParaRPr lang="en-US" sz="2800" dirty="0"/>
          </a:p>
        </p:txBody>
      </p:sp>
      <p:sp>
        <p:nvSpPr>
          <p:cNvPr id="5" name="Text 3"/>
          <p:cNvSpPr/>
          <p:nvPr/>
        </p:nvSpPr>
        <p:spPr>
          <a:xfrm>
            <a:off x="731520" y="777240"/>
            <a:ext cx="7680960" cy="320040"/>
          </a:xfrm>
          <a:prstGeom prst="rect">
            <a:avLst/>
          </a:prstGeom>
          <a:noFill/>
          <a:ln/>
        </p:spPr>
        <p:txBody>
          <a:bodyPr wrap="square" rtlCol="0" anchor="ctr"/>
          <a:lstStyle/>
          <a:p>
            <a:pPr marL="0" indent="0">
              <a:buNone/>
            </a:pPr>
            <a:r>
              <a:rPr lang="en-US" sz="1300" i="1" dirty="0">
                <a:solidFill>
                  <a:srgbClr val="5A5A6E"/>
                </a:solidFill>
                <a:latin typeface="Calibri" pitchFamily="34" charset="0"/>
                <a:ea typeface="Calibri" pitchFamily="34" charset="-122"/>
                <a:cs typeface="Calibri" pitchFamily="34" charset="-120"/>
              </a:rPr>
              <a:t>La herramienta para demostrar lo infinito con pasos finitos</a:t>
            </a:r>
            <a:endParaRPr lang="en-US" sz="1300" dirty="0"/>
          </a:p>
        </p:txBody>
      </p:sp>
      <p:sp>
        <p:nvSpPr>
          <p:cNvPr id="6" name="Shape 4"/>
          <p:cNvSpPr/>
          <p:nvPr/>
        </p:nvSpPr>
        <p:spPr>
          <a:xfrm>
            <a:off x="731520" y="1280160"/>
            <a:ext cx="3657600" cy="182880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7" name="Text 5"/>
          <p:cNvSpPr/>
          <p:nvPr/>
        </p:nvSpPr>
        <p:spPr>
          <a:xfrm>
            <a:off x="1005840" y="1371600"/>
            <a:ext cx="3200400" cy="320040"/>
          </a:xfrm>
          <a:prstGeom prst="rect">
            <a:avLst/>
          </a:prstGeom>
          <a:noFill/>
          <a:ln/>
        </p:spPr>
        <p:txBody>
          <a:bodyPr wrap="square" rtlCol="0" anchor="ctr"/>
          <a:lstStyle/>
          <a:p>
            <a:pPr marL="0" indent="0">
              <a:buNone/>
            </a:pPr>
            <a:r>
              <a:rPr lang="en-US" sz="1600" b="1" dirty="0">
                <a:solidFill>
                  <a:srgbClr val="1E3A5F"/>
                </a:solidFill>
                <a:latin typeface="Calibri" pitchFamily="34" charset="0"/>
                <a:ea typeface="Calibri" pitchFamily="34" charset="-122"/>
                <a:cs typeface="Calibri" pitchFamily="34" charset="-120"/>
              </a:rPr>
              <a:t>La Idea Central</a:t>
            </a:r>
            <a:endParaRPr lang="en-US" sz="1600" dirty="0"/>
          </a:p>
        </p:txBody>
      </p:sp>
      <p:sp>
        <p:nvSpPr>
          <p:cNvPr id="8" name="Text 6"/>
          <p:cNvSpPr/>
          <p:nvPr/>
        </p:nvSpPr>
        <p:spPr>
          <a:xfrm>
            <a:off x="1005840" y="1737360"/>
            <a:ext cx="3200400" cy="1188720"/>
          </a:xfrm>
          <a:prstGeom prst="rect">
            <a:avLst/>
          </a:prstGeom>
          <a:noFill/>
          <a:ln/>
        </p:spPr>
        <p:txBody>
          <a:bodyPr wrap="square" rtlCol="0" anchor="t"/>
          <a:lstStyle/>
          <a:p>
            <a:pPr marL="0" indent="0">
              <a:buNone/>
            </a:pPr>
            <a:r>
              <a:rPr lang="en-US" sz="1150" dirty="0">
                <a:solidFill>
                  <a:srgbClr val="2D2D3F"/>
                </a:solidFill>
                <a:latin typeface="Calibri" pitchFamily="34" charset="0"/>
                <a:ea typeface="Calibri" pitchFamily="34" charset="-122"/>
                <a:cs typeface="Calibri" pitchFamily="34" charset="-120"/>
              </a:rPr>
              <a:t>Es un método de demostración riguroso que nos permite probar que una proposición (una fórmula, una propiedad, etc.) es verdadera para todos los números naturales (1, 2, 3, ...) a partir de un cierto punto inicial.</a:t>
            </a:r>
            <a:endParaRPr lang="en-US" sz="1150" dirty="0"/>
          </a:p>
        </p:txBody>
      </p:sp>
      <p:sp>
        <p:nvSpPr>
          <p:cNvPr id="9" name="Shape 7"/>
          <p:cNvSpPr/>
          <p:nvPr/>
        </p:nvSpPr>
        <p:spPr>
          <a:xfrm>
            <a:off x="4754880" y="1280160"/>
            <a:ext cx="3657600" cy="1828800"/>
          </a:xfrm>
          <a:prstGeom prst="rect">
            <a:avLst/>
          </a:prstGeom>
          <a:solidFill>
            <a:srgbClr val="ECFDF5"/>
          </a:solidFill>
          <a:ln/>
          <a:effectLst>
            <a:outerShdw blurRad="50800" dist="12700" dir="8100000" algn="bl" rotWithShape="0">
              <a:srgbClr val="000000">
                <a:alpha val="8000"/>
              </a:srgbClr>
            </a:outerShdw>
          </a:effectLst>
        </p:spPr>
        <p:txBody>
          <a:bodyPr/>
          <a:lstStyle/>
          <a:p>
            <a:endParaRPr lang="es-CO"/>
          </a:p>
        </p:txBody>
      </p:sp>
      <p:sp>
        <p:nvSpPr>
          <p:cNvPr id="10" name="Text 8"/>
          <p:cNvSpPr/>
          <p:nvPr/>
        </p:nvSpPr>
        <p:spPr>
          <a:xfrm>
            <a:off x="5029200" y="1371600"/>
            <a:ext cx="3200400" cy="320040"/>
          </a:xfrm>
          <a:prstGeom prst="rect">
            <a:avLst/>
          </a:prstGeom>
          <a:noFill/>
          <a:ln/>
        </p:spPr>
        <p:txBody>
          <a:bodyPr wrap="square" rtlCol="0" anchor="ctr"/>
          <a:lstStyle/>
          <a:p>
            <a:pPr marL="0" indent="0">
              <a:buNone/>
            </a:pPr>
            <a:r>
              <a:rPr lang="en-US" sz="1600" b="1" dirty="0">
                <a:solidFill>
                  <a:srgbClr val="16803C"/>
                </a:solidFill>
                <a:latin typeface="Calibri" pitchFamily="34" charset="0"/>
                <a:ea typeface="Calibri" pitchFamily="34" charset="-122"/>
                <a:cs typeface="Calibri" pitchFamily="34" charset="-120"/>
              </a:rPr>
              <a:t>La Lógica del Dominó</a:t>
            </a:r>
            <a:endParaRPr lang="en-US" sz="1600" dirty="0"/>
          </a:p>
        </p:txBody>
      </p:sp>
      <p:sp>
        <p:nvSpPr>
          <p:cNvPr id="11" name="Text 9"/>
          <p:cNvSpPr/>
          <p:nvPr/>
        </p:nvSpPr>
        <p:spPr>
          <a:xfrm>
            <a:off x="5029200" y="1737360"/>
            <a:ext cx="3200400" cy="1188720"/>
          </a:xfrm>
          <a:prstGeom prst="rect">
            <a:avLst/>
          </a:prstGeom>
          <a:noFill/>
          <a:ln/>
        </p:spPr>
        <p:txBody>
          <a:bodyPr wrap="square" rtlCol="0" anchor="t"/>
          <a:lstStyle/>
          <a:p>
            <a:pPr marL="0" indent="0">
              <a:buNone/>
            </a:pPr>
            <a:r>
              <a:rPr lang="en-US" sz="1100" dirty="0">
                <a:solidFill>
                  <a:srgbClr val="2D2D3F"/>
                </a:solidFill>
                <a:latin typeface="Calibri" pitchFamily="34" charset="0"/>
                <a:ea typeface="Calibri" pitchFamily="34" charset="-122"/>
                <a:cs typeface="Calibri" pitchFamily="34" charset="-120"/>
              </a:rPr>
              <a:t>Imagina una fila infinita de fichas de dominó:</a:t>
            </a:r>
            <a:endParaRPr lang="en-US" sz="1100" dirty="0"/>
          </a:p>
          <a:p>
            <a:pPr marL="0" indent="0">
              <a:buNone/>
            </a:pPr>
            <a:endParaRPr lang="en-US" sz="1100" dirty="0"/>
          </a:p>
          <a:p>
            <a:pPr marL="0" indent="0">
              <a:buNone/>
            </a:pPr>
            <a:r>
              <a:rPr lang="en-US" sz="1100" b="1" dirty="0">
                <a:solidFill>
                  <a:srgbClr val="2D2D3F"/>
                </a:solidFill>
                <a:latin typeface="Calibri" pitchFamily="34" charset="0"/>
                <a:ea typeface="Calibri" pitchFamily="34" charset="-122"/>
                <a:cs typeface="Calibri" pitchFamily="34" charset="-120"/>
              </a:rPr>
              <a:t>Paso Base: </a:t>
            </a:r>
            <a:r>
              <a:rPr lang="en-US" sz="1100" dirty="0">
                <a:solidFill>
                  <a:srgbClr val="2D2D3F"/>
                </a:solidFill>
                <a:latin typeface="Calibri" pitchFamily="34" charset="0"/>
                <a:ea typeface="Calibri" pitchFamily="34" charset="-122"/>
                <a:cs typeface="Calibri" pitchFamily="34" charset="-120"/>
              </a:rPr>
              <a:t>La primera ficha cae.</a:t>
            </a:r>
            <a:endParaRPr lang="en-US" sz="1100" dirty="0"/>
          </a:p>
          <a:p>
            <a:pPr marL="0" indent="0">
              <a:buNone/>
            </a:pPr>
            <a:endParaRPr lang="en-US" sz="1100" dirty="0"/>
          </a:p>
          <a:p>
            <a:pPr marL="0" indent="0">
              <a:buNone/>
            </a:pPr>
            <a:r>
              <a:rPr lang="en-US" sz="1100" b="1" dirty="0">
                <a:solidFill>
                  <a:srgbClr val="2D2D3F"/>
                </a:solidFill>
                <a:latin typeface="Calibri" pitchFamily="34" charset="0"/>
                <a:ea typeface="Calibri" pitchFamily="34" charset="-122"/>
                <a:cs typeface="Calibri" pitchFamily="34" charset="-120"/>
              </a:rPr>
              <a:t>Paso Inductivo: </a:t>
            </a:r>
            <a:r>
              <a:rPr lang="en-US" sz="1100" dirty="0">
                <a:solidFill>
                  <a:srgbClr val="2D2D3F"/>
                </a:solidFill>
                <a:latin typeface="Calibri" pitchFamily="34" charset="0"/>
                <a:ea typeface="Calibri" pitchFamily="34" charset="-122"/>
                <a:cs typeface="Calibri" pitchFamily="34" charset="-120"/>
              </a:rPr>
              <a:t>La caída de cualquier ficha k garantiza la caída de la siguiente k+1.</a:t>
            </a:r>
            <a:endParaRPr lang="en-US" sz="1100" dirty="0"/>
          </a:p>
        </p:txBody>
      </p:sp>
      <p:sp>
        <p:nvSpPr>
          <p:cNvPr id="12" name="Shape 10"/>
          <p:cNvSpPr/>
          <p:nvPr/>
        </p:nvSpPr>
        <p:spPr>
          <a:xfrm>
            <a:off x="731520" y="3383280"/>
            <a:ext cx="7680960" cy="914400"/>
          </a:xfrm>
          <a:prstGeom prst="rect">
            <a:avLst/>
          </a:prstGeom>
          <a:solidFill>
            <a:srgbClr val="FEF9E7"/>
          </a:solidFill>
          <a:ln/>
          <a:effectLst>
            <a:outerShdw blurRad="50800" dist="12700" dir="8100000" algn="bl" rotWithShape="0">
              <a:srgbClr val="000000">
                <a:alpha val="8000"/>
              </a:srgbClr>
            </a:outerShdw>
          </a:effectLst>
        </p:spPr>
        <p:txBody>
          <a:bodyPr/>
          <a:lstStyle/>
          <a:p>
            <a:endParaRPr lang="es-CO"/>
          </a:p>
        </p:txBody>
      </p:sp>
      <p:sp>
        <p:nvSpPr>
          <p:cNvPr id="13" name="Text 11"/>
          <p:cNvSpPr/>
          <p:nvPr/>
        </p:nvSpPr>
        <p:spPr>
          <a:xfrm>
            <a:off x="1005840" y="3456432"/>
            <a:ext cx="7315200" cy="274320"/>
          </a:xfrm>
          <a:prstGeom prst="rect">
            <a:avLst/>
          </a:prstGeom>
          <a:noFill/>
          <a:ln/>
        </p:spPr>
        <p:txBody>
          <a:bodyPr wrap="square" rtlCol="0" anchor="ctr"/>
          <a:lstStyle/>
          <a:p>
            <a:pPr marL="0" indent="0">
              <a:buNone/>
            </a:pPr>
            <a:r>
              <a:rPr lang="en-US" sz="1400" b="1" dirty="0">
                <a:solidFill>
                  <a:srgbClr val="92400E"/>
                </a:solidFill>
                <a:latin typeface="Calibri" pitchFamily="34" charset="0"/>
                <a:ea typeface="Calibri" pitchFamily="34" charset="-122"/>
                <a:cs typeface="Calibri" pitchFamily="34" charset="-120"/>
              </a:rPr>
              <a:t>¿Por qué es tan importante?</a:t>
            </a:r>
            <a:endParaRPr lang="en-US" sz="1400" dirty="0"/>
          </a:p>
        </p:txBody>
      </p:sp>
      <p:sp>
        <p:nvSpPr>
          <p:cNvPr id="14" name="Text 12"/>
          <p:cNvSpPr/>
          <p:nvPr/>
        </p:nvSpPr>
        <p:spPr>
          <a:xfrm>
            <a:off x="1005840" y="3749040"/>
            <a:ext cx="7132320" cy="457200"/>
          </a:xfrm>
          <a:prstGeom prst="rect">
            <a:avLst/>
          </a:prstGeom>
          <a:noFill/>
          <a:ln/>
        </p:spPr>
        <p:txBody>
          <a:bodyPr wrap="square" rtlCol="0" anchor="ctr"/>
          <a:lstStyle/>
          <a:p>
            <a:pPr marL="0" indent="0">
              <a:buNone/>
            </a:pPr>
            <a:r>
              <a:rPr lang="en-US" sz="1150" dirty="0">
                <a:solidFill>
                  <a:srgbClr val="2D2D3F"/>
                </a:solidFill>
                <a:latin typeface="Calibri" pitchFamily="34" charset="0"/>
                <a:ea typeface="Calibri" pitchFamily="34" charset="-122"/>
                <a:cs typeface="Calibri" pitchFamily="34" charset="-120"/>
              </a:rPr>
              <a:t>No podemos verificar una afirmación para infinitos casos uno por uno. La inducción nos da un atajo lógico para probar que si la cadena de razonamiento no se rompe, la afirmación se sostiene para siempre.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1E3A5F"/>
                </a:solidFill>
                <a:latin typeface="Calibri" pitchFamily="34" charset="0"/>
                <a:ea typeface="Calibri" pitchFamily="34" charset="-122"/>
                <a:cs typeface="Calibri" pitchFamily="34" charset="-120"/>
              </a:rPr>
              <a:t>La Estructura Formal de la Inducción</a:t>
            </a:r>
            <a:endParaRPr lang="en-US" sz="2800" dirty="0"/>
          </a:p>
        </p:txBody>
      </p:sp>
      <p:sp>
        <p:nvSpPr>
          <p:cNvPr id="5" name="Text 3"/>
          <p:cNvSpPr/>
          <p:nvPr/>
        </p:nvSpPr>
        <p:spPr>
          <a:xfrm>
            <a:off x="731520" y="777240"/>
            <a:ext cx="7680960" cy="274320"/>
          </a:xfrm>
          <a:prstGeom prst="rect">
            <a:avLst/>
          </a:prstGeom>
          <a:noFill/>
          <a:ln/>
        </p:spPr>
        <p:txBody>
          <a:bodyPr wrap="square" rtlCol="0" anchor="ctr"/>
          <a:lstStyle/>
          <a:p>
            <a:pPr marL="0" indent="0">
              <a:buNone/>
            </a:pPr>
            <a:r>
              <a:rPr lang="en-US" sz="1300" i="1" dirty="0">
                <a:solidFill>
                  <a:srgbClr val="5A5A6E"/>
                </a:solidFill>
                <a:latin typeface="Calibri" pitchFamily="34" charset="0"/>
                <a:ea typeface="Calibri" pitchFamily="34" charset="-122"/>
                <a:cs typeface="Calibri" pitchFamily="34" charset="-120"/>
              </a:rPr>
              <a:t>Una receta que nunca falla</a:t>
            </a:r>
            <a:endParaRPr lang="en-US" sz="1300" dirty="0"/>
          </a:p>
        </p:txBody>
      </p:sp>
      <p:sp>
        <p:nvSpPr>
          <p:cNvPr id="6" name="Shape 4"/>
          <p:cNvSpPr/>
          <p:nvPr/>
        </p:nvSpPr>
        <p:spPr>
          <a:xfrm>
            <a:off x="731520" y="1280160"/>
            <a:ext cx="3657600" cy="292608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7" name="Text 5"/>
          <p:cNvSpPr/>
          <p:nvPr/>
        </p:nvSpPr>
        <p:spPr>
          <a:xfrm>
            <a:off x="1005840" y="1371600"/>
            <a:ext cx="3200400" cy="365760"/>
          </a:xfrm>
          <a:prstGeom prst="rect">
            <a:avLst/>
          </a:prstGeom>
          <a:noFill/>
          <a:ln/>
        </p:spPr>
        <p:txBody>
          <a:bodyPr wrap="square" rtlCol="0" anchor="ctr"/>
          <a:lstStyle/>
          <a:p>
            <a:pPr marL="0" indent="0">
              <a:buNone/>
            </a:pPr>
            <a:r>
              <a:rPr lang="en-US" sz="1800" b="1" dirty="0">
                <a:solidFill>
                  <a:srgbClr val="1E3A5F"/>
                </a:solidFill>
                <a:latin typeface="Calibri" pitchFamily="34" charset="0"/>
                <a:ea typeface="Calibri" pitchFamily="34" charset="-122"/>
                <a:cs typeface="Calibri" pitchFamily="34" charset="-120"/>
              </a:rPr>
              <a:t>1    Paso Base</a:t>
            </a:r>
            <a:endParaRPr lang="en-US" sz="1800" dirty="0"/>
          </a:p>
        </p:txBody>
      </p:sp>
      <p:sp>
        <p:nvSpPr>
          <p:cNvPr id="8" name="Text 6"/>
          <p:cNvSpPr/>
          <p:nvPr/>
        </p:nvSpPr>
        <p:spPr>
          <a:xfrm>
            <a:off x="1005840" y="1828800"/>
            <a:ext cx="3200400" cy="2103120"/>
          </a:xfrm>
          <a:prstGeom prst="rect">
            <a:avLst/>
          </a:prstGeom>
          <a:noFill/>
          <a:ln/>
        </p:spPr>
        <p:txBody>
          <a:bodyPr wrap="square" rtlCol="0" anchor="t"/>
          <a:lstStyle/>
          <a:p>
            <a:pPr marL="0" indent="0">
              <a:buNone/>
            </a:pPr>
            <a:r>
              <a:rPr lang="en-US" sz="1200" b="1" dirty="0">
                <a:solidFill>
                  <a:srgbClr val="2D2D3F"/>
                </a:solidFill>
                <a:latin typeface="Calibri" pitchFamily="34" charset="0"/>
                <a:ea typeface="Calibri" pitchFamily="34" charset="-122"/>
                <a:cs typeface="Calibri" pitchFamily="34" charset="-120"/>
              </a:rPr>
              <a:t>Objetivo: </a:t>
            </a:r>
            <a:r>
              <a:rPr lang="en-US" sz="1200" dirty="0">
                <a:solidFill>
                  <a:srgbClr val="2D2D3F"/>
                </a:solidFill>
                <a:latin typeface="Calibri" pitchFamily="34" charset="0"/>
                <a:ea typeface="Calibri" pitchFamily="34" charset="-122"/>
                <a:cs typeface="Calibri" pitchFamily="34" charset="-120"/>
              </a:rPr>
              <a:t>Probar que la proposición P(n) es verdadera para el primer valor posible de n (generalmente n=1).</a:t>
            </a:r>
            <a:endParaRPr lang="en-US" sz="1200" dirty="0"/>
          </a:p>
          <a:p>
            <a:pPr marL="0" indent="0">
              <a:buNone/>
            </a:pPr>
            <a:endParaRPr lang="en-US" sz="1200" dirty="0"/>
          </a:p>
          <a:p>
            <a:pPr marL="0" indent="0">
              <a:buNone/>
            </a:pPr>
            <a:r>
              <a:rPr lang="en-US" sz="1200" b="1" dirty="0">
                <a:solidFill>
                  <a:srgbClr val="2D2D3F"/>
                </a:solidFill>
                <a:latin typeface="Calibri" pitchFamily="34" charset="0"/>
                <a:ea typeface="Calibri" pitchFamily="34" charset="-122"/>
                <a:cs typeface="Calibri" pitchFamily="34" charset="-120"/>
              </a:rPr>
              <a:t>Función: </a:t>
            </a:r>
            <a:r>
              <a:rPr lang="en-US" sz="1200" dirty="0">
                <a:solidFill>
                  <a:srgbClr val="2D2D3F"/>
                </a:solidFill>
                <a:latin typeface="Calibri" pitchFamily="34" charset="0"/>
                <a:ea typeface="Calibri" pitchFamily="34" charset="-122"/>
                <a:cs typeface="Calibri" pitchFamily="34" charset="-120"/>
              </a:rPr>
              <a:t>Es el punto de anclaje, el "primer dominó". Sin él, la cadena de razonamiento no tiene dónde empezar.</a:t>
            </a:r>
            <a:endParaRPr lang="en-US" sz="1200" dirty="0"/>
          </a:p>
        </p:txBody>
      </p:sp>
      <p:sp>
        <p:nvSpPr>
          <p:cNvPr id="9" name="Shape 7"/>
          <p:cNvSpPr/>
          <p:nvPr/>
        </p:nvSpPr>
        <p:spPr>
          <a:xfrm>
            <a:off x="4754880" y="1280160"/>
            <a:ext cx="3657600" cy="2926080"/>
          </a:xfrm>
          <a:prstGeom prst="rect">
            <a:avLst/>
          </a:prstGeom>
          <a:solidFill>
            <a:srgbClr val="ECFDF5"/>
          </a:solidFill>
          <a:ln/>
          <a:effectLst>
            <a:outerShdw blurRad="50800" dist="12700" dir="8100000" algn="bl" rotWithShape="0">
              <a:srgbClr val="000000">
                <a:alpha val="8000"/>
              </a:srgbClr>
            </a:outerShdw>
          </a:effectLst>
        </p:spPr>
        <p:txBody>
          <a:bodyPr/>
          <a:lstStyle/>
          <a:p>
            <a:endParaRPr lang="es-CO"/>
          </a:p>
        </p:txBody>
      </p:sp>
      <p:sp>
        <p:nvSpPr>
          <p:cNvPr id="10" name="Text 8"/>
          <p:cNvSpPr/>
          <p:nvPr/>
        </p:nvSpPr>
        <p:spPr>
          <a:xfrm>
            <a:off x="5029200" y="1371600"/>
            <a:ext cx="3200400" cy="365760"/>
          </a:xfrm>
          <a:prstGeom prst="rect">
            <a:avLst/>
          </a:prstGeom>
          <a:noFill/>
          <a:ln/>
        </p:spPr>
        <p:txBody>
          <a:bodyPr wrap="square" rtlCol="0" anchor="ctr"/>
          <a:lstStyle/>
          <a:p>
            <a:pPr marL="0" indent="0">
              <a:buNone/>
            </a:pPr>
            <a:r>
              <a:rPr lang="en-US" sz="1800" b="1" dirty="0">
                <a:solidFill>
                  <a:srgbClr val="16803C"/>
                </a:solidFill>
                <a:latin typeface="Calibri" pitchFamily="34" charset="0"/>
                <a:ea typeface="Calibri" pitchFamily="34" charset="-122"/>
                <a:cs typeface="Calibri" pitchFamily="34" charset="-120"/>
              </a:rPr>
              <a:t>2    Paso Inductivo</a:t>
            </a:r>
            <a:endParaRPr lang="en-US" sz="1800" dirty="0"/>
          </a:p>
        </p:txBody>
      </p:sp>
      <p:sp>
        <p:nvSpPr>
          <p:cNvPr id="11" name="Text 9"/>
          <p:cNvSpPr/>
          <p:nvPr/>
        </p:nvSpPr>
        <p:spPr>
          <a:xfrm>
            <a:off x="5029200" y="1828800"/>
            <a:ext cx="3200400" cy="2286000"/>
          </a:xfrm>
          <a:prstGeom prst="rect">
            <a:avLst/>
          </a:prstGeom>
          <a:noFill/>
          <a:ln/>
        </p:spPr>
        <p:txBody>
          <a:bodyPr wrap="square" rtlCol="0" anchor="t"/>
          <a:lstStyle/>
          <a:p>
            <a:pPr marL="0" indent="0">
              <a:buNone/>
            </a:pPr>
            <a:r>
              <a:rPr lang="en-US" sz="1100" b="1" dirty="0">
                <a:solidFill>
                  <a:srgbClr val="2D2D3F"/>
                </a:solidFill>
                <a:latin typeface="Calibri" pitchFamily="34" charset="0"/>
                <a:ea typeface="Calibri" pitchFamily="34" charset="-122"/>
                <a:cs typeface="Calibri" pitchFamily="34" charset="-120"/>
              </a:rPr>
              <a:t>Objetivo: </a:t>
            </a:r>
            <a:r>
              <a:rPr lang="en-US" sz="1100" dirty="0">
                <a:solidFill>
                  <a:srgbClr val="2D2D3F"/>
                </a:solidFill>
                <a:latin typeface="Calibri" pitchFamily="34" charset="0"/>
                <a:ea typeface="Calibri" pitchFamily="34" charset="-122"/>
                <a:cs typeface="Calibri" pitchFamily="34" charset="-120"/>
              </a:rPr>
              <a:t>Demostrar P(k) → P(k+1) para un k genérico.</a:t>
            </a:r>
            <a:endParaRPr lang="en-US" sz="1100" dirty="0"/>
          </a:p>
          <a:p>
            <a:pPr marL="0" indent="0">
              <a:buNone/>
            </a:pPr>
            <a:endParaRPr lang="en-US" sz="1100" dirty="0"/>
          </a:p>
          <a:p>
            <a:pPr marL="0" indent="0">
              <a:buNone/>
            </a:pPr>
            <a:r>
              <a:rPr lang="en-US" sz="1100" b="1" dirty="0">
                <a:solidFill>
                  <a:srgbClr val="6D28D9"/>
                </a:solidFill>
                <a:latin typeface="Calibri" pitchFamily="34" charset="0"/>
                <a:ea typeface="Calibri" pitchFamily="34" charset="-122"/>
                <a:cs typeface="Calibri" pitchFamily="34" charset="-120"/>
              </a:rPr>
              <a:t>A) Hipótesis de Inducción (HI):</a:t>
            </a:r>
            <a:endParaRPr lang="en-US" sz="1100" dirty="0"/>
          </a:p>
          <a:p>
            <a:pPr marL="0" indent="0">
              <a:buNone/>
            </a:pPr>
            <a:r>
              <a:rPr lang="en-US" sz="1100" dirty="0">
                <a:solidFill>
                  <a:srgbClr val="2D2D3F"/>
                </a:solidFill>
                <a:latin typeface="Calibri" pitchFamily="34" charset="0"/>
                <a:ea typeface="Calibri" pitchFamily="34" charset="-122"/>
                <a:cs typeface="Calibri" pitchFamily="34" charset="-120"/>
              </a:rPr>
              <a:t>Asumimos como cierto que P(k) es verdadero para un entero k arbitrario.</a:t>
            </a:r>
            <a:endParaRPr lang="en-US" sz="1100" dirty="0"/>
          </a:p>
          <a:p>
            <a:pPr marL="0" indent="0">
              <a:buNone/>
            </a:pPr>
            <a:endParaRPr lang="en-US" sz="1100" dirty="0"/>
          </a:p>
          <a:p>
            <a:pPr marL="0" indent="0">
              <a:buNone/>
            </a:pPr>
            <a:r>
              <a:rPr lang="en-US" sz="1100" b="1" dirty="0">
                <a:solidFill>
                  <a:srgbClr val="6D28D9"/>
                </a:solidFill>
                <a:latin typeface="Calibri" pitchFamily="34" charset="0"/>
                <a:ea typeface="Calibri" pitchFamily="34" charset="-122"/>
                <a:cs typeface="Calibri" pitchFamily="34" charset="-120"/>
              </a:rPr>
              <a:t>B) Tesis de Inducción:</a:t>
            </a:r>
            <a:endParaRPr lang="en-US" sz="1100" dirty="0"/>
          </a:p>
          <a:p>
            <a:pPr marL="0" indent="0">
              <a:buNone/>
            </a:pPr>
            <a:r>
              <a:rPr lang="en-US" sz="1100" dirty="0">
                <a:solidFill>
                  <a:srgbClr val="2D2D3F"/>
                </a:solidFill>
                <a:latin typeface="Calibri" pitchFamily="34" charset="0"/>
                <a:ea typeface="Calibri" pitchFamily="34" charset="-122"/>
                <a:cs typeface="Calibri" pitchFamily="34" charset="-120"/>
              </a:rPr>
              <a:t>Usando la HI, debemos demostrar que P(k+1) es verdadero. Aquí es donde se realiza el trabajo algebraico.</a:t>
            </a:r>
            <a:endParaRPr lang="en-US" sz="1100" dirty="0"/>
          </a:p>
          <a:p>
            <a:pPr marL="0" indent="0">
              <a:buNone/>
            </a:pPr>
            <a:endParaRPr lang="en-US" sz="1100" dirty="0"/>
          </a:p>
          <a:p>
            <a:pPr marL="0" indent="0">
              <a:buNone/>
            </a:pPr>
            <a:r>
              <a:rPr lang="en-US" sz="1100" b="1" dirty="0">
                <a:solidFill>
                  <a:srgbClr val="2D2D3F"/>
                </a:solidFill>
                <a:latin typeface="Calibri" pitchFamily="34" charset="0"/>
                <a:ea typeface="Calibri" pitchFamily="34" charset="-122"/>
                <a:cs typeface="Calibri" pitchFamily="34" charset="-120"/>
              </a:rPr>
              <a:t>Función: </a:t>
            </a:r>
            <a:r>
              <a:rPr lang="en-US" sz="1100" dirty="0">
                <a:solidFill>
                  <a:srgbClr val="2D2D3F"/>
                </a:solidFill>
                <a:latin typeface="Calibri" pitchFamily="34" charset="0"/>
                <a:ea typeface="Calibri" pitchFamily="34" charset="-122"/>
                <a:cs typeface="Calibri" pitchFamily="34" charset="-120"/>
              </a:rPr>
              <a:t>Es el motor que propaga la veracidad de un caso al siguiente.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731520" y="274320"/>
            <a:ext cx="7680960" cy="502920"/>
          </a:xfrm>
          <a:prstGeom prst="rect">
            <a:avLst/>
          </a:prstGeom>
          <a:noFill/>
          <a:ln/>
        </p:spPr>
        <p:txBody>
          <a:bodyPr wrap="square" rtlCol="0" anchor="ctr"/>
          <a:lstStyle/>
          <a:p>
            <a:pPr marL="0" indent="0">
              <a:buNone/>
            </a:pPr>
            <a:r>
              <a:rPr lang="en-US" sz="2600" b="1" dirty="0">
                <a:solidFill>
                  <a:srgbClr val="1E3A5F"/>
                </a:solidFill>
                <a:latin typeface="Calibri" pitchFamily="34" charset="0"/>
                <a:ea typeface="Calibri" pitchFamily="34" charset="-122"/>
                <a:cs typeface="Calibri" pitchFamily="34" charset="-120"/>
              </a:rPr>
              <a:t>Mapa del Método de Inducción</a:t>
            </a:r>
            <a:endParaRPr lang="en-US" sz="2600" dirty="0"/>
          </a:p>
        </p:txBody>
      </p:sp>
      <p:sp>
        <p:nvSpPr>
          <p:cNvPr id="5" name="Text 3"/>
          <p:cNvSpPr/>
          <p:nvPr/>
        </p:nvSpPr>
        <p:spPr>
          <a:xfrm>
            <a:off x="731520" y="731520"/>
            <a:ext cx="7680960" cy="274320"/>
          </a:xfrm>
          <a:prstGeom prst="rect">
            <a:avLst/>
          </a:prstGeom>
          <a:noFill/>
          <a:ln/>
        </p:spPr>
        <p:txBody>
          <a:bodyPr wrap="square" rtlCol="0" anchor="ctr"/>
          <a:lstStyle/>
          <a:p>
            <a:pPr marL="0" indent="0">
              <a:buNone/>
            </a:pPr>
            <a:r>
              <a:rPr lang="en-US" sz="1300" i="1" dirty="0">
                <a:solidFill>
                  <a:srgbClr val="5A5A6E"/>
                </a:solidFill>
                <a:latin typeface="Calibri" pitchFamily="34" charset="0"/>
                <a:ea typeface="Calibri" pitchFamily="34" charset="-122"/>
                <a:cs typeface="Calibri" pitchFamily="34" charset="-120"/>
              </a:rPr>
              <a:t>Guía rápida paso a paso para cualquier demostración por inducción</a:t>
            </a:r>
            <a:endParaRPr lang="en-US" sz="1300" dirty="0"/>
          </a:p>
        </p:txBody>
      </p:sp>
      <p:sp>
        <p:nvSpPr>
          <p:cNvPr id="6" name="Shape 4"/>
          <p:cNvSpPr/>
          <p:nvPr/>
        </p:nvSpPr>
        <p:spPr>
          <a:xfrm>
            <a:off x="731520" y="1188720"/>
            <a:ext cx="2377440" cy="137160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7" name="Text 5"/>
          <p:cNvSpPr/>
          <p:nvPr/>
        </p:nvSpPr>
        <p:spPr>
          <a:xfrm>
            <a:off x="731520" y="1234440"/>
            <a:ext cx="2377440" cy="274320"/>
          </a:xfrm>
          <a:prstGeom prst="rect">
            <a:avLst/>
          </a:prstGeom>
          <a:noFill/>
          <a:ln/>
        </p:spPr>
        <p:txBody>
          <a:bodyPr wrap="square" rtlCol="0" anchor="ctr"/>
          <a:lstStyle/>
          <a:p>
            <a:pPr marL="0" indent="0" algn="ctr">
              <a:buNone/>
            </a:pPr>
            <a:r>
              <a:rPr lang="en-US" sz="1200" b="1" dirty="0">
                <a:solidFill>
                  <a:srgbClr val="1E3A5F"/>
                </a:solidFill>
                <a:latin typeface="Calibri" pitchFamily="34" charset="0"/>
                <a:ea typeface="Calibri" pitchFamily="34" charset="-122"/>
                <a:cs typeface="Calibri" pitchFamily="34" charset="-120"/>
              </a:rPr>
              <a:t>Paso 1</a:t>
            </a:r>
            <a:endParaRPr lang="en-US" sz="1200" dirty="0"/>
          </a:p>
        </p:txBody>
      </p:sp>
      <p:sp>
        <p:nvSpPr>
          <p:cNvPr id="8" name="Text 6"/>
          <p:cNvSpPr/>
          <p:nvPr/>
        </p:nvSpPr>
        <p:spPr>
          <a:xfrm>
            <a:off x="731520" y="1508760"/>
            <a:ext cx="2377440" cy="274320"/>
          </a:xfrm>
          <a:prstGeom prst="rect">
            <a:avLst/>
          </a:prstGeom>
          <a:noFill/>
          <a:ln/>
        </p:spPr>
        <p:txBody>
          <a:bodyPr wrap="square" rtlCol="0" anchor="ctr"/>
          <a:lstStyle/>
          <a:p>
            <a:pPr marL="0" indent="0" algn="ctr">
              <a:buNone/>
            </a:pPr>
            <a:r>
              <a:rPr lang="en-US" sz="1600" b="1" dirty="0">
                <a:solidFill>
                  <a:srgbClr val="1E3A5F"/>
                </a:solidFill>
                <a:latin typeface="Calibri" pitchFamily="34" charset="0"/>
                <a:ea typeface="Calibri" pitchFamily="34" charset="-122"/>
                <a:cs typeface="Calibri" pitchFamily="34" charset="-120"/>
              </a:rPr>
              <a:t>IDENTIFICAR</a:t>
            </a:r>
            <a:endParaRPr lang="en-US" sz="1600" dirty="0"/>
          </a:p>
        </p:txBody>
      </p:sp>
      <p:sp>
        <p:nvSpPr>
          <p:cNvPr id="9" name="Text 7"/>
          <p:cNvSpPr/>
          <p:nvPr/>
        </p:nvSpPr>
        <p:spPr>
          <a:xfrm>
            <a:off x="914400" y="1828800"/>
            <a:ext cx="2011680" cy="594360"/>
          </a:xfrm>
          <a:prstGeom prst="rect">
            <a:avLst/>
          </a:prstGeom>
          <a:noFill/>
          <a:ln/>
        </p:spPr>
        <p:txBody>
          <a:bodyPr wrap="square" rtlCol="0" anchor="ctr"/>
          <a:lstStyle/>
          <a:p>
            <a:pPr marL="0" indent="0" algn="ctr">
              <a:buNone/>
            </a:pPr>
            <a:r>
              <a:rPr lang="en-US" sz="1050" dirty="0">
                <a:solidFill>
                  <a:srgbClr val="2D2D3F"/>
                </a:solidFill>
                <a:latin typeface="Calibri" pitchFamily="34" charset="0"/>
                <a:ea typeface="Calibri" pitchFamily="34" charset="-122"/>
                <a:cs typeface="Calibri" pitchFamily="34" charset="-120"/>
              </a:rPr>
              <a:t>Escribe claramente P(n): la proposición que quieres demostrar y el valor inicial de n.</a:t>
            </a:r>
            <a:endParaRPr lang="en-US" sz="1050" dirty="0"/>
          </a:p>
        </p:txBody>
      </p:sp>
      <p:sp>
        <p:nvSpPr>
          <p:cNvPr id="10" name="Text 8"/>
          <p:cNvSpPr/>
          <p:nvPr/>
        </p:nvSpPr>
        <p:spPr>
          <a:xfrm>
            <a:off x="3200400" y="1645920"/>
            <a:ext cx="457200" cy="365760"/>
          </a:xfrm>
          <a:prstGeom prst="rect">
            <a:avLst/>
          </a:prstGeom>
          <a:noFill/>
          <a:ln/>
        </p:spPr>
        <p:txBody>
          <a:bodyPr wrap="square" rtlCol="0" anchor="ctr"/>
          <a:lstStyle/>
          <a:p>
            <a:pPr marL="0" indent="0" algn="ctr">
              <a:buNone/>
            </a:pPr>
            <a:r>
              <a:rPr lang="en-US" sz="2400" dirty="0">
                <a:solidFill>
                  <a:srgbClr val="1E3A5F"/>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3566160" y="1188720"/>
            <a:ext cx="2377440" cy="1371600"/>
          </a:xfrm>
          <a:prstGeom prst="rect">
            <a:avLst/>
          </a:prstGeom>
          <a:solidFill>
            <a:srgbClr val="ECFDF5"/>
          </a:solidFill>
          <a:ln/>
          <a:effectLst>
            <a:outerShdw blurRad="50800" dist="12700" dir="8100000" algn="bl" rotWithShape="0">
              <a:srgbClr val="000000">
                <a:alpha val="8000"/>
              </a:srgbClr>
            </a:outerShdw>
          </a:effectLst>
        </p:spPr>
        <p:txBody>
          <a:bodyPr/>
          <a:lstStyle/>
          <a:p>
            <a:endParaRPr lang="es-CO"/>
          </a:p>
        </p:txBody>
      </p:sp>
      <p:sp>
        <p:nvSpPr>
          <p:cNvPr id="12" name="Text 10"/>
          <p:cNvSpPr/>
          <p:nvPr/>
        </p:nvSpPr>
        <p:spPr>
          <a:xfrm>
            <a:off x="3566160" y="1234440"/>
            <a:ext cx="2377440" cy="274320"/>
          </a:xfrm>
          <a:prstGeom prst="rect">
            <a:avLst/>
          </a:prstGeom>
          <a:noFill/>
          <a:ln/>
        </p:spPr>
        <p:txBody>
          <a:bodyPr wrap="square" rtlCol="0" anchor="ctr"/>
          <a:lstStyle/>
          <a:p>
            <a:pPr marL="0" indent="0" algn="ctr">
              <a:buNone/>
            </a:pPr>
            <a:r>
              <a:rPr lang="en-US" sz="1200" b="1" dirty="0">
                <a:solidFill>
                  <a:srgbClr val="16803C"/>
                </a:solidFill>
                <a:latin typeface="Calibri" pitchFamily="34" charset="0"/>
                <a:ea typeface="Calibri" pitchFamily="34" charset="-122"/>
                <a:cs typeface="Calibri" pitchFamily="34" charset="-120"/>
              </a:rPr>
              <a:t>Paso 2</a:t>
            </a:r>
            <a:endParaRPr lang="en-US" sz="1200" dirty="0"/>
          </a:p>
        </p:txBody>
      </p:sp>
      <p:sp>
        <p:nvSpPr>
          <p:cNvPr id="13" name="Text 11"/>
          <p:cNvSpPr/>
          <p:nvPr/>
        </p:nvSpPr>
        <p:spPr>
          <a:xfrm>
            <a:off x="3566160" y="1508760"/>
            <a:ext cx="2377440" cy="274320"/>
          </a:xfrm>
          <a:prstGeom prst="rect">
            <a:avLst/>
          </a:prstGeom>
          <a:noFill/>
          <a:ln/>
        </p:spPr>
        <p:txBody>
          <a:bodyPr wrap="square" rtlCol="0" anchor="ctr"/>
          <a:lstStyle/>
          <a:p>
            <a:pPr marL="0" indent="0" algn="ctr">
              <a:buNone/>
            </a:pPr>
            <a:r>
              <a:rPr lang="en-US" sz="1600" b="1" dirty="0">
                <a:solidFill>
                  <a:srgbClr val="16803C"/>
                </a:solidFill>
                <a:latin typeface="Calibri" pitchFamily="34" charset="0"/>
                <a:ea typeface="Calibri" pitchFamily="34" charset="-122"/>
                <a:cs typeface="Calibri" pitchFamily="34" charset="-120"/>
              </a:rPr>
              <a:t>PASO BASE</a:t>
            </a:r>
            <a:endParaRPr lang="en-US" sz="1600" dirty="0"/>
          </a:p>
        </p:txBody>
      </p:sp>
      <p:sp>
        <p:nvSpPr>
          <p:cNvPr id="14" name="Text 12"/>
          <p:cNvSpPr/>
          <p:nvPr/>
        </p:nvSpPr>
        <p:spPr>
          <a:xfrm>
            <a:off x="3749040" y="1828800"/>
            <a:ext cx="2011680" cy="594360"/>
          </a:xfrm>
          <a:prstGeom prst="rect">
            <a:avLst/>
          </a:prstGeom>
          <a:noFill/>
          <a:ln/>
        </p:spPr>
        <p:txBody>
          <a:bodyPr wrap="square" rtlCol="0" anchor="ctr"/>
          <a:lstStyle/>
          <a:p>
            <a:pPr marL="0" indent="0" algn="ctr">
              <a:buNone/>
            </a:pPr>
            <a:r>
              <a:rPr lang="en-US" sz="1050" dirty="0">
                <a:solidFill>
                  <a:srgbClr val="2D2D3F"/>
                </a:solidFill>
                <a:latin typeface="Calibri" pitchFamily="34" charset="0"/>
                <a:ea typeface="Calibri" pitchFamily="34" charset="-122"/>
                <a:cs typeface="Calibri" pitchFamily="34" charset="-120"/>
              </a:rPr>
              <a:t>Sustituye n por el valor inicial. Verifica que ambos lados de la igualdad/desigualdad coincidan.</a:t>
            </a:r>
            <a:endParaRPr lang="en-US" sz="1050" dirty="0"/>
          </a:p>
        </p:txBody>
      </p:sp>
      <p:sp>
        <p:nvSpPr>
          <p:cNvPr id="15" name="Text 13"/>
          <p:cNvSpPr/>
          <p:nvPr/>
        </p:nvSpPr>
        <p:spPr>
          <a:xfrm>
            <a:off x="6035040" y="1645920"/>
            <a:ext cx="457200" cy="365760"/>
          </a:xfrm>
          <a:prstGeom prst="rect">
            <a:avLst/>
          </a:prstGeom>
          <a:noFill/>
          <a:ln/>
        </p:spPr>
        <p:txBody>
          <a:bodyPr wrap="square" rtlCol="0" anchor="ctr"/>
          <a:lstStyle/>
          <a:p>
            <a:pPr marL="0" indent="0" algn="ctr">
              <a:buNone/>
            </a:pPr>
            <a:r>
              <a:rPr lang="en-US" sz="2400" dirty="0">
                <a:solidFill>
                  <a:srgbClr val="1E3A5F"/>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6400800" y="1188720"/>
            <a:ext cx="2011680" cy="1371600"/>
          </a:xfrm>
          <a:prstGeom prst="rect">
            <a:avLst/>
          </a:prstGeom>
          <a:solidFill>
            <a:srgbClr val="F3EEFF"/>
          </a:solidFill>
          <a:ln/>
          <a:effectLst>
            <a:outerShdw blurRad="50800" dist="12700" dir="8100000" algn="bl" rotWithShape="0">
              <a:srgbClr val="000000">
                <a:alpha val="8000"/>
              </a:srgbClr>
            </a:outerShdw>
          </a:effectLst>
        </p:spPr>
        <p:txBody>
          <a:bodyPr/>
          <a:lstStyle/>
          <a:p>
            <a:endParaRPr lang="es-CO"/>
          </a:p>
        </p:txBody>
      </p:sp>
      <p:sp>
        <p:nvSpPr>
          <p:cNvPr id="17" name="Text 15"/>
          <p:cNvSpPr/>
          <p:nvPr/>
        </p:nvSpPr>
        <p:spPr>
          <a:xfrm>
            <a:off x="6400800" y="1234440"/>
            <a:ext cx="2011680" cy="274320"/>
          </a:xfrm>
          <a:prstGeom prst="rect">
            <a:avLst/>
          </a:prstGeom>
          <a:noFill/>
          <a:ln/>
        </p:spPr>
        <p:txBody>
          <a:bodyPr wrap="square" rtlCol="0" anchor="ctr"/>
          <a:lstStyle/>
          <a:p>
            <a:pPr marL="0" indent="0" algn="ctr">
              <a:buNone/>
            </a:pPr>
            <a:r>
              <a:rPr lang="en-US" sz="1200" b="1" dirty="0">
                <a:solidFill>
                  <a:srgbClr val="6D28D9"/>
                </a:solidFill>
                <a:latin typeface="Calibri" pitchFamily="34" charset="0"/>
                <a:ea typeface="Calibri" pitchFamily="34" charset="-122"/>
                <a:cs typeface="Calibri" pitchFamily="34" charset="-120"/>
              </a:rPr>
              <a:t>Paso 3</a:t>
            </a:r>
            <a:endParaRPr lang="en-US" sz="1200" dirty="0"/>
          </a:p>
        </p:txBody>
      </p:sp>
      <p:sp>
        <p:nvSpPr>
          <p:cNvPr id="18" name="Text 16"/>
          <p:cNvSpPr/>
          <p:nvPr/>
        </p:nvSpPr>
        <p:spPr>
          <a:xfrm>
            <a:off x="6400800" y="1508760"/>
            <a:ext cx="2011680" cy="274320"/>
          </a:xfrm>
          <a:prstGeom prst="rect">
            <a:avLst/>
          </a:prstGeom>
          <a:noFill/>
          <a:ln/>
        </p:spPr>
        <p:txBody>
          <a:bodyPr wrap="square" rtlCol="0" anchor="ctr"/>
          <a:lstStyle/>
          <a:p>
            <a:pPr marL="0" indent="0" algn="ctr">
              <a:buNone/>
            </a:pPr>
            <a:r>
              <a:rPr lang="en-US" sz="1600" b="1" dirty="0">
                <a:solidFill>
                  <a:srgbClr val="6D28D9"/>
                </a:solidFill>
                <a:latin typeface="Calibri" pitchFamily="34" charset="0"/>
                <a:ea typeface="Calibri" pitchFamily="34" charset="-122"/>
                <a:cs typeface="Calibri" pitchFamily="34" charset="-120"/>
              </a:rPr>
              <a:t>HIPÓTESIS</a:t>
            </a:r>
            <a:endParaRPr lang="en-US" sz="1600" dirty="0"/>
          </a:p>
        </p:txBody>
      </p:sp>
      <p:sp>
        <p:nvSpPr>
          <p:cNvPr id="19" name="Text 17"/>
          <p:cNvSpPr/>
          <p:nvPr/>
        </p:nvSpPr>
        <p:spPr>
          <a:xfrm>
            <a:off x="6492240" y="1828800"/>
            <a:ext cx="1828800" cy="594360"/>
          </a:xfrm>
          <a:prstGeom prst="rect">
            <a:avLst/>
          </a:prstGeom>
          <a:noFill/>
          <a:ln/>
        </p:spPr>
        <p:txBody>
          <a:bodyPr wrap="square" rtlCol="0" anchor="ctr"/>
          <a:lstStyle/>
          <a:p>
            <a:pPr marL="0" indent="0" algn="ctr">
              <a:buNone/>
            </a:pPr>
            <a:r>
              <a:rPr lang="en-US" sz="1050" dirty="0">
                <a:solidFill>
                  <a:srgbClr val="2D2D3F"/>
                </a:solidFill>
                <a:latin typeface="Calibri" pitchFamily="34" charset="0"/>
                <a:ea typeface="Calibri" pitchFamily="34" charset="-122"/>
                <a:cs typeface="Calibri" pitchFamily="34" charset="-120"/>
              </a:rPr>
              <a:t>Escribe: "Supongo que P(k) es verdadero". Esta es tu herramienta principal.</a:t>
            </a:r>
            <a:endParaRPr lang="en-US" sz="1050" dirty="0"/>
          </a:p>
        </p:txBody>
      </p:sp>
      <p:sp>
        <p:nvSpPr>
          <p:cNvPr id="20" name="Text 18"/>
          <p:cNvSpPr/>
          <p:nvPr/>
        </p:nvSpPr>
        <p:spPr>
          <a:xfrm>
            <a:off x="7132320" y="2606040"/>
            <a:ext cx="457200" cy="365760"/>
          </a:xfrm>
          <a:prstGeom prst="rect">
            <a:avLst/>
          </a:prstGeom>
          <a:noFill/>
          <a:ln/>
        </p:spPr>
        <p:txBody>
          <a:bodyPr wrap="square" rtlCol="0" anchor="ctr"/>
          <a:lstStyle/>
          <a:p>
            <a:pPr marL="0" indent="0" algn="ctr">
              <a:buNone/>
            </a:pPr>
            <a:r>
              <a:rPr lang="en-US" sz="2400" dirty="0">
                <a:solidFill>
                  <a:srgbClr val="1E3A5F"/>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3840480" y="3017520"/>
            <a:ext cx="4572000" cy="1188720"/>
          </a:xfrm>
          <a:prstGeom prst="rect">
            <a:avLst/>
          </a:prstGeom>
          <a:solidFill>
            <a:srgbClr val="FEF9E7"/>
          </a:solidFill>
          <a:ln/>
          <a:effectLst>
            <a:outerShdw blurRad="50800" dist="12700" dir="8100000" algn="bl" rotWithShape="0">
              <a:srgbClr val="000000">
                <a:alpha val="8000"/>
              </a:srgbClr>
            </a:outerShdw>
          </a:effectLst>
        </p:spPr>
        <p:txBody>
          <a:bodyPr/>
          <a:lstStyle/>
          <a:p>
            <a:endParaRPr lang="es-CO"/>
          </a:p>
        </p:txBody>
      </p:sp>
      <p:sp>
        <p:nvSpPr>
          <p:cNvPr id="22" name="Text 20"/>
          <p:cNvSpPr/>
          <p:nvPr/>
        </p:nvSpPr>
        <p:spPr>
          <a:xfrm>
            <a:off x="4023360" y="3090672"/>
            <a:ext cx="4206240" cy="274320"/>
          </a:xfrm>
          <a:prstGeom prst="rect">
            <a:avLst/>
          </a:prstGeom>
          <a:noFill/>
          <a:ln/>
        </p:spPr>
        <p:txBody>
          <a:bodyPr wrap="square" rtlCol="0" anchor="ctr"/>
          <a:lstStyle/>
          <a:p>
            <a:pPr marL="0" indent="0">
              <a:buNone/>
            </a:pPr>
            <a:r>
              <a:rPr lang="en-US" sz="1500" b="1" dirty="0">
                <a:solidFill>
                  <a:srgbClr val="92400E"/>
                </a:solidFill>
                <a:latin typeface="Calibri" pitchFamily="34" charset="0"/>
                <a:ea typeface="Calibri" pitchFamily="34" charset="-122"/>
                <a:cs typeface="Calibri" pitchFamily="34" charset="-120"/>
              </a:rPr>
              <a:t>Paso 4:  DEMOSTRAR LA TESIS</a:t>
            </a:r>
            <a:endParaRPr lang="en-US" sz="1500" dirty="0"/>
          </a:p>
        </p:txBody>
      </p:sp>
      <p:sp>
        <p:nvSpPr>
          <p:cNvPr id="23" name="Text 21"/>
          <p:cNvSpPr/>
          <p:nvPr/>
        </p:nvSpPr>
        <p:spPr>
          <a:xfrm>
            <a:off x="4023360" y="3429000"/>
            <a:ext cx="4206240" cy="685800"/>
          </a:xfrm>
          <a:prstGeom prst="rect">
            <a:avLst/>
          </a:prstGeom>
          <a:noFill/>
          <a:ln/>
        </p:spPr>
        <p:txBody>
          <a:bodyPr wrap="square" rtlCol="0" anchor="t"/>
          <a:lstStyle/>
          <a:p>
            <a:pPr marL="0" indent="0">
              <a:buNone/>
            </a:pPr>
            <a:r>
              <a:rPr lang="en-US" sz="1100" dirty="0">
                <a:solidFill>
                  <a:srgbClr val="2D2D3F"/>
                </a:solidFill>
                <a:latin typeface="Calibri" pitchFamily="34" charset="0"/>
                <a:ea typeface="Calibri" pitchFamily="34" charset="-122"/>
                <a:cs typeface="Calibri" pitchFamily="34" charset="-120"/>
              </a:rPr>
              <a:t>Escribe P(k+1) explícitamente. Luego, trabaja algebraicamente partiendo del lado izquierdo, usando la HI para reemplazar, y llega al lado derecho.</a:t>
            </a:r>
            <a:endParaRPr lang="en-US" sz="1100" dirty="0"/>
          </a:p>
          <a:p>
            <a:pPr marL="0" indent="0">
              <a:buNone/>
            </a:pPr>
            <a:r>
              <a:rPr lang="en-US" sz="1100" b="1" i="1" dirty="0">
                <a:solidFill>
                  <a:srgbClr val="92400E"/>
                </a:solidFill>
                <a:latin typeface="Calibri" pitchFamily="34" charset="0"/>
                <a:ea typeface="Calibri" pitchFamily="34" charset="-122"/>
                <a:cs typeface="Calibri" pitchFamily="34" charset="-120"/>
              </a:rPr>
              <a:t>Este es el paso que requiere creatividad algebraica.</a:t>
            </a:r>
            <a:endParaRPr lang="en-US" sz="1100" dirty="0"/>
          </a:p>
        </p:txBody>
      </p:sp>
      <p:sp>
        <p:nvSpPr>
          <p:cNvPr id="24" name="Text 22"/>
          <p:cNvSpPr/>
          <p:nvPr/>
        </p:nvSpPr>
        <p:spPr>
          <a:xfrm>
            <a:off x="3200400" y="3429000"/>
            <a:ext cx="457200" cy="365760"/>
          </a:xfrm>
          <a:prstGeom prst="rect">
            <a:avLst/>
          </a:prstGeom>
          <a:noFill/>
          <a:ln/>
        </p:spPr>
        <p:txBody>
          <a:bodyPr wrap="square" rtlCol="0" anchor="ctr"/>
          <a:lstStyle/>
          <a:p>
            <a:pPr marL="0" indent="0" algn="ctr">
              <a:buNone/>
            </a:pPr>
            <a:r>
              <a:rPr lang="en-US" sz="2400" dirty="0">
                <a:solidFill>
                  <a:srgbClr val="1E3A5F"/>
                </a:solidFill>
                <a:latin typeface="Calibri" pitchFamily="34" charset="0"/>
                <a:ea typeface="Calibri" pitchFamily="34" charset="-122"/>
                <a:cs typeface="Calibri" pitchFamily="34" charset="-120"/>
              </a:rPr>
              <a:t>←</a:t>
            </a:r>
            <a:endParaRPr lang="en-US" sz="2400" dirty="0"/>
          </a:p>
        </p:txBody>
      </p:sp>
      <p:sp>
        <p:nvSpPr>
          <p:cNvPr id="25" name="Shape 23"/>
          <p:cNvSpPr/>
          <p:nvPr/>
        </p:nvSpPr>
        <p:spPr>
          <a:xfrm>
            <a:off x="731520" y="3017520"/>
            <a:ext cx="2560320" cy="1188720"/>
          </a:xfrm>
          <a:prstGeom prst="rect">
            <a:avLst/>
          </a:prstGeom>
          <a:solidFill>
            <a:srgbClr val="ECFDF5"/>
          </a:solidFill>
          <a:ln/>
          <a:effectLst>
            <a:outerShdw blurRad="50800" dist="12700" dir="8100000" algn="bl" rotWithShape="0">
              <a:srgbClr val="000000">
                <a:alpha val="8000"/>
              </a:srgbClr>
            </a:outerShdw>
          </a:effectLst>
        </p:spPr>
        <p:txBody>
          <a:bodyPr/>
          <a:lstStyle/>
          <a:p>
            <a:endParaRPr lang="es-CO"/>
          </a:p>
        </p:txBody>
      </p:sp>
      <p:sp>
        <p:nvSpPr>
          <p:cNvPr id="26" name="Text 24"/>
          <p:cNvSpPr/>
          <p:nvPr/>
        </p:nvSpPr>
        <p:spPr>
          <a:xfrm>
            <a:off x="731520" y="3090672"/>
            <a:ext cx="2560320" cy="228600"/>
          </a:xfrm>
          <a:prstGeom prst="rect">
            <a:avLst/>
          </a:prstGeom>
          <a:noFill/>
          <a:ln/>
        </p:spPr>
        <p:txBody>
          <a:bodyPr wrap="square" rtlCol="0" anchor="ctr"/>
          <a:lstStyle/>
          <a:p>
            <a:pPr marL="0" indent="0" algn="ctr">
              <a:buNone/>
            </a:pPr>
            <a:r>
              <a:rPr lang="en-US" sz="1200" b="1" dirty="0">
                <a:solidFill>
                  <a:srgbClr val="16803C"/>
                </a:solidFill>
                <a:latin typeface="Calibri" pitchFamily="34" charset="0"/>
                <a:ea typeface="Calibri" pitchFamily="34" charset="-122"/>
                <a:cs typeface="Calibri" pitchFamily="34" charset="-120"/>
              </a:rPr>
              <a:t>Paso 5</a:t>
            </a:r>
            <a:endParaRPr lang="en-US" sz="1200" dirty="0"/>
          </a:p>
        </p:txBody>
      </p:sp>
      <p:sp>
        <p:nvSpPr>
          <p:cNvPr id="27" name="Text 25"/>
          <p:cNvSpPr/>
          <p:nvPr/>
        </p:nvSpPr>
        <p:spPr>
          <a:xfrm>
            <a:off x="731520" y="3291840"/>
            <a:ext cx="2560320" cy="274320"/>
          </a:xfrm>
          <a:prstGeom prst="rect">
            <a:avLst/>
          </a:prstGeom>
          <a:noFill/>
          <a:ln/>
        </p:spPr>
        <p:txBody>
          <a:bodyPr wrap="square" rtlCol="0" anchor="ctr"/>
          <a:lstStyle/>
          <a:p>
            <a:pPr marL="0" indent="0" algn="ctr">
              <a:buNone/>
            </a:pPr>
            <a:r>
              <a:rPr lang="en-US" sz="1600" b="1" dirty="0">
                <a:solidFill>
                  <a:srgbClr val="16803C"/>
                </a:solidFill>
                <a:latin typeface="Calibri" pitchFamily="34" charset="0"/>
                <a:ea typeface="Calibri" pitchFamily="34" charset="-122"/>
                <a:cs typeface="Calibri" pitchFamily="34" charset="-120"/>
              </a:rPr>
              <a:t>CONCLUIR</a:t>
            </a:r>
            <a:endParaRPr lang="en-US" sz="1600" dirty="0"/>
          </a:p>
        </p:txBody>
      </p:sp>
      <p:sp>
        <p:nvSpPr>
          <p:cNvPr id="28" name="Text 26"/>
          <p:cNvSpPr/>
          <p:nvPr/>
        </p:nvSpPr>
        <p:spPr>
          <a:xfrm>
            <a:off x="914400" y="3611880"/>
            <a:ext cx="2194560" cy="502920"/>
          </a:xfrm>
          <a:prstGeom prst="rect">
            <a:avLst/>
          </a:prstGeom>
          <a:noFill/>
          <a:ln/>
        </p:spPr>
        <p:txBody>
          <a:bodyPr wrap="square" rtlCol="0" anchor="ctr"/>
          <a:lstStyle/>
          <a:p>
            <a:pPr marL="0" indent="0" algn="ctr">
              <a:buNone/>
            </a:pPr>
            <a:r>
              <a:rPr lang="en-US" sz="1000" i="1" dirty="0">
                <a:solidFill>
                  <a:srgbClr val="2D2D3F"/>
                </a:solidFill>
                <a:latin typeface="Calibri" pitchFamily="34" charset="0"/>
                <a:ea typeface="Calibri" pitchFamily="34" charset="-122"/>
                <a:cs typeface="Calibri" pitchFamily="34" charset="-120"/>
              </a:rPr>
              <a:t>"Por el principio de inducción matemática, P(n) es verdadero para todo n ≥ ..."</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731520" y="274320"/>
            <a:ext cx="7680960" cy="502920"/>
          </a:xfrm>
          <a:prstGeom prst="rect">
            <a:avLst/>
          </a:prstGeom>
          <a:noFill/>
          <a:ln/>
        </p:spPr>
        <p:txBody>
          <a:bodyPr wrap="square" rtlCol="0" anchor="ctr"/>
          <a:lstStyle/>
          <a:p>
            <a:pPr marL="0" indent="0">
              <a:buNone/>
            </a:pPr>
            <a:r>
              <a:rPr lang="en-US" sz="2600" b="1" dirty="0">
                <a:solidFill>
                  <a:srgbClr val="1E3A5F"/>
                </a:solidFill>
                <a:latin typeface="Calibri" pitchFamily="34" charset="0"/>
                <a:ea typeface="Calibri" pitchFamily="34" charset="-122"/>
                <a:cs typeface="Calibri" pitchFamily="34" charset="-120"/>
              </a:rPr>
              <a:t>Ejemplo 1: Suma de Gauss</a:t>
            </a:r>
            <a:endParaRPr lang="en-US" sz="2600" dirty="0"/>
          </a:p>
        </p:txBody>
      </p:sp>
      <p:sp>
        <p:nvSpPr>
          <p:cNvPr id="5" name="Shape 3"/>
          <p:cNvSpPr/>
          <p:nvPr/>
        </p:nvSpPr>
        <p:spPr>
          <a:xfrm>
            <a:off x="731520" y="914400"/>
            <a:ext cx="7498080" cy="548640"/>
          </a:xfrm>
          <a:prstGeom prst="rect">
            <a:avLst/>
          </a:prstGeom>
          <a:solidFill>
            <a:srgbClr val="F0F4F8"/>
          </a:solidFill>
          <a:ln/>
          <a:effectLst>
            <a:outerShdw blurRad="50800" dist="12700" dir="8100000" algn="bl" rotWithShape="0">
              <a:srgbClr val="000000">
                <a:alpha val="8000"/>
              </a:srgbClr>
            </a:outerShdw>
          </a:effectLst>
        </p:spPr>
        <p:txBody>
          <a:bodyPr/>
          <a:lstStyle/>
          <a:p>
            <a:endParaRPr lang="es-CO"/>
          </a:p>
        </p:txBody>
      </p:sp>
      <p:sp>
        <p:nvSpPr>
          <p:cNvPr id="6" name="Text 4"/>
          <p:cNvSpPr/>
          <p:nvPr/>
        </p:nvSpPr>
        <p:spPr>
          <a:xfrm>
            <a:off x="914400" y="914400"/>
            <a:ext cx="7132320" cy="54864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Proposición P(n):   </a:t>
            </a:r>
            <a:r>
              <a:rPr lang="en-US" sz="1500" dirty="0">
                <a:solidFill>
                  <a:srgbClr val="1A1A2E"/>
                </a:solidFill>
                <a:latin typeface="Consolas" pitchFamily="34" charset="0"/>
                <a:ea typeface="Consolas" pitchFamily="34" charset="-122"/>
                <a:cs typeface="Consolas" pitchFamily="34" charset="-120"/>
              </a:rPr>
              <a:t>1 + 2 + ... + n = n(n+1) / 2</a:t>
            </a:r>
            <a:endParaRPr lang="en-US" sz="1500" dirty="0"/>
          </a:p>
        </p:txBody>
      </p:sp>
      <p:sp>
        <p:nvSpPr>
          <p:cNvPr id="7" name="Text 5"/>
          <p:cNvSpPr/>
          <p:nvPr/>
        </p:nvSpPr>
        <p:spPr>
          <a:xfrm>
            <a:off x="731520" y="1691640"/>
            <a:ext cx="7315200" cy="365760"/>
          </a:xfrm>
          <a:prstGeom prst="rect">
            <a:avLst/>
          </a:prstGeom>
          <a:noFill/>
          <a:ln/>
        </p:spPr>
        <p:txBody>
          <a:bodyPr wrap="square" rtlCol="0" anchor="ctr"/>
          <a:lstStyle/>
          <a:p>
            <a:pPr marL="0" indent="0">
              <a:buNone/>
            </a:pPr>
            <a:r>
              <a:rPr lang="en-US" sz="1700" b="1" dirty="0">
                <a:solidFill>
                  <a:srgbClr val="16803C"/>
                </a:solidFill>
                <a:latin typeface="Calibri" pitchFamily="34" charset="0"/>
                <a:ea typeface="Calibri" pitchFamily="34" charset="-122"/>
                <a:cs typeface="Calibri" pitchFamily="34" charset="-120"/>
              </a:rPr>
              <a:t>1   Paso Base (n=1)</a:t>
            </a:r>
            <a:endParaRPr lang="en-US" sz="1700" dirty="0"/>
          </a:p>
        </p:txBody>
      </p:sp>
      <p:sp>
        <p:nvSpPr>
          <p:cNvPr id="8" name="Text 6"/>
          <p:cNvSpPr/>
          <p:nvPr/>
        </p:nvSpPr>
        <p:spPr>
          <a:xfrm>
            <a:off x="914400" y="2103120"/>
            <a:ext cx="7315200" cy="32004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Comprobamos si P(1) es cierto:   </a:t>
            </a:r>
            <a:r>
              <a:rPr lang="en-US" sz="1200" dirty="0">
                <a:solidFill>
                  <a:srgbClr val="2D2D3F"/>
                </a:solidFill>
                <a:latin typeface="Consolas" pitchFamily="34" charset="0"/>
                <a:ea typeface="Consolas" pitchFamily="34" charset="-122"/>
                <a:cs typeface="Consolas" pitchFamily="34" charset="-120"/>
              </a:rPr>
              <a:t>1 = 1(1+1)/2  →  1 = 1.  Funciona.</a:t>
            </a:r>
            <a:endParaRPr lang="en-US" sz="1200" dirty="0"/>
          </a:p>
        </p:txBody>
      </p:sp>
      <p:sp>
        <p:nvSpPr>
          <p:cNvPr id="9" name="Shape 7"/>
          <p:cNvSpPr/>
          <p:nvPr/>
        </p:nvSpPr>
        <p:spPr>
          <a:xfrm>
            <a:off x="731520" y="2606040"/>
            <a:ext cx="7498080" cy="0"/>
          </a:xfrm>
          <a:prstGeom prst="line">
            <a:avLst/>
          </a:prstGeom>
          <a:noFill/>
          <a:ln w="6350">
            <a:solidFill>
              <a:srgbClr val="D1D5DB"/>
            </a:solidFill>
            <a:prstDash val="solid"/>
          </a:ln>
        </p:spPr>
        <p:txBody>
          <a:bodyPr/>
          <a:lstStyle/>
          <a:p>
            <a:endParaRPr lang="es-CO"/>
          </a:p>
        </p:txBody>
      </p:sp>
      <p:sp>
        <p:nvSpPr>
          <p:cNvPr id="10" name="Text 8"/>
          <p:cNvSpPr/>
          <p:nvPr/>
        </p:nvSpPr>
        <p:spPr>
          <a:xfrm>
            <a:off x="731520" y="2788920"/>
            <a:ext cx="7315200" cy="365760"/>
          </a:xfrm>
          <a:prstGeom prst="rect">
            <a:avLst/>
          </a:prstGeom>
          <a:noFill/>
          <a:ln/>
        </p:spPr>
        <p:txBody>
          <a:bodyPr wrap="square" rtlCol="0" anchor="ctr"/>
          <a:lstStyle/>
          <a:p>
            <a:pPr marL="0" indent="0">
              <a:buNone/>
            </a:pPr>
            <a:r>
              <a:rPr lang="en-US" sz="1700" b="1" dirty="0">
                <a:solidFill>
                  <a:srgbClr val="1E3A5F"/>
                </a:solidFill>
                <a:latin typeface="Calibri" pitchFamily="34" charset="0"/>
                <a:ea typeface="Calibri" pitchFamily="34" charset="-122"/>
                <a:cs typeface="Calibri" pitchFamily="34" charset="-120"/>
              </a:rPr>
              <a:t>2   Paso Inductivo: El Planteamiento</a:t>
            </a:r>
            <a:endParaRPr lang="en-US" sz="1700" dirty="0"/>
          </a:p>
        </p:txBody>
      </p:sp>
      <p:sp>
        <p:nvSpPr>
          <p:cNvPr id="11" name="Text 9"/>
          <p:cNvSpPr/>
          <p:nvPr/>
        </p:nvSpPr>
        <p:spPr>
          <a:xfrm>
            <a:off x="914400" y="3246120"/>
            <a:ext cx="731520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Hipótesis de Inducción (HI): Asumimos que la fórmula es cierta para n=k.</a:t>
            </a:r>
            <a:endParaRPr lang="en-US" sz="1200" dirty="0"/>
          </a:p>
        </p:txBody>
      </p:sp>
      <p:sp>
        <p:nvSpPr>
          <p:cNvPr id="12" name="Shape 10"/>
          <p:cNvSpPr/>
          <p:nvPr/>
        </p:nvSpPr>
        <p:spPr>
          <a:xfrm>
            <a:off x="731520" y="3566160"/>
            <a:ext cx="7498080" cy="411480"/>
          </a:xfrm>
          <a:prstGeom prst="rect">
            <a:avLst/>
          </a:prstGeom>
          <a:solidFill>
            <a:srgbClr val="F3EEFF"/>
          </a:solidFill>
          <a:ln/>
        </p:spPr>
        <p:txBody>
          <a:bodyPr/>
          <a:lstStyle/>
          <a:p>
            <a:endParaRPr lang="es-CO"/>
          </a:p>
        </p:txBody>
      </p:sp>
      <p:sp>
        <p:nvSpPr>
          <p:cNvPr id="13" name="Text 11"/>
          <p:cNvSpPr/>
          <p:nvPr/>
        </p:nvSpPr>
        <p:spPr>
          <a:xfrm>
            <a:off x="914400" y="3566160"/>
            <a:ext cx="7132320" cy="411480"/>
          </a:xfrm>
          <a:prstGeom prst="rect">
            <a:avLst/>
          </a:prstGeom>
          <a:noFill/>
          <a:ln/>
        </p:spPr>
        <p:txBody>
          <a:bodyPr wrap="square" rtlCol="0" anchor="ctr"/>
          <a:lstStyle/>
          <a:p>
            <a:pPr marL="0" indent="0" algn="ctr">
              <a:buNone/>
            </a:pPr>
            <a:r>
              <a:rPr lang="en-US" sz="1400" dirty="0">
                <a:solidFill>
                  <a:srgbClr val="6D28D9"/>
                </a:solidFill>
                <a:latin typeface="Consolas" pitchFamily="34" charset="0"/>
                <a:ea typeface="Consolas" pitchFamily="34" charset="-122"/>
                <a:cs typeface="Consolas" pitchFamily="34" charset="-120"/>
              </a:rPr>
              <a:t>1 + 2 + ... + k = k(k+1)/2</a:t>
            </a:r>
            <a:endParaRPr lang="en-US" sz="1400" dirty="0"/>
          </a:p>
        </p:txBody>
      </p:sp>
      <p:sp>
        <p:nvSpPr>
          <p:cNvPr id="14" name="Text 12"/>
          <p:cNvSpPr/>
          <p:nvPr/>
        </p:nvSpPr>
        <p:spPr>
          <a:xfrm>
            <a:off x="914400" y="4114800"/>
            <a:ext cx="731520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Tesis: Ahora, debemos demostrar que la fórmula también funciona para n=k+1.</a:t>
            </a:r>
            <a:endParaRPr lang="en-US" sz="1200" dirty="0"/>
          </a:p>
        </p:txBody>
      </p:sp>
      <p:sp>
        <p:nvSpPr>
          <p:cNvPr id="15" name="Shape 13"/>
          <p:cNvSpPr/>
          <p:nvPr/>
        </p:nvSpPr>
        <p:spPr>
          <a:xfrm>
            <a:off x="731520" y="4434840"/>
            <a:ext cx="7498080" cy="411480"/>
          </a:xfrm>
          <a:prstGeom prst="rect">
            <a:avLst/>
          </a:prstGeom>
          <a:solidFill>
            <a:srgbClr val="FEF9E7"/>
          </a:solidFill>
          <a:ln/>
        </p:spPr>
        <p:txBody>
          <a:bodyPr/>
          <a:lstStyle/>
          <a:p>
            <a:endParaRPr lang="es-CO"/>
          </a:p>
        </p:txBody>
      </p:sp>
      <p:sp>
        <p:nvSpPr>
          <p:cNvPr id="16" name="Text 14"/>
          <p:cNvSpPr/>
          <p:nvPr/>
        </p:nvSpPr>
        <p:spPr>
          <a:xfrm>
            <a:off x="914400" y="4434840"/>
            <a:ext cx="7132320" cy="411480"/>
          </a:xfrm>
          <a:prstGeom prst="rect">
            <a:avLst/>
          </a:prstGeom>
          <a:noFill/>
          <a:ln/>
        </p:spPr>
        <p:txBody>
          <a:bodyPr wrap="square" rtlCol="0" anchor="ctr"/>
          <a:lstStyle/>
          <a:p>
            <a:pPr marL="0" indent="0" algn="ctr">
              <a:buNone/>
            </a:pPr>
            <a:r>
              <a:rPr lang="en-US" sz="1400" dirty="0">
                <a:solidFill>
                  <a:srgbClr val="92400E"/>
                </a:solidFill>
                <a:latin typeface="Consolas" pitchFamily="34" charset="0"/>
                <a:ea typeface="Consolas" pitchFamily="34" charset="-122"/>
                <a:cs typeface="Consolas" pitchFamily="34" charset="-120"/>
              </a:rPr>
              <a:t>1 + 2 + ... + k + (k+1) = (k+1)(k+2)/2</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731520" y="274320"/>
            <a:ext cx="7680960" cy="502920"/>
          </a:xfrm>
          <a:prstGeom prst="rect">
            <a:avLst/>
          </a:prstGeom>
          <a:noFill/>
          <a:ln/>
        </p:spPr>
        <p:txBody>
          <a:bodyPr wrap="square" rtlCol="0" anchor="ctr"/>
          <a:lstStyle/>
          <a:p>
            <a:pPr marL="0" indent="0">
              <a:buNone/>
            </a:pPr>
            <a:r>
              <a:rPr lang="en-US" sz="2600" b="1" dirty="0">
                <a:solidFill>
                  <a:srgbClr val="1E3A5F"/>
                </a:solidFill>
                <a:latin typeface="Calibri" pitchFamily="34" charset="0"/>
                <a:ea typeface="Calibri" pitchFamily="34" charset="-122"/>
                <a:cs typeface="Calibri" pitchFamily="34" charset="-120"/>
              </a:rPr>
              <a:t>Desarrollo del Paso Inductivo</a:t>
            </a:r>
            <a:endParaRPr lang="en-US" sz="2600" dirty="0"/>
          </a:p>
        </p:txBody>
      </p:sp>
      <p:sp>
        <p:nvSpPr>
          <p:cNvPr id="5" name="Text 3"/>
          <p:cNvSpPr/>
          <p:nvPr/>
        </p:nvSpPr>
        <p:spPr>
          <a:xfrm>
            <a:off x="731520" y="731520"/>
            <a:ext cx="7680960" cy="274320"/>
          </a:xfrm>
          <a:prstGeom prst="rect">
            <a:avLst/>
          </a:prstGeom>
          <a:noFill/>
          <a:ln/>
        </p:spPr>
        <p:txBody>
          <a:bodyPr wrap="square" rtlCol="0" anchor="ctr"/>
          <a:lstStyle/>
          <a:p>
            <a:pPr marL="0" indent="0">
              <a:buNone/>
            </a:pPr>
            <a:r>
              <a:rPr lang="en-US" sz="1300" i="1" dirty="0">
                <a:solidFill>
                  <a:srgbClr val="5A5A6E"/>
                </a:solidFill>
                <a:latin typeface="Calibri" pitchFamily="34" charset="0"/>
                <a:ea typeface="Calibri" pitchFamily="34" charset="-122"/>
                <a:cs typeface="Calibri" pitchFamily="34" charset="-120"/>
              </a:rPr>
              <a:t>Usando la Hipótesis para llegar a la Tesis</a:t>
            </a:r>
            <a:endParaRPr lang="en-US" sz="1300" dirty="0"/>
          </a:p>
        </p:txBody>
      </p:sp>
      <p:sp>
        <p:nvSpPr>
          <p:cNvPr id="6" name="Shape 4"/>
          <p:cNvSpPr/>
          <p:nvPr/>
        </p:nvSpPr>
        <p:spPr>
          <a:xfrm>
            <a:off x="731520" y="1143000"/>
            <a:ext cx="7498080" cy="2926080"/>
          </a:xfrm>
          <a:prstGeom prst="rect">
            <a:avLst/>
          </a:prstGeom>
          <a:solidFill>
            <a:srgbClr val="F5F5F7"/>
          </a:solidFill>
          <a:ln/>
          <a:effectLst>
            <a:outerShdw blurRad="50800" dist="12700" dir="8100000" algn="bl" rotWithShape="0">
              <a:srgbClr val="000000">
                <a:alpha val="8000"/>
              </a:srgbClr>
            </a:outerShdw>
          </a:effectLst>
        </p:spPr>
        <p:txBody>
          <a:bodyPr/>
          <a:lstStyle/>
          <a:p>
            <a:endParaRPr lang="es-CO"/>
          </a:p>
        </p:txBody>
      </p:sp>
      <p:sp>
        <p:nvSpPr>
          <p:cNvPr id="7" name="Text 5"/>
          <p:cNvSpPr/>
          <p:nvPr/>
        </p:nvSpPr>
        <p:spPr>
          <a:xfrm>
            <a:off x="1005840" y="1280160"/>
            <a:ext cx="694944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1.  Partimos del lado izquierdo de la Tesis:</a:t>
            </a:r>
            <a:endParaRPr lang="en-US" sz="1200" dirty="0"/>
          </a:p>
        </p:txBody>
      </p:sp>
      <p:sp>
        <p:nvSpPr>
          <p:cNvPr id="8" name="Shape 6"/>
          <p:cNvSpPr/>
          <p:nvPr/>
        </p:nvSpPr>
        <p:spPr>
          <a:xfrm>
            <a:off x="1371600" y="1572768"/>
            <a:ext cx="4572000" cy="292608"/>
          </a:xfrm>
          <a:prstGeom prst="rect">
            <a:avLst/>
          </a:prstGeom>
          <a:solidFill>
            <a:srgbClr val="F0F4F8"/>
          </a:solidFill>
          <a:ln/>
        </p:spPr>
        <p:txBody>
          <a:bodyPr/>
          <a:lstStyle/>
          <a:p>
            <a:endParaRPr lang="es-CO"/>
          </a:p>
        </p:txBody>
      </p:sp>
      <p:sp>
        <p:nvSpPr>
          <p:cNvPr id="9" name="Text 7"/>
          <p:cNvSpPr/>
          <p:nvPr/>
        </p:nvSpPr>
        <p:spPr>
          <a:xfrm>
            <a:off x="1554480" y="1572768"/>
            <a:ext cx="4389120" cy="292608"/>
          </a:xfrm>
          <a:prstGeom prst="rect">
            <a:avLst/>
          </a:prstGeom>
          <a:noFill/>
          <a:ln/>
        </p:spPr>
        <p:txBody>
          <a:bodyPr wrap="square"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(1 + 2 + ... + k) + (k+1)</a:t>
            </a:r>
            <a:endParaRPr lang="en-US" sz="1200" dirty="0"/>
          </a:p>
        </p:txBody>
      </p:sp>
      <p:sp>
        <p:nvSpPr>
          <p:cNvPr id="10" name="Text 8"/>
          <p:cNvSpPr/>
          <p:nvPr/>
        </p:nvSpPr>
        <p:spPr>
          <a:xfrm>
            <a:off x="1005840" y="1965960"/>
            <a:ext cx="694944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2.  Reemplazamos (1+...+k) con la HI:</a:t>
            </a:r>
            <a:endParaRPr lang="en-US" sz="1200" dirty="0"/>
          </a:p>
        </p:txBody>
      </p:sp>
      <p:sp>
        <p:nvSpPr>
          <p:cNvPr id="11" name="Shape 9"/>
          <p:cNvSpPr/>
          <p:nvPr/>
        </p:nvSpPr>
        <p:spPr>
          <a:xfrm>
            <a:off x="1371600" y="2258568"/>
            <a:ext cx="4572000" cy="292608"/>
          </a:xfrm>
          <a:prstGeom prst="rect">
            <a:avLst/>
          </a:prstGeom>
          <a:solidFill>
            <a:srgbClr val="F0F4F8"/>
          </a:solidFill>
          <a:ln/>
        </p:spPr>
        <p:txBody>
          <a:bodyPr/>
          <a:lstStyle/>
          <a:p>
            <a:endParaRPr lang="es-CO"/>
          </a:p>
        </p:txBody>
      </p:sp>
      <p:sp>
        <p:nvSpPr>
          <p:cNvPr id="12" name="Text 10"/>
          <p:cNvSpPr/>
          <p:nvPr/>
        </p:nvSpPr>
        <p:spPr>
          <a:xfrm>
            <a:off x="1554480" y="2258568"/>
            <a:ext cx="4389120" cy="292608"/>
          </a:xfrm>
          <a:prstGeom prst="rect">
            <a:avLst/>
          </a:prstGeom>
          <a:noFill/>
          <a:ln/>
        </p:spPr>
        <p:txBody>
          <a:bodyPr wrap="square"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[k(k+1)/2] + (k+1)</a:t>
            </a:r>
            <a:endParaRPr lang="en-US" sz="1200" dirty="0"/>
          </a:p>
        </p:txBody>
      </p:sp>
      <p:sp>
        <p:nvSpPr>
          <p:cNvPr id="13" name="Text 11"/>
          <p:cNvSpPr/>
          <p:nvPr/>
        </p:nvSpPr>
        <p:spPr>
          <a:xfrm>
            <a:off x="1005840" y="2651760"/>
            <a:ext cx="694944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3.  Buscamos denominador común:</a:t>
            </a:r>
            <a:endParaRPr lang="en-US" sz="1200" dirty="0"/>
          </a:p>
        </p:txBody>
      </p:sp>
      <p:sp>
        <p:nvSpPr>
          <p:cNvPr id="14" name="Shape 12"/>
          <p:cNvSpPr/>
          <p:nvPr/>
        </p:nvSpPr>
        <p:spPr>
          <a:xfrm>
            <a:off x="1371600" y="2944368"/>
            <a:ext cx="4572000" cy="292608"/>
          </a:xfrm>
          <a:prstGeom prst="rect">
            <a:avLst/>
          </a:prstGeom>
          <a:solidFill>
            <a:srgbClr val="F0F4F8"/>
          </a:solidFill>
          <a:ln/>
        </p:spPr>
        <p:txBody>
          <a:bodyPr/>
          <a:lstStyle/>
          <a:p>
            <a:endParaRPr lang="es-CO"/>
          </a:p>
        </p:txBody>
      </p:sp>
      <p:sp>
        <p:nvSpPr>
          <p:cNvPr id="15" name="Text 13"/>
          <p:cNvSpPr/>
          <p:nvPr/>
        </p:nvSpPr>
        <p:spPr>
          <a:xfrm>
            <a:off x="1554480" y="2944368"/>
            <a:ext cx="4389120" cy="292608"/>
          </a:xfrm>
          <a:prstGeom prst="rect">
            <a:avLst/>
          </a:prstGeom>
          <a:noFill/>
          <a:ln/>
        </p:spPr>
        <p:txBody>
          <a:bodyPr wrap="square"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k(k+1)/2 + 2(k+1)/2</a:t>
            </a:r>
            <a:endParaRPr lang="en-US" sz="1200" dirty="0"/>
          </a:p>
        </p:txBody>
      </p:sp>
      <p:sp>
        <p:nvSpPr>
          <p:cNvPr id="16" name="Text 14"/>
          <p:cNvSpPr/>
          <p:nvPr/>
        </p:nvSpPr>
        <p:spPr>
          <a:xfrm>
            <a:off x="1005840" y="3337560"/>
            <a:ext cx="694944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4.  Extraemos factor común (k+1):</a:t>
            </a:r>
            <a:endParaRPr lang="en-US" sz="1200" dirty="0"/>
          </a:p>
        </p:txBody>
      </p:sp>
      <p:sp>
        <p:nvSpPr>
          <p:cNvPr id="17" name="Shape 15"/>
          <p:cNvSpPr/>
          <p:nvPr/>
        </p:nvSpPr>
        <p:spPr>
          <a:xfrm>
            <a:off x="1371600" y="3630168"/>
            <a:ext cx="4572000" cy="292608"/>
          </a:xfrm>
          <a:prstGeom prst="rect">
            <a:avLst/>
          </a:prstGeom>
          <a:solidFill>
            <a:srgbClr val="F0F4F8"/>
          </a:solidFill>
          <a:ln/>
        </p:spPr>
        <p:txBody>
          <a:bodyPr/>
          <a:lstStyle/>
          <a:p>
            <a:endParaRPr lang="es-CO"/>
          </a:p>
        </p:txBody>
      </p:sp>
      <p:sp>
        <p:nvSpPr>
          <p:cNvPr id="18" name="Text 16"/>
          <p:cNvSpPr/>
          <p:nvPr/>
        </p:nvSpPr>
        <p:spPr>
          <a:xfrm>
            <a:off x="1554480" y="3630168"/>
            <a:ext cx="4389120" cy="292608"/>
          </a:xfrm>
          <a:prstGeom prst="rect">
            <a:avLst/>
          </a:prstGeom>
          <a:noFill/>
          <a:ln/>
        </p:spPr>
        <p:txBody>
          <a:bodyPr wrap="square"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(k+1)(k+2) / 2</a:t>
            </a:r>
            <a:endParaRPr lang="en-US" sz="1200" dirty="0"/>
          </a:p>
        </p:txBody>
      </p:sp>
      <p:sp>
        <p:nvSpPr>
          <p:cNvPr id="19" name="Shape 17"/>
          <p:cNvSpPr/>
          <p:nvPr/>
        </p:nvSpPr>
        <p:spPr>
          <a:xfrm>
            <a:off x="731520" y="4251960"/>
            <a:ext cx="7498080" cy="457200"/>
          </a:xfrm>
          <a:prstGeom prst="rect">
            <a:avLst/>
          </a:prstGeom>
          <a:solidFill>
            <a:srgbClr val="ECFDF5"/>
          </a:solidFill>
          <a:ln/>
        </p:spPr>
        <p:txBody>
          <a:bodyPr/>
          <a:lstStyle/>
          <a:p>
            <a:endParaRPr lang="es-CO"/>
          </a:p>
        </p:txBody>
      </p:sp>
      <p:sp>
        <p:nvSpPr>
          <p:cNvPr id="20" name="Text 18"/>
          <p:cNvSpPr/>
          <p:nvPr/>
        </p:nvSpPr>
        <p:spPr>
          <a:xfrm>
            <a:off x="914400" y="4251960"/>
            <a:ext cx="7132320" cy="457200"/>
          </a:xfrm>
          <a:prstGeom prst="rect">
            <a:avLst/>
          </a:prstGeom>
          <a:noFill/>
          <a:ln/>
        </p:spPr>
        <p:txBody>
          <a:bodyPr wrap="square" rtlCol="0" anchor="ctr"/>
          <a:lstStyle/>
          <a:p>
            <a:pPr marL="0" indent="0">
              <a:buNone/>
            </a:pPr>
            <a:r>
              <a:rPr lang="en-US" sz="1300" b="1" dirty="0">
                <a:solidFill>
                  <a:srgbClr val="16803C"/>
                </a:solidFill>
                <a:latin typeface="Calibri" pitchFamily="34" charset="0"/>
                <a:ea typeface="Calibri" pitchFamily="34" charset="-122"/>
                <a:cs typeface="Calibri" pitchFamily="34" charset="-120"/>
              </a:rPr>
              <a:t>Hemos llegado exactamente al lado derecho de nuestra Tesis. La demostración está completa.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731520" y="274320"/>
            <a:ext cx="7680960" cy="502920"/>
          </a:xfrm>
          <a:prstGeom prst="rect">
            <a:avLst/>
          </a:prstGeom>
          <a:noFill/>
          <a:ln/>
        </p:spPr>
        <p:txBody>
          <a:bodyPr wrap="square" rtlCol="0" anchor="ctr"/>
          <a:lstStyle/>
          <a:p>
            <a:pPr marL="0" indent="0">
              <a:buNone/>
            </a:pPr>
            <a:r>
              <a:rPr lang="en-US" sz="2600" b="1" dirty="0">
                <a:solidFill>
                  <a:srgbClr val="1E3A5F"/>
                </a:solidFill>
                <a:latin typeface="Calibri" pitchFamily="34" charset="0"/>
                <a:ea typeface="Calibri" pitchFamily="34" charset="-122"/>
                <a:cs typeface="Calibri" pitchFamily="34" charset="-120"/>
              </a:rPr>
              <a:t>Conclusión del Principio de Inducción</a:t>
            </a:r>
            <a:endParaRPr lang="en-US" sz="2600" dirty="0"/>
          </a:p>
        </p:txBody>
      </p:sp>
      <p:sp>
        <p:nvSpPr>
          <p:cNvPr id="5" name="Shape 3"/>
          <p:cNvSpPr/>
          <p:nvPr/>
        </p:nvSpPr>
        <p:spPr>
          <a:xfrm>
            <a:off x="731520" y="914400"/>
            <a:ext cx="7498080" cy="118872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6" name="Text 4"/>
          <p:cNvSpPr/>
          <p:nvPr/>
        </p:nvSpPr>
        <p:spPr>
          <a:xfrm>
            <a:off x="1005840" y="1005840"/>
            <a:ext cx="6949440" cy="1005840"/>
          </a:xfrm>
          <a:prstGeom prst="rect">
            <a:avLst/>
          </a:prstGeom>
          <a:noFill/>
          <a:ln/>
        </p:spPr>
        <p:txBody>
          <a:bodyPr wrap="square" rtlCol="0" anchor="t"/>
          <a:lstStyle/>
          <a:p>
            <a:pPr marL="0" indent="0">
              <a:buNone/>
            </a:pPr>
            <a:r>
              <a:rPr lang="en-US" sz="1300" b="1" dirty="0">
                <a:solidFill>
                  <a:srgbClr val="2D2D3F"/>
                </a:solidFill>
                <a:latin typeface="Calibri" pitchFamily="34" charset="0"/>
                <a:ea typeface="Calibri" pitchFamily="34" charset="-122"/>
                <a:cs typeface="Calibri" pitchFamily="34" charset="-120"/>
              </a:rPr>
              <a:t>Hemos probado dos cosas fundamentales:</a:t>
            </a:r>
            <a:endParaRPr lang="en-US" sz="1300" dirty="0"/>
          </a:p>
          <a:p>
            <a:pPr marL="0" indent="0">
              <a:buNone/>
            </a:pPr>
            <a:endParaRPr lang="en-US" sz="1300" dirty="0"/>
          </a:p>
          <a:p>
            <a:pPr marL="342900" indent="-342900">
              <a:buSzPct val="100000"/>
              <a:buChar char="•"/>
            </a:pPr>
            <a:r>
              <a:rPr lang="en-US" sz="1300" dirty="0">
                <a:solidFill>
                  <a:srgbClr val="2D2D3F"/>
                </a:solidFill>
                <a:latin typeface="Calibri" pitchFamily="34" charset="0"/>
                <a:ea typeface="Calibri" pitchFamily="34" charset="-122"/>
                <a:cs typeface="Calibri" pitchFamily="34" charset="-120"/>
              </a:rPr>
              <a:t>  Que la proposición es cierta para n=1 (Paso Base).</a:t>
            </a:r>
            <a:endParaRPr lang="en-US" sz="1300" dirty="0"/>
          </a:p>
          <a:p>
            <a:pPr marL="342900" indent="-342900">
              <a:buSzPct val="100000"/>
              <a:buChar char="•"/>
            </a:pPr>
            <a:r>
              <a:rPr lang="en-US" sz="1300" dirty="0">
                <a:solidFill>
                  <a:srgbClr val="2D2D3F"/>
                </a:solidFill>
                <a:latin typeface="Calibri" pitchFamily="34" charset="0"/>
                <a:ea typeface="Calibri" pitchFamily="34" charset="-122"/>
                <a:cs typeface="Calibri" pitchFamily="34" charset="-120"/>
              </a:rPr>
              <a:t>  Que si es cierta para n=k, también lo es para n=k+1 (Paso Inductivo).</a:t>
            </a:r>
            <a:endParaRPr lang="en-US" sz="1300" dirty="0"/>
          </a:p>
        </p:txBody>
      </p:sp>
      <p:sp>
        <p:nvSpPr>
          <p:cNvPr id="7" name="Text 5"/>
          <p:cNvSpPr/>
          <p:nvPr/>
        </p:nvSpPr>
        <p:spPr>
          <a:xfrm>
            <a:off x="731520" y="2240280"/>
            <a:ext cx="7498080" cy="36576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Por lo tanto, la proposición es cierta para TODOS los números naturales n ≥ 1.</a:t>
            </a:r>
            <a:endParaRPr lang="en-US" sz="1300" dirty="0"/>
          </a:p>
        </p:txBody>
      </p:sp>
      <p:sp>
        <p:nvSpPr>
          <p:cNvPr id="8" name="Text 6"/>
          <p:cNvSpPr/>
          <p:nvPr/>
        </p:nvSpPr>
        <p:spPr>
          <a:xfrm>
            <a:off x="731520" y="2743200"/>
            <a:ext cx="7680960" cy="365760"/>
          </a:xfrm>
          <a:prstGeom prst="rect">
            <a:avLst/>
          </a:prstGeom>
          <a:noFill/>
          <a:ln/>
        </p:spPr>
        <p:txBody>
          <a:bodyPr wrap="square" rtlCol="0" anchor="ctr"/>
          <a:lstStyle/>
          <a:p>
            <a:pPr marL="0" indent="0" algn="ctr">
              <a:buNone/>
            </a:pPr>
            <a:r>
              <a:rPr lang="en-US" sz="1700" b="1" dirty="0">
                <a:solidFill>
                  <a:srgbClr val="1E3A5F"/>
                </a:solidFill>
                <a:latin typeface="Calibri" pitchFamily="34" charset="0"/>
                <a:ea typeface="Calibri" pitchFamily="34" charset="-122"/>
                <a:cs typeface="Calibri" pitchFamily="34" charset="-120"/>
              </a:rPr>
              <a:t>Resumen de los Componentes</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3154680"/>
          <a:ext cx="7498080" cy="1447800"/>
        </p:xfrm>
        <a:graphic>
          <a:graphicData uri="http://schemas.openxmlformats.org/drawingml/2006/table">
            <a:tbl>
              <a:tblPr/>
              <a:tblGrid>
                <a:gridCol w="18288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2004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Paso</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Descripción</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Importancia</a:t>
                      </a:r>
                      <a:endParaRPr lang="en-US" sz="11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65760">
                <a:tc>
                  <a:txBody>
                    <a:bodyPr/>
                    <a:lstStyle/>
                    <a:p>
                      <a:pPr marL="0" indent="0" algn="ctr">
                        <a:buNone/>
                      </a:pPr>
                      <a:r>
                        <a:rPr lang="en-US" sz="1000" b="1" dirty="0">
                          <a:solidFill>
                            <a:srgbClr val="1E3A5F"/>
                          </a:solidFill>
                          <a:latin typeface="Calibri" pitchFamily="34" charset="0"/>
                          <a:ea typeface="Calibri" pitchFamily="34" charset="-122"/>
                          <a:cs typeface="Calibri" pitchFamily="34" charset="-120"/>
                        </a:rPr>
                        <a:t>Paso Base</a:t>
                      </a:r>
                      <a:endParaRPr lang="en-US" sz="10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000" dirty="0">
                          <a:solidFill>
                            <a:srgbClr val="2D2D3F"/>
                          </a:solidFill>
                          <a:latin typeface="Calibri" pitchFamily="34" charset="0"/>
                          <a:ea typeface="Calibri" pitchFamily="34" charset="-122"/>
                          <a:cs typeface="Calibri" pitchFamily="34" charset="-120"/>
                        </a:rPr>
                        <a:t>Se verifica la proposición para el primer valor (n=1).</a:t>
                      </a:r>
                      <a:endParaRPr lang="en-US" sz="10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000" dirty="0">
                          <a:solidFill>
                            <a:srgbClr val="2D2D3F"/>
                          </a:solidFill>
                          <a:latin typeface="Calibri" pitchFamily="34" charset="0"/>
                          <a:ea typeface="Calibri" pitchFamily="34" charset="-122"/>
                          <a:cs typeface="Calibri" pitchFamily="34" charset="-120"/>
                        </a:rPr>
                        <a:t>Sin esto, la inducción no tiene punto de inicio.</a:t>
                      </a:r>
                      <a:endParaRPr lang="en-US" sz="10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000" b="1" dirty="0">
                          <a:solidFill>
                            <a:srgbClr val="1E3A5F"/>
                          </a:solidFill>
                          <a:latin typeface="Calibri" pitchFamily="34" charset="0"/>
                          <a:ea typeface="Calibri" pitchFamily="34" charset="-122"/>
                          <a:cs typeface="Calibri" pitchFamily="34" charset="-120"/>
                        </a:rPr>
                        <a:t>Hipótesis Inductiva</a:t>
                      </a:r>
                      <a:endParaRPr lang="en-US" sz="10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000" dirty="0">
                          <a:solidFill>
                            <a:srgbClr val="2D2D3F"/>
                          </a:solidFill>
                          <a:latin typeface="Calibri" pitchFamily="34" charset="0"/>
                          <a:ea typeface="Calibri" pitchFamily="34" charset="-122"/>
                          <a:cs typeface="Calibri" pitchFamily="34" charset="-120"/>
                        </a:rPr>
                        <a:t>Se supone que la proposición es cierta para n = k.</a:t>
                      </a:r>
                      <a:endParaRPr lang="en-US" sz="10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000" dirty="0">
                          <a:solidFill>
                            <a:srgbClr val="2D2D3F"/>
                          </a:solidFill>
                          <a:latin typeface="Calibri" pitchFamily="34" charset="0"/>
                          <a:ea typeface="Calibri" pitchFamily="34" charset="-122"/>
                          <a:cs typeface="Calibri" pitchFamily="34" charset="-120"/>
                        </a:rPr>
                        <a:t>Nos permite construir la validez del siguiente paso.</a:t>
                      </a:r>
                      <a:endParaRPr lang="en-US" sz="10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000" b="1" dirty="0">
                          <a:solidFill>
                            <a:srgbClr val="1E3A5F"/>
                          </a:solidFill>
                          <a:latin typeface="Calibri" pitchFamily="34" charset="0"/>
                          <a:ea typeface="Calibri" pitchFamily="34" charset="-122"/>
                          <a:cs typeface="Calibri" pitchFamily="34" charset="-120"/>
                        </a:rPr>
                        <a:t>Dem. Inductiva</a:t>
                      </a:r>
                      <a:endParaRPr lang="en-US" sz="10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000" dirty="0">
                          <a:solidFill>
                            <a:srgbClr val="2D2D3F"/>
                          </a:solidFill>
                          <a:latin typeface="Calibri" pitchFamily="34" charset="0"/>
                          <a:ea typeface="Calibri" pitchFamily="34" charset="-122"/>
                          <a:cs typeface="Calibri" pitchFamily="34" charset="-120"/>
                        </a:rPr>
                        <a:t>Se prueba que si es cierta para n=k, lo es para n=k+1.</a:t>
                      </a:r>
                      <a:endParaRPr lang="en-US" sz="10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000" dirty="0">
                          <a:solidFill>
                            <a:srgbClr val="2D2D3F"/>
                          </a:solidFill>
                          <a:latin typeface="Calibri" pitchFamily="34" charset="0"/>
                          <a:ea typeface="Calibri" pitchFamily="34" charset="-122"/>
                          <a:cs typeface="Calibri" pitchFamily="34" charset="-120"/>
                        </a:rPr>
                        <a:t>Garantiza que es válida para todos los n ≥ 1.</a:t>
                      </a:r>
                      <a:endParaRPr lang="en-US" sz="1000" dirty="0">
                        <a:latin typeface="Calibri" charset="0"/>
                        <a:ea typeface="Calibri" charset="0"/>
                        <a:cs typeface="Calibri"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731520" y="274320"/>
            <a:ext cx="7680960" cy="502920"/>
          </a:xfrm>
          <a:prstGeom prst="rect">
            <a:avLst/>
          </a:prstGeom>
          <a:noFill/>
          <a:ln/>
        </p:spPr>
        <p:txBody>
          <a:bodyPr wrap="square" rtlCol="0" anchor="ctr"/>
          <a:lstStyle/>
          <a:p>
            <a:pPr marL="0" indent="0">
              <a:buNone/>
            </a:pPr>
            <a:r>
              <a:rPr lang="en-US" sz="2600" b="1" dirty="0">
                <a:solidFill>
                  <a:srgbClr val="1E3A5F"/>
                </a:solidFill>
                <a:latin typeface="Calibri" pitchFamily="34" charset="0"/>
                <a:ea typeface="Calibri" pitchFamily="34" charset="-122"/>
                <a:cs typeface="Calibri" pitchFamily="34" charset="-120"/>
              </a:rPr>
              <a:t>Ejemplo 2: Suma de Números Impares</a:t>
            </a:r>
            <a:endParaRPr lang="en-US" sz="2600" dirty="0"/>
          </a:p>
        </p:txBody>
      </p:sp>
      <p:sp>
        <p:nvSpPr>
          <p:cNvPr id="5" name="Shape 3"/>
          <p:cNvSpPr/>
          <p:nvPr/>
        </p:nvSpPr>
        <p:spPr>
          <a:xfrm>
            <a:off x="731520" y="914400"/>
            <a:ext cx="7498080" cy="548640"/>
          </a:xfrm>
          <a:prstGeom prst="rect">
            <a:avLst/>
          </a:prstGeom>
          <a:solidFill>
            <a:srgbClr val="F0F4F8"/>
          </a:solidFill>
          <a:ln/>
          <a:effectLst>
            <a:outerShdw blurRad="50800" dist="12700" dir="8100000" algn="bl" rotWithShape="0">
              <a:srgbClr val="000000">
                <a:alpha val="8000"/>
              </a:srgbClr>
            </a:outerShdw>
          </a:effectLst>
        </p:spPr>
        <p:txBody>
          <a:bodyPr/>
          <a:lstStyle/>
          <a:p>
            <a:endParaRPr lang="es-CO"/>
          </a:p>
        </p:txBody>
      </p:sp>
      <p:sp>
        <p:nvSpPr>
          <p:cNvPr id="6" name="Text 4"/>
          <p:cNvSpPr/>
          <p:nvPr/>
        </p:nvSpPr>
        <p:spPr>
          <a:xfrm>
            <a:off x="914400" y="914400"/>
            <a:ext cx="7132320" cy="54864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Proposición P(n):   </a:t>
            </a:r>
            <a:r>
              <a:rPr lang="en-US" sz="1500" dirty="0">
                <a:solidFill>
                  <a:srgbClr val="1A1A2E"/>
                </a:solidFill>
                <a:latin typeface="Consolas" pitchFamily="34" charset="0"/>
                <a:ea typeface="Consolas" pitchFamily="34" charset="-122"/>
                <a:cs typeface="Consolas" pitchFamily="34" charset="-120"/>
              </a:rPr>
              <a:t>1 + 3 + 5 + ... + (2n-1) = n²</a:t>
            </a:r>
            <a:endParaRPr lang="en-US" sz="1500" dirty="0"/>
          </a:p>
        </p:txBody>
      </p:sp>
      <p:sp>
        <p:nvSpPr>
          <p:cNvPr id="7" name="Text 5"/>
          <p:cNvSpPr/>
          <p:nvPr/>
        </p:nvSpPr>
        <p:spPr>
          <a:xfrm>
            <a:off x="731520" y="1691640"/>
            <a:ext cx="7315200" cy="365760"/>
          </a:xfrm>
          <a:prstGeom prst="rect">
            <a:avLst/>
          </a:prstGeom>
          <a:noFill/>
          <a:ln/>
        </p:spPr>
        <p:txBody>
          <a:bodyPr wrap="square" rtlCol="0" anchor="ctr"/>
          <a:lstStyle/>
          <a:p>
            <a:pPr marL="0" indent="0">
              <a:buNone/>
            </a:pPr>
            <a:r>
              <a:rPr lang="en-US" sz="1700" b="1" dirty="0">
                <a:solidFill>
                  <a:srgbClr val="16803C"/>
                </a:solidFill>
                <a:latin typeface="Calibri" pitchFamily="34" charset="0"/>
                <a:ea typeface="Calibri" pitchFamily="34" charset="-122"/>
                <a:cs typeface="Calibri" pitchFamily="34" charset="-120"/>
              </a:rPr>
              <a:t>1   Paso Base (n=1)</a:t>
            </a:r>
            <a:endParaRPr lang="en-US" sz="1700" dirty="0"/>
          </a:p>
        </p:txBody>
      </p:sp>
      <p:sp>
        <p:nvSpPr>
          <p:cNvPr id="8" name="Text 6"/>
          <p:cNvSpPr/>
          <p:nvPr/>
        </p:nvSpPr>
        <p:spPr>
          <a:xfrm>
            <a:off x="914400" y="2103120"/>
            <a:ext cx="7315200" cy="32004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Comprobamos:  </a:t>
            </a:r>
            <a:r>
              <a:rPr lang="en-US" sz="1200" dirty="0">
                <a:solidFill>
                  <a:srgbClr val="2D2D3F"/>
                </a:solidFill>
                <a:latin typeface="Consolas" pitchFamily="34" charset="0"/>
                <a:ea typeface="Consolas" pitchFamily="34" charset="-122"/>
                <a:cs typeface="Consolas" pitchFamily="34" charset="-120"/>
              </a:rPr>
              <a:t>1 = 1²  →  1 = 1.  Correcto.</a:t>
            </a:r>
            <a:endParaRPr lang="en-US" sz="1200" dirty="0"/>
          </a:p>
        </p:txBody>
      </p:sp>
      <p:sp>
        <p:nvSpPr>
          <p:cNvPr id="9" name="Shape 7"/>
          <p:cNvSpPr/>
          <p:nvPr/>
        </p:nvSpPr>
        <p:spPr>
          <a:xfrm>
            <a:off x="731520" y="2606040"/>
            <a:ext cx="7498080" cy="0"/>
          </a:xfrm>
          <a:prstGeom prst="line">
            <a:avLst/>
          </a:prstGeom>
          <a:noFill/>
          <a:ln w="6350">
            <a:solidFill>
              <a:srgbClr val="D1D5DB"/>
            </a:solidFill>
            <a:prstDash val="solid"/>
          </a:ln>
        </p:spPr>
        <p:txBody>
          <a:bodyPr/>
          <a:lstStyle/>
          <a:p>
            <a:endParaRPr lang="es-CO"/>
          </a:p>
        </p:txBody>
      </p:sp>
      <p:sp>
        <p:nvSpPr>
          <p:cNvPr id="10" name="Text 8"/>
          <p:cNvSpPr/>
          <p:nvPr/>
        </p:nvSpPr>
        <p:spPr>
          <a:xfrm>
            <a:off x="731520" y="2788920"/>
            <a:ext cx="7315200" cy="365760"/>
          </a:xfrm>
          <a:prstGeom prst="rect">
            <a:avLst/>
          </a:prstGeom>
          <a:noFill/>
          <a:ln/>
        </p:spPr>
        <p:txBody>
          <a:bodyPr wrap="square" rtlCol="0" anchor="ctr"/>
          <a:lstStyle/>
          <a:p>
            <a:pPr marL="0" indent="0">
              <a:buNone/>
            </a:pPr>
            <a:r>
              <a:rPr lang="en-US" sz="1700" b="1" dirty="0">
                <a:solidFill>
                  <a:srgbClr val="1E3A5F"/>
                </a:solidFill>
                <a:latin typeface="Calibri" pitchFamily="34" charset="0"/>
                <a:ea typeface="Calibri" pitchFamily="34" charset="-122"/>
                <a:cs typeface="Calibri" pitchFamily="34" charset="-120"/>
              </a:rPr>
              <a:t>2   Paso Inductivo: El Planteamiento</a:t>
            </a:r>
            <a:endParaRPr lang="en-US" sz="1700" dirty="0"/>
          </a:p>
        </p:txBody>
      </p:sp>
      <p:sp>
        <p:nvSpPr>
          <p:cNvPr id="11" name="Text 9"/>
          <p:cNvSpPr/>
          <p:nvPr/>
        </p:nvSpPr>
        <p:spPr>
          <a:xfrm>
            <a:off x="914400" y="3246120"/>
            <a:ext cx="731520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Hipótesis de Inducción (HI): Asumimos que es cierto para n=k.</a:t>
            </a:r>
            <a:endParaRPr lang="en-US" sz="1200" dirty="0"/>
          </a:p>
        </p:txBody>
      </p:sp>
      <p:sp>
        <p:nvSpPr>
          <p:cNvPr id="12" name="Shape 10"/>
          <p:cNvSpPr/>
          <p:nvPr/>
        </p:nvSpPr>
        <p:spPr>
          <a:xfrm>
            <a:off x="731520" y="3566160"/>
            <a:ext cx="7498080" cy="411480"/>
          </a:xfrm>
          <a:prstGeom prst="rect">
            <a:avLst/>
          </a:prstGeom>
          <a:solidFill>
            <a:srgbClr val="F3EEFF"/>
          </a:solidFill>
          <a:ln/>
        </p:spPr>
        <p:txBody>
          <a:bodyPr/>
          <a:lstStyle/>
          <a:p>
            <a:endParaRPr lang="es-CO"/>
          </a:p>
        </p:txBody>
      </p:sp>
      <p:sp>
        <p:nvSpPr>
          <p:cNvPr id="13" name="Text 11"/>
          <p:cNvSpPr/>
          <p:nvPr/>
        </p:nvSpPr>
        <p:spPr>
          <a:xfrm>
            <a:off x="914400" y="3566160"/>
            <a:ext cx="7132320" cy="411480"/>
          </a:xfrm>
          <a:prstGeom prst="rect">
            <a:avLst/>
          </a:prstGeom>
          <a:noFill/>
          <a:ln/>
        </p:spPr>
        <p:txBody>
          <a:bodyPr wrap="square" rtlCol="0" anchor="ctr"/>
          <a:lstStyle/>
          <a:p>
            <a:pPr marL="0" indent="0" algn="ctr">
              <a:buNone/>
            </a:pPr>
            <a:r>
              <a:rPr lang="en-US" sz="1400" dirty="0">
                <a:solidFill>
                  <a:srgbClr val="6D28D9"/>
                </a:solidFill>
                <a:latin typeface="Consolas" pitchFamily="34" charset="0"/>
                <a:ea typeface="Consolas" pitchFamily="34" charset="-122"/>
                <a:cs typeface="Consolas" pitchFamily="34" charset="-120"/>
              </a:rPr>
              <a:t>1 + 3 + ... + (2k-1) = k²</a:t>
            </a:r>
            <a:endParaRPr lang="en-US" sz="1400" dirty="0"/>
          </a:p>
        </p:txBody>
      </p:sp>
      <p:sp>
        <p:nvSpPr>
          <p:cNvPr id="14" name="Text 12"/>
          <p:cNvSpPr/>
          <p:nvPr/>
        </p:nvSpPr>
        <p:spPr>
          <a:xfrm>
            <a:off x="914400" y="4114800"/>
            <a:ext cx="731520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Tesis: Debemos demostrar que es cierto para n=k+1.</a:t>
            </a:r>
            <a:endParaRPr lang="en-US" sz="1200" dirty="0"/>
          </a:p>
        </p:txBody>
      </p:sp>
      <p:sp>
        <p:nvSpPr>
          <p:cNvPr id="15" name="Shape 13"/>
          <p:cNvSpPr/>
          <p:nvPr/>
        </p:nvSpPr>
        <p:spPr>
          <a:xfrm>
            <a:off x="731520" y="4434840"/>
            <a:ext cx="7498080" cy="411480"/>
          </a:xfrm>
          <a:prstGeom prst="rect">
            <a:avLst/>
          </a:prstGeom>
          <a:solidFill>
            <a:srgbClr val="FEF9E7"/>
          </a:solidFill>
          <a:ln/>
        </p:spPr>
        <p:txBody>
          <a:bodyPr/>
          <a:lstStyle/>
          <a:p>
            <a:endParaRPr lang="es-CO"/>
          </a:p>
        </p:txBody>
      </p:sp>
      <p:sp>
        <p:nvSpPr>
          <p:cNvPr id="16" name="Text 14"/>
          <p:cNvSpPr/>
          <p:nvPr/>
        </p:nvSpPr>
        <p:spPr>
          <a:xfrm>
            <a:off x="914400" y="4434840"/>
            <a:ext cx="7132320" cy="411480"/>
          </a:xfrm>
          <a:prstGeom prst="rect">
            <a:avLst/>
          </a:prstGeom>
          <a:noFill/>
          <a:ln/>
        </p:spPr>
        <p:txBody>
          <a:bodyPr wrap="square" rtlCol="0" anchor="ctr"/>
          <a:lstStyle/>
          <a:p>
            <a:pPr marL="0" indent="0" algn="ctr">
              <a:buNone/>
            </a:pPr>
            <a:r>
              <a:rPr lang="en-US" sz="1400" dirty="0">
                <a:solidFill>
                  <a:srgbClr val="92400E"/>
                </a:solidFill>
                <a:latin typeface="Consolas" pitchFamily="34" charset="0"/>
                <a:ea typeface="Consolas" pitchFamily="34" charset="-122"/>
                <a:cs typeface="Consolas" pitchFamily="34" charset="-120"/>
              </a:rPr>
              <a:t>1 + 3 + ... + (2k-1) + (2(k+1)-1) = (k+1)²</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731520" y="274320"/>
            <a:ext cx="7680960" cy="502920"/>
          </a:xfrm>
          <a:prstGeom prst="rect">
            <a:avLst/>
          </a:prstGeom>
          <a:noFill/>
          <a:ln/>
        </p:spPr>
        <p:txBody>
          <a:bodyPr wrap="square" rtlCol="0" anchor="ctr"/>
          <a:lstStyle/>
          <a:p>
            <a:pPr marL="0" indent="0">
              <a:buNone/>
            </a:pPr>
            <a:r>
              <a:rPr lang="en-US" sz="2400" b="1" dirty="0">
                <a:solidFill>
                  <a:srgbClr val="1E3A5F"/>
                </a:solidFill>
                <a:latin typeface="Calibri" pitchFamily="34" charset="0"/>
                <a:ea typeface="Calibri" pitchFamily="34" charset="-122"/>
                <a:cs typeface="Calibri" pitchFamily="34" charset="-120"/>
              </a:rPr>
              <a:t>Desarrollo del Paso Inductivo (Impares)</a:t>
            </a:r>
            <a:endParaRPr lang="en-US" sz="2400" dirty="0"/>
          </a:p>
        </p:txBody>
      </p:sp>
      <p:sp>
        <p:nvSpPr>
          <p:cNvPr id="5" name="Text 3"/>
          <p:cNvSpPr/>
          <p:nvPr/>
        </p:nvSpPr>
        <p:spPr>
          <a:xfrm>
            <a:off x="731520" y="731520"/>
            <a:ext cx="7680960" cy="274320"/>
          </a:xfrm>
          <a:prstGeom prst="rect">
            <a:avLst/>
          </a:prstGeom>
          <a:noFill/>
          <a:ln/>
        </p:spPr>
        <p:txBody>
          <a:bodyPr wrap="square" rtlCol="0" anchor="ctr"/>
          <a:lstStyle/>
          <a:p>
            <a:pPr marL="0" indent="0">
              <a:buNone/>
            </a:pPr>
            <a:r>
              <a:rPr lang="en-US" sz="1300" i="1" dirty="0">
                <a:solidFill>
                  <a:srgbClr val="5A5A6E"/>
                </a:solidFill>
                <a:latin typeface="Calibri" pitchFamily="34" charset="0"/>
                <a:ea typeface="Calibri" pitchFamily="34" charset="-122"/>
                <a:cs typeface="Calibri" pitchFamily="34" charset="-120"/>
              </a:rPr>
              <a:t>Usando la Hipótesis para llegar a la Tesis</a:t>
            </a:r>
            <a:endParaRPr lang="en-US" sz="1300" dirty="0"/>
          </a:p>
        </p:txBody>
      </p:sp>
      <p:sp>
        <p:nvSpPr>
          <p:cNvPr id="6" name="Shape 4"/>
          <p:cNvSpPr/>
          <p:nvPr/>
        </p:nvSpPr>
        <p:spPr>
          <a:xfrm>
            <a:off x="731520" y="1143000"/>
            <a:ext cx="7498080" cy="2926080"/>
          </a:xfrm>
          <a:prstGeom prst="rect">
            <a:avLst/>
          </a:prstGeom>
          <a:solidFill>
            <a:srgbClr val="F5F5F7"/>
          </a:solidFill>
          <a:ln/>
          <a:effectLst>
            <a:outerShdw blurRad="50800" dist="12700" dir="8100000" algn="bl" rotWithShape="0">
              <a:srgbClr val="000000">
                <a:alpha val="8000"/>
              </a:srgbClr>
            </a:outerShdw>
          </a:effectLst>
        </p:spPr>
        <p:txBody>
          <a:bodyPr/>
          <a:lstStyle/>
          <a:p>
            <a:endParaRPr lang="es-CO"/>
          </a:p>
        </p:txBody>
      </p:sp>
      <p:sp>
        <p:nvSpPr>
          <p:cNvPr id="7" name="Text 5"/>
          <p:cNvSpPr/>
          <p:nvPr/>
        </p:nvSpPr>
        <p:spPr>
          <a:xfrm>
            <a:off x="1005840" y="1280160"/>
            <a:ext cx="694944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1.  Partimos del lado izquierdo de la Tesis:</a:t>
            </a:r>
            <a:endParaRPr lang="en-US" sz="1200" dirty="0"/>
          </a:p>
        </p:txBody>
      </p:sp>
      <p:sp>
        <p:nvSpPr>
          <p:cNvPr id="8" name="Shape 6"/>
          <p:cNvSpPr/>
          <p:nvPr/>
        </p:nvSpPr>
        <p:spPr>
          <a:xfrm>
            <a:off x="1371600" y="1572768"/>
            <a:ext cx="5029200" cy="292608"/>
          </a:xfrm>
          <a:prstGeom prst="rect">
            <a:avLst/>
          </a:prstGeom>
          <a:solidFill>
            <a:srgbClr val="F0F4F8"/>
          </a:solidFill>
          <a:ln/>
        </p:spPr>
        <p:txBody>
          <a:bodyPr/>
          <a:lstStyle/>
          <a:p>
            <a:endParaRPr lang="es-CO"/>
          </a:p>
        </p:txBody>
      </p:sp>
      <p:sp>
        <p:nvSpPr>
          <p:cNvPr id="9" name="Text 7"/>
          <p:cNvSpPr/>
          <p:nvPr/>
        </p:nvSpPr>
        <p:spPr>
          <a:xfrm>
            <a:off x="1554480" y="1572768"/>
            <a:ext cx="4846320" cy="292608"/>
          </a:xfrm>
          <a:prstGeom prst="rect">
            <a:avLst/>
          </a:prstGeom>
          <a:noFill/>
          <a:ln/>
        </p:spPr>
        <p:txBody>
          <a:bodyPr wrap="square"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(1 + 3 + ... + (2k-1)) + (2(k+1)-1)</a:t>
            </a:r>
            <a:endParaRPr lang="en-US" sz="1200" dirty="0"/>
          </a:p>
        </p:txBody>
      </p:sp>
      <p:sp>
        <p:nvSpPr>
          <p:cNvPr id="10" name="Text 8"/>
          <p:cNvSpPr/>
          <p:nvPr/>
        </p:nvSpPr>
        <p:spPr>
          <a:xfrm>
            <a:off x="1005840" y="1965960"/>
            <a:ext cx="694944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2.  Usamos la HI para reemplazar:</a:t>
            </a:r>
            <a:endParaRPr lang="en-US" sz="1200" dirty="0"/>
          </a:p>
        </p:txBody>
      </p:sp>
      <p:sp>
        <p:nvSpPr>
          <p:cNvPr id="11" name="Shape 9"/>
          <p:cNvSpPr/>
          <p:nvPr/>
        </p:nvSpPr>
        <p:spPr>
          <a:xfrm>
            <a:off x="1371600" y="2258568"/>
            <a:ext cx="5029200" cy="292608"/>
          </a:xfrm>
          <a:prstGeom prst="rect">
            <a:avLst/>
          </a:prstGeom>
          <a:solidFill>
            <a:srgbClr val="F0F4F8"/>
          </a:solidFill>
          <a:ln/>
        </p:spPr>
        <p:txBody>
          <a:bodyPr/>
          <a:lstStyle/>
          <a:p>
            <a:endParaRPr lang="es-CO"/>
          </a:p>
        </p:txBody>
      </p:sp>
      <p:sp>
        <p:nvSpPr>
          <p:cNvPr id="12" name="Text 10"/>
          <p:cNvSpPr/>
          <p:nvPr/>
        </p:nvSpPr>
        <p:spPr>
          <a:xfrm>
            <a:off x="1554480" y="2258568"/>
            <a:ext cx="4846320" cy="292608"/>
          </a:xfrm>
          <a:prstGeom prst="rect">
            <a:avLst/>
          </a:prstGeom>
          <a:noFill/>
          <a:ln/>
        </p:spPr>
        <p:txBody>
          <a:bodyPr wrap="square"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[k²] + (2(k+1)-1)</a:t>
            </a:r>
            <a:endParaRPr lang="en-US" sz="1200" dirty="0"/>
          </a:p>
        </p:txBody>
      </p:sp>
      <p:sp>
        <p:nvSpPr>
          <p:cNvPr id="13" name="Text 11"/>
          <p:cNvSpPr/>
          <p:nvPr/>
        </p:nvSpPr>
        <p:spPr>
          <a:xfrm>
            <a:off x="1005840" y="2651760"/>
            <a:ext cx="694944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3.  Simplificamos el nuevo término:</a:t>
            </a:r>
            <a:endParaRPr lang="en-US" sz="1200" dirty="0"/>
          </a:p>
        </p:txBody>
      </p:sp>
      <p:sp>
        <p:nvSpPr>
          <p:cNvPr id="14" name="Shape 12"/>
          <p:cNvSpPr/>
          <p:nvPr/>
        </p:nvSpPr>
        <p:spPr>
          <a:xfrm>
            <a:off x="1371600" y="2944368"/>
            <a:ext cx="5029200" cy="292608"/>
          </a:xfrm>
          <a:prstGeom prst="rect">
            <a:avLst/>
          </a:prstGeom>
          <a:solidFill>
            <a:srgbClr val="F0F4F8"/>
          </a:solidFill>
          <a:ln/>
        </p:spPr>
        <p:txBody>
          <a:bodyPr/>
          <a:lstStyle/>
          <a:p>
            <a:endParaRPr lang="es-CO"/>
          </a:p>
        </p:txBody>
      </p:sp>
      <p:sp>
        <p:nvSpPr>
          <p:cNvPr id="15" name="Text 13"/>
          <p:cNvSpPr/>
          <p:nvPr/>
        </p:nvSpPr>
        <p:spPr>
          <a:xfrm>
            <a:off x="1554480" y="2944368"/>
            <a:ext cx="4846320" cy="292608"/>
          </a:xfrm>
          <a:prstGeom prst="rect">
            <a:avLst/>
          </a:prstGeom>
          <a:noFill/>
          <a:ln/>
        </p:spPr>
        <p:txBody>
          <a:bodyPr wrap="square"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k² + (2k + 2 - 1)  →  k² + 2k + 1</a:t>
            </a:r>
            <a:endParaRPr lang="en-US" sz="1200" dirty="0"/>
          </a:p>
        </p:txBody>
      </p:sp>
      <p:sp>
        <p:nvSpPr>
          <p:cNvPr id="16" name="Text 14"/>
          <p:cNvSpPr/>
          <p:nvPr/>
        </p:nvSpPr>
        <p:spPr>
          <a:xfrm>
            <a:off x="1005840" y="3337560"/>
            <a:ext cx="694944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4.  Reconocemos: trinomio cuadrado perfecto.</a:t>
            </a:r>
            <a:endParaRPr lang="en-US" sz="1200" dirty="0"/>
          </a:p>
        </p:txBody>
      </p:sp>
      <p:sp>
        <p:nvSpPr>
          <p:cNvPr id="17" name="Shape 15"/>
          <p:cNvSpPr/>
          <p:nvPr/>
        </p:nvSpPr>
        <p:spPr>
          <a:xfrm>
            <a:off x="1371600" y="3630168"/>
            <a:ext cx="5029200" cy="292608"/>
          </a:xfrm>
          <a:prstGeom prst="rect">
            <a:avLst/>
          </a:prstGeom>
          <a:solidFill>
            <a:srgbClr val="F0F4F8"/>
          </a:solidFill>
          <a:ln/>
        </p:spPr>
        <p:txBody>
          <a:bodyPr/>
          <a:lstStyle/>
          <a:p>
            <a:endParaRPr lang="es-CO"/>
          </a:p>
        </p:txBody>
      </p:sp>
      <p:sp>
        <p:nvSpPr>
          <p:cNvPr id="18" name="Text 16"/>
          <p:cNvSpPr/>
          <p:nvPr/>
        </p:nvSpPr>
        <p:spPr>
          <a:xfrm>
            <a:off x="1554480" y="3630168"/>
            <a:ext cx="4846320" cy="292608"/>
          </a:xfrm>
          <a:prstGeom prst="rect">
            <a:avLst/>
          </a:prstGeom>
          <a:noFill/>
          <a:ln/>
        </p:spPr>
        <p:txBody>
          <a:bodyPr wrap="square" rtlCol="0" anchor="ctr"/>
          <a:lstStyle/>
          <a:p>
            <a:pPr marL="0" indent="0">
              <a:buNone/>
            </a:pPr>
            <a:r>
              <a:rPr lang="en-US" sz="1200" dirty="0">
                <a:solidFill>
                  <a:srgbClr val="1A1A2E"/>
                </a:solidFill>
                <a:latin typeface="Consolas" pitchFamily="34" charset="0"/>
                <a:ea typeface="Consolas" pitchFamily="34" charset="-122"/>
                <a:cs typeface="Consolas" pitchFamily="34" charset="-120"/>
              </a:rPr>
              <a:t>k² + 2k + 1 = (k+1)²</a:t>
            </a:r>
            <a:endParaRPr lang="en-US" sz="1200" dirty="0"/>
          </a:p>
        </p:txBody>
      </p:sp>
      <p:sp>
        <p:nvSpPr>
          <p:cNvPr id="19" name="Shape 17"/>
          <p:cNvSpPr/>
          <p:nvPr/>
        </p:nvSpPr>
        <p:spPr>
          <a:xfrm>
            <a:off x="731520" y="4251960"/>
            <a:ext cx="7498080" cy="457200"/>
          </a:xfrm>
          <a:prstGeom prst="rect">
            <a:avLst/>
          </a:prstGeom>
          <a:solidFill>
            <a:srgbClr val="ECFDF5"/>
          </a:solidFill>
          <a:ln/>
        </p:spPr>
        <p:txBody>
          <a:bodyPr/>
          <a:lstStyle/>
          <a:p>
            <a:endParaRPr lang="es-CO"/>
          </a:p>
        </p:txBody>
      </p:sp>
      <p:sp>
        <p:nvSpPr>
          <p:cNvPr id="20" name="Text 18"/>
          <p:cNvSpPr/>
          <p:nvPr/>
        </p:nvSpPr>
        <p:spPr>
          <a:xfrm>
            <a:off x="914400" y="4251960"/>
            <a:ext cx="7132320" cy="457200"/>
          </a:xfrm>
          <a:prstGeom prst="rect">
            <a:avLst/>
          </a:prstGeom>
          <a:noFill/>
          <a:ln/>
        </p:spPr>
        <p:txBody>
          <a:bodyPr wrap="square" rtlCol="0" anchor="ctr"/>
          <a:lstStyle/>
          <a:p>
            <a:pPr marL="0" indent="0">
              <a:buNone/>
            </a:pPr>
            <a:r>
              <a:rPr lang="en-US" sz="1300" b="1" dirty="0">
                <a:solidFill>
                  <a:srgbClr val="16803C"/>
                </a:solidFill>
                <a:latin typeface="Calibri" pitchFamily="34" charset="0"/>
                <a:ea typeface="Calibri" pitchFamily="34" charset="-122"/>
                <a:cs typeface="Calibri" pitchFamily="34" charset="-120"/>
              </a:rPr>
              <a:t>Llegamos a (k+1)². La demostración está completa.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9E2C4-55FC-F398-6BD0-21E5CA481CC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F876F2-7F23-150D-4C22-7BE84B3EF8D9}"/>
              </a:ext>
            </a:extLst>
          </p:cNvPr>
          <p:cNvSpPr/>
          <p:nvPr/>
        </p:nvSpPr>
        <p:spPr>
          <a:xfrm>
            <a:off x="0" y="0"/>
            <a:ext cx="9144000" cy="54864"/>
          </a:xfrm>
          <a:prstGeom prst="rect">
            <a:avLst/>
          </a:prstGeom>
          <a:solidFill>
            <a:srgbClr val="1E3A5F"/>
          </a:solidFill>
          <a:ln/>
        </p:spPr>
        <p:txBody>
          <a:bodyPr/>
          <a:lstStyle/>
          <a:p>
            <a:endParaRPr lang="es-CO"/>
          </a:p>
        </p:txBody>
      </p:sp>
      <p:sp>
        <p:nvSpPr>
          <p:cNvPr id="3" name="Text 1">
            <a:extLst>
              <a:ext uri="{FF2B5EF4-FFF2-40B4-BE49-F238E27FC236}">
                <a16:creationId xmlns:a16="http://schemas.microsoft.com/office/drawing/2014/main" id="{CF2F7474-152A-56A3-FC94-A32CAF532F88}"/>
              </a:ext>
            </a:extLst>
          </p:cNvPr>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8</a:t>
            </a:r>
            <a:endParaRPr lang="en-US" sz="900" dirty="0"/>
          </a:p>
        </p:txBody>
      </p:sp>
      <p:sp>
        <p:nvSpPr>
          <p:cNvPr id="4" name="Text 2">
            <a:extLst>
              <a:ext uri="{FF2B5EF4-FFF2-40B4-BE49-F238E27FC236}">
                <a16:creationId xmlns:a16="http://schemas.microsoft.com/office/drawing/2014/main" id="{98A2860D-3A7C-8B7D-A2D1-C100F9532511}"/>
              </a:ext>
            </a:extLst>
          </p:cNvPr>
          <p:cNvSpPr/>
          <p:nvPr/>
        </p:nvSpPr>
        <p:spPr>
          <a:xfrm>
            <a:off x="731520" y="274320"/>
            <a:ext cx="7680960" cy="502920"/>
          </a:xfrm>
          <a:prstGeom prst="rect">
            <a:avLst/>
          </a:prstGeom>
          <a:noFill/>
          <a:ln/>
        </p:spPr>
        <p:txBody>
          <a:bodyPr wrap="square" rtlCol="0" anchor="ctr"/>
          <a:lstStyle/>
          <a:p>
            <a:pPr marL="0" indent="0">
              <a:buNone/>
            </a:pPr>
            <a:r>
              <a:rPr lang="en-US" sz="3600" b="1" dirty="0" err="1">
                <a:solidFill>
                  <a:srgbClr val="1E3A5F"/>
                </a:solidFill>
                <a:latin typeface="Calibri" pitchFamily="34" charset="0"/>
                <a:ea typeface="Calibri" pitchFamily="34" charset="-122"/>
                <a:cs typeface="Calibri" pitchFamily="34" charset="-120"/>
              </a:rPr>
              <a:t>Actividad</a:t>
            </a:r>
            <a:r>
              <a:rPr lang="en-US" sz="3600" b="1" dirty="0">
                <a:solidFill>
                  <a:srgbClr val="1E3A5F"/>
                </a:solidFill>
                <a:latin typeface="Calibri" pitchFamily="34" charset="0"/>
                <a:ea typeface="Calibri" pitchFamily="34" charset="-122"/>
                <a:cs typeface="Calibri" pitchFamily="34" charset="-120"/>
              </a:rPr>
              <a:t> 1: Suma de </a:t>
            </a:r>
            <a:r>
              <a:rPr lang="en-US" sz="3600" b="1" dirty="0" err="1">
                <a:solidFill>
                  <a:srgbClr val="1E3A5F"/>
                </a:solidFill>
                <a:latin typeface="Calibri" pitchFamily="34" charset="0"/>
                <a:ea typeface="Calibri" pitchFamily="34" charset="-122"/>
                <a:cs typeface="Calibri" pitchFamily="34" charset="-120"/>
              </a:rPr>
              <a:t>Números</a:t>
            </a:r>
            <a:r>
              <a:rPr lang="en-US" sz="3600" b="1" dirty="0">
                <a:solidFill>
                  <a:srgbClr val="1E3A5F"/>
                </a:solidFill>
                <a:latin typeface="Calibri" pitchFamily="34" charset="0"/>
                <a:ea typeface="Calibri" pitchFamily="34" charset="-122"/>
                <a:cs typeface="Calibri" pitchFamily="34" charset="-120"/>
              </a:rPr>
              <a:t> pares</a:t>
            </a:r>
            <a:endParaRPr lang="en-US" sz="3600" dirty="0"/>
          </a:p>
        </p:txBody>
      </p:sp>
      <p:sp>
        <p:nvSpPr>
          <p:cNvPr id="5" name="Shape 3">
            <a:extLst>
              <a:ext uri="{FF2B5EF4-FFF2-40B4-BE49-F238E27FC236}">
                <a16:creationId xmlns:a16="http://schemas.microsoft.com/office/drawing/2014/main" id="{CAC25F9A-EBA0-E820-AFFE-99EF356A1102}"/>
              </a:ext>
            </a:extLst>
          </p:cNvPr>
          <p:cNvSpPr/>
          <p:nvPr/>
        </p:nvSpPr>
        <p:spPr>
          <a:xfrm>
            <a:off x="731520" y="1458468"/>
            <a:ext cx="7498080" cy="548640"/>
          </a:xfrm>
          <a:prstGeom prst="rect">
            <a:avLst/>
          </a:prstGeom>
          <a:solidFill>
            <a:srgbClr val="F0F4F8"/>
          </a:solidFill>
          <a:ln/>
          <a:effectLst>
            <a:outerShdw blurRad="50800" dist="12700" dir="8100000" algn="bl" rotWithShape="0">
              <a:srgbClr val="000000">
                <a:alpha val="8000"/>
              </a:srgbClr>
            </a:outerShdw>
          </a:effectLst>
        </p:spPr>
        <p:txBody>
          <a:bodyPr/>
          <a:lstStyle/>
          <a:p>
            <a:endParaRPr lang="es-CO" sz="2800"/>
          </a:p>
        </p:txBody>
      </p:sp>
      <p:sp>
        <p:nvSpPr>
          <p:cNvPr id="6" name="Text 4">
            <a:extLst>
              <a:ext uri="{FF2B5EF4-FFF2-40B4-BE49-F238E27FC236}">
                <a16:creationId xmlns:a16="http://schemas.microsoft.com/office/drawing/2014/main" id="{F8087277-BBB5-CE72-0AB4-40167F23BBDC}"/>
              </a:ext>
            </a:extLst>
          </p:cNvPr>
          <p:cNvSpPr/>
          <p:nvPr/>
        </p:nvSpPr>
        <p:spPr>
          <a:xfrm>
            <a:off x="914400" y="1458468"/>
            <a:ext cx="7132320" cy="548640"/>
          </a:xfrm>
          <a:prstGeom prst="rect">
            <a:avLst/>
          </a:prstGeom>
          <a:noFill/>
          <a:ln/>
        </p:spPr>
        <p:txBody>
          <a:bodyPr wrap="square" rtlCol="0" anchor="ctr"/>
          <a:lstStyle/>
          <a:p>
            <a:pPr marL="0" indent="0">
              <a:buNone/>
            </a:pPr>
            <a:r>
              <a:rPr lang="en-US" sz="2000" b="1" dirty="0">
                <a:solidFill>
                  <a:srgbClr val="1A1A2E"/>
                </a:solidFill>
                <a:latin typeface="Calibri" pitchFamily="34" charset="0"/>
                <a:ea typeface="Calibri" pitchFamily="34" charset="-122"/>
                <a:cs typeface="Calibri" pitchFamily="34" charset="-120"/>
              </a:rPr>
              <a:t>Proposición P(n):   </a:t>
            </a:r>
            <a:r>
              <a:rPr lang="en-US" sz="2000" dirty="0">
                <a:solidFill>
                  <a:srgbClr val="1A1A2E"/>
                </a:solidFill>
                <a:latin typeface="Consolas" pitchFamily="34" charset="0"/>
                <a:ea typeface="Consolas" pitchFamily="34" charset="-122"/>
                <a:cs typeface="Consolas" pitchFamily="34" charset="-120"/>
              </a:rPr>
              <a:t>2 + 4 + 6 + ... + (2n) = n(n+1)</a:t>
            </a:r>
            <a:endParaRPr lang="en-US" sz="2000" dirty="0"/>
          </a:p>
        </p:txBody>
      </p:sp>
      <mc:AlternateContent xmlns:mc="http://schemas.openxmlformats.org/markup-compatibility/2006">
        <mc:Choice xmlns:a14="http://schemas.microsoft.com/office/drawing/2010/main" Requires="a14">
          <p:sp>
            <p:nvSpPr>
              <p:cNvPr id="7" name="Text 5">
                <a:extLst>
                  <a:ext uri="{FF2B5EF4-FFF2-40B4-BE49-F238E27FC236}">
                    <a16:creationId xmlns:a16="http://schemas.microsoft.com/office/drawing/2014/main" id="{2203DF6B-406B-C03F-4944-8DCBEA62D225}"/>
                  </a:ext>
                </a:extLst>
              </p:cNvPr>
              <p:cNvSpPr/>
              <p:nvPr/>
            </p:nvSpPr>
            <p:spPr>
              <a:xfrm>
                <a:off x="731520" y="2862072"/>
                <a:ext cx="7315200" cy="365760"/>
              </a:xfrm>
              <a:prstGeom prst="rect">
                <a:avLst/>
              </a:prstGeom>
              <a:noFill/>
              <a:ln/>
            </p:spPr>
            <p:txBody>
              <a:bodyPr wrap="square" rtlCol="0" anchor="ctr"/>
              <a:lstStyle/>
              <a:p>
                <a:r>
                  <a:rPr lang="es-ES" sz="2800" dirty="0"/>
                  <a:t>Demostrar por </a:t>
                </a:r>
                <a:r>
                  <a:rPr lang="es-ES" sz="2800" b="1" dirty="0"/>
                  <a:t>inducción matemática</a:t>
                </a:r>
                <a:r>
                  <a:rPr lang="es-ES" sz="2800" dirty="0"/>
                  <a:t> que la proposición es verdadera para todo </a:t>
                </a:r>
                <a14:m>
                  <m:oMath xmlns:m="http://schemas.openxmlformats.org/officeDocument/2006/math">
                    <m:r>
                      <a:rPr lang="es-ES" sz="3200" i="1"/>
                      <m:t>𝑛</m:t>
                    </m:r>
                    <m:r>
                      <a:rPr lang="es-ES" sz="3200"/>
                      <m:t>∈</m:t>
                    </m:r>
                    <m:r>
                      <a:rPr lang="es-ES" sz="3200"/>
                      <m:t>ℕ</m:t>
                    </m:r>
                  </m:oMath>
                </a14:m>
                <a:r>
                  <a:rPr lang="es-ES" sz="2800" dirty="0"/>
                  <a:t>.</a:t>
                </a:r>
                <a:endParaRPr lang="en-US" sz="2800" dirty="0"/>
              </a:p>
            </p:txBody>
          </p:sp>
        </mc:Choice>
        <mc:Fallback>
          <p:sp>
            <p:nvSpPr>
              <p:cNvPr id="7" name="Text 5">
                <a:extLst>
                  <a:ext uri="{FF2B5EF4-FFF2-40B4-BE49-F238E27FC236}">
                    <a16:creationId xmlns:a16="http://schemas.microsoft.com/office/drawing/2014/main" id="{2203DF6B-406B-C03F-4944-8DCBEA62D225}"/>
                  </a:ext>
                </a:extLst>
              </p:cNvPr>
              <p:cNvSpPr>
                <a:spLocks noRot="1" noChangeAspect="1" noMove="1" noResize="1" noEditPoints="1" noAdjustHandles="1" noChangeArrowheads="1" noChangeShapeType="1" noTextEdit="1"/>
              </p:cNvSpPr>
              <p:nvPr/>
            </p:nvSpPr>
            <p:spPr>
              <a:xfrm>
                <a:off x="731520" y="2862072"/>
                <a:ext cx="7315200" cy="365760"/>
              </a:xfrm>
              <a:prstGeom prst="rect">
                <a:avLst/>
              </a:prstGeom>
              <a:blipFill>
                <a:blip r:embed="rId3"/>
                <a:stretch>
                  <a:fillRect l="-1667" t="-103333" b="-133333"/>
                </a:stretch>
              </a:blipFill>
              <a:ln/>
            </p:spPr>
            <p:txBody>
              <a:bodyPr/>
              <a:lstStyle/>
              <a:p>
                <a:r>
                  <a:rPr lang="es-CO">
                    <a:noFill/>
                  </a:rPr>
                  <a:t> </a:t>
                </a:r>
              </a:p>
            </p:txBody>
          </p:sp>
        </mc:Fallback>
      </mc:AlternateContent>
    </p:spTree>
    <p:extLst>
      <p:ext uri="{BB962C8B-B14F-4D97-AF65-F5344CB8AC3E}">
        <p14:creationId xmlns:p14="http://schemas.microsoft.com/office/powerpoint/2010/main" val="475506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731520" y="274320"/>
            <a:ext cx="7680960" cy="502920"/>
          </a:xfrm>
          <a:prstGeom prst="rect">
            <a:avLst/>
          </a:prstGeom>
          <a:noFill/>
          <a:ln/>
        </p:spPr>
        <p:txBody>
          <a:bodyPr wrap="square" rtlCol="0" anchor="ctr"/>
          <a:lstStyle/>
          <a:p>
            <a:pPr marL="0" indent="0">
              <a:buNone/>
            </a:pPr>
            <a:r>
              <a:rPr lang="en-US" sz="2600" b="1" dirty="0">
                <a:solidFill>
                  <a:srgbClr val="1E3A5F"/>
                </a:solidFill>
                <a:latin typeface="Calibri" pitchFamily="34" charset="0"/>
                <a:ea typeface="Calibri" pitchFamily="34" charset="-122"/>
                <a:cs typeface="Calibri" pitchFamily="34" charset="-120"/>
              </a:rPr>
              <a:t>Inducción en Desigualdades</a:t>
            </a:r>
            <a:endParaRPr lang="en-US" sz="2600" dirty="0"/>
          </a:p>
        </p:txBody>
      </p:sp>
      <p:sp>
        <p:nvSpPr>
          <p:cNvPr id="5" name="Text 3"/>
          <p:cNvSpPr/>
          <p:nvPr/>
        </p:nvSpPr>
        <p:spPr>
          <a:xfrm>
            <a:off x="731520" y="731520"/>
            <a:ext cx="7680960" cy="274320"/>
          </a:xfrm>
          <a:prstGeom prst="rect">
            <a:avLst/>
          </a:prstGeom>
          <a:noFill/>
          <a:ln/>
        </p:spPr>
        <p:txBody>
          <a:bodyPr wrap="square" rtlCol="0" anchor="ctr"/>
          <a:lstStyle/>
          <a:p>
            <a:pPr marL="0" indent="0">
              <a:buNone/>
            </a:pPr>
            <a:r>
              <a:rPr lang="en-US" sz="1200" i="1" dirty="0">
                <a:solidFill>
                  <a:srgbClr val="5A5A6E"/>
                </a:solidFill>
                <a:latin typeface="Calibri" pitchFamily="34" charset="0"/>
                <a:ea typeface="Calibri" pitchFamily="34" charset="-122"/>
                <a:cs typeface="Calibri" pitchFamily="34" charset="-120"/>
              </a:rPr>
              <a:t>Demostrando que una relación de "mayor que" o "menor que" se cumple siempre</a:t>
            </a:r>
            <a:endParaRPr lang="en-US" sz="1200" dirty="0"/>
          </a:p>
        </p:txBody>
      </p:sp>
      <p:sp>
        <p:nvSpPr>
          <p:cNvPr id="6" name="Shape 4"/>
          <p:cNvSpPr/>
          <p:nvPr/>
        </p:nvSpPr>
        <p:spPr>
          <a:xfrm>
            <a:off x="731520" y="1188720"/>
            <a:ext cx="7498080" cy="82296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7" name="Text 5"/>
          <p:cNvSpPr/>
          <p:nvPr/>
        </p:nvSpPr>
        <p:spPr>
          <a:xfrm>
            <a:off x="1005840" y="1234440"/>
            <a:ext cx="6949440" cy="73152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La inducción matemática no solo sirve para probar igualdades. Es igualmente potente para demostrar que una desigualdad es válida para todos los números naturales a partir de un cierto punto. El procedimiento sigue exactamente la misma estructura lógica.</a:t>
            </a:r>
            <a:endParaRPr lang="en-US" sz="1200" dirty="0"/>
          </a:p>
        </p:txBody>
      </p:sp>
      <p:sp>
        <p:nvSpPr>
          <p:cNvPr id="8" name="Shape 6"/>
          <p:cNvSpPr/>
          <p:nvPr/>
        </p:nvSpPr>
        <p:spPr>
          <a:xfrm>
            <a:off x="731520" y="2286000"/>
            <a:ext cx="3657600" cy="1280160"/>
          </a:xfrm>
          <a:prstGeom prst="rect">
            <a:avLst/>
          </a:prstGeom>
          <a:solidFill>
            <a:srgbClr val="ECFDF5"/>
          </a:solidFill>
          <a:ln/>
          <a:effectLst>
            <a:outerShdw blurRad="50800" dist="12700" dir="8100000" algn="bl" rotWithShape="0">
              <a:srgbClr val="000000">
                <a:alpha val="8000"/>
              </a:srgbClr>
            </a:outerShdw>
          </a:effectLst>
        </p:spPr>
        <p:txBody>
          <a:bodyPr/>
          <a:lstStyle/>
          <a:p>
            <a:endParaRPr lang="es-CO"/>
          </a:p>
        </p:txBody>
      </p:sp>
      <p:sp>
        <p:nvSpPr>
          <p:cNvPr id="9" name="Text 7"/>
          <p:cNvSpPr/>
          <p:nvPr/>
        </p:nvSpPr>
        <p:spPr>
          <a:xfrm>
            <a:off x="1005840" y="2377440"/>
            <a:ext cx="3200400" cy="320040"/>
          </a:xfrm>
          <a:prstGeom prst="rect">
            <a:avLst/>
          </a:prstGeom>
          <a:noFill/>
          <a:ln/>
        </p:spPr>
        <p:txBody>
          <a:bodyPr wrap="square" rtlCol="0" anchor="ctr"/>
          <a:lstStyle/>
          <a:p>
            <a:pPr marL="0" indent="0">
              <a:buNone/>
            </a:pPr>
            <a:r>
              <a:rPr lang="en-US" sz="1500" b="1" dirty="0">
                <a:solidFill>
                  <a:srgbClr val="16803C"/>
                </a:solidFill>
                <a:latin typeface="Calibri" pitchFamily="34" charset="0"/>
                <a:ea typeface="Calibri" pitchFamily="34" charset="-122"/>
                <a:cs typeface="Calibri" pitchFamily="34" charset="-120"/>
              </a:rPr>
              <a:t>1   Paso Base</a:t>
            </a:r>
            <a:endParaRPr lang="en-US" sz="1500" dirty="0"/>
          </a:p>
        </p:txBody>
      </p:sp>
      <p:sp>
        <p:nvSpPr>
          <p:cNvPr id="10" name="Text 8"/>
          <p:cNvSpPr/>
          <p:nvPr/>
        </p:nvSpPr>
        <p:spPr>
          <a:xfrm>
            <a:off x="1005840" y="2743200"/>
            <a:ext cx="3200400" cy="685800"/>
          </a:xfrm>
          <a:prstGeom prst="rect">
            <a:avLst/>
          </a:prstGeom>
          <a:noFill/>
          <a:ln/>
        </p:spPr>
        <p:txBody>
          <a:bodyPr wrap="square" rtlCol="0" anchor="ctr"/>
          <a:lstStyle/>
          <a:p>
            <a:pPr marL="0" indent="0">
              <a:buNone/>
            </a:pPr>
            <a:r>
              <a:rPr lang="en-US" sz="1150" dirty="0">
                <a:solidFill>
                  <a:srgbClr val="2D2D3F"/>
                </a:solidFill>
                <a:latin typeface="Calibri" pitchFamily="34" charset="0"/>
                <a:ea typeface="Calibri" pitchFamily="34" charset="-122"/>
                <a:cs typeface="Calibri" pitchFamily="34" charset="-120"/>
              </a:rPr>
              <a:t>Verificamos que la desigualdad sea cierta para el primer valor de n especificado en el problema (puede ser n=1, n=2, etc.).</a:t>
            </a:r>
            <a:endParaRPr lang="en-US" sz="1150" dirty="0"/>
          </a:p>
        </p:txBody>
      </p:sp>
      <p:sp>
        <p:nvSpPr>
          <p:cNvPr id="11" name="Shape 9"/>
          <p:cNvSpPr/>
          <p:nvPr/>
        </p:nvSpPr>
        <p:spPr>
          <a:xfrm>
            <a:off x="4754880" y="2286000"/>
            <a:ext cx="3657600" cy="1280160"/>
          </a:xfrm>
          <a:prstGeom prst="rect">
            <a:avLst/>
          </a:prstGeom>
          <a:solidFill>
            <a:srgbClr val="ECFDF5"/>
          </a:solidFill>
          <a:ln/>
          <a:effectLst>
            <a:outerShdw blurRad="50800" dist="12700" dir="8100000" algn="bl" rotWithShape="0">
              <a:srgbClr val="000000">
                <a:alpha val="8000"/>
              </a:srgbClr>
            </a:outerShdw>
          </a:effectLst>
        </p:spPr>
        <p:txBody>
          <a:bodyPr/>
          <a:lstStyle/>
          <a:p>
            <a:endParaRPr lang="es-CO"/>
          </a:p>
        </p:txBody>
      </p:sp>
      <p:sp>
        <p:nvSpPr>
          <p:cNvPr id="12" name="Text 10"/>
          <p:cNvSpPr/>
          <p:nvPr/>
        </p:nvSpPr>
        <p:spPr>
          <a:xfrm>
            <a:off x="5029200" y="2377440"/>
            <a:ext cx="3200400" cy="320040"/>
          </a:xfrm>
          <a:prstGeom prst="rect">
            <a:avLst/>
          </a:prstGeom>
          <a:noFill/>
          <a:ln/>
        </p:spPr>
        <p:txBody>
          <a:bodyPr wrap="square" rtlCol="0" anchor="ctr"/>
          <a:lstStyle/>
          <a:p>
            <a:pPr marL="0" indent="0">
              <a:buNone/>
            </a:pPr>
            <a:r>
              <a:rPr lang="en-US" sz="1500" b="1" dirty="0">
                <a:solidFill>
                  <a:srgbClr val="16803C"/>
                </a:solidFill>
                <a:latin typeface="Calibri" pitchFamily="34" charset="0"/>
                <a:ea typeface="Calibri" pitchFamily="34" charset="-122"/>
                <a:cs typeface="Calibri" pitchFamily="34" charset="-120"/>
              </a:rPr>
              <a:t>2   Paso Inductivo</a:t>
            </a:r>
            <a:endParaRPr lang="en-US" sz="1500" dirty="0"/>
          </a:p>
        </p:txBody>
      </p:sp>
      <p:sp>
        <p:nvSpPr>
          <p:cNvPr id="13" name="Text 11"/>
          <p:cNvSpPr/>
          <p:nvPr/>
        </p:nvSpPr>
        <p:spPr>
          <a:xfrm>
            <a:off x="5029200" y="2743200"/>
            <a:ext cx="3200400" cy="685800"/>
          </a:xfrm>
          <a:prstGeom prst="rect">
            <a:avLst/>
          </a:prstGeom>
          <a:noFill/>
          <a:ln/>
        </p:spPr>
        <p:txBody>
          <a:bodyPr wrap="square" rtlCol="0" anchor="ctr"/>
          <a:lstStyle/>
          <a:p>
            <a:pPr marL="0" indent="0">
              <a:buNone/>
            </a:pPr>
            <a:r>
              <a:rPr lang="en-US" sz="1150" b="1" dirty="0">
                <a:solidFill>
                  <a:srgbClr val="2D2D3F"/>
                </a:solidFill>
                <a:latin typeface="Calibri" pitchFamily="34" charset="0"/>
                <a:ea typeface="Calibri" pitchFamily="34" charset="-122"/>
                <a:cs typeface="Calibri" pitchFamily="34" charset="-120"/>
              </a:rPr>
              <a:t>Hipótesis: </a:t>
            </a:r>
            <a:r>
              <a:rPr lang="en-US" sz="1150" dirty="0">
                <a:solidFill>
                  <a:srgbClr val="2D2D3F"/>
                </a:solidFill>
                <a:latin typeface="Calibri" pitchFamily="34" charset="0"/>
                <a:ea typeface="Calibri" pitchFamily="34" charset="-122"/>
                <a:cs typeface="Calibri" pitchFamily="34" charset="-120"/>
              </a:rPr>
              <a:t>Suponemos que la desigualdad es cierta para n=k.</a:t>
            </a:r>
            <a:endParaRPr lang="en-US" sz="1150" dirty="0"/>
          </a:p>
          <a:p>
            <a:pPr marL="0" indent="0">
              <a:buNone/>
            </a:pPr>
            <a:r>
              <a:rPr lang="en-US" sz="1150" b="1" dirty="0">
                <a:solidFill>
                  <a:srgbClr val="2D2D3F"/>
                </a:solidFill>
                <a:latin typeface="Calibri" pitchFamily="34" charset="0"/>
                <a:ea typeface="Calibri" pitchFamily="34" charset="-122"/>
                <a:cs typeface="Calibri" pitchFamily="34" charset="-120"/>
              </a:rPr>
              <a:t>Tesis: </a:t>
            </a:r>
            <a:r>
              <a:rPr lang="en-US" sz="1150" dirty="0">
                <a:solidFill>
                  <a:srgbClr val="2D2D3F"/>
                </a:solidFill>
                <a:latin typeface="Calibri" pitchFamily="34" charset="0"/>
                <a:ea typeface="Calibri" pitchFamily="34" charset="-122"/>
                <a:cs typeface="Calibri" pitchFamily="34" charset="-120"/>
              </a:rPr>
              <a:t>Demostramos que también es cierta para n=k+1.</a:t>
            </a:r>
            <a:endParaRPr lang="en-US" sz="1150" dirty="0"/>
          </a:p>
        </p:txBody>
      </p:sp>
      <p:sp>
        <p:nvSpPr>
          <p:cNvPr id="14" name="Shape 12"/>
          <p:cNvSpPr/>
          <p:nvPr/>
        </p:nvSpPr>
        <p:spPr>
          <a:xfrm>
            <a:off x="731520" y="3840480"/>
            <a:ext cx="7498080" cy="640080"/>
          </a:xfrm>
          <a:prstGeom prst="rect">
            <a:avLst/>
          </a:prstGeom>
          <a:solidFill>
            <a:srgbClr val="FEF2F2"/>
          </a:solidFill>
          <a:ln/>
        </p:spPr>
        <p:txBody>
          <a:bodyPr/>
          <a:lstStyle/>
          <a:p>
            <a:endParaRPr lang="es-CO"/>
          </a:p>
        </p:txBody>
      </p:sp>
      <p:sp>
        <p:nvSpPr>
          <p:cNvPr id="15" name="Text 13"/>
          <p:cNvSpPr/>
          <p:nvPr/>
        </p:nvSpPr>
        <p:spPr>
          <a:xfrm>
            <a:off x="1005840" y="3886200"/>
            <a:ext cx="6949440" cy="548640"/>
          </a:xfrm>
          <a:prstGeom prst="rect">
            <a:avLst/>
          </a:prstGeom>
          <a:noFill/>
          <a:ln/>
        </p:spPr>
        <p:txBody>
          <a:bodyPr wrap="square" rtlCol="0" anchor="ctr"/>
          <a:lstStyle/>
          <a:p>
            <a:pPr marL="0" indent="0">
              <a:buNone/>
            </a:pPr>
            <a:r>
              <a:rPr lang="en-US" sz="1200" dirty="0">
                <a:solidFill>
                  <a:srgbClr val="B91C1C"/>
                </a:solidFill>
                <a:latin typeface="Calibri" pitchFamily="34" charset="0"/>
                <a:ea typeface="Calibri" pitchFamily="34" charset="-122"/>
                <a:cs typeface="Calibri" pitchFamily="34" charset="-120"/>
              </a:rPr>
              <a:t>Punto Clave: El álgebra para manipular desigualdades requiere más cuidado. No podemos tratar el "&gt;" como un "=". Debemos usar la transitividad y otras propiedades lógicas.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731520" y="274320"/>
            <a:ext cx="7680960" cy="502920"/>
          </a:xfrm>
          <a:prstGeom prst="rect">
            <a:avLst/>
          </a:prstGeom>
          <a:noFill/>
          <a:ln/>
        </p:spPr>
        <p:txBody>
          <a:bodyPr wrap="square" rtlCol="0" anchor="ctr"/>
          <a:lstStyle/>
          <a:p>
            <a:pPr marL="0" indent="0">
              <a:buNone/>
            </a:pPr>
            <a:r>
              <a:rPr lang="en-US" sz="2600" b="1" dirty="0">
                <a:solidFill>
                  <a:srgbClr val="1E3A5F"/>
                </a:solidFill>
                <a:latin typeface="Calibri" pitchFamily="34" charset="0"/>
                <a:ea typeface="Calibri" pitchFamily="34" charset="-122"/>
                <a:cs typeface="Calibri" pitchFamily="34" charset="-120"/>
              </a:rPr>
              <a:t>Ejemplo 3: Inducción en Desigualdades</a:t>
            </a:r>
            <a:endParaRPr lang="en-US" sz="2600" dirty="0"/>
          </a:p>
        </p:txBody>
      </p:sp>
      <p:sp>
        <p:nvSpPr>
          <p:cNvPr id="5" name="Shape 3"/>
          <p:cNvSpPr/>
          <p:nvPr/>
        </p:nvSpPr>
        <p:spPr>
          <a:xfrm>
            <a:off x="731520" y="845820"/>
            <a:ext cx="7498080" cy="777240"/>
          </a:xfrm>
          <a:prstGeom prst="rect">
            <a:avLst/>
          </a:prstGeom>
          <a:solidFill>
            <a:srgbClr val="FEF9E7"/>
          </a:solidFill>
          <a:ln/>
          <a:effectLst>
            <a:outerShdw blurRad="50800" dist="12700" dir="8100000" algn="bl" rotWithShape="0">
              <a:srgbClr val="000000">
                <a:alpha val="8000"/>
              </a:srgbClr>
            </a:outerShdw>
          </a:effectLst>
        </p:spPr>
        <p:txBody>
          <a:bodyPr/>
          <a:lstStyle/>
          <a:p>
            <a:endParaRPr lang="es-CO"/>
          </a:p>
        </p:txBody>
      </p:sp>
      <p:sp>
        <p:nvSpPr>
          <p:cNvPr id="6" name="Text 4"/>
          <p:cNvSpPr/>
          <p:nvPr/>
        </p:nvSpPr>
        <p:spPr>
          <a:xfrm>
            <a:off x="1005840" y="960120"/>
            <a:ext cx="6949440" cy="274320"/>
          </a:xfrm>
          <a:prstGeom prst="rect">
            <a:avLst/>
          </a:prstGeom>
          <a:noFill/>
          <a:ln/>
        </p:spPr>
        <p:txBody>
          <a:bodyPr wrap="square" rtlCol="0" anchor="ctr"/>
          <a:lstStyle/>
          <a:p>
            <a:pPr marL="0" indent="0">
              <a:buNone/>
            </a:pPr>
            <a:r>
              <a:rPr lang="en-US" sz="1300" dirty="0">
                <a:solidFill>
                  <a:srgbClr val="2D2D3F"/>
                </a:solidFill>
                <a:latin typeface="Calibri" pitchFamily="34" charset="0"/>
                <a:ea typeface="Calibri" pitchFamily="34" charset="-122"/>
                <a:cs typeface="Calibri" pitchFamily="34" charset="-120"/>
              </a:rPr>
              <a:t>Proposición: Para todo entero n ≥ 1, se cumple que:</a:t>
            </a:r>
            <a:endParaRPr lang="en-US" sz="1300" dirty="0"/>
          </a:p>
        </p:txBody>
      </p:sp>
      <p:sp>
        <p:nvSpPr>
          <p:cNvPr id="7" name="Text 5"/>
          <p:cNvSpPr/>
          <p:nvPr/>
        </p:nvSpPr>
        <p:spPr>
          <a:xfrm>
            <a:off x="1005840" y="1234440"/>
            <a:ext cx="6949440" cy="365760"/>
          </a:xfrm>
          <a:prstGeom prst="rect">
            <a:avLst/>
          </a:prstGeom>
          <a:noFill/>
          <a:ln/>
        </p:spPr>
        <p:txBody>
          <a:bodyPr wrap="square" rtlCol="0" anchor="ctr"/>
          <a:lstStyle/>
          <a:p>
            <a:pPr marL="0" indent="0" algn="ctr">
              <a:buNone/>
            </a:pPr>
            <a:r>
              <a:rPr lang="en-US" sz="2200" b="1" dirty="0">
                <a:solidFill>
                  <a:srgbClr val="1A1A2E"/>
                </a:solidFill>
                <a:latin typeface="Consolas" pitchFamily="34" charset="0"/>
                <a:ea typeface="Consolas" pitchFamily="34" charset="-122"/>
                <a:cs typeface="Consolas" pitchFamily="34" charset="-120"/>
              </a:rPr>
              <a:t>N+2&lt;2N+2</a:t>
            </a:r>
            <a:endParaRPr lang="en-US" sz="2200" dirty="0"/>
          </a:p>
        </p:txBody>
      </p:sp>
      <p:sp>
        <p:nvSpPr>
          <p:cNvPr id="8" name="Text 6"/>
          <p:cNvSpPr/>
          <p:nvPr/>
        </p:nvSpPr>
        <p:spPr>
          <a:xfrm>
            <a:off x="731520" y="1920240"/>
            <a:ext cx="7315200" cy="365760"/>
          </a:xfrm>
          <a:prstGeom prst="rect">
            <a:avLst/>
          </a:prstGeom>
          <a:noFill/>
          <a:ln/>
        </p:spPr>
        <p:txBody>
          <a:bodyPr wrap="square" rtlCol="0" anchor="ctr"/>
          <a:lstStyle/>
          <a:p>
            <a:pPr marL="0" indent="0">
              <a:buNone/>
            </a:pPr>
            <a:r>
              <a:rPr lang="en-US" sz="1700" b="1" dirty="0">
                <a:solidFill>
                  <a:srgbClr val="16803C"/>
                </a:solidFill>
                <a:latin typeface="Calibri" pitchFamily="34" charset="0"/>
                <a:ea typeface="Calibri" pitchFamily="34" charset="-122"/>
                <a:cs typeface="Calibri" pitchFamily="34" charset="-120"/>
              </a:rPr>
              <a:t>1   Paso Base (n=2)</a:t>
            </a:r>
            <a:endParaRPr lang="en-US" sz="1700" dirty="0"/>
          </a:p>
        </p:txBody>
      </p:sp>
      <p:sp>
        <p:nvSpPr>
          <p:cNvPr id="9" name="Text 7"/>
          <p:cNvSpPr/>
          <p:nvPr/>
        </p:nvSpPr>
        <p:spPr>
          <a:xfrm>
            <a:off x="914400" y="2331720"/>
            <a:ext cx="7315200" cy="27432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Probamos para el primer valor posible: n = 2. Sustituimos en la desigualdad:</a:t>
            </a:r>
            <a:endParaRPr lang="en-US" sz="1200" dirty="0"/>
          </a:p>
        </p:txBody>
      </p:sp>
      <p:sp>
        <p:nvSpPr>
          <p:cNvPr id="10" name="Shape 8"/>
          <p:cNvSpPr/>
          <p:nvPr/>
        </p:nvSpPr>
        <p:spPr>
          <a:xfrm>
            <a:off x="1371600" y="2697480"/>
            <a:ext cx="5486400" cy="457200"/>
          </a:xfrm>
          <a:prstGeom prst="rect">
            <a:avLst/>
          </a:prstGeom>
          <a:solidFill>
            <a:srgbClr val="F0F4F8"/>
          </a:solidFill>
          <a:ln/>
        </p:spPr>
        <p:txBody>
          <a:bodyPr/>
          <a:lstStyle/>
          <a:p>
            <a:endParaRPr lang="es-CO"/>
          </a:p>
        </p:txBody>
      </p:sp>
      <p:sp>
        <p:nvSpPr>
          <p:cNvPr id="11" name="Text 9"/>
          <p:cNvSpPr/>
          <p:nvPr/>
        </p:nvSpPr>
        <p:spPr>
          <a:xfrm>
            <a:off x="1554480" y="2697480"/>
            <a:ext cx="5120640" cy="457200"/>
          </a:xfrm>
          <a:prstGeom prst="rect">
            <a:avLst/>
          </a:prstGeom>
          <a:noFill/>
          <a:ln/>
        </p:spPr>
        <p:txBody>
          <a:bodyPr wrap="square" rtlCol="0" anchor="ctr"/>
          <a:lstStyle/>
          <a:p>
            <a:pPr marL="0" indent="0" algn="ctr">
              <a:buNone/>
            </a:pPr>
            <a:r>
              <a:rPr lang="en-US" sz="1600" dirty="0">
                <a:solidFill>
                  <a:srgbClr val="1A1A2E"/>
                </a:solidFill>
                <a:latin typeface="Consolas" pitchFamily="34" charset="0"/>
                <a:ea typeface="Consolas" pitchFamily="34" charset="-122"/>
                <a:cs typeface="Consolas" pitchFamily="34" charset="-120"/>
              </a:rPr>
              <a:t>3&lt;4</a:t>
            </a:r>
            <a:endParaRPr lang="en-US" sz="1600" dirty="0"/>
          </a:p>
        </p:txBody>
      </p:sp>
      <p:sp>
        <p:nvSpPr>
          <p:cNvPr id="12" name="Text 10"/>
          <p:cNvSpPr/>
          <p:nvPr/>
        </p:nvSpPr>
        <p:spPr>
          <a:xfrm>
            <a:off x="914400" y="3291840"/>
            <a:ext cx="7315200" cy="274320"/>
          </a:xfrm>
          <a:prstGeom prst="rect">
            <a:avLst/>
          </a:prstGeom>
          <a:noFill/>
          <a:ln/>
        </p:spPr>
        <p:txBody>
          <a:bodyPr wrap="square" rtlCol="0" anchor="ctr"/>
          <a:lstStyle/>
          <a:p>
            <a:pPr marL="0" indent="0" algn="ctr">
              <a:buNone/>
            </a:pPr>
            <a:r>
              <a:rPr lang="en-US" sz="1300" b="1" dirty="0">
                <a:solidFill>
                  <a:srgbClr val="16803C"/>
                </a:solidFill>
                <a:latin typeface="Calibri" pitchFamily="34" charset="0"/>
                <a:ea typeface="Calibri" pitchFamily="34" charset="-122"/>
                <a:cs typeface="Calibri" pitchFamily="34" charset="-120"/>
              </a:rPr>
              <a:t>Se cumple. El paso base es correcto.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731520" y="274320"/>
            <a:ext cx="7680960" cy="502920"/>
          </a:xfrm>
          <a:prstGeom prst="rect">
            <a:avLst/>
          </a:prstGeom>
          <a:noFill/>
          <a:ln/>
        </p:spPr>
        <p:txBody>
          <a:bodyPr wrap="square" rtlCol="0" anchor="ctr"/>
          <a:lstStyle/>
          <a:p>
            <a:pPr marL="0" indent="0">
              <a:buNone/>
            </a:pPr>
            <a:r>
              <a:rPr lang="en-US" sz="2600" b="1" dirty="0">
                <a:solidFill>
                  <a:srgbClr val="1E3A5F"/>
                </a:solidFill>
                <a:latin typeface="Calibri" pitchFamily="34" charset="0"/>
                <a:ea typeface="Calibri" pitchFamily="34" charset="-122"/>
                <a:cs typeface="Calibri" pitchFamily="34" charset="-120"/>
              </a:rPr>
              <a:t>Ejemplo 4: Desigualdad Cuadrática</a:t>
            </a:r>
            <a:endParaRPr lang="en-US" sz="2600" dirty="0"/>
          </a:p>
        </p:txBody>
      </p:sp>
      <p:sp>
        <p:nvSpPr>
          <p:cNvPr id="5" name="Shape 3"/>
          <p:cNvSpPr/>
          <p:nvPr/>
        </p:nvSpPr>
        <p:spPr>
          <a:xfrm>
            <a:off x="731520" y="914400"/>
            <a:ext cx="7498080" cy="548640"/>
          </a:xfrm>
          <a:prstGeom prst="rect">
            <a:avLst/>
          </a:prstGeom>
          <a:solidFill>
            <a:srgbClr val="F0F4F8"/>
          </a:solidFill>
          <a:ln/>
          <a:effectLst>
            <a:outerShdw blurRad="50800" dist="12700" dir="8100000" algn="bl" rotWithShape="0">
              <a:srgbClr val="000000">
                <a:alpha val="8000"/>
              </a:srgbClr>
            </a:outerShdw>
          </a:effectLst>
        </p:spPr>
        <p:txBody>
          <a:bodyPr/>
          <a:lstStyle/>
          <a:p>
            <a:endParaRPr lang="es-CO"/>
          </a:p>
        </p:txBody>
      </p:sp>
      <p:sp>
        <p:nvSpPr>
          <p:cNvPr id="6" name="Text 4"/>
          <p:cNvSpPr/>
          <p:nvPr/>
        </p:nvSpPr>
        <p:spPr>
          <a:xfrm>
            <a:off x="914400" y="914400"/>
            <a:ext cx="7132320" cy="54864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Proposición P(n):   </a:t>
            </a:r>
            <a:r>
              <a:rPr lang="en-US" sz="1500" dirty="0">
                <a:solidFill>
                  <a:srgbClr val="1A1A2E"/>
                </a:solidFill>
                <a:latin typeface="Consolas" pitchFamily="34" charset="0"/>
                <a:ea typeface="Consolas" pitchFamily="34" charset="-122"/>
                <a:cs typeface="Consolas" pitchFamily="34" charset="-120"/>
              </a:rPr>
              <a:t>Para todo n ≥ 2,  n² ≥ 2n</a:t>
            </a:r>
            <a:endParaRPr lang="en-US" sz="1500" dirty="0"/>
          </a:p>
        </p:txBody>
      </p:sp>
      <p:sp>
        <p:nvSpPr>
          <p:cNvPr id="7" name="Text 5"/>
          <p:cNvSpPr/>
          <p:nvPr/>
        </p:nvSpPr>
        <p:spPr>
          <a:xfrm>
            <a:off x="731520" y="1691640"/>
            <a:ext cx="7315200" cy="365760"/>
          </a:xfrm>
          <a:prstGeom prst="rect">
            <a:avLst/>
          </a:prstGeom>
          <a:noFill/>
          <a:ln/>
        </p:spPr>
        <p:txBody>
          <a:bodyPr wrap="square" rtlCol="0" anchor="ctr"/>
          <a:lstStyle/>
          <a:p>
            <a:pPr marL="0" indent="0">
              <a:buNone/>
            </a:pPr>
            <a:r>
              <a:rPr lang="en-US" sz="1700" b="1" dirty="0">
                <a:solidFill>
                  <a:srgbClr val="16803C"/>
                </a:solidFill>
                <a:latin typeface="Calibri" pitchFamily="34" charset="0"/>
                <a:ea typeface="Calibri" pitchFamily="34" charset="-122"/>
                <a:cs typeface="Calibri" pitchFamily="34" charset="-120"/>
              </a:rPr>
              <a:t>1   Paso Base (n=2)</a:t>
            </a:r>
            <a:endParaRPr lang="en-US" sz="1700" dirty="0"/>
          </a:p>
        </p:txBody>
      </p:sp>
      <p:sp>
        <p:nvSpPr>
          <p:cNvPr id="8" name="Text 6"/>
          <p:cNvSpPr/>
          <p:nvPr/>
        </p:nvSpPr>
        <p:spPr>
          <a:xfrm>
            <a:off x="914400" y="2103120"/>
            <a:ext cx="7315200" cy="32004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Verificamos:  </a:t>
            </a:r>
            <a:r>
              <a:rPr lang="en-US" sz="1200" dirty="0">
                <a:solidFill>
                  <a:srgbClr val="2D2D3F"/>
                </a:solidFill>
                <a:latin typeface="Consolas" pitchFamily="34" charset="0"/>
                <a:ea typeface="Consolas" pitchFamily="34" charset="-122"/>
                <a:cs typeface="Consolas" pitchFamily="34" charset="-120"/>
              </a:rPr>
              <a:t>2² ≥ 2(2)  →  4 ≥ 4.  Es cierto.</a:t>
            </a:r>
            <a:endParaRPr lang="en-US" sz="1200" dirty="0"/>
          </a:p>
        </p:txBody>
      </p:sp>
      <p:sp>
        <p:nvSpPr>
          <p:cNvPr id="9" name="Shape 7"/>
          <p:cNvSpPr/>
          <p:nvPr/>
        </p:nvSpPr>
        <p:spPr>
          <a:xfrm>
            <a:off x="731520" y="2606040"/>
            <a:ext cx="7498080" cy="0"/>
          </a:xfrm>
          <a:prstGeom prst="line">
            <a:avLst/>
          </a:prstGeom>
          <a:noFill/>
          <a:ln w="6350">
            <a:solidFill>
              <a:srgbClr val="D1D5DB"/>
            </a:solidFill>
            <a:prstDash val="solid"/>
          </a:ln>
        </p:spPr>
        <p:txBody>
          <a:bodyPr/>
          <a:lstStyle/>
          <a:p>
            <a:endParaRPr lang="es-CO"/>
          </a:p>
        </p:txBody>
      </p:sp>
      <p:sp>
        <p:nvSpPr>
          <p:cNvPr id="10" name="Text 8"/>
          <p:cNvSpPr/>
          <p:nvPr/>
        </p:nvSpPr>
        <p:spPr>
          <a:xfrm>
            <a:off x="731520" y="2788920"/>
            <a:ext cx="7315200" cy="365760"/>
          </a:xfrm>
          <a:prstGeom prst="rect">
            <a:avLst/>
          </a:prstGeom>
          <a:noFill/>
          <a:ln/>
        </p:spPr>
        <p:txBody>
          <a:bodyPr wrap="square" rtlCol="0" anchor="ctr"/>
          <a:lstStyle/>
          <a:p>
            <a:pPr marL="0" indent="0">
              <a:buNone/>
            </a:pPr>
            <a:r>
              <a:rPr lang="en-US" sz="1700" b="1" dirty="0">
                <a:solidFill>
                  <a:srgbClr val="1E3A5F"/>
                </a:solidFill>
                <a:latin typeface="Calibri" pitchFamily="34" charset="0"/>
                <a:ea typeface="Calibri" pitchFamily="34" charset="-122"/>
                <a:cs typeface="Calibri" pitchFamily="34" charset="-120"/>
              </a:rPr>
              <a:t>2   Paso Inductivo: El Planteamiento</a:t>
            </a:r>
            <a:endParaRPr lang="en-US" sz="1700" dirty="0"/>
          </a:p>
        </p:txBody>
      </p:sp>
      <p:sp>
        <p:nvSpPr>
          <p:cNvPr id="11" name="Text 9"/>
          <p:cNvSpPr/>
          <p:nvPr/>
        </p:nvSpPr>
        <p:spPr>
          <a:xfrm>
            <a:off x="914400" y="3246120"/>
            <a:ext cx="731520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HI: Asumimos cierto para n=k, con k ≥ 2.</a:t>
            </a:r>
            <a:endParaRPr lang="en-US" sz="1200" dirty="0"/>
          </a:p>
        </p:txBody>
      </p:sp>
      <p:sp>
        <p:nvSpPr>
          <p:cNvPr id="12" name="Shape 10"/>
          <p:cNvSpPr/>
          <p:nvPr/>
        </p:nvSpPr>
        <p:spPr>
          <a:xfrm>
            <a:off x="731520" y="3566160"/>
            <a:ext cx="7498080" cy="411480"/>
          </a:xfrm>
          <a:prstGeom prst="rect">
            <a:avLst/>
          </a:prstGeom>
          <a:solidFill>
            <a:srgbClr val="F3EEFF"/>
          </a:solidFill>
          <a:ln/>
        </p:spPr>
        <p:txBody>
          <a:bodyPr/>
          <a:lstStyle/>
          <a:p>
            <a:endParaRPr lang="es-CO"/>
          </a:p>
        </p:txBody>
      </p:sp>
      <p:sp>
        <p:nvSpPr>
          <p:cNvPr id="13" name="Text 11"/>
          <p:cNvSpPr/>
          <p:nvPr/>
        </p:nvSpPr>
        <p:spPr>
          <a:xfrm>
            <a:off x="914400" y="3566160"/>
            <a:ext cx="7132320" cy="411480"/>
          </a:xfrm>
          <a:prstGeom prst="rect">
            <a:avLst/>
          </a:prstGeom>
          <a:noFill/>
          <a:ln/>
        </p:spPr>
        <p:txBody>
          <a:bodyPr wrap="square" rtlCol="0" anchor="ctr"/>
          <a:lstStyle/>
          <a:p>
            <a:pPr marL="0" indent="0" algn="ctr">
              <a:buNone/>
            </a:pPr>
            <a:r>
              <a:rPr lang="en-US" sz="1400" dirty="0">
                <a:solidFill>
                  <a:srgbClr val="6D28D9"/>
                </a:solidFill>
                <a:latin typeface="Consolas" pitchFamily="34" charset="0"/>
                <a:ea typeface="Consolas" pitchFamily="34" charset="-122"/>
                <a:cs typeface="Consolas" pitchFamily="34" charset="-120"/>
              </a:rPr>
              <a:t>k² ≥ 2k</a:t>
            </a:r>
            <a:endParaRPr lang="en-US" sz="1400" dirty="0"/>
          </a:p>
        </p:txBody>
      </p:sp>
      <p:sp>
        <p:nvSpPr>
          <p:cNvPr id="14" name="Text 12"/>
          <p:cNvSpPr/>
          <p:nvPr/>
        </p:nvSpPr>
        <p:spPr>
          <a:xfrm>
            <a:off x="914400" y="4114800"/>
            <a:ext cx="7315200" cy="274320"/>
          </a:xfrm>
          <a:prstGeom prst="rect">
            <a:avLst/>
          </a:prstGeom>
          <a:noFill/>
          <a:ln/>
        </p:spPr>
        <p:txBody>
          <a:bodyPr wrap="square" rtlCol="0" anchor="ctr"/>
          <a:lstStyle/>
          <a:p>
            <a:pPr marL="0" indent="0">
              <a:buNone/>
            </a:pPr>
            <a:r>
              <a:rPr lang="en-US" sz="1200" b="1" dirty="0">
                <a:solidFill>
                  <a:srgbClr val="2D2D3F"/>
                </a:solidFill>
                <a:latin typeface="Calibri" pitchFamily="34" charset="0"/>
                <a:ea typeface="Calibri" pitchFamily="34" charset="-122"/>
                <a:cs typeface="Calibri" pitchFamily="34" charset="-120"/>
              </a:rPr>
              <a:t>Tesis: Debemos demostrar para n=k+1.</a:t>
            </a:r>
            <a:endParaRPr lang="en-US" sz="1200" dirty="0"/>
          </a:p>
        </p:txBody>
      </p:sp>
      <p:sp>
        <p:nvSpPr>
          <p:cNvPr id="15" name="Shape 13"/>
          <p:cNvSpPr/>
          <p:nvPr/>
        </p:nvSpPr>
        <p:spPr>
          <a:xfrm>
            <a:off x="731520" y="4434840"/>
            <a:ext cx="7498080" cy="411480"/>
          </a:xfrm>
          <a:prstGeom prst="rect">
            <a:avLst/>
          </a:prstGeom>
          <a:solidFill>
            <a:srgbClr val="FEF9E7"/>
          </a:solidFill>
          <a:ln/>
        </p:spPr>
        <p:txBody>
          <a:bodyPr/>
          <a:lstStyle/>
          <a:p>
            <a:endParaRPr lang="es-CO"/>
          </a:p>
        </p:txBody>
      </p:sp>
      <p:sp>
        <p:nvSpPr>
          <p:cNvPr id="16" name="Text 14"/>
          <p:cNvSpPr/>
          <p:nvPr/>
        </p:nvSpPr>
        <p:spPr>
          <a:xfrm>
            <a:off x="914400" y="4434840"/>
            <a:ext cx="7132320" cy="411480"/>
          </a:xfrm>
          <a:prstGeom prst="rect">
            <a:avLst/>
          </a:prstGeom>
          <a:noFill/>
          <a:ln/>
        </p:spPr>
        <p:txBody>
          <a:bodyPr wrap="square" rtlCol="0" anchor="ctr"/>
          <a:lstStyle/>
          <a:p>
            <a:pPr marL="0" indent="0" algn="ctr">
              <a:buNone/>
            </a:pPr>
            <a:r>
              <a:rPr lang="en-US" sz="1400" dirty="0">
                <a:solidFill>
                  <a:srgbClr val="92400E"/>
                </a:solidFill>
                <a:latin typeface="Consolas" pitchFamily="34" charset="0"/>
                <a:ea typeface="Consolas" pitchFamily="34" charset="-122"/>
                <a:cs typeface="Consolas" pitchFamily="34" charset="-120"/>
              </a:rPr>
              <a:t>(k+1)² ≥ 2(k+1)</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731520" y="274320"/>
            <a:ext cx="7680960" cy="457200"/>
          </a:xfrm>
          <a:prstGeom prst="rect">
            <a:avLst/>
          </a:prstGeom>
          <a:noFill/>
          <a:ln/>
        </p:spPr>
        <p:txBody>
          <a:bodyPr wrap="square" rtlCol="0" anchor="ctr"/>
          <a:lstStyle/>
          <a:p>
            <a:pPr marL="0" indent="0">
              <a:buNone/>
            </a:pPr>
            <a:r>
              <a:rPr lang="en-US" sz="2400" b="1" dirty="0">
                <a:solidFill>
                  <a:srgbClr val="1E3A5F"/>
                </a:solidFill>
                <a:latin typeface="Calibri" pitchFamily="34" charset="0"/>
                <a:ea typeface="Calibri" pitchFamily="34" charset="-122"/>
                <a:cs typeface="Calibri" pitchFamily="34" charset="-120"/>
              </a:rPr>
              <a:t>Ejemplo 4: Desarrollo del Paso Inductivo</a:t>
            </a:r>
            <a:endParaRPr lang="en-US" sz="2400" dirty="0"/>
          </a:p>
        </p:txBody>
      </p:sp>
      <p:sp>
        <p:nvSpPr>
          <p:cNvPr id="5" name="Shape 3"/>
          <p:cNvSpPr/>
          <p:nvPr/>
        </p:nvSpPr>
        <p:spPr>
          <a:xfrm>
            <a:off x="731520" y="868680"/>
            <a:ext cx="7498080" cy="3200400"/>
          </a:xfrm>
          <a:prstGeom prst="rect">
            <a:avLst/>
          </a:prstGeom>
          <a:solidFill>
            <a:srgbClr val="F5F5F7"/>
          </a:solidFill>
          <a:ln/>
          <a:effectLst>
            <a:outerShdw blurRad="50800" dist="12700" dir="8100000" algn="bl" rotWithShape="0">
              <a:srgbClr val="000000">
                <a:alpha val="8000"/>
              </a:srgbClr>
            </a:outerShdw>
          </a:effectLst>
        </p:spPr>
        <p:txBody>
          <a:bodyPr/>
          <a:lstStyle/>
          <a:p>
            <a:endParaRPr lang="es-CO"/>
          </a:p>
        </p:txBody>
      </p:sp>
      <p:sp>
        <p:nvSpPr>
          <p:cNvPr id="6" name="Text 4"/>
          <p:cNvSpPr/>
          <p:nvPr/>
        </p:nvSpPr>
        <p:spPr>
          <a:xfrm>
            <a:off x="1005840" y="1005840"/>
            <a:ext cx="6949440" cy="256032"/>
          </a:xfrm>
          <a:prstGeom prst="rect">
            <a:avLst/>
          </a:prstGeom>
          <a:noFill/>
          <a:ln/>
        </p:spPr>
        <p:txBody>
          <a:bodyPr wrap="square" rtlCol="0" anchor="ctr"/>
          <a:lstStyle/>
          <a:p>
            <a:pPr marL="0" indent="0">
              <a:buNone/>
            </a:pPr>
            <a:r>
              <a:rPr lang="en-US" sz="1150" b="1" dirty="0">
                <a:solidFill>
                  <a:srgbClr val="2D2D3F"/>
                </a:solidFill>
                <a:latin typeface="Calibri" pitchFamily="34" charset="0"/>
                <a:ea typeface="Calibri" pitchFamily="34" charset="-122"/>
                <a:cs typeface="Calibri" pitchFamily="34" charset="-120"/>
              </a:rPr>
              <a:t>1.  Partimos del lado izquierdo de la Tesis:</a:t>
            </a:r>
            <a:endParaRPr lang="en-US" sz="1150" dirty="0"/>
          </a:p>
        </p:txBody>
      </p:sp>
      <p:sp>
        <p:nvSpPr>
          <p:cNvPr id="7" name="Shape 5"/>
          <p:cNvSpPr/>
          <p:nvPr/>
        </p:nvSpPr>
        <p:spPr>
          <a:xfrm>
            <a:off x="1371600" y="1280160"/>
            <a:ext cx="5486400" cy="256032"/>
          </a:xfrm>
          <a:prstGeom prst="rect">
            <a:avLst/>
          </a:prstGeom>
          <a:solidFill>
            <a:srgbClr val="F0F4F8"/>
          </a:solidFill>
          <a:ln/>
        </p:spPr>
        <p:txBody>
          <a:bodyPr/>
          <a:lstStyle/>
          <a:p>
            <a:endParaRPr lang="es-CO"/>
          </a:p>
        </p:txBody>
      </p:sp>
      <p:sp>
        <p:nvSpPr>
          <p:cNvPr id="8" name="Text 6"/>
          <p:cNvSpPr/>
          <p:nvPr/>
        </p:nvSpPr>
        <p:spPr>
          <a:xfrm>
            <a:off x="1554480" y="1280160"/>
            <a:ext cx="5303520" cy="256032"/>
          </a:xfrm>
          <a:prstGeom prst="rect">
            <a:avLst/>
          </a:prstGeom>
          <a:noFill/>
          <a:ln/>
        </p:spPr>
        <p:txBody>
          <a:bodyPr wrap="square" rtlCol="0" anchor="ctr"/>
          <a:lstStyle/>
          <a:p>
            <a:pPr marL="0" indent="0">
              <a:buNone/>
            </a:pPr>
            <a:r>
              <a:rPr lang="en-US" sz="1100" dirty="0">
                <a:solidFill>
                  <a:srgbClr val="1A1A2E"/>
                </a:solidFill>
                <a:latin typeface="Consolas" pitchFamily="34" charset="0"/>
                <a:ea typeface="Consolas" pitchFamily="34" charset="-122"/>
                <a:cs typeface="Consolas" pitchFamily="34" charset="-120"/>
              </a:rPr>
              <a:t>(k+1)² = k² + 2k + 1</a:t>
            </a:r>
            <a:endParaRPr lang="en-US" sz="1100" dirty="0"/>
          </a:p>
        </p:txBody>
      </p:sp>
      <p:sp>
        <p:nvSpPr>
          <p:cNvPr id="9" name="Text 7"/>
          <p:cNvSpPr/>
          <p:nvPr/>
        </p:nvSpPr>
        <p:spPr>
          <a:xfrm>
            <a:off x="1005840" y="1600200"/>
            <a:ext cx="6949440" cy="256032"/>
          </a:xfrm>
          <a:prstGeom prst="rect">
            <a:avLst/>
          </a:prstGeom>
          <a:noFill/>
          <a:ln/>
        </p:spPr>
        <p:txBody>
          <a:bodyPr wrap="square" rtlCol="0" anchor="ctr"/>
          <a:lstStyle/>
          <a:p>
            <a:pPr marL="0" indent="0">
              <a:buNone/>
            </a:pPr>
            <a:r>
              <a:rPr lang="en-US" sz="1150" b="1" dirty="0">
                <a:solidFill>
                  <a:srgbClr val="2D2D3F"/>
                </a:solidFill>
                <a:latin typeface="Calibri" pitchFamily="34" charset="0"/>
                <a:ea typeface="Calibri" pitchFamily="34" charset="-122"/>
                <a:cs typeface="Calibri" pitchFamily="34" charset="-120"/>
              </a:rPr>
              <a:t>2.  Por la Hipótesis, k² ≥ 2k. Sustituimos:</a:t>
            </a:r>
            <a:endParaRPr lang="en-US" sz="1150" dirty="0"/>
          </a:p>
        </p:txBody>
      </p:sp>
      <p:sp>
        <p:nvSpPr>
          <p:cNvPr id="10" name="Shape 8"/>
          <p:cNvSpPr/>
          <p:nvPr/>
        </p:nvSpPr>
        <p:spPr>
          <a:xfrm>
            <a:off x="1371600" y="1874520"/>
            <a:ext cx="5486400" cy="256032"/>
          </a:xfrm>
          <a:prstGeom prst="rect">
            <a:avLst/>
          </a:prstGeom>
          <a:solidFill>
            <a:srgbClr val="F0F4F8"/>
          </a:solidFill>
          <a:ln/>
        </p:spPr>
        <p:txBody>
          <a:bodyPr/>
          <a:lstStyle/>
          <a:p>
            <a:endParaRPr lang="es-CO"/>
          </a:p>
        </p:txBody>
      </p:sp>
      <p:sp>
        <p:nvSpPr>
          <p:cNvPr id="11" name="Text 9"/>
          <p:cNvSpPr/>
          <p:nvPr/>
        </p:nvSpPr>
        <p:spPr>
          <a:xfrm>
            <a:off x="1554480" y="1874520"/>
            <a:ext cx="5303520" cy="256032"/>
          </a:xfrm>
          <a:prstGeom prst="rect">
            <a:avLst/>
          </a:prstGeom>
          <a:noFill/>
          <a:ln/>
        </p:spPr>
        <p:txBody>
          <a:bodyPr wrap="square" rtlCol="0" anchor="ctr"/>
          <a:lstStyle/>
          <a:p>
            <a:pPr marL="0" indent="0">
              <a:buNone/>
            </a:pPr>
            <a:r>
              <a:rPr lang="en-US" sz="1100" dirty="0">
                <a:solidFill>
                  <a:srgbClr val="1A1A2E"/>
                </a:solidFill>
                <a:latin typeface="Consolas" pitchFamily="34" charset="0"/>
                <a:ea typeface="Consolas" pitchFamily="34" charset="-122"/>
                <a:cs typeface="Consolas" pitchFamily="34" charset="-120"/>
              </a:rPr>
              <a:t>k² + 2k + 1 ≥ 2k + 2k + 1 = 4k + 1</a:t>
            </a:r>
            <a:endParaRPr lang="en-US" sz="1100" dirty="0"/>
          </a:p>
        </p:txBody>
      </p:sp>
      <p:sp>
        <p:nvSpPr>
          <p:cNvPr id="12" name="Text 10"/>
          <p:cNvSpPr/>
          <p:nvPr/>
        </p:nvSpPr>
        <p:spPr>
          <a:xfrm>
            <a:off x="1005840" y="2194560"/>
            <a:ext cx="6949440" cy="256032"/>
          </a:xfrm>
          <a:prstGeom prst="rect">
            <a:avLst/>
          </a:prstGeom>
          <a:noFill/>
          <a:ln/>
        </p:spPr>
        <p:txBody>
          <a:bodyPr wrap="square" rtlCol="0" anchor="ctr"/>
          <a:lstStyle/>
          <a:p>
            <a:pPr marL="0" indent="0">
              <a:buNone/>
            </a:pPr>
            <a:r>
              <a:rPr lang="en-US" sz="1150" b="1" dirty="0">
                <a:solidFill>
                  <a:srgbClr val="2D2D3F"/>
                </a:solidFill>
                <a:latin typeface="Calibri" pitchFamily="34" charset="0"/>
                <a:ea typeface="Calibri" pitchFamily="34" charset="-122"/>
                <a:cs typeface="Calibri" pitchFamily="34" charset="-120"/>
              </a:rPr>
              <a:t>3.  Queremos ver si 4k+1 ≥ 2k+2 (que es 2(k+1)).</a:t>
            </a:r>
            <a:endParaRPr lang="en-US" sz="1150" dirty="0"/>
          </a:p>
        </p:txBody>
      </p:sp>
      <p:sp>
        <p:nvSpPr>
          <p:cNvPr id="13" name="Text 11"/>
          <p:cNvSpPr/>
          <p:nvPr/>
        </p:nvSpPr>
        <p:spPr>
          <a:xfrm>
            <a:off x="1005840" y="2788920"/>
            <a:ext cx="6949440" cy="256032"/>
          </a:xfrm>
          <a:prstGeom prst="rect">
            <a:avLst/>
          </a:prstGeom>
          <a:noFill/>
          <a:ln/>
        </p:spPr>
        <p:txBody>
          <a:bodyPr wrap="square" rtlCol="0" anchor="ctr"/>
          <a:lstStyle/>
          <a:p>
            <a:pPr marL="0" indent="0">
              <a:buNone/>
            </a:pPr>
            <a:r>
              <a:rPr lang="en-US" sz="1150" b="1" dirty="0">
                <a:solidFill>
                  <a:srgbClr val="2D2D3F"/>
                </a:solidFill>
                <a:latin typeface="Calibri" pitchFamily="34" charset="0"/>
                <a:ea typeface="Calibri" pitchFamily="34" charset="-122"/>
                <a:cs typeface="Calibri" pitchFamily="34" charset="-120"/>
              </a:rPr>
              <a:t>4.  Restando: 4k+1 - (2k+2) = 2k-1 ≥ 0 para k ≥ 2.</a:t>
            </a:r>
            <a:endParaRPr lang="en-US" sz="1150" dirty="0"/>
          </a:p>
        </p:txBody>
      </p:sp>
      <p:sp>
        <p:nvSpPr>
          <p:cNvPr id="14" name="Shape 12"/>
          <p:cNvSpPr/>
          <p:nvPr/>
        </p:nvSpPr>
        <p:spPr>
          <a:xfrm>
            <a:off x="1371600" y="3063240"/>
            <a:ext cx="5486400" cy="256032"/>
          </a:xfrm>
          <a:prstGeom prst="rect">
            <a:avLst/>
          </a:prstGeom>
          <a:solidFill>
            <a:srgbClr val="F0F4F8"/>
          </a:solidFill>
          <a:ln/>
        </p:spPr>
        <p:txBody>
          <a:bodyPr/>
          <a:lstStyle/>
          <a:p>
            <a:endParaRPr lang="es-CO"/>
          </a:p>
        </p:txBody>
      </p:sp>
      <p:sp>
        <p:nvSpPr>
          <p:cNvPr id="15" name="Text 13"/>
          <p:cNvSpPr/>
          <p:nvPr/>
        </p:nvSpPr>
        <p:spPr>
          <a:xfrm>
            <a:off x="1554480" y="3063240"/>
            <a:ext cx="5303520" cy="256032"/>
          </a:xfrm>
          <a:prstGeom prst="rect">
            <a:avLst/>
          </a:prstGeom>
          <a:noFill/>
          <a:ln/>
        </p:spPr>
        <p:txBody>
          <a:bodyPr wrap="square" rtlCol="0" anchor="ctr"/>
          <a:lstStyle/>
          <a:p>
            <a:pPr marL="0" indent="0">
              <a:buNone/>
            </a:pPr>
            <a:r>
              <a:rPr lang="en-US" sz="1100" dirty="0">
                <a:solidFill>
                  <a:srgbClr val="1A1A2E"/>
                </a:solidFill>
                <a:latin typeface="Consolas" pitchFamily="34" charset="0"/>
                <a:ea typeface="Consolas" pitchFamily="34" charset="-122"/>
                <a:cs typeface="Consolas" pitchFamily="34" charset="-120"/>
              </a:rPr>
              <a:t>2k - 1 ≥ 0  (verdadero para k ≥ 2)</a:t>
            </a:r>
            <a:endParaRPr lang="en-US" sz="1100" dirty="0"/>
          </a:p>
        </p:txBody>
      </p:sp>
      <p:sp>
        <p:nvSpPr>
          <p:cNvPr id="16" name="Text 14"/>
          <p:cNvSpPr/>
          <p:nvPr/>
        </p:nvSpPr>
        <p:spPr>
          <a:xfrm>
            <a:off x="1005840" y="3383280"/>
            <a:ext cx="6949440" cy="256032"/>
          </a:xfrm>
          <a:prstGeom prst="rect">
            <a:avLst/>
          </a:prstGeom>
          <a:noFill/>
          <a:ln/>
        </p:spPr>
        <p:txBody>
          <a:bodyPr wrap="square" rtlCol="0" anchor="ctr"/>
          <a:lstStyle/>
          <a:p>
            <a:pPr marL="0" indent="0">
              <a:buNone/>
            </a:pPr>
            <a:r>
              <a:rPr lang="en-US" sz="1150" b="1" dirty="0">
                <a:solidFill>
                  <a:srgbClr val="2D2D3F"/>
                </a:solidFill>
                <a:latin typeface="Calibri" pitchFamily="34" charset="0"/>
                <a:ea typeface="Calibri" pitchFamily="34" charset="-122"/>
                <a:cs typeface="Calibri" pitchFamily="34" charset="-120"/>
              </a:rPr>
              <a:t>5.  Por transitividad:</a:t>
            </a:r>
            <a:endParaRPr lang="en-US" sz="1150" dirty="0"/>
          </a:p>
        </p:txBody>
      </p:sp>
      <p:sp>
        <p:nvSpPr>
          <p:cNvPr id="17" name="Shape 15"/>
          <p:cNvSpPr/>
          <p:nvPr/>
        </p:nvSpPr>
        <p:spPr>
          <a:xfrm>
            <a:off x="1371600" y="3657600"/>
            <a:ext cx="5486400" cy="256032"/>
          </a:xfrm>
          <a:prstGeom prst="rect">
            <a:avLst/>
          </a:prstGeom>
          <a:solidFill>
            <a:srgbClr val="F0F4F8"/>
          </a:solidFill>
          <a:ln/>
        </p:spPr>
        <p:txBody>
          <a:bodyPr/>
          <a:lstStyle/>
          <a:p>
            <a:endParaRPr lang="es-CO"/>
          </a:p>
        </p:txBody>
      </p:sp>
      <p:sp>
        <p:nvSpPr>
          <p:cNvPr id="18" name="Text 16"/>
          <p:cNvSpPr/>
          <p:nvPr/>
        </p:nvSpPr>
        <p:spPr>
          <a:xfrm>
            <a:off x="1554480" y="3657600"/>
            <a:ext cx="5303520" cy="256032"/>
          </a:xfrm>
          <a:prstGeom prst="rect">
            <a:avLst/>
          </a:prstGeom>
          <a:noFill/>
          <a:ln/>
        </p:spPr>
        <p:txBody>
          <a:bodyPr wrap="square" rtlCol="0" anchor="ctr"/>
          <a:lstStyle/>
          <a:p>
            <a:pPr marL="0" indent="0">
              <a:buNone/>
            </a:pPr>
            <a:r>
              <a:rPr lang="en-US" sz="1100" dirty="0">
                <a:solidFill>
                  <a:srgbClr val="1A1A2E"/>
                </a:solidFill>
                <a:latin typeface="Consolas" pitchFamily="34" charset="0"/>
                <a:ea typeface="Consolas" pitchFamily="34" charset="-122"/>
                <a:cs typeface="Consolas" pitchFamily="34" charset="-120"/>
              </a:rPr>
              <a:t>(k+1)² ≥ 4k+1 ≥ 2k+2 = 2(k+1)</a:t>
            </a:r>
            <a:endParaRPr lang="en-US" sz="1100" dirty="0"/>
          </a:p>
        </p:txBody>
      </p:sp>
      <p:sp>
        <p:nvSpPr>
          <p:cNvPr id="19" name="Shape 17"/>
          <p:cNvSpPr/>
          <p:nvPr/>
        </p:nvSpPr>
        <p:spPr>
          <a:xfrm>
            <a:off x="731520" y="4251960"/>
            <a:ext cx="7498080" cy="457200"/>
          </a:xfrm>
          <a:prstGeom prst="rect">
            <a:avLst/>
          </a:prstGeom>
          <a:solidFill>
            <a:srgbClr val="ECFDF5"/>
          </a:solidFill>
          <a:ln/>
        </p:spPr>
        <p:txBody>
          <a:bodyPr/>
          <a:lstStyle/>
          <a:p>
            <a:endParaRPr lang="es-CO"/>
          </a:p>
        </p:txBody>
      </p:sp>
      <p:sp>
        <p:nvSpPr>
          <p:cNvPr id="20" name="Text 18"/>
          <p:cNvSpPr/>
          <p:nvPr/>
        </p:nvSpPr>
        <p:spPr>
          <a:xfrm>
            <a:off x="914400" y="4251960"/>
            <a:ext cx="7132320" cy="457200"/>
          </a:xfrm>
          <a:prstGeom prst="rect">
            <a:avLst/>
          </a:prstGeom>
          <a:noFill/>
          <a:ln/>
        </p:spPr>
        <p:txBody>
          <a:bodyPr wrap="square" rtlCol="0" anchor="ctr"/>
          <a:lstStyle/>
          <a:p>
            <a:pPr marL="0" indent="0">
              <a:buNone/>
            </a:pPr>
            <a:r>
              <a:rPr lang="en-US" sz="1300" b="1" dirty="0">
                <a:solidFill>
                  <a:srgbClr val="16803C"/>
                </a:solidFill>
                <a:latin typeface="Calibri" pitchFamily="34" charset="0"/>
                <a:ea typeface="Calibri" pitchFamily="34" charset="-122"/>
                <a:cs typeface="Calibri" pitchFamily="34" charset="-120"/>
              </a:rPr>
              <a:t>(k+1)² ≥ 2(k+1). La demostración está completa.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731520" y="274320"/>
            <a:ext cx="7680960" cy="457200"/>
          </a:xfrm>
          <a:prstGeom prst="rect">
            <a:avLst/>
          </a:prstGeom>
          <a:noFill/>
          <a:ln/>
        </p:spPr>
        <p:txBody>
          <a:bodyPr wrap="square" rtlCol="0" anchor="ctr"/>
          <a:lstStyle/>
          <a:p>
            <a:pPr marL="0" indent="0">
              <a:buNone/>
            </a:pPr>
            <a:r>
              <a:rPr lang="en-US" sz="2400" b="1" dirty="0">
                <a:solidFill>
                  <a:srgbClr val="1E3A5F"/>
                </a:solidFill>
                <a:latin typeface="Calibri" pitchFamily="34" charset="0"/>
                <a:ea typeface="Calibri" pitchFamily="34" charset="-122"/>
                <a:cs typeface="Calibri" pitchFamily="34" charset="-120"/>
              </a:rPr>
              <a:t>Ejemplo 5: Suma de Serie Geométrica</a:t>
            </a:r>
            <a:endParaRPr lang="en-US" sz="2400" dirty="0"/>
          </a:p>
        </p:txBody>
      </p:sp>
      <p:sp>
        <p:nvSpPr>
          <p:cNvPr id="5" name="Shape 3"/>
          <p:cNvSpPr/>
          <p:nvPr/>
        </p:nvSpPr>
        <p:spPr>
          <a:xfrm>
            <a:off x="731520" y="822960"/>
            <a:ext cx="7498080" cy="502920"/>
          </a:xfrm>
          <a:prstGeom prst="rect">
            <a:avLst/>
          </a:prstGeom>
          <a:solidFill>
            <a:srgbClr val="F0F4F8"/>
          </a:solidFill>
          <a:ln/>
          <a:effectLst>
            <a:outerShdw blurRad="50800" dist="12700" dir="8100000" algn="bl" rotWithShape="0">
              <a:srgbClr val="000000">
                <a:alpha val="8000"/>
              </a:srgbClr>
            </a:outerShdw>
          </a:effectLst>
        </p:spPr>
        <p:txBody>
          <a:bodyPr/>
          <a:lstStyle/>
          <a:p>
            <a:endParaRPr lang="es-CO"/>
          </a:p>
        </p:txBody>
      </p:sp>
      <p:sp>
        <p:nvSpPr>
          <p:cNvPr id="6" name="Text 4"/>
          <p:cNvSpPr/>
          <p:nvPr/>
        </p:nvSpPr>
        <p:spPr>
          <a:xfrm>
            <a:off x="914400" y="822960"/>
            <a:ext cx="7132320" cy="50292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P(n):   </a:t>
            </a:r>
            <a:r>
              <a:rPr lang="en-US" sz="1400" dirty="0">
                <a:solidFill>
                  <a:srgbClr val="1A1A2E"/>
                </a:solidFill>
                <a:latin typeface="Consolas" pitchFamily="34" charset="0"/>
                <a:ea typeface="Consolas" pitchFamily="34" charset="-122"/>
                <a:cs typeface="Consolas" pitchFamily="34" charset="-120"/>
              </a:rPr>
              <a:t>1 + 2 + 4 + ... + 2ⁿ⁻¹ = 2ⁿ − 1</a:t>
            </a:r>
            <a:endParaRPr lang="en-US" sz="1400" dirty="0"/>
          </a:p>
        </p:txBody>
      </p:sp>
      <p:sp>
        <p:nvSpPr>
          <p:cNvPr id="7" name="Shape 5"/>
          <p:cNvSpPr/>
          <p:nvPr/>
        </p:nvSpPr>
        <p:spPr>
          <a:xfrm>
            <a:off x="731520" y="1554480"/>
            <a:ext cx="3657600" cy="2560320"/>
          </a:xfrm>
          <a:prstGeom prst="rect">
            <a:avLst/>
          </a:prstGeom>
          <a:solidFill>
            <a:srgbClr val="F5F5F7"/>
          </a:solidFill>
          <a:ln/>
          <a:effectLst>
            <a:outerShdw blurRad="50800" dist="12700" dir="8100000" algn="bl" rotWithShape="0">
              <a:srgbClr val="000000">
                <a:alpha val="8000"/>
              </a:srgbClr>
            </a:outerShdw>
          </a:effectLst>
        </p:spPr>
        <p:txBody>
          <a:bodyPr/>
          <a:lstStyle/>
          <a:p>
            <a:endParaRPr lang="es-CO"/>
          </a:p>
        </p:txBody>
      </p:sp>
      <p:sp>
        <p:nvSpPr>
          <p:cNvPr id="8" name="Text 6"/>
          <p:cNvSpPr/>
          <p:nvPr/>
        </p:nvSpPr>
        <p:spPr>
          <a:xfrm>
            <a:off x="1005840" y="1645920"/>
            <a:ext cx="3200400" cy="320040"/>
          </a:xfrm>
          <a:prstGeom prst="rect">
            <a:avLst/>
          </a:prstGeom>
          <a:noFill/>
          <a:ln/>
        </p:spPr>
        <p:txBody>
          <a:bodyPr wrap="square" rtlCol="0" anchor="ctr"/>
          <a:lstStyle/>
          <a:p>
            <a:pPr marL="0" indent="0">
              <a:buNone/>
            </a:pPr>
            <a:r>
              <a:rPr lang="en-US" sz="1500" b="1" dirty="0">
                <a:solidFill>
                  <a:srgbClr val="1E3A5F"/>
                </a:solidFill>
                <a:latin typeface="Calibri" pitchFamily="34" charset="0"/>
                <a:ea typeface="Calibri" pitchFamily="34" charset="-122"/>
                <a:cs typeface="Calibri" pitchFamily="34" charset="-120"/>
              </a:rPr>
              <a:t>Planteamiento</a:t>
            </a:r>
            <a:endParaRPr lang="en-US" sz="1500" dirty="0"/>
          </a:p>
        </p:txBody>
      </p:sp>
      <p:sp>
        <p:nvSpPr>
          <p:cNvPr id="9" name="Text 7"/>
          <p:cNvSpPr/>
          <p:nvPr/>
        </p:nvSpPr>
        <p:spPr>
          <a:xfrm>
            <a:off x="1005840" y="2011680"/>
            <a:ext cx="3200400" cy="228600"/>
          </a:xfrm>
          <a:prstGeom prst="rect">
            <a:avLst/>
          </a:prstGeom>
          <a:noFill/>
          <a:ln/>
        </p:spPr>
        <p:txBody>
          <a:bodyPr wrap="square" rtlCol="0" anchor="ctr"/>
          <a:lstStyle/>
          <a:p>
            <a:pPr marL="0" indent="0">
              <a:buNone/>
            </a:pPr>
            <a:r>
              <a:rPr lang="en-US" sz="1200" b="1" dirty="0">
                <a:solidFill>
                  <a:srgbClr val="16803C"/>
                </a:solidFill>
                <a:latin typeface="Calibri" pitchFamily="34" charset="0"/>
                <a:ea typeface="Calibri" pitchFamily="34" charset="-122"/>
                <a:cs typeface="Calibri" pitchFamily="34" charset="-120"/>
              </a:rPr>
              <a:t>Paso Base (n=1):</a:t>
            </a:r>
            <a:endParaRPr lang="en-US" sz="1200" dirty="0"/>
          </a:p>
        </p:txBody>
      </p:sp>
      <p:sp>
        <p:nvSpPr>
          <p:cNvPr id="10" name="Text 8"/>
          <p:cNvSpPr/>
          <p:nvPr/>
        </p:nvSpPr>
        <p:spPr>
          <a:xfrm>
            <a:off x="1005840" y="2240280"/>
            <a:ext cx="3200400" cy="228600"/>
          </a:xfrm>
          <a:prstGeom prst="rect">
            <a:avLst/>
          </a:prstGeom>
          <a:noFill/>
          <a:ln/>
        </p:spPr>
        <p:txBody>
          <a:bodyPr wrap="square" rtlCol="0" anchor="ctr"/>
          <a:lstStyle/>
          <a:p>
            <a:pPr marL="0" indent="0">
              <a:buNone/>
            </a:pPr>
            <a:r>
              <a:rPr lang="en-US" sz="1100" dirty="0">
                <a:solidFill>
                  <a:srgbClr val="2D2D3F"/>
                </a:solidFill>
                <a:latin typeface="Calibri" pitchFamily="34" charset="0"/>
                <a:ea typeface="Calibri" pitchFamily="34" charset="-122"/>
                <a:cs typeface="Calibri" pitchFamily="34" charset="-120"/>
              </a:rPr>
              <a:t>1 = 2¹ − 1  →  1 = 1.  Correcto.</a:t>
            </a:r>
            <a:endParaRPr lang="en-US" sz="1100" dirty="0"/>
          </a:p>
        </p:txBody>
      </p:sp>
      <p:sp>
        <p:nvSpPr>
          <p:cNvPr id="11" name="Text 9"/>
          <p:cNvSpPr/>
          <p:nvPr/>
        </p:nvSpPr>
        <p:spPr>
          <a:xfrm>
            <a:off x="1005840" y="2606040"/>
            <a:ext cx="3200400" cy="228600"/>
          </a:xfrm>
          <a:prstGeom prst="rect">
            <a:avLst/>
          </a:prstGeom>
          <a:noFill/>
          <a:ln/>
        </p:spPr>
        <p:txBody>
          <a:bodyPr wrap="square" rtlCol="0" anchor="ctr"/>
          <a:lstStyle/>
          <a:p>
            <a:pPr marL="0" indent="0">
              <a:buNone/>
            </a:pPr>
            <a:r>
              <a:rPr lang="en-US" sz="1200" b="1" dirty="0">
                <a:solidFill>
                  <a:srgbClr val="6D28D9"/>
                </a:solidFill>
                <a:latin typeface="Calibri" pitchFamily="34" charset="0"/>
                <a:ea typeface="Calibri" pitchFamily="34" charset="-122"/>
                <a:cs typeface="Calibri" pitchFamily="34" charset="-120"/>
              </a:rPr>
              <a:t>HI:</a:t>
            </a:r>
            <a:endParaRPr lang="en-US" sz="1200" dirty="0"/>
          </a:p>
        </p:txBody>
      </p:sp>
      <p:sp>
        <p:nvSpPr>
          <p:cNvPr id="12" name="Shape 10"/>
          <p:cNvSpPr/>
          <p:nvPr/>
        </p:nvSpPr>
        <p:spPr>
          <a:xfrm>
            <a:off x="1005840" y="2834640"/>
            <a:ext cx="3200400" cy="320040"/>
          </a:xfrm>
          <a:prstGeom prst="rect">
            <a:avLst/>
          </a:prstGeom>
          <a:solidFill>
            <a:srgbClr val="F3EEFF"/>
          </a:solidFill>
          <a:ln/>
        </p:spPr>
        <p:txBody>
          <a:bodyPr/>
          <a:lstStyle/>
          <a:p>
            <a:endParaRPr lang="es-CO"/>
          </a:p>
        </p:txBody>
      </p:sp>
      <p:sp>
        <p:nvSpPr>
          <p:cNvPr id="13" name="Text 11"/>
          <p:cNvSpPr/>
          <p:nvPr/>
        </p:nvSpPr>
        <p:spPr>
          <a:xfrm>
            <a:off x="1097280" y="2834640"/>
            <a:ext cx="3017520" cy="320040"/>
          </a:xfrm>
          <a:prstGeom prst="rect">
            <a:avLst/>
          </a:prstGeom>
          <a:noFill/>
          <a:ln/>
        </p:spPr>
        <p:txBody>
          <a:bodyPr wrap="square" rtlCol="0" anchor="ctr"/>
          <a:lstStyle/>
          <a:p>
            <a:pPr marL="0" indent="0">
              <a:buNone/>
            </a:pPr>
            <a:r>
              <a:rPr lang="en-US" sz="1100" dirty="0">
                <a:solidFill>
                  <a:srgbClr val="6D28D9"/>
                </a:solidFill>
                <a:latin typeface="Consolas" pitchFamily="34" charset="0"/>
                <a:ea typeface="Consolas" pitchFamily="34" charset="-122"/>
                <a:cs typeface="Consolas" pitchFamily="34" charset="-120"/>
              </a:rPr>
              <a:t>1+...+2ᵏ⁻¹ = 2ᵏ − 1</a:t>
            </a:r>
            <a:endParaRPr lang="en-US" sz="1100" dirty="0"/>
          </a:p>
        </p:txBody>
      </p:sp>
      <p:sp>
        <p:nvSpPr>
          <p:cNvPr id="14" name="Text 12"/>
          <p:cNvSpPr/>
          <p:nvPr/>
        </p:nvSpPr>
        <p:spPr>
          <a:xfrm>
            <a:off x="1005840" y="3291840"/>
            <a:ext cx="3200400" cy="228600"/>
          </a:xfrm>
          <a:prstGeom prst="rect">
            <a:avLst/>
          </a:prstGeom>
          <a:noFill/>
          <a:ln/>
        </p:spPr>
        <p:txBody>
          <a:bodyPr wrap="square" rtlCol="0" anchor="ctr"/>
          <a:lstStyle/>
          <a:p>
            <a:pPr marL="0" indent="0">
              <a:buNone/>
            </a:pPr>
            <a:r>
              <a:rPr lang="en-US" sz="1200" b="1" dirty="0">
                <a:solidFill>
                  <a:srgbClr val="92400E"/>
                </a:solidFill>
                <a:latin typeface="Calibri" pitchFamily="34" charset="0"/>
                <a:ea typeface="Calibri" pitchFamily="34" charset="-122"/>
                <a:cs typeface="Calibri" pitchFamily="34" charset="-120"/>
              </a:rPr>
              <a:t>Tesis:</a:t>
            </a:r>
            <a:endParaRPr lang="en-US" sz="1200" dirty="0"/>
          </a:p>
        </p:txBody>
      </p:sp>
      <p:sp>
        <p:nvSpPr>
          <p:cNvPr id="15" name="Shape 13"/>
          <p:cNvSpPr/>
          <p:nvPr/>
        </p:nvSpPr>
        <p:spPr>
          <a:xfrm>
            <a:off x="1005840" y="3520440"/>
            <a:ext cx="3200400" cy="320040"/>
          </a:xfrm>
          <a:prstGeom prst="rect">
            <a:avLst/>
          </a:prstGeom>
          <a:solidFill>
            <a:srgbClr val="FEF9E7"/>
          </a:solidFill>
          <a:ln/>
        </p:spPr>
        <p:txBody>
          <a:bodyPr/>
          <a:lstStyle/>
          <a:p>
            <a:endParaRPr lang="es-CO"/>
          </a:p>
        </p:txBody>
      </p:sp>
      <p:sp>
        <p:nvSpPr>
          <p:cNvPr id="16" name="Text 14"/>
          <p:cNvSpPr/>
          <p:nvPr/>
        </p:nvSpPr>
        <p:spPr>
          <a:xfrm>
            <a:off x="1097280" y="3520440"/>
            <a:ext cx="3017520" cy="320040"/>
          </a:xfrm>
          <a:prstGeom prst="rect">
            <a:avLst/>
          </a:prstGeom>
          <a:noFill/>
          <a:ln/>
        </p:spPr>
        <p:txBody>
          <a:bodyPr wrap="square" rtlCol="0" anchor="ctr"/>
          <a:lstStyle/>
          <a:p>
            <a:pPr marL="0" indent="0">
              <a:buNone/>
            </a:pPr>
            <a:r>
              <a:rPr lang="en-US" sz="1000" dirty="0">
                <a:solidFill>
                  <a:srgbClr val="92400E"/>
                </a:solidFill>
                <a:latin typeface="Consolas" pitchFamily="34" charset="0"/>
                <a:ea typeface="Consolas" pitchFamily="34" charset="-122"/>
                <a:cs typeface="Consolas" pitchFamily="34" charset="-120"/>
              </a:rPr>
              <a:t>1+...+2ᵏ⁻¹+2ᵏ = 2ᵏ⁺¹−1</a:t>
            </a:r>
            <a:endParaRPr lang="en-US" sz="1000" dirty="0"/>
          </a:p>
        </p:txBody>
      </p:sp>
      <p:sp>
        <p:nvSpPr>
          <p:cNvPr id="17" name="Shape 15"/>
          <p:cNvSpPr/>
          <p:nvPr/>
        </p:nvSpPr>
        <p:spPr>
          <a:xfrm>
            <a:off x="4754880" y="1554480"/>
            <a:ext cx="3657600" cy="2560320"/>
          </a:xfrm>
          <a:prstGeom prst="rect">
            <a:avLst/>
          </a:prstGeom>
          <a:solidFill>
            <a:srgbClr val="F5F5F7"/>
          </a:solidFill>
          <a:ln/>
          <a:effectLst>
            <a:outerShdw blurRad="50800" dist="12700" dir="8100000" algn="bl" rotWithShape="0">
              <a:srgbClr val="000000">
                <a:alpha val="8000"/>
              </a:srgbClr>
            </a:outerShdw>
          </a:effectLst>
        </p:spPr>
        <p:txBody>
          <a:bodyPr/>
          <a:lstStyle/>
          <a:p>
            <a:endParaRPr lang="es-CO"/>
          </a:p>
        </p:txBody>
      </p:sp>
      <p:sp>
        <p:nvSpPr>
          <p:cNvPr id="18" name="Text 16"/>
          <p:cNvSpPr/>
          <p:nvPr/>
        </p:nvSpPr>
        <p:spPr>
          <a:xfrm>
            <a:off x="5029200" y="1645920"/>
            <a:ext cx="3200400" cy="320040"/>
          </a:xfrm>
          <a:prstGeom prst="rect">
            <a:avLst/>
          </a:prstGeom>
          <a:noFill/>
          <a:ln/>
        </p:spPr>
        <p:txBody>
          <a:bodyPr wrap="square" rtlCol="0" anchor="ctr"/>
          <a:lstStyle/>
          <a:p>
            <a:pPr marL="0" indent="0">
              <a:buNone/>
            </a:pPr>
            <a:r>
              <a:rPr lang="en-US" sz="1500" b="1" dirty="0">
                <a:solidFill>
                  <a:srgbClr val="1E3A5F"/>
                </a:solidFill>
                <a:latin typeface="Calibri" pitchFamily="34" charset="0"/>
                <a:ea typeface="Calibri" pitchFamily="34" charset="-122"/>
                <a:cs typeface="Calibri" pitchFamily="34" charset="-120"/>
              </a:rPr>
              <a:t>Demostración</a:t>
            </a:r>
            <a:endParaRPr lang="en-US" sz="1500" dirty="0"/>
          </a:p>
        </p:txBody>
      </p:sp>
      <p:sp>
        <p:nvSpPr>
          <p:cNvPr id="19" name="Text 17"/>
          <p:cNvSpPr/>
          <p:nvPr/>
        </p:nvSpPr>
        <p:spPr>
          <a:xfrm>
            <a:off x="5029200" y="2057400"/>
            <a:ext cx="3200400" cy="201168"/>
          </a:xfrm>
          <a:prstGeom prst="rect">
            <a:avLst/>
          </a:prstGeom>
          <a:noFill/>
          <a:ln/>
        </p:spPr>
        <p:txBody>
          <a:bodyPr wrap="square" rtlCol="0" anchor="ctr"/>
          <a:lstStyle/>
          <a:p>
            <a:pPr marL="0" indent="0">
              <a:buNone/>
            </a:pPr>
            <a:r>
              <a:rPr lang="en-US" sz="1000" dirty="0">
                <a:solidFill>
                  <a:srgbClr val="2D2D3F"/>
                </a:solidFill>
                <a:latin typeface="Calibri" pitchFamily="34" charset="0"/>
                <a:ea typeface="Calibri" pitchFamily="34" charset="-122"/>
                <a:cs typeface="Calibri" pitchFamily="34" charset="-120"/>
              </a:rPr>
              <a:t>1. Partimos del lado izquierdo:</a:t>
            </a:r>
            <a:endParaRPr lang="en-US" sz="1000" dirty="0"/>
          </a:p>
        </p:txBody>
      </p:sp>
      <p:sp>
        <p:nvSpPr>
          <p:cNvPr id="20" name="Text 18"/>
          <p:cNvSpPr/>
          <p:nvPr/>
        </p:nvSpPr>
        <p:spPr>
          <a:xfrm>
            <a:off x="5029200" y="2258568"/>
            <a:ext cx="3200400" cy="228600"/>
          </a:xfrm>
          <a:prstGeom prst="rect">
            <a:avLst/>
          </a:prstGeom>
          <a:noFill/>
          <a:ln/>
        </p:spPr>
        <p:txBody>
          <a:bodyPr wrap="square" rtlCol="0" anchor="ctr"/>
          <a:lstStyle/>
          <a:p>
            <a:pPr marL="0" indent="0">
              <a:buNone/>
            </a:pPr>
            <a:r>
              <a:rPr lang="en-US" sz="1100" dirty="0">
                <a:solidFill>
                  <a:srgbClr val="1A1A2E"/>
                </a:solidFill>
                <a:latin typeface="Consolas" pitchFamily="34" charset="0"/>
                <a:ea typeface="Consolas" pitchFamily="34" charset="-122"/>
                <a:cs typeface="Consolas" pitchFamily="34" charset="-120"/>
              </a:rPr>
              <a:t>(1+...+2ᵏ⁻¹) + 2ᵏ</a:t>
            </a:r>
            <a:endParaRPr lang="en-US" sz="1100" dirty="0"/>
          </a:p>
        </p:txBody>
      </p:sp>
      <p:sp>
        <p:nvSpPr>
          <p:cNvPr id="21" name="Text 19"/>
          <p:cNvSpPr/>
          <p:nvPr/>
        </p:nvSpPr>
        <p:spPr>
          <a:xfrm>
            <a:off x="5029200" y="2560320"/>
            <a:ext cx="3200400" cy="201168"/>
          </a:xfrm>
          <a:prstGeom prst="rect">
            <a:avLst/>
          </a:prstGeom>
          <a:noFill/>
          <a:ln/>
        </p:spPr>
        <p:txBody>
          <a:bodyPr wrap="square" rtlCol="0" anchor="ctr"/>
          <a:lstStyle/>
          <a:p>
            <a:pPr marL="0" indent="0">
              <a:buNone/>
            </a:pPr>
            <a:r>
              <a:rPr lang="en-US" sz="1000" dirty="0">
                <a:solidFill>
                  <a:srgbClr val="2D2D3F"/>
                </a:solidFill>
                <a:latin typeface="Calibri" pitchFamily="34" charset="0"/>
                <a:ea typeface="Calibri" pitchFamily="34" charset="-122"/>
                <a:cs typeface="Calibri" pitchFamily="34" charset="-120"/>
              </a:rPr>
              <a:t>2. Sustituimos usando la HI:</a:t>
            </a:r>
            <a:endParaRPr lang="en-US" sz="1000" dirty="0"/>
          </a:p>
        </p:txBody>
      </p:sp>
      <p:sp>
        <p:nvSpPr>
          <p:cNvPr id="22" name="Text 20"/>
          <p:cNvSpPr/>
          <p:nvPr/>
        </p:nvSpPr>
        <p:spPr>
          <a:xfrm>
            <a:off x="5029200" y="2761488"/>
            <a:ext cx="3200400" cy="228600"/>
          </a:xfrm>
          <a:prstGeom prst="rect">
            <a:avLst/>
          </a:prstGeom>
          <a:noFill/>
          <a:ln/>
        </p:spPr>
        <p:txBody>
          <a:bodyPr wrap="square" rtlCol="0" anchor="ctr"/>
          <a:lstStyle/>
          <a:p>
            <a:pPr marL="0" indent="0">
              <a:buNone/>
            </a:pPr>
            <a:r>
              <a:rPr lang="en-US" sz="1100" dirty="0">
                <a:solidFill>
                  <a:srgbClr val="1A1A2E"/>
                </a:solidFill>
                <a:latin typeface="Consolas" pitchFamily="34" charset="0"/>
                <a:ea typeface="Consolas" pitchFamily="34" charset="-122"/>
                <a:cs typeface="Consolas" pitchFamily="34" charset="-120"/>
              </a:rPr>
              <a:t>(2ᵏ − 1) + 2ᵏ</a:t>
            </a:r>
            <a:endParaRPr lang="en-US" sz="1100" dirty="0"/>
          </a:p>
        </p:txBody>
      </p:sp>
      <p:sp>
        <p:nvSpPr>
          <p:cNvPr id="23" name="Text 21"/>
          <p:cNvSpPr/>
          <p:nvPr/>
        </p:nvSpPr>
        <p:spPr>
          <a:xfrm>
            <a:off x="5029200" y="3063240"/>
            <a:ext cx="3200400" cy="201168"/>
          </a:xfrm>
          <a:prstGeom prst="rect">
            <a:avLst/>
          </a:prstGeom>
          <a:noFill/>
          <a:ln/>
        </p:spPr>
        <p:txBody>
          <a:bodyPr wrap="square" rtlCol="0" anchor="ctr"/>
          <a:lstStyle/>
          <a:p>
            <a:pPr marL="0" indent="0">
              <a:buNone/>
            </a:pPr>
            <a:r>
              <a:rPr lang="en-US" sz="1000" dirty="0">
                <a:solidFill>
                  <a:srgbClr val="2D2D3F"/>
                </a:solidFill>
                <a:latin typeface="Calibri" pitchFamily="34" charset="0"/>
                <a:ea typeface="Calibri" pitchFamily="34" charset="-122"/>
                <a:cs typeface="Calibri" pitchFamily="34" charset="-120"/>
              </a:rPr>
              <a:t>3. Agrupamos:</a:t>
            </a:r>
            <a:endParaRPr lang="en-US" sz="1000" dirty="0"/>
          </a:p>
        </p:txBody>
      </p:sp>
      <p:sp>
        <p:nvSpPr>
          <p:cNvPr id="24" name="Text 22"/>
          <p:cNvSpPr/>
          <p:nvPr/>
        </p:nvSpPr>
        <p:spPr>
          <a:xfrm>
            <a:off x="5029200" y="3264408"/>
            <a:ext cx="3200400" cy="228600"/>
          </a:xfrm>
          <a:prstGeom prst="rect">
            <a:avLst/>
          </a:prstGeom>
          <a:noFill/>
          <a:ln/>
        </p:spPr>
        <p:txBody>
          <a:bodyPr wrap="square" rtlCol="0" anchor="ctr"/>
          <a:lstStyle/>
          <a:p>
            <a:pPr marL="0" indent="0">
              <a:buNone/>
            </a:pPr>
            <a:r>
              <a:rPr lang="en-US" sz="1100" dirty="0">
                <a:solidFill>
                  <a:srgbClr val="1A1A2E"/>
                </a:solidFill>
                <a:latin typeface="Consolas" pitchFamily="34" charset="0"/>
                <a:ea typeface="Consolas" pitchFamily="34" charset="-122"/>
                <a:cs typeface="Consolas" pitchFamily="34" charset="-120"/>
              </a:rPr>
              <a:t>2·2ᵏ − 1</a:t>
            </a:r>
            <a:endParaRPr lang="en-US" sz="1100" dirty="0"/>
          </a:p>
        </p:txBody>
      </p:sp>
      <p:sp>
        <p:nvSpPr>
          <p:cNvPr id="25" name="Text 23"/>
          <p:cNvSpPr/>
          <p:nvPr/>
        </p:nvSpPr>
        <p:spPr>
          <a:xfrm>
            <a:off x="5029200" y="3566160"/>
            <a:ext cx="3200400" cy="201168"/>
          </a:xfrm>
          <a:prstGeom prst="rect">
            <a:avLst/>
          </a:prstGeom>
          <a:noFill/>
          <a:ln/>
        </p:spPr>
        <p:txBody>
          <a:bodyPr wrap="square" rtlCol="0" anchor="ctr"/>
          <a:lstStyle/>
          <a:p>
            <a:pPr marL="0" indent="0">
              <a:buNone/>
            </a:pPr>
            <a:r>
              <a:rPr lang="en-US" sz="1000" dirty="0">
                <a:solidFill>
                  <a:srgbClr val="2D2D3F"/>
                </a:solidFill>
                <a:latin typeface="Calibri" pitchFamily="34" charset="0"/>
                <a:ea typeface="Calibri" pitchFamily="34" charset="-122"/>
                <a:cs typeface="Calibri" pitchFamily="34" charset="-120"/>
              </a:rPr>
              <a:t>4. Por propiedad de exponentes:</a:t>
            </a:r>
            <a:endParaRPr lang="en-US" sz="1000" dirty="0"/>
          </a:p>
        </p:txBody>
      </p:sp>
      <p:sp>
        <p:nvSpPr>
          <p:cNvPr id="26" name="Text 24"/>
          <p:cNvSpPr/>
          <p:nvPr/>
        </p:nvSpPr>
        <p:spPr>
          <a:xfrm>
            <a:off x="5029200" y="3767328"/>
            <a:ext cx="3200400" cy="228600"/>
          </a:xfrm>
          <a:prstGeom prst="rect">
            <a:avLst/>
          </a:prstGeom>
          <a:noFill/>
          <a:ln/>
        </p:spPr>
        <p:txBody>
          <a:bodyPr wrap="square" rtlCol="0" anchor="ctr"/>
          <a:lstStyle/>
          <a:p>
            <a:pPr marL="0" indent="0">
              <a:buNone/>
            </a:pPr>
            <a:r>
              <a:rPr lang="en-US" sz="1100" dirty="0">
                <a:solidFill>
                  <a:srgbClr val="1A1A2E"/>
                </a:solidFill>
                <a:latin typeface="Consolas" pitchFamily="34" charset="0"/>
                <a:ea typeface="Consolas" pitchFamily="34" charset="-122"/>
                <a:cs typeface="Consolas" pitchFamily="34" charset="-120"/>
              </a:rPr>
              <a:t>2ᵏ⁺¹ − 1</a:t>
            </a:r>
            <a:endParaRPr lang="en-US" sz="1100" dirty="0"/>
          </a:p>
        </p:txBody>
      </p:sp>
      <p:sp>
        <p:nvSpPr>
          <p:cNvPr id="27" name="Shape 25"/>
          <p:cNvSpPr/>
          <p:nvPr/>
        </p:nvSpPr>
        <p:spPr>
          <a:xfrm>
            <a:off x="731520" y="4297680"/>
            <a:ext cx="7498080" cy="411480"/>
          </a:xfrm>
          <a:prstGeom prst="rect">
            <a:avLst/>
          </a:prstGeom>
          <a:solidFill>
            <a:srgbClr val="ECFDF5"/>
          </a:solidFill>
          <a:ln/>
        </p:spPr>
        <p:txBody>
          <a:bodyPr/>
          <a:lstStyle/>
          <a:p>
            <a:endParaRPr lang="es-CO"/>
          </a:p>
        </p:txBody>
      </p:sp>
      <p:sp>
        <p:nvSpPr>
          <p:cNvPr id="28" name="Text 26"/>
          <p:cNvSpPr/>
          <p:nvPr/>
        </p:nvSpPr>
        <p:spPr>
          <a:xfrm>
            <a:off x="914400" y="4297680"/>
            <a:ext cx="7132320" cy="411480"/>
          </a:xfrm>
          <a:prstGeom prst="rect">
            <a:avLst/>
          </a:prstGeom>
          <a:noFill/>
          <a:ln/>
        </p:spPr>
        <p:txBody>
          <a:bodyPr wrap="square" rtlCol="0" anchor="ctr"/>
          <a:lstStyle/>
          <a:p>
            <a:pPr marL="0" indent="0" algn="ctr">
              <a:buNone/>
            </a:pPr>
            <a:r>
              <a:rPr lang="en-US" sz="1300" b="1" dirty="0">
                <a:solidFill>
                  <a:srgbClr val="16803C"/>
                </a:solidFill>
                <a:latin typeface="Calibri" pitchFamily="34" charset="0"/>
                <a:ea typeface="Calibri" pitchFamily="34" charset="-122"/>
                <a:cs typeface="Calibri" pitchFamily="34" charset="-120"/>
              </a:rPr>
              <a:t>Llegamos a la Tesis: 2ᵏ⁺¹ − 1. Demostración completa.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D8778-4F8E-A933-EDA1-D0DF779762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D31E3C-CA25-F891-55CD-1A83B8AEB559}"/>
              </a:ext>
            </a:extLst>
          </p:cNvPr>
          <p:cNvSpPr/>
          <p:nvPr/>
        </p:nvSpPr>
        <p:spPr>
          <a:xfrm>
            <a:off x="0" y="0"/>
            <a:ext cx="9144000" cy="54864"/>
          </a:xfrm>
          <a:prstGeom prst="rect">
            <a:avLst/>
          </a:prstGeom>
          <a:solidFill>
            <a:srgbClr val="1E3A5F"/>
          </a:solidFill>
          <a:ln/>
        </p:spPr>
        <p:txBody>
          <a:bodyPr/>
          <a:lstStyle/>
          <a:p>
            <a:endParaRPr lang="es-CO"/>
          </a:p>
        </p:txBody>
      </p:sp>
      <p:sp>
        <p:nvSpPr>
          <p:cNvPr id="4" name="Text 2">
            <a:extLst>
              <a:ext uri="{FF2B5EF4-FFF2-40B4-BE49-F238E27FC236}">
                <a16:creationId xmlns:a16="http://schemas.microsoft.com/office/drawing/2014/main" id="{23ED4983-496F-8878-E43D-53E071E4E43C}"/>
              </a:ext>
            </a:extLst>
          </p:cNvPr>
          <p:cNvSpPr/>
          <p:nvPr/>
        </p:nvSpPr>
        <p:spPr>
          <a:xfrm>
            <a:off x="731520" y="274320"/>
            <a:ext cx="7680960" cy="457200"/>
          </a:xfrm>
          <a:prstGeom prst="rect">
            <a:avLst/>
          </a:prstGeom>
          <a:noFill/>
          <a:ln/>
        </p:spPr>
        <p:txBody>
          <a:bodyPr wrap="square" rtlCol="0" anchor="ctr"/>
          <a:lstStyle/>
          <a:p>
            <a:pPr marL="0" indent="0">
              <a:buNone/>
            </a:pPr>
            <a:r>
              <a:rPr lang="en-US" sz="2400" b="1" dirty="0" err="1">
                <a:solidFill>
                  <a:srgbClr val="1E3A5F"/>
                </a:solidFill>
                <a:latin typeface="Calibri" pitchFamily="34" charset="0"/>
                <a:ea typeface="Calibri" pitchFamily="34" charset="-122"/>
                <a:cs typeface="Calibri" pitchFamily="34" charset="-120"/>
              </a:rPr>
              <a:t>Ejemplo</a:t>
            </a:r>
            <a:r>
              <a:rPr lang="en-US" sz="2400" b="1" dirty="0">
                <a:solidFill>
                  <a:srgbClr val="1E3A5F"/>
                </a:solidFill>
                <a:latin typeface="Calibri" pitchFamily="34" charset="0"/>
                <a:ea typeface="Calibri" pitchFamily="34" charset="-122"/>
                <a:cs typeface="Calibri" pitchFamily="34" charset="-120"/>
              </a:rPr>
              <a:t> 6: Suma de Serie Geométrica</a:t>
            </a:r>
            <a:endParaRPr lang="en-US" sz="2400" dirty="0"/>
          </a:p>
        </p:txBody>
      </p:sp>
      <p:pic>
        <p:nvPicPr>
          <p:cNvPr id="30" name="Imagen 29">
            <a:extLst>
              <a:ext uri="{FF2B5EF4-FFF2-40B4-BE49-F238E27FC236}">
                <a16:creationId xmlns:a16="http://schemas.microsoft.com/office/drawing/2014/main" id="{762BF2B6-78FF-E697-E5E1-17C945595E87}"/>
              </a:ext>
            </a:extLst>
          </p:cNvPr>
          <p:cNvPicPr>
            <a:picLocks noChangeAspect="1"/>
          </p:cNvPicPr>
          <p:nvPr/>
        </p:nvPicPr>
        <p:blipFill>
          <a:blip r:embed="rId3"/>
          <a:stretch>
            <a:fillRect/>
          </a:stretch>
        </p:blipFill>
        <p:spPr>
          <a:xfrm>
            <a:off x="731520" y="873379"/>
            <a:ext cx="4715533" cy="905001"/>
          </a:xfrm>
          <a:prstGeom prst="rect">
            <a:avLst/>
          </a:prstGeom>
        </p:spPr>
      </p:pic>
    </p:spTree>
    <p:extLst>
      <p:ext uri="{BB962C8B-B14F-4D97-AF65-F5344CB8AC3E}">
        <p14:creationId xmlns:p14="http://schemas.microsoft.com/office/powerpoint/2010/main" val="1496301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731520" y="274320"/>
            <a:ext cx="4572000" cy="320040"/>
          </a:xfrm>
          <a:prstGeom prst="rect">
            <a:avLst/>
          </a:prstGeom>
          <a:noFill/>
          <a:ln/>
        </p:spPr>
        <p:txBody>
          <a:bodyPr wrap="square" rtlCol="0" anchor="ctr"/>
          <a:lstStyle/>
          <a:p>
            <a:pPr marL="0" indent="0">
              <a:buNone/>
            </a:pPr>
            <a:r>
              <a:rPr lang="en-US" sz="1400" dirty="0">
                <a:solidFill>
                  <a:srgbClr val="5A5A6E"/>
                </a:solidFill>
                <a:latin typeface="Calibri" pitchFamily="34" charset="0"/>
                <a:ea typeface="Calibri" pitchFamily="34" charset="-122"/>
                <a:cs typeface="Calibri" pitchFamily="34" charset="-120"/>
              </a:rPr>
              <a:t>Ejercicio para Clase</a:t>
            </a:r>
            <a:endParaRPr lang="en-US" sz="1400" dirty="0"/>
          </a:p>
        </p:txBody>
      </p:sp>
      <p:sp>
        <p:nvSpPr>
          <p:cNvPr id="5" name="Text 3"/>
          <p:cNvSpPr/>
          <p:nvPr/>
        </p:nvSpPr>
        <p:spPr>
          <a:xfrm>
            <a:off x="731520" y="594360"/>
            <a:ext cx="7680960" cy="457200"/>
          </a:xfrm>
          <a:prstGeom prst="rect">
            <a:avLst/>
          </a:prstGeom>
          <a:noFill/>
          <a:ln/>
        </p:spPr>
        <p:txBody>
          <a:bodyPr wrap="square" rtlCol="0" anchor="ctr"/>
          <a:lstStyle/>
          <a:p>
            <a:pPr marL="0" indent="0">
              <a:buNone/>
            </a:pPr>
            <a:r>
              <a:rPr lang="en-US" sz="2200" b="1" dirty="0">
                <a:solidFill>
                  <a:srgbClr val="1E3A5F"/>
                </a:solidFill>
                <a:latin typeface="Calibri" pitchFamily="34" charset="0"/>
                <a:ea typeface="Calibri" pitchFamily="34" charset="-122"/>
                <a:cs typeface="Calibri" pitchFamily="34" charset="-120"/>
              </a:rPr>
              <a:t>Ejercicio 1: Suma de Primeros Múltiplos de 5</a:t>
            </a:r>
            <a:endParaRPr lang="en-US" sz="2200" dirty="0"/>
          </a:p>
        </p:txBody>
      </p:sp>
      <p:sp>
        <p:nvSpPr>
          <p:cNvPr id="6" name="Shape 4"/>
          <p:cNvSpPr/>
          <p:nvPr/>
        </p:nvSpPr>
        <p:spPr>
          <a:xfrm>
            <a:off x="731520" y="1188720"/>
            <a:ext cx="7498080" cy="100584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7" name="Text 5"/>
          <p:cNvSpPr/>
          <p:nvPr/>
        </p:nvSpPr>
        <p:spPr>
          <a:xfrm>
            <a:off x="1005840" y="1280160"/>
            <a:ext cx="6949440" cy="27432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Demostrar por inducción matemática que la suma de los primeros n múltiplos de 5 es igual a:</a:t>
            </a:r>
            <a:endParaRPr lang="en-US" sz="1200" dirty="0"/>
          </a:p>
        </p:txBody>
      </p:sp>
      <p:sp>
        <p:nvSpPr>
          <p:cNvPr id="8" name="Text 6"/>
          <p:cNvSpPr/>
          <p:nvPr/>
        </p:nvSpPr>
        <p:spPr>
          <a:xfrm>
            <a:off x="1005840" y="1645920"/>
            <a:ext cx="6949440" cy="365760"/>
          </a:xfrm>
          <a:prstGeom prst="rect">
            <a:avLst/>
          </a:prstGeom>
          <a:noFill/>
          <a:ln/>
        </p:spPr>
        <p:txBody>
          <a:bodyPr wrap="square" rtlCol="0" anchor="ctr"/>
          <a:lstStyle/>
          <a:p>
            <a:pPr marL="0" indent="0" algn="ctr">
              <a:buNone/>
            </a:pPr>
            <a:r>
              <a:rPr lang="en-US" sz="1700" dirty="0">
                <a:solidFill>
                  <a:srgbClr val="1A1A2E"/>
                </a:solidFill>
                <a:latin typeface="Consolas" pitchFamily="34" charset="0"/>
                <a:ea typeface="Consolas" pitchFamily="34" charset="-122"/>
                <a:cs typeface="Consolas" pitchFamily="34" charset="-120"/>
              </a:rPr>
              <a:t>5 + 10 + 15 + ... + 5n = 5n(n + 1) / 2</a:t>
            </a:r>
            <a:endParaRPr lang="en-US" sz="1700" dirty="0"/>
          </a:p>
        </p:txBody>
      </p:sp>
      <p:sp>
        <p:nvSpPr>
          <p:cNvPr id="9" name="Text 7"/>
          <p:cNvSpPr/>
          <p:nvPr/>
        </p:nvSpPr>
        <p:spPr>
          <a:xfrm>
            <a:off x="731520" y="2423160"/>
            <a:ext cx="7680960" cy="365760"/>
          </a:xfrm>
          <a:prstGeom prst="rect">
            <a:avLst/>
          </a:prstGeom>
          <a:noFill/>
          <a:ln/>
        </p:spPr>
        <p:txBody>
          <a:bodyPr wrap="square" rtlCol="0" anchor="ctr"/>
          <a:lstStyle/>
          <a:p>
            <a:pPr marL="0" indent="0">
              <a:buNone/>
            </a:pPr>
            <a:r>
              <a:rPr lang="en-US" sz="1600" b="1" dirty="0">
                <a:solidFill>
                  <a:srgbClr val="1E3A5F"/>
                </a:solidFill>
                <a:latin typeface="Calibri" pitchFamily="34" charset="0"/>
                <a:ea typeface="Calibri" pitchFamily="34" charset="-122"/>
                <a:cs typeface="Calibri" pitchFamily="34" charset="-120"/>
              </a:rPr>
              <a:t>Pasos para resolver en clase:</a:t>
            </a:r>
            <a:endParaRPr lang="en-US" sz="1600" dirty="0"/>
          </a:p>
        </p:txBody>
      </p:sp>
      <p:sp>
        <p:nvSpPr>
          <p:cNvPr id="10" name="Text 8"/>
          <p:cNvSpPr/>
          <p:nvPr/>
        </p:nvSpPr>
        <p:spPr>
          <a:xfrm>
            <a:off x="914400" y="2834640"/>
            <a:ext cx="7132320" cy="1737360"/>
          </a:xfrm>
          <a:prstGeom prst="rect">
            <a:avLst/>
          </a:prstGeom>
          <a:noFill/>
          <a:ln/>
        </p:spPr>
        <p:txBody>
          <a:bodyPr wrap="square" rtlCol="0" anchor="t"/>
          <a:lstStyle/>
          <a:p>
            <a:pPr marL="0" indent="0">
              <a:buNone/>
            </a:pPr>
            <a:r>
              <a:rPr lang="en-US" sz="1200" b="1" dirty="0">
                <a:solidFill>
                  <a:srgbClr val="2D2D3F"/>
                </a:solidFill>
                <a:latin typeface="Calibri" pitchFamily="34" charset="0"/>
                <a:ea typeface="Calibri" pitchFamily="34" charset="-122"/>
                <a:cs typeface="Calibri" pitchFamily="34" charset="-120"/>
              </a:rPr>
              <a:t>1  Paso base: </a:t>
            </a:r>
            <a:r>
              <a:rPr lang="en-US" sz="1200" dirty="0">
                <a:solidFill>
                  <a:srgbClr val="2D2D3F"/>
                </a:solidFill>
                <a:latin typeface="Calibri" pitchFamily="34" charset="0"/>
                <a:ea typeface="Calibri" pitchFamily="34" charset="-122"/>
                <a:cs typeface="Calibri" pitchFamily="34" charset="-120"/>
              </a:rPr>
              <a:t>Verificar la afirmación para n = 1.</a:t>
            </a:r>
            <a:endParaRPr lang="en-US" sz="1200" dirty="0"/>
          </a:p>
          <a:p>
            <a:pPr marL="0" indent="0">
              <a:buNone/>
            </a:pPr>
            <a:endParaRPr lang="en-US" sz="1200" dirty="0"/>
          </a:p>
          <a:p>
            <a:pPr marL="0" indent="0">
              <a:buNone/>
            </a:pPr>
            <a:r>
              <a:rPr lang="en-US" sz="1200" b="1" dirty="0">
                <a:solidFill>
                  <a:srgbClr val="2D2D3F"/>
                </a:solidFill>
                <a:latin typeface="Calibri" pitchFamily="34" charset="0"/>
                <a:ea typeface="Calibri" pitchFamily="34" charset="-122"/>
                <a:cs typeface="Calibri" pitchFamily="34" charset="-120"/>
              </a:rPr>
              <a:t>2  Paso inductivo:</a:t>
            </a:r>
            <a:endParaRPr lang="en-US" sz="1200" dirty="0"/>
          </a:p>
          <a:p>
            <a:pPr marL="0" indent="0">
              <a:buNone/>
            </a:pPr>
            <a:r>
              <a:rPr lang="en-US" sz="1200" dirty="0">
                <a:solidFill>
                  <a:srgbClr val="2D2D3F"/>
                </a:solidFill>
                <a:latin typeface="Calibri" pitchFamily="34" charset="0"/>
                <a:ea typeface="Calibri" pitchFamily="34" charset="-122"/>
                <a:cs typeface="Calibri" pitchFamily="34" charset="-120"/>
              </a:rPr>
              <a:t>    Suponer que la fórmula es válida para un número n.</a:t>
            </a:r>
            <a:endParaRPr lang="en-US" sz="1200" dirty="0"/>
          </a:p>
          <a:p>
            <a:pPr marL="0" indent="0">
              <a:buNone/>
            </a:pPr>
            <a:r>
              <a:rPr lang="en-US" sz="1200" dirty="0">
                <a:solidFill>
                  <a:srgbClr val="2D2D3F"/>
                </a:solidFill>
                <a:latin typeface="Calibri" pitchFamily="34" charset="0"/>
                <a:ea typeface="Calibri" pitchFamily="34" charset="-122"/>
                <a:cs typeface="Calibri" pitchFamily="34" charset="-120"/>
              </a:rPr>
              <a:t>    Probar que se cumple para n + 1, es decir:</a:t>
            </a:r>
            <a:endParaRPr lang="en-US" sz="1200" dirty="0"/>
          </a:p>
          <a:p>
            <a:pPr marL="0" indent="0">
              <a:buNone/>
            </a:pPr>
            <a:r>
              <a:rPr lang="en-US" sz="1100" dirty="0">
                <a:solidFill>
                  <a:srgbClr val="2D2D3F"/>
                </a:solidFill>
                <a:latin typeface="Consolas" pitchFamily="34" charset="0"/>
                <a:ea typeface="Consolas" pitchFamily="34" charset="-122"/>
                <a:cs typeface="Consolas" pitchFamily="34" charset="-120"/>
              </a:rPr>
              <a:t>    5+10+15+...+5n+5(n+1) = 5(n+1)(n+2)/2</a:t>
            </a:r>
            <a:endParaRPr lang="en-US" sz="1200" dirty="0"/>
          </a:p>
          <a:p>
            <a:pPr marL="0" indent="0">
              <a:buNone/>
            </a:pPr>
            <a:endParaRPr lang="en-US" sz="1200" dirty="0"/>
          </a:p>
          <a:p>
            <a:pPr marL="0" indent="0">
              <a:buNone/>
            </a:pPr>
            <a:r>
              <a:rPr lang="en-US" sz="1200" b="1" dirty="0">
                <a:solidFill>
                  <a:srgbClr val="2D2D3F"/>
                </a:solidFill>
                <a:latin typeface="Calibri" pitchFamily="34" charset="0"/>
                <a:ea typeface="Calibri" pitchFamily="34" charset="-122"/>
                <a:cs typeface="Calibri" pitchFamily="34" charset="-120"/>
              </a:rPr>
              <a:t>3  Conclusión: </a:t>
            </a:r>
            <a:r>
              <a:rPr lang="en-US" sz="1200" dirty="0">
                <a:solidFill>
                  <a:srgbClr val="2D2D3F"/>
                </a:solidFill>
                <a:latin typeface="Calibri" pitchFamily="34" charset="0"/>
                <a:ea typeface="Calibri" pitchFamily="34" charset="-122"/>
                <a:cs typeface="Calibri" pitchFamily="34" charset="-120"/>
              </a:rPr>
              <a:t>Si se cumplen ambos pasos, la fórmula es válida para todo 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731520" y="274320"/>
            <a:ext cx="4572000" cy="320040"/>
          </a:xfrm>
          <a:prstGeom prst="rect">
            <a:avLst/>
          </a:prstGeom>
          <a:noFill/>
          <a:ln/>
        </p:spPr>
        <p:txBody>
          <a:bodyPr wrap="square" rtlCol="0" anchor="ctr"/>
          <a:lstStyle/>
          <a:p>
            <a:pPr marL="0" indent="0">
              <a:buNone/>
            </a:pPr>
            <a:r>
              <a:rPr lang="en-US" sz="1400" dirty="0">
                <a:solidFill>
                  <a:srgbClr val="5A5A6E"/>
                </a:solidFill>
                <a:latin typeface="Calibri" pitchFamily="34" charset="0"/>
                <a:ea typeface="Calibri" pitchFamily="34" charset="-122"/>
                <a:cs typeface="Calibri" pitchFamily="34" charset="-120"/>
              </a:rPr>
              <a:t>Ejercicio para Clase</a:t>
            </a:r>
            <a:endParaRPr lang="en-US" sz="1400" dirty="0"/>
          </a:p>
        </p:txBody>
      </p:sp>
      <p:sp>
        <p:nvSpPr>
          <p:cNvPr id="5" name="Text 3"/>
          <p:cNvSpPr/>
          <p:nvPr/>
        </p:nvSpPr>
        <p:spPr>
          <a:xfrm>
            <a:off x="731520" y="594360"/>
            <a:ext cx="7680960" cy="457200"/>
          </a:xfrm>
          <a:prstGeom prst="rect">
            <a:avLst/>
          </a:prstGeom>
          <a:noFill/>
          <a:ln/>
        </p:spPr>
        <p:txBody>
          <a:bodyPr wrap="square" rtlCol="0" anchor="ctr"/>
          <a:lstStyle/>
          <a:p>
            <a:pPr marL="0" indent="0">
              <a:buNone/>
            </a:pPr>
            <a:r>
              <a:rPr lang="en-US" sz="2200" b="1" dirty="0">
                <a:solidFill>
                  <a:srgbClr val="1E3A5F"/>
                </a:solidFill>
                <a:latin typeface="Calibri" pitchFamily="34" charset="0"/>
                <a:ea typeface="Calibri" pitchFamily="34" charset="-122"/>
                <a:cs typeface="Calibri" pitchFamily="34" charset="-120"/>
              </a:rPr>
              <a:t>Ejercicio 2: Crecimiento de Potencias y Cuadrados</a:t>
            </a:r>
            <a:endParaRPr lang="en-US" sz="2200" dirty="0"/>
          </a:p>
        </p:txBody>
      </p:sp>
      <p:sp>
        <p:nvSpPr>
          <p:cNvPr id="6" name="Shape 4"/>
          <p:cNvSpPr/>
          <p:nvPr/>
        </p:nvSpPr>
        <p:spPr>
          <a:xfrm>
            <a:off x="731520" y="1188720"/>
            <a:ext cx="7498080" cy="91440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7" name="Text 5"/>
          <p:cNvSpPr/>
          <p:nvPr/>
        </p:nvSpPr>
        <p:spPr>
          <a:xfrm>
            <a:off x="1005840" y="1280160"/>
            <a:ext cx="6949440" cy="27432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Demostrar por inducción matemática que para todo n ≥ 4:</a:t>
            </a:r>
            <a:endParaRPr lang="en-US" sz="1200" dirty="0"/>
          </a:p>
        </p:txBody>
      </p:sp>
      <p:sp>
        <p:nvSpPr>
          <p:cNvPr id="8" name="Text 6"/>
          <p:cNvSpPr/>
          <p:nvPr/>
        </p:nvSpPr>
        <p:spPr>
          <a:xfrm>
            <a:off x="1005840" y="1600200"/>
            <a:ext cx="6949440" cy="320040"/>
          </a:xfrm>
          <a:prstGeom prst="rect">
            <a:avLst/>
          </a:prstGeom>
          <a:noFill/>
          <a:ln/>
        </p:spPr>
        <p:txBody>
          <a:bodyPr wrap="square" rtlCol="0" anchor="ctr"/>
          <a:lstStyle/>
          <a:p>
            <a:pPr marL="0" indent="0" algn="ctr">
              <a:buNone/>
            </a:pPr>
            <a:r>
              <a:rPr lang="en-US" sz="2000" b="1" dirty="0">
                <a:solidFill>
                  <a:srgbClr val="1A1A2E"/>
                </a:solidFill>
                <a:latin typeface="Consolas" pitchFamily="34" charset="0"/>
                <a:ea typeface="Consolas" pitchFamily="34" charset="-122"/>
                <a:cs typeface="Consolas" pitchFamily="34" charset="-120"/>
              </a:rPr>
              <a:t>2ⁿ ≥ n²</a:t>
            </a:r>
            <a:endParaRPr lang="en-US" sz="2000" dirty="0"/>
          </a:p>
        </p:txBody>
      </p:sp>
      <p:sp>
        <p:nvSpPr>
          <p:cNvPr id="9" name="Text 7"/>
          <p:cNvSpPr/>
          <p:nvPr/>
        </p:nvSpPr>
        <p:spPr>
          <a:xfrm>
            <a:off x="731520" y="2331720"/>
            <a:ext cx="7680960" cy="365760"/>
          </a:xfrm>
          <a:prstGeom prst="rect">
            <a:avLst/>
          </a:prstGeom>
          <a:noFill/>
          <a:ln/>
        </p:spPr>
        <p:txBody>
          <a:bodyPr wrap="square" rtlCol="0" anchor="ctr"/>
          <a:lstStyle/>
          <a:p>
            <a:pPr marL="0" indent="0">
              <a:buNone/>
            </a:pPr>
            <a:r>
              <a:rPr lang="en-US" sz="1600" b="1" dirty="0">
                <a:solidFill>
                  <a:srgbClr val="1E3A5F"/>
                </a:solidFill>
                <a:latin typeface="Calibri" pitchFamily="34" charset="0"/>
                <a:ea typeface="Calibri" pitchFamily="34" charset="-122"/>
                <a:cs typeface="Calibri" pitchFamily="34" charset="-120"/>
              </a:rPr>
              <a:t>Pasos para resolver en clase:</a:t>
            </a:r>
            <a:endParaRPr lang="en-US" sz="1600" dirty="0"/>
          </a:p>
        </p:txBody>
      </p:sp>
      <p:sp>
        <p:nvSpPr>
          <p:cNvPr id="10" name="Text 8"/>
          <p:cNvSpPr/>
          <p:nvPr/>
        </p:nvSpPr>
        <p:spPr>
          <a:xfrm>
            <a:off x="914400" y="2743200"/>
            <a:ext cx="7132320" cy="1737360"/>
          </a:xfrm>
          <a:prstGeom prst="rect">
            <a:avLst/>
          </a:prstGeom>
          <a:noFill/>
          <a:ln/>
        </p:spPr>
        <p:txBody>
          <a:bodyPr wrap="square" rtlCol="0" anchor="t"/>
          <a:lstStyle/>
          <a:p>
            <a:pPr marL="0" indent="0">
              <a:buNone/>
            </a:pPr>
            <a:r>
              <a:rPr lang="en-US" sz="1200" b="1" dirty="0">
                <a:solidFill>
                  <a:srgbClr val="2D2D3F"/>
                </a:solidFill>
                <a:latin typeface="Calibri" pitchFamily="34" charset="0"/>
                <a:ea typeface="Calibri" pitchFamily="34" charset="-122"/>
                <a:cs typeface="Calibri" pitchFamily="34" charset="-120"/>
              </a:rPr>
              <a:t>1  Paso base: </a:t>
            </a:r>
            <a:r>
              <a:rPr lang="en-US" sz="1200" dirty="0">
                <a:solidFill>
                  <a:srgbClr val="2D2D3F"/>
                </a:solidFill>
                <a:latin typeface="Calibri" pitchFamily="34" charset="0"/>
                <a:ea typeface="Calibri" pitchFamily="34" charset="-122"/>
                <a:cs typeface="Calibri" pitchFamily="34" charset="-120"/>
              </a:rPr>
              <a:t>Verificar la afirmación para n = 4.</a:t>
            </a:r>
            <a:endParaRPr lang="en-US" sz="1200" dirty="0"/>
          </a:p>
          <a:p>
            <a:pPr marL="0" indent="0">
              <a:buNone/>
            </a:pPr>
            <a:endParaRPr lang="en-US" sz="1200" dirty="0"/>
          </a:p>
          <a:p>
            <a:pPr marL="0" indent="0">
              <a:buNone/>
            </a:pPr>
            <a:r>
              <a:rPr lang="en-US" sz="1200" b="1" dirty="0">
                <a:solidFill>
                  <a:srgbClr val="2D2D3F"/>
                </a:solidFill>
                <a:latin typeface="Calibri" pitchFamily="34" charset="0"/>
                <a:ea typeface="Calibri" pitchFamily="34" charset="-122"/>
                <a:cs typeface="Calibri" pitchFamily="34" charset="-120"/>
              </a:rPr>
              <a:t>2  Paso inductivo:</a:t>
            </a:r>
            <a:endParaRPr lang="en-US" sz="1200" dirty="0"/>
          </a:p>
          <a:p>
            <a:pPr marL="0" indent="0">
              <a:buNone/>
            </a:pPr>
            <a:r>
              <a:rPr lang="en-US" sz="1200" dirty="0">
                <a:solidFill>
                  <a:srgbClr val="2D2D3F"/>
                </a:solidFill>
                <a:latin typeface="Calibri" pitchFamily="34" charset="0"/>
                <a:ea typeface="Calibri" pitchFamily="34" charset="-122"/>
                <a:cs typeface="Calibri" pitchFamily="34" charset="-120"/>
              </a:rPr>
              <a:t>    Suponer que la desigualdad es válida para un número n.</a:t>
            </a:r>
            <a:endParaRPr lang="en-US" sz="1200" dirty="0"/>
          </a:p>
          <a:p>
            <a:pPr marL="0" indent="0">
              <a:buNone/>
            </a:pPr>
            <a:r>
              <a:rPr lang="en-US" sz="1200" dirty="0">
                <a:solidFill>
                  <a:srgbClr val="2D2D3F"/>
                </a:solidFill>
                <a:latin typeface="Calibri" pitchFamily="34" charset="0"/>
                <a:ea typeface="Calibri" pitchFamily="34" charset="-122"/>
                <a:cs typeface="Calibri" pitchFamily="34" charset="-120"/>
              </a:rPr>
              <a:t>    Probar que se cumple para n + 1, es decir:</a:t>
            </a:r>
            <a:endParaRPr lang="en-US" sz="1200" dirty="0"/>
          </a:p>
          <a:p>
            <a:pPr marL="0" indent="0">
              <a:buNone/>
            </a:pPr>
            <a:r>
              <a:rPr lang="en-US" sz="1300" dirty="0">
                <a:solidFill>
                  <a:srgbClr val="2D2D3F"/>
                </a:solidFill>
                <a:latin typeface="Consolas" pitchFamily="34" charset="0"/>
                <a:ea typeface="Consolas" pitchFamily="34" charset="-122"/>
                <a:cs typeface="Consolas" pitchFamily="34" charset="-120"/>
              </a:rPr>
              <a:t>    2ⁿ⁺¹ ≥ (n+1)²</a:t>
            </a:r>
            <a:endParaRPr lang="en-US" sz="1200" dirty="0"/>
          </a:p>
          <a:p>
            <a:pPr marL="0" indent="0">
              <a:buNone/>
            </a:pPr>
            <a:endParaRPr lang="en-US" sz="1200" dirty="0"/>
          </a:p>
          <a:p>
            <a:pPr marL="0" indent="0">
              <a:buNone/>
            </a:pPr>
            <a:r>
              <a:rPr lang="en-US" sz="1200" b="1" dirty="0">
                <a:solidFill>
                  <a:srgbClr val="2D2D3F"/>
                </a:solidFill>
                <a:latin typeface="Calibri" pitchFamily="34" charset="0"/>
                <a:ea typeface="Calibri" pitchFamily="34" charset="-122"/>
                <a:cs typeface="Calibri" pitchFamily="34" charset="-120"/>
              </a:rPr>
              <a:t>3  Conclusión: </a:t>
            </a:r>
            <a:r>
              <a:rPr lang="en-US" sz="1200" dirty="0">
                <a:solidFill>
                  <a:srgbClr val="2D2D3F"/>
                </a:solidFill>
                <a:latin typeface="Calibri" pitchFamily="34" charset="0"/>
                <a:ea typeface="Calibri" pitchFamily="34" charset="-122"/>
                <a:cs typeface="Calibri" pitchFamily="34" charset="-120"/>
              </a:rPr>
              <a:t>Si se cumplen ambos pasos, la desigualdad es válida para todo n ≥ 4.</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txBody>
          <a:bodyPr/>
          <a:lstStyle/>
          <a:p>
            <a:endParaRPr lang="es-CO"/>
          </a:p>
        </p:txBody>
      </p:sp>
      <p:sp>
        <p:nvSpPr>
          <p:cNvPr id="3" name="Text 1"/>
          <p:cNvSpPr/>
          <p:nvPr/>
        </p:nvSpPr>
        <p:spPr>
          <a:xfrm>
            <a:off x="8412480" y="4709160"/>
            <a:ext cx="457200" cy="274320"/>
          </a:xfrm>
          <a:prstGeom prst="rect">
            <a:avLst/>
          </a:prstGeom>
          <a:noFill/>
          <a:ln/>
        </p:spPr>
        <p:txBody>
          <a:bodyPr wrap="square" rtlCol="0" anchor="ctr"/>
          <a:lstStyle/>
          <a:p>
            <a:pPr marL="0" indent="0" algn="r">
              <a:buNone/>
            </a:pPr>
            <a:r>
              <a:rPr lang="en-US" sz="900" dirty="0">
                <a:solidFill>
                  <a:srgbClr val="5A5A6E"/>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731520" y="274320"/>
            <a:ext cx="4572000" cy="320040"/>
          </a:xfrm>
          <a:prstGeom prst="rect">
            <a:avLst/>
          </a:prstGeom>
          <a:noFill/>
          <a:ln/>
        </p:spPr>
        <p:txBody>
          <a:bodyPr wrap="square" rtlCol="0" anchor="ctr"/>
          <a:lstStyle/>
          <a:p>
            <a:pPr marL="0" indent="0">
              <a:buNone/>
            </a:pPr>
            <a:r>
              <a:rPr lang="en-US" sz="1400" dirty="0">
                <a:solidFill>
                  <a:srgbClr val="5A5A6E"/>
                </a:solidFill>
                <a:latin typeface="Calibri" pitchFamily="34" charset="0"/>
                <a:ea typeface="Calibri" pitchFamily="34" charset="-122"/>
                <a:cs typeface="Calibri" pitchFamily="34" charset="-120"/>
              </a:rPr>
              <a:t>Ejercicio para Clase</a:t>
            </a:r>
            <a:endParaRPr lang="en-US" sz="1400" dirty="0"/>
          </a:p>
        </p:txBody>
      </p:sp>
      <p:sp>
        <p:nvSpPr>
          <p:cNvPr id="5" name="Text 3"/>
          <p:cNvSpPr/>
          <p:nvPr/>
        </p:nvSpPr>
        <p:spPr>
          <a:xfrm>
            <a:off x="731520" y="594360"/>
            <a:ext cx="7680960" cy="457200"/>
          </a:xfrm>
          <a:prstGeom prst="rect">
            <a:avLst/>
          </a:prstGeom>
          <a:noFill/>
          <a:ln/>
        </p:spPr>
        <p:txBody>
          <a:bodyPr wrap="square" rtlCol="0" anchor="ctr"/>
          <a:lstStyle/>
          <a:p>
            <a:pPr marL="0" indent="0">
              <a:buNone/>
            </a:pPr>
            <a:r>
              <a:rPr lang="en-US" sz="2200" b="1" dirty="0">
                <a:solidFill>
                  <a:srgbClr val="1E3A5F"/>
                </a:solidFill>
                <a:latin typeface="Calibri" pitchFamily="34" charset="0"/>
                <a:ea typeface="Calibri" pitchFamily="34" charset="-122"/>
                <a:cs typeface="Calibri" pitchFamily="34" charset="-120"/>
              </a:rPr>
              <a:t>Ejercicio 3: Suma de Primeros Múltiplos de 3</a:t>
            </a:r>
            <a:endParaRPr lang="en-US" sz="2200" dirty="0"/>
          </a:p>
        </p:txBody>
      </p:sp>
      <p:sp>
        <p:nvSpPr>
          <p:cNvPr id="6" name="Shape 4"/>
          <p:cNvSpPr/>
          <p:nvPr/>
        </p:nvSpPr>
        <p:spPr>
          <a:xfrm>
            <a:off x="731520" y="1188720"/>
            <a:ext cx="7498080" cy="1005840"/>
          </a:xfrm>
          <a:prstGeom prst="rect">
            <a:avLst/>
          </a:prstGeom>
          <a:solidFill>
            <a:srgbClr val="E8EEF4"/>
          </a:solidFill>
          <a:ln/>
          <a:effectLst>
            <a:outerShdw blurRad="50800" dist="12700" dir="8100000" algn="bl" rotWithShape="0">
              <a:srgbClr val="000000">
                <a:alpha val="8000"/>
              </a:srgbClr>
            </a:outerShdw>
          </a:effectLst>
        </p:spPr>
        <p:txBody>
          <a:bodyPr/>
          <a:lstStyle/>
          <a:p>
            <a:endParaRPr lang="es-CO"/>
          </a:p>
        </p:txBody>
      </p:sp>
      <p:sp>
        <p:nvSpPr>
          <p:cNvPr id="7" name="Text 5"/>
          <p:cNvSpPr/>
          <p:nvPr/>
        </p:nvSpPr>
        <p:spPr>
          <a:xfrm>
            <a:off x="1005840" y="1280160"/>
            <a:ext cx="6949440" cy="274320"/>
          </a:xfrm>
          <a:prstGeom prst="rect">
            <a:avLst/>
          </a:prstGeom>
          <a:noFill/>
          <a:ln/>
        </p:spPr>
        <p:txBody>
          <a:bodyPr wrap="square" rtlCol="0" anchor="ctr"/>
          <a:lstStyle/>
          <a:p>
            <a:pPr marL="0" indent="0">
              <a:buNone/>
            </a:pPr>
            <a:r>
              <a:rPr lang="en-US" sz="1200" dirty="0">
                <a:solidFill>
                  <a:srgbClr val="2D2D3F"/>
                </a:solidFill>
                <a:latin typeface="Calibri" pitchFamily="34" charset="0"/>
                <a:ea typeface="Calibri" pitchFamily="34" charset="-122"/>
                <a:cs typeface="Calibri" pitchFamily="34" charset="-120"/>
              </a:rPr>
              <a:t>Demostrar por inducción matemática que la suma de los primeros n múltiplos de 3 sigue la fórmula:</a:t>
            </a:r>
            <a:endParaRPr lang="en-US" sz="1200" dirty="0"/>
          </a:p>
        </p:txBody>
      </p:sp>
      <p:sp>
        <p:nvSpPr>
          <p:cNvPr id="8" name="Text 6"/>
          <p:cNvSpPr/>
          <p:nvPr/>
        </p:nvSpPr>
        <p:spPr>
          <a:xfrm>
            <a:off x="1005840" y="1645920"/>
            <a:ext cx="6949440" cy="365760"/>
          </a:xfrm>
          <a:prstGeom prst="rect">
            <a:avLst/>
          </a:prstGeom>
          <a:noFill/>
          <a:ln/>
        </p:spPr>
        <p:txBody>
          <a:bodyPr wrap="square" rtlCol="0" anchor="ctr"/>
          <a:lstStyle/>
          <a:p>
            <a:pPr marL="0" indent="0" algn="ctr">
              <a:buNone/>
            </a:pPr>
            <a:r>
              <a:rPr lang="en-US" sz="1700" dirty="0">
                <a:solidFill>
                  <a:srgbClr val="1A1A2E"/>
                </a:solidFill>
                <a:latin typeface="Consolas" pitchFamily="34" charset="0"/>
                <a:ea typeface="Consolas" pitchFamily="34" charset="-122"/>
                <a:cs typeface="Consolas" pitchFamily="34" charset="-120"/>
              </a:rPr>
              <a:t>3 + 6 + 9 + ... + 3n = 3n(n + 1) / 2</a:t>
            </a:r>
            <a:endParaRPr lang="en-US" sz="1700" dirty="0"/>
          </a:p>
        </p:txBody>
      </p:sp>
      <p:sp>
        <p:nvSpPr>
          <p:cNvPr id="9" name="Text 7"/>
          <p:cNvSpPr/>
          <p:nvPr/>
        </p:nvSpPr>
        <p:spPr>
          <a:xfrm>
            <a:off x="731520" y="2423160"/>
            <a:ext cx="7680960" cy="365760"/>
          </a:xfrm>
          <a:prstGeom prst="rect">
            <a:avLst/>
          </a:prstGeom>
          <a:noFill/>
          <a:ln/>
        </p:spPr>
        <p:txBody>
          <a:bodyPr wrap="square" rtlCol="0" anchor="ctr"/>
          <a:lstStyle/>
          <a:p>
            <a:pPr marL="0" indent="0">
              <a:buNone/>
            </a:pPr>
            <a:r>
              <a:rPr lang="en-US" sz="1600" b="1" dirty="0">
                <a:solidFill>
                  <a:srgbClr val="1E3A5F"/>
                </a:solidFill>
                <a:latin typeface="Calibri" pitchFamily="34" charset="0"/>
                <a:ea typeface="Calibri" pitchFamily="34" charset="-122"/>
                <a:cs typeface="Calibri" pitchFamily="34" charset="-120"/>
              </a:rPr>
              <a:t>Pasos para resolver en clase:</a:t>
            </a:r>
            <a:endParaRPr lang="en-US" sz="1600" dirty="0"/>
          </a:p>
        </p:txBody>
      </p:sp>
      <p:sp>
        <p:nvSpPr>
          <p:cNvPr id="10" name="Text 8"/>
          <p:cNvSpPr/>
          <p:nvPr/>
        </p:nvSpPr>
        <p:spPr>
          <a:xfrm>
            <a:off x="914400" y="2834640"/>
            <a:ext cx="7132320" cy="1737360"/>
          </a:xfrm>
          <a:prstGeom prst="rect">
            <a:avLst/>
          </a:prstGeom>
          <a:noFill/>
          <a:ln/>
        </p:spPr>
        <p:txBody>
          <a:bodyPr wrap="square" rtlCol="0" anchor="t"/>
          <a:lstStyle/>
          <a:p>
            <a:pPr marL="0" indent="0">
              <a:buNone/>
            </a:pPr>
            <a:r>
              <a:rPr lang="en-US" sz="1200" b="1" dirty="0">
                <a:solidFill>
                  <a:srgbClr val="2D2D3F"/>
                </a:solidFill>
                <a:latin typeface="Calibri" pitchFamily="34" charset="0"/>
                <a:ea typeface="Calibri" pitchFamily="34" charset="-122"/>
                <a:cs typeface="Calibri" pitchFamily="34" charset="-120"/>
              </a:rPr>
              <a:t>1  Paso base: </a:t>
            </a:r>
            <a:r>
              <a:rPr lang="en-US" sz="1200" dirty="0">
                <a:solidFill>
                  <a:srgbClr val="2D2D3F"/>
                </a:solidFill>
                <a:latin typeface="Calibri" pitchFamily="34" charset="0"/>
                <a:ea typeface="Calibri" pitchFamily="34" charset="-122"/>
                <a:cs typeface="Calibri" pitchFamily="34" charset="-120"/>
              </a:rPr>
              <a:t>Verificar la afirmación para n = 1.</a:t>
            </a:r>
            <a:endParaRPr lang="en-US" sz="1200" dirty="0"/>
          </a:p>
          <a:p>
            <a:pPr marL="0" indent="0">
              <a:buNone/>
            </a:pPr>
            <a:endParaRPr lang="en-US" sz="1200" dirty="0"/>
          </a:p>
          <a:p>
            <a:pPr marL="0" indent="0">
              <a:buNone/>
            </a:pPr>
            <a:r>
              <a:rPr lang="en-US" sz="1200" b="1" dirty="0">
                <a:solidFill>
                  <a:srgbClr val="2D2D3F"/>
                </a:solidFill>
                <a:latin typeface="Calibri" pitchFamily="34" charset="0"/>
                <a:ea typeface="Calibri" pitchFamily="34" charset="-122"/>
                <a:cs typeface="Calibri" pitchFamily="34" charset="-120"/>
              </a:rPr>
              <a:t>2  Paso inductivo:</a:t>
            </a:r>
            <a:endParaRPr lang="en-US" sz="1200" dirty="0"/>
          </a:p>
          <a:p>
            <a:pPr marL="0" indent="0">
              <a:buNone/>
            </a:pPr>
            <a:r>
              <a:rPr lang="en-US" sz="1200" dirty="0">
                <a:solidFill>
                  <a:srgbClr val="2D2D3F"/>
                </a:solidFill>
                <a:latin typeface="Calibri" pitchFamily="34" charset="0"/>
                <a:ea typeface="Calibri" pitchFamily="34" charset="-122"/>
                <a:cs typeface="Calibri" pitchFamily="34" charset="-120"/>
              </a:rPr>
              <a:t>    Suponer que la fórmula es válida para un número n, es decir:</a:t>
            </a:r>
            <a:endParaRPr lang="en-US" sz="1200" dirty="0"/>
          </a:p>
          <a:p>
            <a:pPr marL="0" indent="0">
              <a:buNone/>
            </a:pPr>
            <a:r>
              <a:rPr lang="en-US" sz="1100" dirty="0">
                <a:solidFill>
                  <a:srgbClr val="2D2D3F"/>
                </a:solidFill>
                <a:latin typeface="Consolas" pitchFamily="34" charset="0"/>
                <a:ea typeface="Consolas" pitchFamily="34" charset="-122"/>
                <a:cs typeface="Consolas" pitchFamily="34" charset="-120"/>
              </a:rPr>
              <a:t>    3+6+9+...+3n = 3n(n+1)/2</a:t>
            </a:r>
            <a:endParaRPr lang="en-US" sz="1200" dirty="0"/>
          </a:p>
          <a:p>
            <a:pPr marL="0" indent="0">
              <a:buNone/>
            </a:pPr>
            <a:r>
              <a:rPr lang="en-US" sz="1200" dirty="0">
                <a:solidFill>
                  <a:srgbClr val="2D2D3F"/>
                </a:solidFill>
                <a:latin typeface="Calibri" pitchFamily="34" charset="0"/>
                <a:ea typeface="Calibri" pitchFamily="34" charset="-122"/>
                <a:cs typeface="Calibri" pitchFamily="34" charset="-120"/>
              </a:rPr>
              <a:t>    Probar que se cumple para n + 1, es decir:</a:t>
            </a:r>
            <a:endParaRPr lang="en-US" sz="1200" dirty="0"/>
          </a:p>
          <a:p>
            <a:pPr marL="0" indent="0">
              <a:buNone/>
            </a:pPr>
            <a:r>
              <a:rPr lang="en-US" sz="1100" dirty="0">
                <a:solidFill>
                  <a:srgbClr val="2D2D3F"/>
                </a:solidFill>
                <a:latin typeface="Consolas" pitchFamily="34" charset="0"/>
                <a:ea typeface="Consolas" pitchFamily="34" charset="-122"/>
                <a:cs typeface="Consolas" pitchFamily="34" charset="-120"/>
              </a:rPr>
              <a:t>    3+6+9+...+3n+3(n+1) = 3(n+1)(n+2)/2</a:t>
            </a:r>
            <a:endParaRPr lang="en-US" sz="1200" dirty="0"/>
          </a:p>
          <a:p>
            <a:pPr marL="0" indent="0">
              <a:buNone/>
            </a:pPr>
            <a:endParaRPr lang="en-US" sz="1200" dirty="0"/>
          </a:p>
          <a:p>
            <a:pPr marL="0" indent="0">
              <a:buNone/>
            </a:pPr>
            <a:r>
              <a:rPr lang="en-US" sz="1200" b="1" dirty="0">
                <a:solidFill>
                  <a:srgbClr val="2D2D3F"/>
                </a:solidFill>
                <a:latin typeface="Calibri" pitchFamily="34" charset="0"/>
                <a:ea typeface="Calibri" pitchFamily="34" charset="-122"/>
                <a:cs typeface="Calibri" pitchFamily="34" charset="-120"/>
              </a:rPr>
              <a:t>3  Conclusión: </a:t>
            </a:r>
            <a:r>
              <a:rPr lang="en-US" sz="1200" dirty="0">
                <a:solidFill>
                  <a:srgbClr val="2D2D3F"/>
                </a:solidFill>
                <a:latin typeface="Calibri" pitchFamily="34" charset="0"/>
                <a:ea typeface="Calibri" pitchFamily="34" charset="-122"/>
                <a:cs typeface="Calibri" pitchFamily="34" charset="-120"/>
              </a:rPr>
              <a:t>Si se cumplen ambos pasos, la fórmula es válida para todo 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rot="900000">
            <a:off x="-1828800" y="-914400"/>
            <a:ext cx="4572000" cy="7315200"/>
          </a:xfrm>
          <a:prstGeom prst="rect">
            <a:avLst/>
          </a:prstGeom>
          <a:solidFill>
            <a:srgbClr val="162D4A"/>
          </a:solidFill>
          <a:ln/>
        </p:spPr>
        <p:txBody>
          <a:bodyPr/>
          <a:lstStyle/>
          <a:p>
            <a:endParaRPr lang="es-CO"/>
          </a:p>
        </p:txBody>
      </p:sp>
      <p:sp>
        <p:nvSpPr>
          <p:cNvPr id="3" name="Text 1"/>
          <p:cNvSpPr/>
          <p:nvPr/>
        </p:nvSpPr>
        <p:spPr>
          <a:xfrm>
            <a:off x="731520" y="1645920"/>
            <a:ext cx="7680960" cy="91440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Gracias</a:t>
            </a:r>
            <a:endParaRPr lang="en-US" sz="4800" dirty="0"/>
          </a:p>
        </p:txBody>
      </p:sp>
      <p:sp>
        <p:nvSpPr>
          <p:cNvPr id="4" name="Shape 2"/>
          <p:cNvSpPr/>
          <p:nvPr/>
        </p:nvSpPr>
        <p:spPr>
          <a:xfrm>
            <a:off x="3840480" y="2651760"/>
            <a:ext cx="1463040" cy="45720"/>
          </a:xfrm>
          <a:prstGeom prst="rect">
            <a:avLst/>
          </a:prstGeom>
          <a:solidFill>
            <a:srgbClr val="FFFFFF"/>
          </a:solidFill>
          <a:ln/>
        </p:spPr>
        <p:txBody>
          <a:bodyPr/>
          <a:lstStyle/>
          <a:p>
            <a:endParaRPr lang="es-CO"/>
          </a:p>
        </p:txBody>
      </p:sp>
      <p:sp>
        <p:nvSpPr>
          <p:cNvPr id="5" name="Text 3"/>
          <p:cNvSpPr/>
          <p:nvPr/>
        </p:nvSpPr>
        <p:spPr>
          <a:xfrm>
            <a:off x="731520" y="2926080"/>
            <a:ext cx="7680960" cy="457200"/>
          </a:xfrm>
          <a:prstGeom prst="rect">
            <a:avLst/>
          </a:prstGeom>
          <a:noFill/>
          <a:ln/>
        </p:spPr>
        <p:txBody>
          <a:bodyPr wrap="square" rtlCol="0" anchor="ctr"/>
          <a:lstStyle/>
          <a:p>
            <a:pPr marL="0" indent="0" algn="ctr">
              <a:buNone/>
            </a:pPr>
            <a:r>
              <a:rPr lang="en-US" sz="1800" dirty="0">
                <a:solidFill>
                  <a:srgbClr val="B0C4DE"/>
                </a:solidFill>
                <a:latin typeface="Calibri" pitchFamily="34" charset="0"/>
                <a:ea typeface="Calibri" pitchFamily="34" charset="-122"/>
                <a:cs typeface="Calibri" pitchFamily="34" charset="-120"/>
              </a:rPr>
              <a:t>Sebastian Montoya Villada</a:t>
            </a:r>
            <a:endParaRPr lang="en-US" sz="1800" dirty="0"/>
          </a:p>
        </p:txBody>
      </p:sp>
      <p:sp>
        <p:nvSpPr>
          <p:cNvPr id="6" name="Text 4"/>
          <p:cNvSpPr/>
          <p:nvPr/>
        </p:nvSpPr>
        <p:spPr>
          <a:xfrm>
            <a:off x="731520" y="3383280"/>
            <a:ext cx="7680960" cy="365760"/>
          </a:xfrm>
          <a:prstGeom prst="rect">
            <a:avLst/>
          </a:prstGeom>
          <a:noFill/>
          <a:ln/>
        </p:spPr>
        <p:txBody>
          <a:bodyPr wrap="square" rtlCol="0" anchor="ctr"/>
          <a:lstStyle/>
          <a:p>
            <a:pPr marL="0" indent="0" algn="ctr">
              <a:buNone/>
            </a:pPr>
            <a:r>
              <a:rPr lang="en-US" sz="1400" dirty="0">
                <a:solidFill>
                  <a:srgbClr val="8AAED0"/>
                </a:solidFill>
                <a:latin typeface="Calibri" pitchFamily="34" charset="0"/>
                <a:ea typeface="Calibri" pitchFamily="34" charset="-122"/>
                <a:cs typeface="Calibri" pitchFamily="34" charset="-120"/>
              </a:rPr>
              <a:t>ITM — Institución Universitaria</a:t>
            </a:r>
            <a:endParaRPr lang="en-US" sz="1400" dirty="0"/>
          </a:p>
        </p:txBody>
      </p:sp>
      <p:sp>
        <p:nvSpPr>
          <p:cNvPr id="7" name="Text 5"/>
          <p:cNvSpPr/>
          <p:nvPr/>
        </p:nvSpPr>
        <p:spPr>
          <a:xfrm>
            <a:off x="731520" y="3794760"/>
            <a:ext cx="7680960" cy="320040"/>
          </a:xfrm>
          <a:prstGeom prst="rect">
            <a:avLst/>
          </a:prstGeom>
          <a:noFill/>
          <a:ln/>
        </p:spPr>
        <p:txBody>
          <a:bodyPr wrap="square" rtlCol="0" anchor="ctr"/>
          <a:lstStyle/>
          <a:p>
            <a:pPr marL="0" indent="0" algn="ctr">
              <a:buNone/>
            </a:pPr>
            <a:r>
              <a:rPr lang="en-US" sz="1200" dirty="0">
                <a:solidFill>
                  <a:srgbClr val="8AAED0"/>
                </a:solidFill>
                <a:latin typeface="Calibri" pitchFamily="34" charset="0"/>
                <a:ea typeface="Calibri" pitchFamily="34" charset="-122"/>
                <a:cs typeface="Calibri" pitchFamily="34" charset="-120"/>
              </a:rPr>
              <a:t>www.itm.edu.co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1461</TotalTime>
  <Words>2242</Words>
  <Application>Microsoft Office PowerPoint</Application>
  <PresentationFormat>Presentación en pantalla (16:9)</PresentationFormat>
  <Paragraphs>264</Paragraphs>
  <Slides>21</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Matemáticas para la Informática - Sesión 9</dc:title>
  <dc:subject>PptxGenJS Presentation</dc:subject>
  <dc:creator>Sebastian Montoya Villada</dc:creator>
  <cp:lastModifiedBy>Sebastian Montoya Villada</cp:lastModifiedBy>
  <cp:revision>2</cp:revision>
  <dcterms:created xsi:type="dcterms:W3CDTF">2026-03-11T13:56:50Z</dcterms:created>
  <dcterms:modified xsi:type="dcterms:W3CDTF">2026-03-12T14:54:26Z</dcterms:modified>
</cp:coreProperties>
</file>