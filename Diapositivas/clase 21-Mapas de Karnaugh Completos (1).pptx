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Fira Code" panose="020B0809050000020004" pitchFamily="49" charset="0"/>
      <p:regular r:id="rId24"/>
      <p:bold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SemiBold" panose="000007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303AB-7A36-470B-B3B0-342F321F6312}">
  <a:tblStyle styleId="{21E303AB-7A36-470B-B3B0-342F321F63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0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0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571500"/>
            <a:ext cx="2790348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Contenido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" y="1504950"/>
            <a:ext cx="2657475" cy="2857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71500" y="2096690"/>
            <a:ext cx="8572500" cy="71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6350" y="2287190"/>
            <a:ext cx="76771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Representar funciones en su forma canónica (SOP/POS).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71500" y="2096690"/>
            <a:ext cx="47625" cy="716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71500" y="3050976"/>
            <a:ext cx="8572500" cy="71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238250" y="3241476"/>
            <a:ext cx="7715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Construir mapas de Karnaugh de 2 y 3 variables.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571500" y="3050976"/>
            <a:ext cx="47625" cy="716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571500" y="4005262"/>
            <a:ext cx="8572500" cy="71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276350" y="4195762"/>
            <a:ext cx="76771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Agrupar términos adyacentes para reducir la expresión.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571500" y="4005262"/>
            <a:ext cx="47625" cy="716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571500" y="4959548"/>
            <a:ext cx="8572500" cy="71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238250" y="5150048"/>
            <a:ext cx="7715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Interpretar la función mínima resultante.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571500" y="4959548"/>
            <a:ext cx="47625" cy="716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2307133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3261419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4215705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169991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737246"/>
            <a:ext cx="5286375" cy="288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¿Qué es un Mapa de Karnaugh (K-map)?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1590675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Mapa de Karnaugh es una herramienta visual que permite simplificar expresiones booleanas al representar la tabla de verdad en una cuadrícula especial.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71500" y="2546746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Características: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38175" y="306204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09625" y="3061096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Cada celda representa una combinación de variables (minitérmino).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38175" y="387524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09625" y="3874293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colocan los unos (1) de la función.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38175" y="435328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09625" y="4352329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agrupan en potencias de 2 (1, 2, 4, 8...). Esta agrupación es el núcleo físico de la reducción algebraica.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619875" y="2975371"/>
            <a:ext cx="5000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Mintérmino: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619875" y="3489721"/>
            <a:ext cx="476250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minitérmino es una expresión lógica que representa una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única combinación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valores de entrada para la cual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salida de una función es igual a 1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Consiste en el producto (AND) de todas las variables, directas o negadas.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Simplificación con K-Map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1590675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función mínima es la forma lógica más sencilla posible que produce la misma salida que la función original. No se altera el comportamiento, solo la estructura interna.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2546746"/>
            <a:ext cx="116014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Esto implica: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42619" y="3167409"/>
            <a:ext cx="6954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Menor número de compuertas lógicas al implementarlo en hardware.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142618" y="3645441"/>
            <a:ext cx="932726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Ahorro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recursos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físicos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consumo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energético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consumiendo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corriente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1142618" y="4123477"/>
            <a:ext cx="9436989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Mejor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rendimiento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tiempo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respuesta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velocidad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menor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retardo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propagación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señal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1142619" y="4601513"/>
            <a:ext cx="7277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Facilita la interpretación, documentación y mantenimiento de sistemas digitales.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29445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77249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25053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728567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62286"/>
            <a:ext cx="11049000" cy="4152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773857"/>
            <a:ext cx="5119389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452044"/>
            <a:ext cx="2336899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comparativo: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962025" y="2252811"/>
            <a:ext cx="10267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Función original (FND):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62025" y="4073872"/>
            <a:ext cx="10267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Función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mínima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(con K-Map):</a:t>
            </a:r>
            <a:endParaRPr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962025" y="5228183"/>
            <a:ext cx="10267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Se reduce de 4 minitérminos a 2 términos más simples.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2050" y="2998587"/>
            <a:ext cx="4719339" cy="337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400" y="371757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62050" y="4676774"/>
            <a:ext cx="1936849" cy="337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502817"/>
            <a:ext cx="5286375" cy="215205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¿Por qué son importantes?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1590675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mapa de Karnaugh (K-Map) es una herramienta que permite visualizar patrones y agrupar combinaciones binarias que producen una salida de 1, con el fin de simplificar funciones booleanas.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2546746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2 variables (A y B), hay 4 combinaciones posibles, por lo tanto, el K-Map tendrá 4 celdas.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57250" y="3645693"/>
            <a:ext cx="476250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columnas se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ordenan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forma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solo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cambie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variable a la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vez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entre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celdas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adyacentes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Esto es lo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patrón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visual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corresponda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algebraica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válida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1419" y="3264097"/>
            <a:ext cx="22479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262907"/>
            <a:ext cx="11049000" cy="114657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Construcción del Mapa de Karnaugh de 2 Variables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1590675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mapa de Karnaugh (K-Map) es una herramienta que permite visualizar patrones y agrupar combinaciones binarias que producen una salida de 1, con el fin de simplificar funciones booleanas.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2451496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2 variables (A y B), hay 4 combinaciones posibles, por lo tanto, el K-Map tendrá 4 celdas.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57250" y="3501032"/>
            <a:ext cx="10525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orden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Gray code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usa para que entre dos columnas (o filas) adyacentes solo cambie una variable, lo cual es fundamental para poder hacer agrupaciones válidas.</a:t>
            </a:r>
            <a:endParaRPr/>
          </a:p>
        </p:txBody>
      </p:sp>
      <p:graphicFrame>
        <p:nvGraphicFramePr>
          <p:cNvPr id="175" name="Google Shape;175;p18"/>
          <p:cNvGraphicFramePr/>
          <p:nvPr/>
        </p:nvGraphicFramePr>
        <p:xfrm>
          <a:off x="3807075" y="4496079"/>
          <a:ext cx="5022525" cy="2137660"/>
        </p:xfrm>
        <a:graphic>
          <a:graphicData uri="http://schemas.openxmlformats.org/drawingml/2006/table">
            <a:tbl>
              <a:tblPr firstRow="1" bandRow="1">
                <a:noFill/>
                <a:tableStyleId>{21E303AB-7A36-470B-B3B0-342F321F6312}</a:tableStyleId>
              </a:tblPr>
              <a:tblGrid>
                <a:gridCol w="167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\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m₀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m₁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m₂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m₃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6" name="Google Shape;176;p18"/>
          <p:cNvSpPr txBox="1"/>
          <p:nvPr/>
        </p:nvSpPr>
        <p:spPr>
          <a:xfrm>
            <a:off x="6231135" y="5958333"/>
            <a:ext cx="174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998047" y="5958333"/>
            <a:ext cx="16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181957"/>
            <a:ext cx="11049000" cy="152132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1: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15906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una función f(A,B) tiene valor 1 para las combinaciones: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211633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A=0, B=1 → mintermino m₁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2546746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A=1, B=0 → mintermino m₂</a:t>
            </a:r>
            <a:endParaRPr/>
          </a:p>
        </p:txBody>
      </p:sp>
      <p:graphicFrame>
        <p:nvGraphicFramePr>
          <p:cNvPr id="188" name="Google Shape;188;p19"/>
          <p:cNvGraphicFramePr/>
          <p:nvPr/>
        </p:nvGraphicFramePr>
        <p:xfrm>
          <a:off x="7684787" y="2593482"/>
          <a:ext cx="3525750" cy="2295525"/>
        </p:xfrm>
        <a:graphic>
          <a:graphicData uri="http://schemas.openxmlformats.org/drawingml/2006/table">
            <a:tbl>
              <a:tblPr firstRow="1" bandRow="1">
                <a:noFill/>
                <a:tableStyleId>{21E303AB-7A36-470B-B3B0-342F321F6312}</a:tableStyleId>
              </a:tblPr>
              <a:tblGrid>
                <a:gridCol w="117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\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9" name="Google Shape;189;p19"/>
          <p:cNvSpPr txBox="1"/>
          <p:nvPr/>
        </p:nvSpPr>
        <p:spPr>
          <a:xfrm>
            <a:off x="857250" y="5420082"/>
            <a:ext cx="105252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Análisis: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Como los unos están en diagonal,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se pueden agrupar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(cambian ambas variables simultáneamente). La función no se puede simplificar más.</a:t>
            </a:r>
            <a:endParaRPr/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6222448"/>
            <a:ext cx="5784650" cy="348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5025"/>
            <a:ext cx="52863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686300"/>
            <a:ext cx="5286375" cy="200367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2: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1590675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Tabla de verdad: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334125" y="1590675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Mapa:</a:t>
            </a:r>
            <a:endParaRPr/>
          </a:p>
        </p:txBody>
      </p:sp>
      <p:graphicFrame>
        <p:nvGraphicFramePr>
          <p:cNvPr id="202" name="Google Shape;202;p20"/>
          <p:cNvGraphicFramePr/>
          <p:nvPr/>
        </p:nvGraphicFramePr>
        <p:xfrm>
          <a:off x="581025" y="2114550"/>
          <a:ext cx="5267325" cy="2495500"/>
        </p:xfrm>
        <a:graphic>
          <a:graphicData uri="http://schemas.openxmlformats.org/drawingml/2006/table">
            <a:tbl>
              <a:tblPr firstRow="1" bandRow="1">
                <a:noFill/>
                <a:tableStyleId>{21E303AB-7A36-470B-B3B0-342F321F6312}</a:tableStyleId>
              </a:tblPr>
              <a:tblGrid>
                <a:gridCol w="181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D4ED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D4ED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3" name="Google Shape;203;p20"/>
          <p:cNvGraphicFramePr/>
          <p:nvPr/>
        </p:nvGraphicFramePr>
        <p:xfrm>
          <a:off x="7822406" y="2105025"/>
          <a:ext cx="2286000" cy="2295525"/>
        </p:xfrm>
        <a:graphic>
          <a:graphicData uri="http://schemas.openxmlformats.org/drawingml/2006/table">
            <a:tbl>
              <a:tblPr firstRow="1" bandRow="1">
                <a:noFill/>
                <a:tableStyleId>{21E303AB-7A36-470B-B3B0-342F321F6312}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\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Google Shape;204;p20"/>
          <p:cNvSpPr txBox="1"/>
          <p:nvPr/>
        </p:nvSpPr>
        <p:spPr>
          <a:xfrm>
            <a:off x="6619875" y="4924425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 agrupar horizontalmente, vemos que dentro del grupo la variable A se mantiene en 0, mientras que la B cambia de 0 a 1 (se elimina).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619875" y="6025157"/>
            <a:ext cx="4762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Lato"/>
                <a:ea typeface="Lato"/>
                <a:cs typeface="Lato"/>
                <a:sym typeface="Lato"/>
              </a:rPr>
              <a:t>Función SOP: f = A'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81025" y="2562225"/>
            <a:ext cx="181957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400597" y="2562225"/>
            <a:ext cx="17716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172247" y="2562225"/>
            <a:ext cx="167610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81025" y="3081337"/>
            <a:ext cx="18195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400597" y="3081337"/>
            <a:ext cx="177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172247" y="3081337"/>
            <a:ext cx="1676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81025" y="3586162"/>
            <a:ext cx="18195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400597" y="3586162"/>
            <a:ext cx="177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172247" y="3586162"/>
            <a:ext cx="1676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81025" y="4090987"/>
            <a:ext cx="18195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400597" y="4090987"/>
            <a:ext cx="177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172247" y="4090987"/>
            <a:ext cx="1676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81025" y="4595812"/>
            <a:ext cx="18195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400597" y="4595812"/>
            <a:ext cx="177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172247" y="4595812"/>
            <a:ext cx="1676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8584406" y="3581400"/>
            <a:ext cx="7620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584406" y="2867025"/>
            <a:ext cx="7620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8584406" y="2867025"/>
            <a:ext cx="47625" cy="7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9327356" y="2867025"/>
            <a:ext cx="1905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9346406" y="3581400"/>
            <a:ext cx="7620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9346406" y="2867025"/>
            <a:ext cx="7620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9346406" y="2867025"/>
            <a:ext cx="1905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10060781" y="2867025"/>
            <a:ext cx="47625" cy="7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Construcción del Mapa de Karnaugh de 3 Variables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71500" y="15906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una función de 3 variables (A, B, C), existen 8 combinaciones posibles.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211633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mapa de Karnaugh tendrá 2 filas (A) y 4 columnas (BC).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571500" y="2641996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columnas se ordenan como: 00, 01, 11, 10 (Gray code para mantener adyacencia lógica).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326290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usan 8 combinaciones → 8 celdas (2 filas por A, 4 columnas por BC).</a:t>
            </a:r>
            <a:endParaRPr/>
          </a:p>
        </p:txBody>
      </p:sp>
      <p:graphicFrame>
        <p:nvGraphicFramePr>
          <p:cNvPr id="240" name="Google Shape;240;p21"/>
          <p:cNvGraphicFramePr/>
          <p:nvPr/>
        </p:nvGraphicFramePr>
        <p:xfrm>
          <a:off x="4090987" y="3883818"/>
          <a:ext cx="4000500" cy="2878455"/>
        </p:xfrm>
        <a:graphic>
          <a:graphicData uri="http://schemas.openxmlformats.org/drawingml/2006/table">
            <a:tbl>
              <a:tblPr firstRow="1" bandRow="1">
                <a:noFill/>
                <a:tableStyleId>{21E303AB-7A36-470B-B3B0-342F321F6312}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\ BC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m₀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m₁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m₃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m₂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m₄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m₅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m₇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m₆</a:t>
                      </a:r>
                      <a:b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1" name="Google Shape;241;p21"/>
          <p:cNvSpPr txBox="1"/>
          <p:nvPr/>
        </p:nvSpPr>
        <p:spPr>
          <a:xfrm>
            <a:off x="5564385" y="5146923"/>
            <a:ext cx="174426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m₀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331297" y="5146923"/>
            <a:ext cx="16951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m₁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7086748" y="5146923"/>
            <a:ext cx="176063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m₃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7851130" y="5146923"/>
            <a:ext cx="173682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m₂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560962" y="5908923"/>
            <a:ext cx="1778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m₄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325344" y="5908923"/>
            <a:ext cx="175468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m₅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7095083" y="5908923"/>
            <a:ext cx="16772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m₇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7849939" y="5908923"/>
            <a:ext cx="174873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m₆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975026"/>
            <a:ext cx="5286375" cy="834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967557"/>
            <a:ext cx="2197149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al Ejemplo de 3 Variables: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71500" y="15906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 planteado: f(A,B,C) = 1 en m₁, m₂, m₃, m₅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334125" y="2116335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Proceso de Agrupación:</a:t>
            </a:r>
            <a:endParaRPr/>
          </a:p>
        </p:txBody>
      </p:sp>
      <p:graphicFrame>
        <p:nvGraphicFramePr>
          <p:cNvPr id="260" name="Google Shape;260;p22"/>
          <p:cNvGraphicFramePr/>
          <p:nvPr/>
        </p:nvGraphicFramePr>
        <p:xfrm>
          <a:off x="1202531" y="2116335"/>
          <a:ext cx="4000500" cy="2309800"/>
        </p:xfrm>
        <a:graphic>
          <a:graphicData uri="http://schemas.openxmlformats.org/drawingml/2006/table">
            <a:tbl>
              <a:tblPr firstRow="1" bandRow="1">
                <a:noFill/>
                <a:tableStyleId>{21E303AB-7A36-470B-B3B0-342F321F6312}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\ BC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B91C1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B91C1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1" name="Google Shape;261;p22"/>
          <p:cNvSpPr txBox="1"/>
          <p:nvPr/>
        </p:nvSpPr>
        <p:spPr>
          <a:xfrm>
            <a:off x="6400800" y="263163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572250" y="2630685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Grupo 1 (Rojo):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m₃ y m₂ están en la fila A=0. BC pasa de 11 a 10 (C cambia, B se mantiene en 1).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→ Término: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400800" y="377999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572250" y="3779043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Grupo 2 (Azul):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m₁ y m₅ están en la columna BC=01. La fila pasa de A=0 a A=1 (A cambia y se elimina).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→ Término: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524625" y="5117901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Nota: m₁ y m₃ también son adyacentes, pero ya están cubiertos por los otros grupos. Hacer un grupo extra ahí generaría redundancia.</a:t>
            </a:r>
            <a:endParaRPr/>
          </a:p>
        </p:txBody>
      </p:sp>
      <p:pic>
        <p:nvPicPr>
          <p:cNvPr id="266" name="Google Shape;26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25" y="6210371"/>
            <a:ext cx="1816149" cy="314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56946" y="3465613"/>
            <a:ext cx="291256" cy="18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55874" y="4597288"/>
            <a:ext cx="279796" cy="18365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/>
          <p:nvPr/>
        </p:nvSpPr>
        <p:spPr>
          <a:xfrm>
            <a:off x="2917031" y="3621285"/>
            <a:ext cx="76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2917031" y="2878335"/>
            <a:ext cx="7620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2917031" y="2878335"/>
            <a:ext cx="47625" cy="7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3659981" y="2878335"/>
            <a:ext cx="1905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679031" y="3592710"/>
            <a:ext cx="762000" cy="47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3679031" y="2878335"/>
            <a:ext cx="762000" cy="47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3679031" y="2878335"/>
            <a:ext cx="47625" cy="76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4421981" y="2878335"/>
            <a:ext cx="1905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441031" y="3592710"/>
            <a:ext cx="762000" cy="47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4441031" y="2878335"/>
            <a:ext cx="762000" cy="47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4441031" y="2878335"/>
            <a:ext cx="1905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5155406" y="2878335"/>
            <a:ext cx="47625" cy="76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2917031" y="4354710"/>
            <a:ext cx="7620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2917031" y="3640335"/>
            <a:ext cx="76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2917031" y="3640335"/>
            <a:ext cx="47625" cy="7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3631406" y="3640335"/>
            <a:ext cx="47625" cy="7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2375" y="2227200"/>
            <a:ext cx="285750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76250" y="38100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Práctico: Alarma contra incendios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476250" y="1100150"/>
            <a:ext cx="112395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1309700"/>
            <a:ext cx="1123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empresa desea diseñar un sistema de alarma contra incendios que se active en función de tres sensores: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170975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14375" y="1709750"/>
            <a:ext cx="11001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Activación manual del sistema (1 = presionado).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206217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14375" y="2062175"/>
            <a:ext cx="11001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Detección de humo (1 = hay humo).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24146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14375" y="2414600"/>
            <a:ext cx="11001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Detección de temperatura alta (1 = temperatura elevada).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76250" y="3819525"/>
            <a:ext cx="5429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dispone de la siguiente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tabla de verdad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donde la salida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indica si la alarma debe activarse (1) o no (0).</a:t>
            </a:r>
            <a:endParaRPr/>
          </a:p>
        </p:txBody>
      </p:sp>
      <p:graphicFrame>
        <p:nvGraphicFramePr>
          <p:cNvPr id="95" name="Google Shape;95;p13"/>
          <p:cNvGraphicFramePr/>
          <p:nvPr/>
        </p:nvGraphicFramePr>
        <p:xfrm>
          <a:off x="7581900" y="2236725"/>
          <a:ext cx="2838450" cy="3476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B91C1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6" name="Google Shape;96;p13"/>
          <p:cNvSpPr/>
          <p:nvPr/>
        </p:nvSpPr>
        <p:spPr>
          <a:xfrm>
            <a:off x="7581900" y="2560575"/>
            <a:ext cx="7230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8304758" y="2560575"/>
            <a:ext cx="6963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000976" y="2560575"/>
            <a:ext cx="7230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9723834" y="2560575"/>
            <a:ext cx="6966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7581900" y="2965387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8304758" y="2965387"/>
            <a:ext cx="69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9000976" y="2965387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9723834" y="2965387"/>
            <a:ext cx="69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7581900" y="3355912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8304758" y="3355912"/>
            <a:ext cx="69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9000976" y="3355912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9723834" y="3355912"/>
            <a:ext cx="69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7581900" y="3746437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8304758" y="3746437"/>
            <a:ext cx="69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9000976" y="3746437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9723834" y="3746437"/>
            <a:ext cx="69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7581900" y="4136962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8304758" y="4136962"/>
            <a:ext cx="69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9000976" y="4136962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723834" y="4136962"/>
            <a:ext cx="69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7581900" y="4527487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8304758" y="4527487"/>
            <a:ext cx="69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9000976" y="4527487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9723834" y="4527487"/>
            <a:ext cx="69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7581900" y="4918012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8304758" y="4918012"/>
            <a:ext cx="69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9000976" y="4918012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9723834" y="4918012"/>
            <a:ext cx="69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7581900" y="5308537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8304758" y="5308537"/>
            <a:ext cx="69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9000976" y="5308537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9723834" y="5308537"/>
            <a:ext cx="69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7581900" y="5699062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8304758" y="5699062"/>
            <a:ext cx="69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9000976" y="5699062"/>
            <a:ext cx="72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9723834" y="5699062"/>
            <a:ext cx="696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748513"/>
            <a:ext cx="1369367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820625"/>
            <a:ext cx="54292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476250" y="38100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Resolución: Mapa de Karnaugh de la Alarma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476250" y="9144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476250" y="1753700"/>
            <a:ext cx="570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Construcción y Agrupación: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6286500" y="1123950"/>
            <a:ext cx="57007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Función Lógica Mínima: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6286550" y="3509938"/>
            <a:ext cx="570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Conclusión Lógica:</a:t>
            </a:r>
            <a:endParaRPr/>
          </a:p>
        </p:txBody>
      </p:sp>
      <p:graphicFrame>
        <p:nvGraphicFramePr>
          <p:cNvPr id="143" name="Google Shape;143;p14"/>
          <p:cNvGraphicFramePr/>
          <p:nvPr>
            <p:extLst>
              <p:ext uri="{D42A27DB-BD31-4B8C-83A1-F6EECF244321}">
                <p14:modId xmlns:p14="http://schemas.microsoft.com/office/powerpoint/2010/main" val="901598801"/>
              </p:ext>
            </p:extLst>
          </p:nvPr>
        </p:nvGraphicFramePr>
        <p:xfrm>
          <a:off x="1704975" y="2210900"/>
          <a:ext cx="2952750" cy="186154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71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9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B91C1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9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338C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4" name="Google Shape;144;p14"/>
          <p:cNvSpPr txBox="1"/>
          <p:nvPr/>
        </p:nvSpPr>
        <p:spPr>
          <a:xfrm>
            <a:off x="6381750" y="15335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6524625" y="1533525"/>
            <a:ext cx="5191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D4ED8"/>
                </a:solidFill>
                <a:latin typeface="Lato"/>
                <a:ea typeface="Lato"/>
                <a:cs typeface="Lato"/>
                <a:sym typeface="Lato"/>
              </a:rPr>
              <a:t>Grupo Azul (4 celdas):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Abarca toda la fila A=1. Las variables B y C cambian, por lo que se eliminan. Queda: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6381750" y="21431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6524625" y="2143125"/>
            <a:ext cx="5191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Grupo Rojo (2 celdas):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Abarca la columna BC=11. La variable A cambia de 0 a 1, se elimina. Queda: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BC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48" name="Google Shape;14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375" y="2928913"/>
            <a:ext cx="112171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6477000" y="3934925"/>
            <a:ext cx="509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alarma se activará si se presiona el botón manual (   )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 detecta humo y alta temperatura simultáneamente (             ).</a:t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1704975" y="2858600"/>
            <a:ext cx="6669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2352675" y="2210900"/>
            <a:ext cx="19200" cy="6669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35525" y="3949213"/>
            <a:ext cx="11013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58250" y="4230200"/>
            <a:ext cx="338583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/>
          <p:nvPr/>
        </p:nvSpPr>
        <p:spPr>
          <a:xfrm>
            <a:off x="3514725" y="3453835"/>
            <a:ext cx="5715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3514725" y="2901385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3514725" y="2901385"/>
            <a:ext cx="38100" cy="571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4048125" y="2901385"/>
            <a:ext cx="38100" cy="571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2371725" y="4024288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2371725" y="3490888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2371725" y="3490888"/>
            <a:ext cx="381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2924175" y="3490888"/>
            <a:ext cx="1920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2943225" y="4024288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2943225" y="3490888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2943225" y="3490888"/>
            <a:ext cx="1920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3495675" y="3490888"/>
            <a:ext cx="1920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514725" y="4024288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514725" y="3490888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3514725" y="3490888"/>
            <a:ext cx="38100" cy="571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048125" y="3490888"/>
            <a:ext cx="38100" cy="571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4086225" y="4024288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4086225" y="3490888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4086225" y="3490888"/>
            <a:ext cx="1920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4619625" y="3490888"/>
            <a:ext cx="381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09738" y="2215663"/>
            <a:ext cx="657225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6738" y="2424275"/>
            <a:ext cx="5429250" cy="215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476250" y="38100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 POS (Producto de Sumas)</a:t>
            </a: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476250" y="9144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476250" y="1123950"/>
            <a:ext cx="11239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Hasta ahora hemos agrupado 1's usando la Forma Normal Disyuntiva (SOP). ¿Qué pasa si la función tiene más ceros que unos? Utilizamos la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Forma Normal Conjuntiva (FNC o POS)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446488" y="2281400"/>
            <a:ext cx="570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Principios del POS: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541738" y="269097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85" name="Google Shape;185;p15"/>
          <p:cNvSpPr txBox="1"/>
          <p:nvPr/>
        </p:nvSpPr>
        <p:spPr>
          <a:xfrm>
            <a:off x="684613" y="2690975"/>
            <a:ext cx="51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construye agrupando las celdas donde la función es </a:t>
            </a:r>
            <a:r>
              <a:rPr lang="en-US" sz="135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(Falsa).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541738" y="30434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684613" y="3043400"/>
            <a:ext cx="51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Cada grupo de ceros genera un término de suma (OR).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541738" y="339582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684613" y="3395825"/>
            <a:ext cx="51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Luego se hace el producto (AND) entre todas las sumas encontradas.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6494863" y="2567150"/>
            <a:ext cx="525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91C1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Reglas Críticas para la Lectura: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6494863" y="2976725"/>
            <a:ext cx="500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¡Cuidado, la lógica se invierte respecto a SOP!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6590113" y="330057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6732988" y="3300575"/>
            <a:ext cx="4953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la variable del grupo constante es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se escribe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negada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(Ej: A').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6590113" y="36530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6732988" y="3653000"/>
            <a:ext cx="4866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la variable del grupo constante es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se escribe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directa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(Ej: A).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2125" y="1373981"/>
            <a:ext cx="285750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17018"/>
            <a:ext cx="2673697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602568"/>
            <a:ext cx="5429250" cy="442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 txBox="1"/>
          <p:nvPr/>
        </p:nvSpPr>
        <p:spPr>
          <a:xfrm>
            <a:off x="476250" y="38100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POS con 2 variables (Ejemplo XOR)</a:t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476250" y="9144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5" name="Google Shape;205;p16"/>
          <p:cNvGraphicFramePr/>
          <p:nvPr/>
        </p:nvGraphicFramePr>
        <p:xfrm>
          <a:off x="1771650" y="1383506"/>
          <a:ext cx="2838450" cy="1914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7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6" name="Google Shape;206;p16"/>
          <p:cNvSpPr txBox="1"/>
          <p:nvPr/>
        </p:nvSpPr>
        <p:spPr>
          <a:xfrm>
            <a:off x="6286500" y="1123950"/>
            <a:ext cx="57007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Maxitérminos (Agrupando 0's):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6286500" y="2512218"/>
            <a:ext cx="57007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Función POS final: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1771650" y="1707356"/>
            <a:ext cx="97006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2741711" y="1707356"/>
            <a:ext cx="93404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3675757" y="1707356"/>
            <a:ext cx="93434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6381750" y="15335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6524625" y="1533525"/>
            <a:ext cx="5191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Grupo 1: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A=0, B=0 → Variables directas: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6381750" y="18859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6524625" y="1885950"/>
            <a:ext cx="5191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Grupo 2: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A=1, B=1 → Variables negadas:</a:t>
            </a:r>
            <a:endParaRPr/>
          </a:p>
        </p:txBody>
      </p:sp>
      <p:pic>
        <p:nvPicPr>
          <p:cNvPr id="215" name="Google Shape;21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0325" y="2940694"/>
            <a:ext cx="2426047" cy="25732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6"/>
          <p:cNvSpPr txBox="1"/>
          <p:nvPr/>
        </p:nvSpPr>
        <p:spPr>
          <a:xfrm>
            <a:off x="6448425" y="3716868"/>
            <a:ext cx="5153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Dualidad: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Esta función es equivalente a la forma SOP .</a:t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1771650" y="2112168"/>
            <a:ext cx="970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2741711" y="2112168"/>
            <a:ext cx="9340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3675757" y="2112168"/>
            <a:ext cx="934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1771650" y="2502693"/>
            <a:ext cx="970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2741711" y="2502693"/>
            <a:ext cx="9340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3675757" y="2502693"/>
            <a:ext cx="934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1771650" y="2893218"/>
            <a:ext cx="970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2741711" y="2893218"/>
            <a:ext cx="9340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3675757" y="2893218"/>
            <a:ext cx="934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1771650" y="3283743"/>
            <a:ext cx="9700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2741711" y="3283743"/>
            <a:ext cx="9340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3675757" y="3283743"/>
            <a:ext cx="934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05950" y="1590675"/>
            <a:ext cx="735062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15475" y="1915715"/>
            <a:ext cx="836265" cy="208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01225" y="3746633"/>
            <a:ext cx="858440" cy="132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76375"/>
            <a:ext cx="285750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266825"/>
            <a:ext cx="5429250" cy="263766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7"/>
          <p:cNvSpPr txBox="1"/>
          <p:nvPr/>
        </p:nvSpPr>
        <p:spPr>
          <a:xfrm>
            <a:off x="476250" y="38100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 en Clase: Análisis Dual</a:t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476250" y="9144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476250" y="1123950"/>
            <a:ext cx="5429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Dada la tabla:</a:t>
            </a:r>
            <a:endParaRPr/>
          </a:p>
        </p:txBody>
      </p:sp>
      <p:graphicFrame>
        <p:nvGraphicFramePr>
          <p:cNvPr id="242" name="Google Shape;242;p17"/>
          <p:cNvGraphicFramePr/>
          <p:nvPr/>
        </p:nvGraphicFramePr>
        <p:xfrm>
          <a:off x="485775" y="1485900"/>
          <a:ext cx="2838450" cy="3476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D4ED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D4ED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D4ED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D4ED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D4ED8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F444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3" name="Google Shape;243;p17"/>
          <p:cNvSpPr txBox="1"/>
          <p:nvPr/>
        </p:nvSpPr>
        <p:spPr>
          <a:xfrm>
            <a:off x="6524625" y="1409700"/>
            <a:ext cx="525065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Instrucciones para resolver: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6500812" y="3386137"/>
            <a:ext cx="500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Resolvamos</a:t>
            </a: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esto</a:t>
            </a: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cuadernos</a:t>
            </a: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2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comparar</a:t>
            </a: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2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reducción</a:t>
            </a:r>
            <a:r>
              <a:rPr lang="en-US" sz="12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SOP vs POS.</a:t>
            </a:r>
            <a:endParaRPr dirty="0"/>
          </a:p>
        </p:txBody>
      </p:sp>
      <p:sp>
        <p:nvSpPr>
          <p:cNvPr id="245" name="Google Shape;245;p17"/>
          <p:cNvSpPr/>
          <p:nvPr/>
        </p:nvSpPr>
        <p:spPr>
          <a:xfrm>
            <a:off x="485775" y="1809750"/>
            <a:ext cx="72285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1208633" y="1809750"/>
            <a:ext cx="69621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904851" y="1809750"/>
            <a:ext cx="72285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2627709" y="1809750"/>
            <a:ext cx="69651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6619875" y="18192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6762750" y="18192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SOP: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Construir el K-Map volcando los unos y buscar grupos de 2.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6619875" y="258203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6762750" y="2582036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Volver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dibujar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mapa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agrupando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ceros 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lectura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inversas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253" name="Google Shape;253;p17"/>
          <p:cNvSpPr/>
          <p:nvPr/>
        </p:nvSpPr>
        <p:spPr>
          <a:xfrm>
            <a:off x="485775" y="2214562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208633" y="2214562"/>
            <a:ext cx="69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1904851" y="2214562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2627709" y="2214562"/>
            <a:ext cx="696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485775" y="2605087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1208633" y="2605087"/>
            <a:ext cx="69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1904851" y="2605087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2627709" y="2605087"/>
            <a:ext cx="696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485775" y="2995612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1208633" y="2995612"/>
            <a:ext cx="69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1904851" y="2995612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627709" y="2995612"/>
            <a:ext cx="696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485775" y="3386137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1208633" y="3386137"/>
            <a:ext cx="69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1904851" y="3386137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2627709" y="3386137"/>
            <a:ext cx="696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485775" y="3776662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1208633" y="3776662"/>
            <a:ext cx="69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904851" y="3776662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2627709" y="3776662"/>
            <a:ext cx="696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485775" y="4167187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1208633" y="4167187"/>
            <a:ext cx="69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1904851" y="4167187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2627709" y="4167187"/>
            <a:ext cx="696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85775" y="4557712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1208633" y="4557712"/>
            <a:ext cx="69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904851" y="4557712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2627709" y="4557712"/>
            <a:ext cx="696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485775" y="4948237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1208633" y="4948237"/>
            <a:ext cx="69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1904851" y="4948237"/>
            <a:ext cx="72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2627709" y="4948237"/>
            <a:ext cx="696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250" y="4093550"/>
            <a:ext cx="216976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7375" y="4080263"/>
            <a:ext cx="2870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8"/>
          <p:cNvSpPr txBox="1"/>
          <p:nvPr/>
        </p:nvSpPr>
        <p:spPr>
          <a:xfrm>
            <a:off x="476250" y="38100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Resolución de la Actividad (SOP vs POS)</a:t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476250" y="9144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 txBox="1"/>
          <p:nvPr/>
        </p:nvSpPr>
        <p:spPr>
          <a:xfrm>
            <a:off x="581025" y="5264925"/>
            <a:ext cx="112395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El POS requirió menos grupos porque había menos ceros que unos, resultando en una implementación de hardware más sencilla (menos compuertas).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476250" y="1123950"/>
            <a:ext cx="57007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SOP (Agrupando 1's):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6286500" y="1123950"/>
            <a:ext cx="57007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POS (Agrupando 0's):</a:t>
            </a:r>
            <a:endParaRPr/>
          </a:p>
        </p:txBody>
      </p:sp>
      <p:graphicFrame>
        <p:nvGraphicFramePr>
          <p:cNvPr id="297" name="Google Shape;297;p18"/>
          <p:cNvGraphicFramePr/>
          <p:nvPr/>
        </p:nvGraphicFramePr>
        <p:xfrm>
          <a:off x="1752600" y="1562863"/>
          <a:ext cx="2870200" cy="17974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9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A\BC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338C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B91C1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478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98" name="Google Shape;29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25" y="4203831"/>
            <a:ext cx="1960215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9" name="Google Shape;299;p18"/>
          <p:cNvGraphicFramePr/>
          <p:nvPr/>
        </p:nvGraphicFramePr>
        <p:xfrm>
          <a:off x="7515225" y="1504950"/>
          <a:ext cx="2952750" cy="18288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A\BC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B91C1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D4ED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00" name="Google Shape;30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42150" y="4190544"/>
            <a:ext cx="2660600" cy="23261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8"/>
          <p:cNvSpPr/>
          <p:nvPr/>
        </p:nvSpPr>
        <p:spPr>
          <a:xfrm>
            <a:off x="1704975" y="2152650"/>
            <a:ext cx="6667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2352675" y="1504950"/>
            <a:ext cx="19050" cy="666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7515225" y="2152650"/>
            <a:ext cx="6667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8162925" y="1504950"/>
            <a:ext cx="19050" cy="666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2943225" y="270510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2943225" y="217170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2943225" y="2171700"/>
            <a:ext cx="381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3495675" y="2171700"/>
            <a:ext cx="1905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3514725" y="2705100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3514725" y="2171700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3514725" y="2171700"/>
            <a:ext cx="38100" cy="571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4067175" y="2171700"/>
            <a:ext cx="1905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4086225" y="2705100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086225" y="2171700"/>
            <a:ext cx="5715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086225" y="2171700"/>
            <a:ext cx="1905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4619625" y="2171700"/>
            <a:ext cx="38100" cy="571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2943225" y="327660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2943225" y="274320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2943225" y="2743200"/>
            <a:ext cx="1905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3476625" y="2743200"/>
            <a:ext cx="381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9324975" y="327660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9324975" y="274320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9324975" y="2743200"/>
            <a:ext cx="381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9877425" y="2743200"/>
            <a:ext cx="1905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9896475" y="327660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9896475" y="274320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9896475" y="2743200"/>
            <a:ext cx="19050" cy="571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10429875" y="2743200"/>
            <a:ext cx="381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666875"/>
            <a:ext cx="1123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581400"/>
            <a:ext cx="11239500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9"/>
          <p:cNvSpPr txBox="1"/>
          <p:nvPr/>
        </p:nvSpPr>
        <p:spPr>
          <a:xfrm>
            <a:off x="476250" y="38100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Diseño Lógico: Semáforo Peatonal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476250" y="9144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476250" y="1123950"/>
            <a:ext cx="11239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intersección está controlada por un sistema automático peatonal, que se activa según:</a:t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>
            <a:off x="476250" y="3200400"/>
            <a:ext cx="11239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La salida Z indica si el semáforo peatonal debe activarse (Z = 1).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676275" y="3781425"/>
            <a:ext cx="1138142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 de Diseño: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809625" y="18097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>
            <a:off x="952500" y="1809750"/>
            <a:ext cx="10572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Botón de cruce presionado (1 = sí, 0 = no).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809625" y="21621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952500" y="2162175"/>
            <a:ext cx="10572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Tráfico vehicular detectado (1 = hay carros, 0 = libre).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809625" y="25146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952500" y="2514600"/>
            <a:ext cx="10572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de noche (1 = sí, 0 = de día).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733425" y="4240275"/>
            <a:ext cx="365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866775" y="4191000"/>
            <a:ext cx="10648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Analiza la regla: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"El peatón solo cruza si presionó el botón (A) Y no hay tráfico (B=0). Pero por seguridad, de noche (C=1) siempre que presionen el botón (A=1) se debe dar paso, haya o no tráfico".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733425" y="4794375"/>
            <a:ext cx="271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 dirty="0"/>
          </a:p>
        </p:txBody>
      </p:sp>
      <p:sp>
        <p:nvSpPr>
          <p:cNvPr id="350" name="Google Shape;350;p19"/>
          <p:cNvSpPr txBox="1"/>
          <p:nvPr/>
        </p:nvSpPr>
        <p:spPr>
          <a:xfrm>
            <a:off x="855375" y="4754625"/>
            <a:ext cx="10648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Llena la tabla de verdad basándote en esta lógica textual.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733425" y="5051550"/>
            <a:ext cx="365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855375" y="5011800"/>
            <a:ext cx="10648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Construye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mapa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Karnaugh y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ecuación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final para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control.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8375" y="4352925"/>
            <a:ext cx="23812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5375" y="4352925"/>
            <a:ext cx="23812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72375" y="4352925"/>
            <a:ext cx="23812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750" y="1476375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38125" y="2524125"/>
            <a:ext cx="11715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Taller de Aplicación: Mapas de Karnaugh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286000" y="3286125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Pon a prueba tus conocimientos sobre simplificación booleana resolviendo estos 3 escenarios prácticos.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378868" y="4581525"/>
            <a:ext cx="21002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1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428875" y="4962525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Dualidad: SOP vs POS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045868" y="4581525"/>
            <a:ext cx="21002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2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095875" y="4962525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de Hardware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712868" y="4581525"/>
            <a:ext cx="21002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3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762875" y="4962525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Grupos Redundantes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095500"/>
            <a:ext cx="5429250" cy="41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0" y="1952625"/>
            <a:ext cx="2381250" cy="41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000125" y="381000"/>
            <a:ext cx="111918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1: Análisis Dual (SOP y POS)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76250" y="9144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5720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1123950"/>
            <a:ext cx="112395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476250" y="1504950"/>
            <a:ext cx="1123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Dada una función lógica                                    que se activa exclusivamente en los minitérminos: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1, 2, 3, 5 y 7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19460" y="1609725"/>
            <a:ext cx="1029146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14375" y="2286000"/>
            <a:ext cx="525065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Actividades a realizar:</a:t>
            </a:r>
            <a:endParaRPr/>
          </a:p>
        </p:txBody>
      </p:sp>
      <p:graphicFrame>
        <p:nvGraphicFramePr>
          <p:cNvPr id="111" name="Google Shape;111;p14"/>
          <p:cNvGraphicFramePr/>
          <p:nvPr/>
        </p:nvGraphicFramePr>
        <p:xfrm>
          <a:off x="7820025" y="1962150"/>
          <a:ext cx="2362175" cy="4086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1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mᵢ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B 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0 0 0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0 0 1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0 1 0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0 1 1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1 0 0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1 0 1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1 1 0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1 1 1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2" name="Google Shape;112;p14"/>
          <p:cNvSpPr txBox="1"/>
          <p:nvPr/>
        </p:nvSpPr>
        <p:spPr>
          <a:xfrm>
            <a:off x="790551" y="2744100"/>
            <a:ext cx="2286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04875" y="2695575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Construye la Tabla de Verdad de la función.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89408" y="3139375"/>
            <a:ext cx="2286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03732" y="3090850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Dibuja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K-Map y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expresión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mínima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Suma de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Productos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(SOP)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790170" y="3772800"/>
            <a:ext cx="2286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04494" y="3724275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Dibuja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nuevamente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K-Map,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agrupa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ceros y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expresión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mínima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Producto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Sumas (POS)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8" name="Google Shape;118;p14"/>
          <p:cNvSpPr txBox="1"/>
          <p:nvPr/>
        </p:nvSpPr>
        <p:spPr>
          <a:xfrm>
            <a:off x="790551" y="4495800"/>
            <a:ext cx="2286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04875" y="4447275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Demuestra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algebraicamente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ambas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expresiones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son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equivalentes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20" name="Google Shape;120;p14"/>
          <p:cNvSpPr/>
          <p:nvPr/>
        </p:nvSpPr>
        <p:spPr>
          <a:xfrm>
            <a:off x="7820025" y="2362200"/>
            <a:ext cx="61778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8437810" y="2362200"/>
            <a:ext cx="123408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9671893" y="2362200"/>
            <a:ext cx="51033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7820025" y="2833687"/>
            <a:ext cx="617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8437810" y="2833687"/>
            <a:ext cx="1234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9671893" y="2833687"/>
            <a:ext cx="510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7820025" y="3290887"/>
            <a:ext cx="617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8437810" y="3290887"/>
            <a:ext cx="1234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9671893" y="3290887"/>
            <a:ext cx="510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820025" y="3748087"/>
            <a:ext cx="617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8437810" y="3748087"/>
            <a:ext cx="1234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9671893" y="3748087"/>
            <a:ext cx="510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7820025" y="4205287"/>
            <a:ext cx="617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8437810" y="4205287"/>
            <a:ext cx="1234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9671893" y="4205287"/>
            <a:ext cx="510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7820025" y="4662487"/>
            <a:ext cx="617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437810" y="4662487"/>
            <a:ext cx="1234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9671893" y="4662487"/>
            <a:ext cx="510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7820025" y="5119687"/>
            <a:ext cx="617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8437810" y="5119687"/>
            <a:ext cx="1234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9671893" y="5119687"/>
            <a:ext cx="510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7820025" y="5576887"/>
            <a:ext cx="617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8437810" y="5576887"/>
            <a:ext cx="1234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9671893" y="5576887"/>
            <a:ext cx="510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7820025" y="6034087"/>
            <a:ext cx="617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8437810" y="6034087"/>
            <a:ext cx="1234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9671893" y="6034087"/>
            <a:ext cx="510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295650"/>
            <a:ext cx="1123950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923925" y="381000"/>
            <a:ext cx="112680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2: Diseño de Hardware Requerido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476250" y="9144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4572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1123950"/>
            <a:ext cx="112395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476250" y="1504950"/>
            <a:ext cx="11239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Diseña la lógica de control para un aire acondicionado inteligente (Salida Z = 1 enciende el motor). El sistema tiene 3 entradas: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476250" y="5305425"/>
            <a:ext cx="11239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Tarea: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Traduce este texto a una tabla de verdad, aplícalo en un Mapa de Karnaugh y obtén la ecuación SOP simplificada.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571500" y="19050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14375" y="1905000"/>
            <a:ext cx="11001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Temperatura Alta (1 = Calor, 0 = Frío).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571500" y="22574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714375" y="2257425"/>
            <a:ext cx="11001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Sensor de Presencia (1 = Hay personas, 0 = Vacío).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71500" y="26098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714375" y="2609850"/>
            <a:ext cx="11001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Modo Eco activado (1 = Eco encendido, 0 = Eco apagado).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714375" y="3486150"/>
            <a:ext cx="1135141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Reglas de Negocio (Requisitos):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714375" y="3895725"/>
            <a:ext cx="108108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aire acondicionado debe encenderse si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hace calor (T=1) Y hay personas en la sala (P=1)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 embargo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si el "Modo Eco" está desactivado (E=0), el sistema ignorará el sensor de presencia y encenderá el aire siempre que haga calor (T=1), haya o no personas.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047875"/>
            <a:ext cx="11239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895600"/>
            <a:ext cx="112395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923925" y="381000"/>
            <a:ext cx="112680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 3: Optimización Visual (Grupos Redundantes)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476250" y="9144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572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1123950"/>
            <a:ext cx="112395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476250" y="1504950"/>
            <a:ext cx="11239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ingeniero junior diseñó un circuito que produce la siguiente ecuación lógica (no optimizada):</a:t>
            </a:r>
            <a:endParaRPr/>
          </a:p>
        </p:txBody>
      </p:sp>
      <p:pic>
        <p:nvPicPr>
          <p:cNvPr id="179" name="Google Shape;17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83359" y="2210544"/>
            <a:ext cx="4625131" cy="23738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714375" y="3086100"/>
            <a:ext cx="1135141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Trampa del K-Map: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714375" y="3495675"/>
            <a:ext cx="10810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Mapea estos 5 minitérminos en un Mapa de Karnaugh de 3 variables (X en las filas, YZ en las columnas). Intenta hacer los grupos más grandes posibles (de 2 o 4 celdas).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714375" y="4191000"/>
            <a:ext cx="10810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Pregunta clave a responder: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¿Es necesario hacer un grupo que enlace la celda 01 con la celda 11? ¿Qué sucede si haces un grupo "de más" que solo contiene unos que ya pertenecen a otros grupos?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2253</Words>
  <Application>Microsoft Office PowerPoint</Application>
  <PresentationFormat>Panorámica</PresentationFormat>
  <Paragraphs>401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Fira Code</vt:lpstr>
      <vt:lpstr>Calibri</vt:lpstr>
      <vt:lpstr>Lato</vt:lpstr>
      <vt:lpstr>Poppins SemiBold</vt:lpstr>
      <vt:lpstr>Poppins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4</cp:revision>
  <dcterms:modified xsi:type="dcterms:W3CDTF">2026-05-15T14:54:05Z</dcterms:modified>
</cp:coreProperties>
</file>