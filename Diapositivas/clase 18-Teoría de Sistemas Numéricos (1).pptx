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SemiBold" panose="000007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46417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55432" y="2511921"/>
            <a:ext cx="9081135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Sistemas Numéricos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y Aritmética Computacional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4329112"/>
            <a:ext cx="9525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495675" y="4662487"/>
            <a:ext cx="52006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Bases Numéricas, Conversiones, Operaciones 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Representación en Complemento a 2.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4821"/>
            <a:ext cx="3492549" cy="399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84821"/>
            <a:ext cx="3492549" cy="399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84821"/>
            <a:ext cx="3492549" cy="399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Fundamento de la Computación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428750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Las computadoras no entienden nuestro lenguaje; todo se reduce a estados de voltaje interpretados como números en distintas bases posicionales.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727721"/>
            <a:ext cx="2806749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85875" y="2721321"/>
            <a:ext cx="2949624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14400" y="3194446"/>
            <a:ext cx="29470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Binario</a:t>
            </a:r>
            <a:r>
              <a:rPr lang="en-US" sz="19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(Base 2)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3715196"/>
            <a:ext cx="2806749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lenguaje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nativo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 hardware.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únicamente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dos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símbolos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 y 1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(bits).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4732883"/>
            <a:ext cx="2806749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posición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representa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potencia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2.</a:t>
            </a:r>
            <a:endParaRPr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727721"/>
            <a:ext cx="2806749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692699" y="3194446"/>
            <a:ext cx="29470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Octal (Base 8)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92699" y="3708796"/>
            <a:ext cx="2806749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Utiliza dígitos del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 al 7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Históricamente útil en informática antigua porque agrupa exactamente 3 bits en un solo dígito.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727721"/>
            <a:ext cx="2806749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470999" y="3194446"/>
            <a:ext cx="294708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Hexadecimal (Base 16)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70999" y="3695430"/>
            <a:ext cx="2806749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0-9 y A-F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Fundamental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programación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moderna,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agrupa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exactamente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4 bits (un nibble)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facilitando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lectura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memoria.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72209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460545" y="2769840"/>
            <a:ext cx="7270908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Parte 1: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 Conversiones de Base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319462" y="4770090"/>
            <a:ext cx="5553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Traduciendo información entre sistemas numéricos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1" y="1209675"/>
            <a:ext cx="4925775" cy="53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78275" y="1428750"/>
            <a:ext cx="5742224" cy="53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1164" y="3954512"/>
            <a:ext cx="5056435" cy="518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1164" y="4853880"/>
            <a:ext cx="5056435" cy="46270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Conversión Universal con el Sistema Decimal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1" y="1552575"/>
            <a:ext cx="4239964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14401" y="2019300"/>
            <a:ext cx="445196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Decimal a Base N (Divisiones)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14401" y="2533650"/>
            <a:ext cx="4239964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 convertir de decimal a binario, octal o hexa,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dividimos sucesivamente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por la base destino hasta que el cociente sea cero. Los residuos, leídos de abajo hacia arriba, forman el número.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14401" y="3834407"/>
            <a:ext cx="4239964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Ejemplo: 25 a Binario (Base 2)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1164" y="1771650"/>
            <a:ext cx="505643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221164" y="2238375"/>
            <a:ext cx="530925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N a Decimal (TFN)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221164" y="2752725"/>
            <a:ext cx="505643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Aplicamos el Teorema Fundamental de la Numeración: sumamos el valor de cada dígito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multiplicado por la base elevada a su posición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(empezando de 0 a la derecha).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09626" y="431821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1" y="4316313"/>
            <a:ext cx="4239964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25 / 2 = 12 (Residuo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09626" y="475056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14401" y="4748658"/>
            <a:ext cx="4239964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12 / 2 = 6 (Residuo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09626" y="518290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14401" y="5181004"/>
            <a:ext cx="4239964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 / 2 = 3 (Residuo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09626" y="561525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14401" y="5613350"/>
            <a:ext cx="4239964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 / 2 = 1 (Residuo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09626" y="604760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4401" y="6045696"/>
            <a:ext cx="4239964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/ 2 = 0 (Residuo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→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11664" y="4097387"/>
            <a:ext cx="4723060" cy="232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8185" y="4996755"/>
            <a:ext cx="2290018" cy="176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995042" y="6168331"/>
            <a:ext cx="511819" cy="163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8191"/>
            <a:ext cx="5334000" cy="418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98191"/>
            <a:ext cx="5334000" cy="418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145012"/>
            <a:ext cx="4648200" cy="104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805957"/>
            <a:ext cx="4648200" cy="104655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Conversiones Directas por Agrupación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1428750"/>
            <a:ext cx="110490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Dado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        y           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podemos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convertir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entre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Binario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Octal y Hexadecimal sin pasar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Decimal,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simplemente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agrupando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bits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coma decimal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hacia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izquierda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5232" y="1542603"/>
            <a:ext cx="452883" cy="160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0708" y="1542603"/>
            <a:ext cx="538608" cy="160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2541091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14400" y="3007816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Binario ↔ Octal (Grupos de 3)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14400" y="3522166"/>
            <a:ext cx="4648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Cada dígito octal representa exactamente 3 bits.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2541091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6629400" y="3007816"/>
            <a:ext cx="488061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Binario ↔ Hexadecimal (Grupos de 4)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29400" y="3893641"/>
            <a:ext cx="4648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Cada dígito hexa representa exactamente 4 bits. Rellenamos con ceros a la izquierda si falta.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55639" y="4335512"/>
            <a:ext cx="2013198" cy="37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562225" y="4805808"/>
            <a:ext cx="1400175" cy="19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856339" y="4996457"/>
            <a:ext cx="2241798" cy="37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36743" y="5466754"/>
            <a:ext cx="1481137" cy="19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55821"/>
            <a:ext cx="5276850" cy="4147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3324" y="2255749"/>
            <a:ext cx="5668625" cy="4147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75" y="5627618"/>
            <a:ext cx="4495800" cy="63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5627618"/>
            <a:ext cx="4495800" cy="63266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0" y="6430900"/>
            <a:ext cx="121920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-417575"/>
            <a:ext cx="9600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28700" y="571500"/>
            <a:ext cx="1111138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Conversiones Directas: Expansión a Binario</a:t>
            </a:r>
            <a:endParaRPr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70008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608275" y="1334700"/>
            <a:ext cx="110301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convertir de una base mayor (Octal o Hexadecimal) a Binario, realizamos el proceso inverso a la agrupación: tomamos cada dígito individual y lo "expandimos" a su equivalente exacto en bits.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71550" y="2481596"/>
            <a:ext cx="4720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1. De Octal a Binario</a:t>
            </a:r>
            <a:endParaRPr sz="1050"/>
          </a:p>
        </p:txBody>
      </p:sp>
      <p:sp>
        <p:nvSpPr>
          <p:cNvPr id="96" name="Google Shape;96;p13"/>
          <p:cNvSpPr/>
          <p:nvPr/>
        </p:nvSpPr>
        <p:spPr>
          <a:xfrm>
            <a:off x="1019175" y="2751375"/>
            <a:ext cx="4495800" cy="19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971550" y="2897974"/>
            <a:ext cx="4495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dígito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octal se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debe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traducir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bloque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exacto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 bits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Si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número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binario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tiene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3 bits, se rellena con ceros a la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izquierda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dentro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bloque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971549" y="3911770"/>
            <a:ext cx="449580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11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Convertir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72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base 8 a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binario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50"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6724650" y="2478691"/>
            <a:ext cx="47205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2. De Hexadecimal a </a:t>
            </a:r>
            <a:r>
              <a:rPr lang="en-US" sz="1600" b="1" i="0" u="none" strike="noStrike" cap="none" dirty="0" err="1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Binario</a:t>
            </a:r>
            <a:endParaRPr sz="1050" dirty="0"/>
          </a:p>
        </p:txBody>
      </p:sp>
      <p:sp>
        <p:nvSpPr>
          <p:cNvPr id="100" name="Google Shape;100;p13"/>
          <p:cNvSpPr/>
          <p:nvPr/>
        </p:nvSpPr>
        <p:spPr>
          <a:xfrm>
            <a:off x="6724650" y="2767440"/>
            <a:ext cx="4495800" cy="1905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6429300" y="2850546"/>
            <a:ext cx="5445796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dígito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hexadecimal se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debe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traducir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un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bloque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exacto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 bits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Al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igual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octal, se rellena con ceros a la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izquierda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bloque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alcanza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 bits.</a:t>
            </a:r>
            <a:endParaRPr sz="11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6429300" y="3784371"/>
            <a:ext cx="449580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11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Convertir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A5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base 16 a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binario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50"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1374336" y="4286404"/>
            <a:ext cx="421020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Separar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dígitos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7 y 2</a:t>
            </a:r>
            <a:endParaRPr sz="1050"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1374336" y="4705504"/>
            <a:ext cx="421020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 equivale a </a:t>
            </a:r>
            <a:r>
              <a:rPr lang="en-US" sz="11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111</a:t>
            </a:r>
            <a:endParaRPr sz="1050"/>
          </a:p>
        </p:txBody>
      </p:sp>
      <p:sp>
        <p:nvSpPr>
          <p:cNvPr id="105" name="Google Shape;105;p13"/>
          <p:cNvSpPr txBox="1"/>
          <p:nvPr/>
        </p:nvSpPr>
        <p:spPr>
          <a:xfrm>
            <a:off x="1374336" y="5124604"/>
            <a:ext cx="421020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 equivale a </a:t>
            </a:r>
            <a:r>
              <a:rPr lang="en-US" sz="11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010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(Nota el '0' a la izquierda)</a:t>
            </a:r>
            <a:endParaRPr sz="1050"/>
          </a:p>
        </p:txBody>
      </p:sp>
      <p:sp>
        <p:nvSpPr>
          <p:cNvPr id="106" name="Google Shape;106;p13"/>
          <p:cNvSpPr txBox="1"/>
          <p:nvPr/>
        </p:nvSpPr>
        <p:spPr>
          <a:xfrm>
            <a:off x="6724650" y="4370057"/>
            <a:ext cx="421005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Separar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dígitos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A y 5</a:t>
            </a:r>
            <a:endParaRPr sz="1050"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6724650" y="4735063"/>
            <a:ext cx="421005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(10) equivale a </a:t>
            </a:r>
            <a:r>
              <a:rPr lang="en-US" sz="11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1010</a:t>
            </a:r>
            <a:endParaRPr sz="1050"/>
          </a:p>
        </p:txBody>
      </p:sp>
      <p:sp>
        <p:nvSpPr>
          <p:cNvPr id="108" name="Google Shape;108;p13"/>
          <p:cNvSpPr txBox="1"/>
          <p:nvPr/>
        </p:nvSpPr>
        <p:spPr>
          <a:xfrm>
            <a:off x="6724650" y="5154163"/>
            <a:ext cx="421005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 equivale a </a:t>
            </a:r>
            <a:r>
              <a:rPr lang="en-US" sz="11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0101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(Se añade el '0')</a:t>
            </a:r>
            <a:endParaRPr sz="1050"/>
          </a:p>
        </p:txBody>
      </p:sp>
      <p:pic>
        <p:nvPicPr>
          <p:cNvPr id="109" name="Google Shape;10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8586" y="4305454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8586" y="4724554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8586" y="5143654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04466" y="5865868"/>
            <a:ext cx="1629965" cy="232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29300" y="442814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475411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517321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84926" y="5827643"/>
            <a:ext cx="2070348" cy="232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1600" y="1924875"/>
            <a:ext cx="3956149" cy="6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12182475" y="0"/>
            <a:ext cx="9525" cy="6858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14425" y="571500"/>
            <a:ext cx="1102137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Octal ↔ Hexadecimal: El Puente Binario</a:t>
            </a:r>
            <a:endParaRPr/>
          </a:p>
        </p:txBody>
      </p:sp>
      <p:pic>
        <p:nvPicPr>
          <p:cNvPr id="127" name="Google Shape;12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700087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581024" y="1552575"/>
            <a:ext cx="7073564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analítico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sencillo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saltar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entre base 8 y base 16. El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más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universalmente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utilizado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 usar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Binario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9" name="Google Shape;129;p14"/>
          <p:cNvSpPr txBox="1"/>
          <p:nvPr/>
        </p:nvSpPr>
        <p:spPr>
          <a:xfrm>
            <a:off x="581025" y="3253382"/>
            <a:ext cx="694883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Pasos de Conversión: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66775" y="3729632"/>
            <a:ext cx="63321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Paso 1 (Expansión):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Convertir el número origen (Octal o Hexadecimal) a Binario, expandiendo cada dígito en sus respectivos bloques (3 o 4 bits).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66775" y="4758332"/>
            <a:ext cx="63321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Paso 2 (Reagrupación):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Tomar la cadena binaria resultante y reagrupar los bits desde la coma decimal. Agrupar de a 4 (si vamos a Hexa) o de a 3 (si vamos a Octal).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66775" y="5787032"/>
            <a:ext cx="633219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Paso 3 (Traducción):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Traducir los nuevos grupos formados a la base destino final.</a:t>
            </a:r>
            <a:endParaRPr/>
          </a:p>
        </p:txBody>
      </p:sp>
      <p:pic>
        <p:nvPicPr>
          <p:cNvPr id="133" name="Google Shape;13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4868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77738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80608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20199" y="2167607"/>
            <a:ext cx="2718941" cy="232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0" y="1722090"/>
            <a:ext cx="571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955482" y="2769840"/>
            <a:ext cx="8281035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Parte 2: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 Operaciones Aritméticas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657600" y="4770090"/>
            <a:ext cx="4876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Suma, Resta, Multiplicación y División Binaria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Suma y Resta Binaria Básica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582CF0-2779-3B09-E5D1-70BD9821E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348090"/>
            <a:ext cx="10538460" cy="48381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28750"/>
            <a:ext cx="5334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335512"/>
            <a:ext cx="4648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Multiplicación y División Binaria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914400" y="2238375"/>
            <a:ext cx="488061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Multiplicación (Desplazamientos y Sumas)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14400" y="3124200"/>
            <a:ext cx="46482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basa en multiplicar por 1 (copiar) o por 0 (poner ceros), y desplazar a la izquierda por cada posición, igual que en decimal, para luego sumar todo.</a:t>
            </a:r>
            <a:endParaRPr/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771650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6629400" y="2238375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División Binaria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629400" y="2752725"/>
            <a:ext cx="46482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realiza igual que la división larga decimal. Se evalúa si el divisor "cabe" en los bits del dividendo (poniendo 1 en el cociente) o no (poniendo 0), y se resta.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29400" y="4148732"/>
            <a:ext cx="46482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Debido a su complejidad algorítmica, en la CPU la división a menudo se implementa mediante desplazamientos iterativos y restas sucesivas (o complemento a 2).</a:t>
            </a:r>
            <a:endParaRPr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27473" y="4421237"/>
            <a:ext cx="393203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/>
          <p:nvPr/>
        </p:nvSpPr>
        <p:spPr>
          <a:xfrm>
            <a:off x="2777876" y="4545062"/>
            <a:ext cx="190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711326" y="4545062"/>
            <a:ext cx="190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9750" y="126965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295275" y="2317402"/>
            <a:ext cx="11601450" cy="271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8B5CF6"/>
                </a:solidFill>
                <a:latin typeface="Poppins"/>
                <a:ea typeface="Poppins"/>
                <a:cs typeface="Poppins"/>
                <a:sym typeface="Poppins"/>
              </a:rPr>
              <a:t>Parte 3: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8B5CF6"/>
                </a:solidFill>
                <a:latin typeface="Poppins"/>
                <a:ea typeface="Poppins"/>
                <a:cs typeface="Poppins"/>
                <a:sym typeface="Poppins"/>
              </a:rPr>
              <a:t> Representación de Números con Signo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3676650" y="5222527"/>
            <a:ext cx="4838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estándar de la industria: Complemento a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89571"/>
            <a:ext cx="5334000" cy="409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89571"/>
            <a:ext cx="5334000" cy="409217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 del Signo Numérico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1428750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hardware no entiende de símbolos "+" o "-". Todo debe ser 0 o 1. Históricamente existieron varias soluciones, pero solo una dominó la informática.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2632471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914400" y="3099196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Magnitud y Signo (El Intento Fallido)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14400" y="3613546"/>
            <a:ext cx="4648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reservaba el bit más a la izquierda para el signo (0 para positivo, 1 para negativo) y el resto para el valor.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14400" y="4335363"/>
            <a:ext cx="4648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Problema: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14400" y="4767708"/>
            <a:ext cx="464820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Teníamos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dos ceros:                   y                  .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Además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suma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funcionaba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números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negativos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sin hardware extra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complejo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632471"/>
            <a:ext cx="46482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6629400" y="3099196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Complemento a 2 (El Estándar)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629400" y="3613546"/>
            <a:ext cx="46482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 un modelo matemático elegante donde el bit más significativo sigue indicando el signo, pero permite que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las sumas y restas se realicen con el mismo circuito lógico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629400" y="4914304"/>
            <a:ext cx="46482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este sistema, restar es simplemente sumar el número negativo en formato C2, simplificando enormemente la ALU (Unidad Aritmético Lógica).</a:t>
            </a:r>
            <a:endParaRPr/>
          </a:p>
        </p:txBody>
      </p:sp>
      <p:pic>
        <p:nvPicPr>
          <p:cNvPr id="231" name="Google Shape;23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2725" y="4918280"/>
            <a:ext cx="81260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52700" y="4918279"/>
            <a:ext cx="773013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47505"/>
            <a:ext cx="11049000" cy="166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4410"/>
            <a:ext cx="5334000" cy="2902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54410"/>
            <a:ext cx="5334000" cy="2902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3723977"/>
            <a:ext cx="4648200" cy="59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723977"/>
            <a:ext cx="4648200" cy="59962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Algoritmo: Notación en Complemento a 2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1428750"/>
            <a:ext cx="11049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Cómo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representamos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número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negativo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      )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8 bits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usando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Complemento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2?</a:t>
            </a:r>
            <a:endParaRPr dirty="0"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0" y="1533525"/>
            <a:ext cx="26446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914400" y="2297310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1: Magnitud Positiva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14400" y="2811660"/>
            <a:ext cx="4648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Escribimos el número original en su versión positiva binaria, ocupando todos los bits requeridos (ej. 8 bits).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629400" y="2297310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2: Complemento a 1 (Invertir)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629400" y="2811660"/>
            <a:ext cx="4648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Invertimos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absolutamente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bits. Los ceros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vuelven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y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vuelven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ceros.</a:t>
            </a:r>
            <a:endParaRPr dirty="0"/>
          </a:p>
        </p:txBody>
      </p:sp>
      <p:sp>
        <p:nvSpPr>
          <p:cNvPr id="252" name="Google Shape;252;p23"/>
          <p:cNvSpPr txBox="1"/>
          <p:nvPr/>
        </p:nvSpPr>
        <p:spPr>
          <a:xfrm>
            <a:off x="3852862" y="5285630"/>
            <a:ext cx="476059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3: Complemento a 2 (Sumar 1)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2881312" y="5752355"/>
            <a:ext cx="6477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Añadimos un 1 binario al LSB (Bit menos significativo) del resultado anterior.</a:t>
            </a:r>
            <a:endParaRPr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56570" y="6184701"/>
            <a:ext cx="4726334" cy="2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06091" y="3914477"/>
            <a:ext cx="1912292" cy="21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95505" y="3914477"/>
            <a:ext cx="1763464" cy="21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1106</Words>
  <Application>Microsoft Office PowerPoint</Application>
  <PresentationFormat>Panorámica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Poppins</vt:lpstr>
      <vt:lpstr>Arial</vt:lpstr>
      <vt:lpstr>Poppins SemiBold</vt:lpstr>
      <vt:lpstr>Calibri</vt:lpstr>
      <vt:lpstr>Inter SemiBold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6</cp:revision>
  <dcterms:modified xsi:type="dcterms:W3CDTF">2026-04-24T14:48:34Z</dcterms:modified>
</cp:coreProperties>
</file>