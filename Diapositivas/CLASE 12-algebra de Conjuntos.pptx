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28"/>
  </p:notesMasterIdLst>
  <p:sldIdLst>
    <p:sldId id="256" r:id="rId2"/>
    <p:sldId id="264" r:id="rId3"/>
    <p:sldId id="258" r:id="rId4"/>
    <p:sldId id="259" r:id="rId5"/>
    <p:sldId id="265" r:id="rId6"/>
    <p:sldId id="260" r:id="rId7"/>
    <p:sldId id="266" r:id="rId8"/>
    <p:sldId id="267" r:id="rId9"/>
    <p:sldId id="261" r:id="rId10"/>
    <p:sldId id="268" r:id="rId11"/>
    <p:sldId id="262" r:id="rId12"/>
    <p:sldId id="263" r:id="rId13"/>
    <p:sldId id="269" r:id="rId14"/>
    <p:sldId id="270" r:id="rId15"/>
    <p:sldId id="257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sldSz cx="12192000" cy="6858000"/>
  <p:notesSz cx="6858000" cy="9144000"/>
  <p:embeddedFontLst>
    <p:embeddedFont>
      <p:font typeface="Inter" panose="020B0604020202020204" charset="0"/>
      <p:regular r:id="rId29"/>
      <p:bold r:id="rId30"/>
      <p:italic r:id="rId31"/>
      <p:boldItalic r:id="rId32"/>
    </p:embeddedFont>
    <p:embeddedFont>
      <p:font typeface="Inter SemiBold" panose="020B0604020202020204" charset="0"/>
      <p:regular r:id="rId33"/>
      <p:bold r:id="rId34"/>
      <p:italic r:id="rId35"/>
      <p:boldItalic r:id="rId3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954" y="18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5.fntdata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4.fntdata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36" Type="http://schemas.openxmlformats.org/officeDocument/2006/relationships/font" Target="fonts/font8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font" Target="fonts/font2.fntdata"/><Relationship Id="rId35" Type="http://schemas.openxmlformats.org/officeDocument/2006/relationships/font" Target="fonts/font7.fntdata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1" name="Google Shape;24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" name="Google Shape;13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>
          <a:extLst>
            <a:ext uri="{FF2B5EF4-FFF2-40B4-BE49-F238E27FC236}">
              <a16:creationId xmlns:a16="http://schemas.microsoft.com/office/drawing/2014/main" id="{7EA767E8-28F8-9E8F-2E6C-5D3105CDE6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4:notes">
            <a:extLst>
              <a:ext uri="{FF2B5EF4-FFF2-40B4-BE49-F238E27FC236}">
                <a16:creationId xmlns:a16="http://schemas.microsoft.com/office/drawing/2014/main" id="{343257A7-814C-7B55-5D83-1FAFDE0A615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" name="Google Shape;134;p4:notes">
            <a:extLst>
              <a:ext uri="{FF2B5EF4-FFF2-40B4-BE49-F238E27FC236}">
                <a16:creationId xmlns:a16="http://schemas.microsoft.com/office/drawing/2014/main" id="{82B8A281-4B69-5327-44B9-233FD9D18C3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6854080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>
          <a:extLst>
            <a:ext uri="{FF2B5EF4-FFF2-40B4-BE49-F238E27FC236}">
              <a16:creationId xmlns:a16="http://schemas.microsoft.com/office/drawing/2014/main" id="{9908BEF7-0C8B-7C20-A66E-71A9E10167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5:notes">
            <a:extLst>
              <a:ext uri="{FF2B5EF4-FFF2-40B4-BE49-F238E27FC236}">
                <a16:creationId xmlns:a16="http://schemas.microsoft.com/office/drawing/2014/main" id="{B440820B-7A18-51BF-594B-19EB40768E2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p5:notes">
            <a:extLst>
              <a:ext uri="{FF2B5EF4-FFF2-40B4-BE49-F238E27FC236}">
                <a16:creationId xmlns:a16="http://schemas.microsoft.com/office/drawing/2014/main" id="{0AD96A2A-80F4-BDCB-7501-927E02D091A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32186167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>
          <a:extLst>
            <a:ext uri="{FF2B5EF4-FFF2-40B4-BE49-F238E27FC236}">
              <a16:creationId xmlns:a16="http://schemas.microsoft.com/office/drawing/2014/main" id="{6BA515C6-5007-AC15-2CCD-5B3B15A1D6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6:notes">
            <a:extLst>
              <a:ext uri="{FF2B5EF4-FFF2-40B4-BE49-F238E27FC236}">
                <a16:creationId xmlns:a16="http://schemas.microsoft.com/office/drawing/2014/main" id="{93C245C3-8DD3-72A5-B8EC-BF068B38992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5" name="Google Shape;175;p6:notes">
            <a:extLst>
              <a:ext uri="{FF2B5EF4-FFF2-40B4-BE49-F238E27FC236}">
                <a16:creationId xmlns:a16="http://schemas.microsoft.com/office/drawing/2014/main" id="{2BECD961-57F4-C3CB-FA8C-0A1C6025622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51125295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5" name="Google Shape;175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>
          <a:extLst>
            <a:ext uri="{FF2B5EF4-FFF2-40B4-BE49-F238E27FC236}">
              <a16:creationId xmlns:a16="http://schemas.microsoft.com/office/drawing/2014/main" id="{8D371FBF-906A-5C07-BEC0-605B379EC7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7:notes">
            <a:extLst>
              <a:ext uri="{FF2B5EF4-FFF2-40B4-BE49-F238E27FC236}">
                <a16:creationId xmlns:a16="http://schemas.microsoft.com/office/drawing/2014/main" id="{4422F200-F307-9D64-308F-7AD80541F25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7" name="Google Shape;197;p7:notes">
            <a:extLst>
              <a:ext uri="{FF2B5EF4-FFF2-40B4-BE49-F238E27FC236}">
                <a16:creationId xmlns:a16="http://schemas.microsoft.com/office/drawing/2014/main" id="{4DA99C3B-3B5C-4C7B-054F-AE384090C2E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61202172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7" name="Google Shape;19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9" name="Google Shape;219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>
          <a:extLst>
            <a:ext uri="{FF2B5EF4-FFF2-40B4-BE49-F238E27FC236}">
              <a16:creationId xmlns:a16="http://schemas.microsoft.com/office/drawing/2014/main" id="{2C842F9E-FC36-DD49-5C1B-627D82B759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8:notes">
            <a:extLst>
              <a:ext uri="{FF2B5EF4-FFF2-40B4-BE49-F238E27FC236}">
                <a16:creationId xmlns:a16="http://schemas.microsoft.com/office/drawing/2014/main" id="{AD9AC488-1D42-30A8-E3F5-B4B7FE32BDA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9" name="Google Shape;219;p8:notes">
            <a:extLst>
              <a:ext uri="{FF2B5EF4-FFF2-40B4-BE49-F238E27FC236}">
                <a16:creationId xmlns:a16="http://schemas.microsoft.com/office/drawing/2014/main" id="{97D43102-72E5-C1BB-AF0E-DC4B71EC4E2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1613208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" name="Google Shape;16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4" name="Google Shape;19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9" name="Google Shape;209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5" name="Google Shape;235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0" name="Google Shape;250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" name="Google Shape;9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" name="Google Shape;15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" name="Google Shape;19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1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21.png"/><Relationship Id="rId4" Type="http://schemas.openxmlformats.org/officeDocument/2006/relationships/image" Target="../media/image2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26.png"/><Relationship Id="rId4" Type="http://schemas.openxmlformats.org/officeDocument/2006/relationships/image" Target="../media/image2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30.png"/><Relationship Id="rId4" Type="http://schemas.openxmlformats.org/officeDocument/2006/relationships/image" Target="../media/image3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3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35.png"/><Relationship Id="rId4" Type="http://schemas.openxmlformats.org/officeDocument/2006/relationships/image" Target="../media/image36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3" Type="http://schemas.openxmlformats.org/officeDocument/2006/relationships/image" Target="../media/image37.png"/><Relationship Id="rId7" Type="http://schemas.openxmlformats.org/officeDocument/2006/relationships/image" Target="../media/image4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Relationship Id="rId9" Type="http://schemas.openxmlformats.org/officeDocument/2006/relationships/image" Target="../media/image43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3" Type="http://schemas.openxmlformats.org/officeDocument/2006/relationships/image" Target="../media/image37.png"/><Relationship Id="rId7" Type="http://schemas.openxmlformats.org/officeDocument/2006/relationships/image" Target="../media/image4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4" Type="http://schemas.openxmlformats.org/officeDocument/2006/relationships/image" Target="../media/image44.png"/><Relationship Id="rId9" Type="http://schemas.openxmlformats.org/officeDocument/2006/relationships/image" Target="../media/image48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png"/><Relationship Id="rId13" Type="http://schemas.openxmlformats.org/officeDocument/2006/relationships/image" Target="../media/image59.png"/><Relationship Id="rId3" Type="http://schemas.openxmlformats.org/officeDocument/2006/relationships/image" Target="../media/image49.png"/><Relationship Id="rId7" Type="http://schemas.openxmlformats.org/officeDocument/2006/relationships/image" Target="../media/image53.png"/><Relationship Id="rId12" Type="http://schemas.openxmlformats.org/officeDocument/2006/relationships/image" Target="../media/image5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2.png"/><Relationship Id="rId11" Type="http://schemas.openxmlformats.org/officeDocument/2006/relationships/image" Target="../media/image57.png"/><Relationship Id="rId5" Type="http://schemas.openxmlformats.org/officeDocument/2006/relationships/image" Target="../media/image51.png"/><Relationship Id="rId10" Type="http://schemas.openxmlformats.org/officeDocument/2006/relationships/image" Target="../media/image56.png"/><Relationship Id="rId4" Type="http://schemas.openxmlformats.org/officeDocument/2006/relationships/image" Target="../media/image50.png"/><Relationship Id="rId9" Type="http://schemas.openxmlformats.org/officeDocument/2006/relationships/image" Target="../media/image55.png"/><Relationship Id="rId14" Type="http://schemas.openxmlformats.org/officeDocument/2006/relationships/image" Target="../media/image60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6.png"/><Relationship Id="rId3" Type="http://schemas.openxmlformats.org/officeDocument/2006/relationships/image" Target="../media/image61.png"/><Relationship Id="rId7" Type="http://schemas.openxmlformats.org/officeDocument/2006/relationships/image" Target="../media/image6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4.png"/><Relationship Id="rId5" Type="http://schemas.openxmlformats.org/officeDocument/2006/relationships/image" Target="../media/image63.png"/><Relationship Id="rId4" Type="http://schemas.openxmlformats.org/officeDocument/2006/relationships/image" Target="../media/image6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9.png"/><Relationship Id="rId4" Type="http://schemas.openxmlformats.org/officeDocument/2006/relationships/image" Target="../media/image6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3.png"/><Relationship Id="rId4" Type="http://schemas.openxmlformats.org/officeDocument/2006/relationships/image" Target="../media/image7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5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7" Type="http://schemas.openxmlformats.org/officeDocument/2006/relationships/image" Target="../media/image8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9.png"/><Relationship Id="rId5" Type="http://schemas.openxmlformats.org/officeDocument/2006/relationships/image" Target="../media/image78.png"/><Relationship Id="rId4" Type="http://schemas.openxmlformats.org/officeDocument/2006/relationships/image" Target="../media/image77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5.png"/><Relationship Id="rId3" Type="http://schemas.openxmlformats.org/officeDocument/2006/relationships/image" Target="../media/image76.png"/><Relationship Id="rId7" Type="http://schemas.openxmlformats.org/officeDocument/2006/relationships/image" Target="../media/image84.png"/><Relationship Id="rId12" Type="http://schemas.openxmlformats.org/officeDocument/2006/relationships/image" Target="../media/image89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3.png"/><Relationship Id="rId11" Type="http://schemas.openxmlformats.org/officeDocument/2006/relationships/image" Target="../media/image88.png"/><Relationship Id="rId5" Type="http://schemas.openxmlformats.org/officeDocument/2006/relationships/image" Target="../media/image82.png"/><Relationship Id="rId10" Type="http://schemas.openxmlformats.org/officeDocument/2006/relationships/image" Target="../media/image87.png"/><Relationship Id="rId4" Type="http://schemas.openxmlformats.org/officeDocument/2006/relationships/image" Target="../media/image81.png"/><Relationship Id="rId9" Type="http://schemas.openxmlformats.org/officeDocument/2006/relationships/image" Target="../media/image86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4.png"/><Relationship Id="rId3" Type="http://schemas.openxmlformats.org/officeDocument/2006/relationships/image" Target="../media/image76.png"/><Relationship Id="rId7" Type="http://schemas.openxmlformats.org/officeDocument/2006/relationships/image" Target="../media/image9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2.png"/><Relationship Id="rId5" Type="http://schemas.openxmlformats.org/officeDocument/2006/relationships/image" Target="../media/image91.png"/><Relationship Id="rId4" Type="http://schemas.openxmlformats.org/officeDocument/2006/relationships/image" Target="../media/image90.png"/><Relationship Id="rId9" Type="http://schemas.openxmlformats.org/officeDocument/2006/relationships/image" Target="../media/image95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5.png"/><Relationship Id="rId3" Type="http://schemas.openxmlformats.org/officeDocument/2006/relationships/image" Target="../media/image76.png"/><Relationship Id="rId7" Type="http://schemas.openxmlformats.org/officeDocument/2006/relationships/image" Target="../media/image94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3.png"/><Relationship Id="rId11" Type="http://schemas.openxmlformats.org/officeDocument/2006/relationships/image" Target="../media/image99.png"/><Relationship Id="rId5" Type="http://schemas.openxmlformats.org/officeDocument/2006/relationships/image" Target="../media/image96.png"/><Relationship Id="rId10" Type="http://schemas.openxmlformats.org/officeDocument/2006/relationships/image" Target="../media/image98.png"/><Relationship Id="rId4" Type="http://schemas.openxmlformats.org/officeDocument/2006/relationships/image" Target="../media/image90.png"/><Relationship Id="rId9" Type="http://schemas.openxmlformats.org/officeDocument/2006/relationships/image" Target="../media/image97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4.png"/><Relationship Id="rId13" Type="http://schemas.openxmlformats.org/officeDocument/2006/relationships/image" Target="../media/image85.png"/><Relationship Id="rId18" Type="http://schemas.openxmlformats.org/officeDocument/2006/relationships/image" Target="../media/image110.png"/><Relationship Id="rId3" Type="http://schemas.openxmlformats.org/officeDocument/2006/relationships/image" Target="../media/image76.png"/><Relationship Id="rId7" Type="http://schemas.openxmlformats.org/officeDocument/2006/relationships/image" Target="../media/image103.png"/><Relationship Id="rId12" Type="http://schemas.openxmlformats.org/officeDocument/2006/relationships/image" Target="../media/image86.png"/><Relationship Id="rId17" Type="http://schemas.openxmlformats.org/officeDocument/2006/relationships/image" Target="../media/image109.png"/><Relationship Id="rId2" Type="http://schemas.openxmlformats.org/officeDocument/2006/relationships/notesSlide" Target="../notesSlides/notesSlide26.xml"/><Relationship Id="rId16" Type="http://schemas.openxmlformats.org/officeDocument/2006/relationships/image" Target="../media/image10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2.png"/><Relationship Id="rId11" Type="http://schemas.openxmlformats.org/officeDocument/2006/relationships/image" Target="../media/image94.png"/><Relationship Id="rId5" Type="http://schemas.openxmlformats.org/officeDocument/2006/relationships/image" Target="../media/image101.png"/><Relationship Id="rId15" Type="http://schemas.openxmlformats.org/officeDocument/2006/relationships/image" Target="../media/image107.png"/><Relationship Id="rId10" Type="http://schemas.openxmlformats.org/officeDocument/2006/relationships/image" Target="../media/image93.png"/><Relationship Id="rId19" Type="http://schemas.openxmlformats.org/officeDocument/2006/relationships/image" Target="../media/image111.png"/><Relationship Id="rId4" Type="http://schemas.openxmlformats.org/officeDocument/2006/relationships/image" Target="../media/image100.png"/><Relationship Id="rId9" Type="http://schemas.openxmlformats.org/officeDocument/2006/relationships/image" Target="../media/image105.png"/><Relationship Id="rId14" Type="http://schemas.openxmlformats.org/officeDocument/2006/relationships/image" Target="../media/image10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666750" y="857250"/>
            <a:ext cx="11401425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Contenido</a:t>
            </a:r>
            <a:endParaRPr sz="2000"/>
          </a:p>
        </p:txBody>
      </p:sp>
      <p:sp>
        <p:nvSpPr>
          <p:cNvPr id="86" name="Google Shape;86;p13"/>
          <p:cNvSpPr txBox="1"/>
          <p:nvPr/>
        </p:nvSpPr>
        <p:spPr>
          <a:xfrm>
            <a:off x="666749" y="1461611"/>
            <a:ext cx="10858500" cy="1477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0" i="0" u="none" strike="noStrike" cap="none" dirty="0" err="1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Operaciones</a:t>
            </a:r>
            <a:r>
              <a:rPr lang="en-US" sz="3200" b="0" i="0" u="none" strike="noStrike" cap="none" dirty="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entre Conjuntos y </a:t>
            </a:r>
            <a:r>
              <a:rPr lang="en-US" sz="3200" b="0" i="0" u="none" strike="noStrike" cap="none" dirty="0" err="1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Propiedades</a:t>
            </a:r>
            <a:r>
              <a:rPr lang="en-US" sz="3200" b="0" i="0" u="none" strike="noStrike" cap="none" dirty="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(</a:t>
            </a:r>
            <a:r>
              <a:rPr lang="en-US" sz="3200" b="0" i="0" u="none" strike="noStrike" cap="none" dirty="0" err="1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Identidades</a:t>
            </a:r>
            <a:r>
              <a:rPr lang="en-US" sz="3200" b="0" i="0" u="none" strike="noStrike" cap="none" dirty="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)</a:t>
            </a:r>
            <a:endParaRPr sz="2000" dirty="0"/>
          </a:p>
        </p:txBody>
      </p:sp>
      <p:sp>
        <p:nvSpPr>
          <p:cNvPr id="87" name="Google Shape;87;p13"/>
          <p:cNvSpPr txBox="1"/>
          <p:nvPr/>
        </p:nvSpPr>
        <p:spPr>
          <a:xfrm>
            <a:off x="666749" y="3232666"/>
            <a:ext cx="10858500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 dirty="0" err="1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Objetivo</a:t>
            </a:r>
            <a:r>
              <a:rPr lang="en-US" sz="2800" b="1" i="0" u="none" strike="noStrike" cap="none" dirty="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:</a:t>
            </a:r>
            <a:endParaRPr sz="2000" dirty="0"/>
          </a:p>
        </p:txBody>
      </p:sp>
      <p:sp>
        <p:nvSpPr>
          <p:cNvPr id="88" name="Google Shape;88;p13"/>
          <p:cNvSpPr txBox="1"/>
          <p:nvPr/>
        </p:nvSpPr>
        <p:spPr>
          <a:xfrm>
            <a:off x="904874" y="4123551"/>
            <a:ext cx="10620375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 err="1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Comprender</a:t>
            </a:r>
            <a:r>
              <a:rPr lang="en-US" sz="2400" b="0" i="0" u="none" strike="noStrike" cap="none" dirty="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400" b="0" i="0" u="none" strike="noStrike" cap="none" dirty="0" err="1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los</a:t>
            </a:r>
            <a:r>
              <a:rPr lang="en-US" sz="2400" b="0" i="0" u="none" strike="noStrike" cap="none" dirty="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400" b="0" i="0" u="none" strike="noStrike" cap="none" dirty="0" err="1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conceptos</a:t>
            </a:r>
            <a:r>
              <a:rPr lang="en-US" sz="2400" b="0" i="0" u="none" strike="noStrike" cap="none" dirty="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400" b="0" i="0" u="none" strike="noStrike" cap="none" dirty="0" err="1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básicos</a:t>
            </a:r>
            <a:r>
              <a:rPr lang="en-US" sz="2400" b="0" i="0" u="none" strike="noStrike" cap="none" dirty="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de conjuntos y sus </a:t>
            </a:r>
            <a:r>
              <a:rPr lang="en-US" sz="2400" b="0" i="0" u="none" strike="noStrike" cap="none" dirty="0" err="1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operaciones</a:t>
            </a:r>
            <a:r>
              <a:rPr lang="en-US" sz="2400" b="0" i="0" u="none" strike="noStrike" cap="none" dirty="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sz="2000" dirty="0"/>
          </a:p>
        </p:txBody>
      </p:sp>
      <p:sp>
        <p:nvSpPr>
          <p:cNvPr id="89" name="Google Shape;89;p13"/>
          <p:cNvSpPr txBox="1"/>
          <p:nvPr/>
        </p:nvSpPr>
        <p:spPr>
          <a:xfrm>
            <a:off x="904874" y="4552176"/>
            <a:ext cx="10620375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 err="1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Aplicar</a:t>
            </a:r>
            <a:r>
              <a:rPr lang="en-US" sz="2400" b="0" i="0" u="none" strike="noStrike" cap="none" dirty="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las </a:t>
            </a:r>
            <a:r>
              <a:rPr lang="en-US" sz="2400" b="0" i="0" u="none" strike="noStrike" cap="none" dirty="0" err="1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leyes</a:t>
            </a:r>
            <a:r>
              <a:rPr lang="en-US" sz="2400" b="0" i="0" u="none" strike="noStrike" cap="none" dirty="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de la </a:t>
            </a:r>
            <a:r>
              <a:rPr lang="en-US" sz="2400" b="0" i="0" u="none" strike="noStrike" cap="none" dirty="0" err="1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teoría</a:t>
            </a:r>
            <a:r>
              <a:rPr lang="en-US" sz="2400" b="0" i="0" u="none" strike="noStrike" cap="none" dirty="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de conjuntos </a:t>
            </a:r>
            <a:r>
              <a:rPr lang="en-US" sz="2400" b="0" i="0" u="none" strike="noStrike" cap="none" dirty="0" err="1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en</a:t>
            </a:r>
            <a:r>
              <a:rPr lang="en-US" sz="2400" b="0" i="0" u="none" strike="noStrike" cap="none" dirty="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400" b="0" i="0" u="none" strike="noStrike" cap="none" dirty="0" err="1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ejercicios</a:t>
            </a:r>
            <a:r>
              <a:rPr lang="en-US" sz="2400" b="0" i="0" u="none" strike="noStrike" cap="none" dirty="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400" b="0" i="0" u="none" strike="noStrike" cap="none" dirty="0" err="1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prácticos</a:t>
            </a:r>
            <a:r>
              <a:rPr lang="en-US" sz="2400" b="0" i="0" u="none" strike="noStrike" cap="none" dirty="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sz="2000" dirty="0"/>
          </a:p>
        </p:txBody>
      </p:sp>
      <p:sp>
        <p:nvSpPr>
          <p:cNvPr id="90" name="Google Shape;90;p13"/>
          <p:cNvSpPr txBox="1"/>
          <p:nvPr/>
        </p:nvSpPr>
        <p:spPr>
          <a:xfrm>
            <a:off x="904874" y="4961751"/>
            <a:ext cx="10620375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Demostrar la utilidad de estas operaciones en la informática.</a:t>
            </a:r>
            <a:endParaRPr sz="2000"/>
          </a:p>
        </p:txBody>
      </p:sp>
      <p:sp>
        <p:nvSpPr>
          <p:cNvPr id="91" name="Google Shape;91;p13"/>
          <p:cNvSpPr txBox="1"/>
          <p:nvPr/>
        </p:nvSpPr>
        <p:spPr>
          <a:xfrm>
            <a:off x="904874" y="5371326"/>
            <a:ext cx="10620375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Resolver </a:t>
            </a:r>
            <a:r>
              <a:rPr lang="en-US" sz="2400" b="0" i="0" u="none" strike="noStrike" cap="none" dirty="0" err="1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problemas</a:t>
            </a:r>
            <a:r>
              <a:rPr lang="en-US" sz="2400" b="0" i="0" u="none" strike="noStrike" cap="none" dirty="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400" b="0" i="0" u="none" strike="noStrike" cap="none" dirty="0" err="1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que</a:t>
            </a:r>
            <a:r>
              <a:rPr lang="en-US" sz="2400" b="0" i="0" u="none" strike="noStrike" cap="none" dirty="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400" b="0" i="0" u="none" strike="noStrike" cap="none" dirty="0" err="1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incluyan</a:t>
            </a:r>
            <a:r>
              <a:rPr lang="en-US" sz="2400" b="0" i="0" u="none" strike="noStrike" cap="none" dirty="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la </a:t>
            </a:r>
            <a:r>
              <a:rPr lang="en-US" sz="2400" b="0" i="0" u="none" strike="noStrike" cap="none" dirty="0" err="1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teoría</a:t>
            </a:r>
            <a:r>
              <a:rPr lang="en-US" sz="2400" b="0" i="0" u="none" strike="noStrike" cap="none" dirty="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de conjuntos.</a:t>
            </a:r>
            <a:endParaRPr sz="2000" dirty="0"/>
          </a:p>
        </p:txBody>
      </p:sp>
      <p:sp>
        <p:nvSpPr>
          <p:cNvPr id="92" name="Google Shape;92;p13"/>
          <p:cNvSpPr txBox="1"/>
          <p:nvPr/>
        </p:nvSpPr>
        <p:spPr>
          <a:xfrm>
            <a:off x="666749" y="4123551"/>
            <a:ext cx="9525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 sz="2000"/>
          </a:p>
        </p:txBody>
      </p:sp>
      <p:sp>
        <p:nvSpPr>
          <p:cNvPr id="93" name="Google Shape;93;p13"/>
          <p:cNvSpPr txBox="1"/>
          <p:nvPr/>
        </p:nvSpPr>
        <p:spPr>
          <a:xfrm>
            <a:off x="666749" y="4552176"/>
            <a:ext cx="9525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 sz="2000"/>
          </a:p>
        </p:txBody>
      </p:sp>
      <p:sp>
        <p:nvSpPr>
          <p:cNvPr id="94" name="Google Shape;94;p13"/>
          <p:cNvSpPr txBox="1"/>
          <p:nvPr/>
        </p:nvSpPr>
        <p:spPr>
          <a:xfrm>
            <a:off x="666749" y="4961751"/>
            <a:ext cx="9525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 sz="2000"/>
          </a:p>
        </p:txBody>
      </p:sp>
      <p:sp>
        <p:nvSpPr>
          <p:cNvPr id="95" name="Google Shape;95;p13"/>
          <p:cNvSpPr txBox="1"/>
          <p:nvPr/>
        </p:nvSpPr>
        <p:spPr>
          <a:xfrm>
            <a:off x="666749" y="5371326"/>
            <a:ext cx="9525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 sz="20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3" name="Google Shape;243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4" name="Google Shape;244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6750" y="2533650"/>
            <a:ext cx="10858500" cy="1238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5" name="Google Shape;245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66750" y="4333875"/>
            <a:ext cx="10858500" cy="2310407"/>
          </a:xfrm>
          <a:prstGeom prst="rect">
            <a:avLst/>
          </a:prstGeom>
          <a:noFill/>
          <a:ln>
            <a:noFill/>
          </a:ln>
        </p:spPr>
      </p:pic>
      <p:pic>
        <p:nvPicPr>
          <p:cNvPr id="246" name="Google Shape;246;p21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66750" y="1828800"/>
            <a:ext cx="4591050" cy="514350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21"/>
          <p:cNvSpPr txBox="1"/>
          <p:nvPr/>
        </p:nvSpPr>
        <p:spPr>
          <a:xfrm>
            <a:off x="666750" y="476250"/>
            <a:ext cx="10971371" cy="447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 dirty="0" err="1">
                <a:solidFill>
                  <a:srgbClr val="0F172A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Diferencia</a:t>
            </a:r>
            <a:r>
              <a:rPr lang="en-US" sz="2850" b="1" i="0" u="none" strike="noStrike" cap="none" dirty="0">
                <a:solidFill>
                  <a:srgbClr val="0F172A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 </a:t>
            </a:r>
            <a:r>
              <a:rPr lang="en-US" sz="2850" b="1" i="0" u="none" strike="noStrike" cap="none" dirty="0" err="1">
                <a:solidFill>
                  <a:srgbClr val="0F172A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Simétrica</a:t>
            </a:r>
            <a:endParaRPr dirty="0"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248" name="Google Shape;248;p21"/>
          <p:cNvSpPr/>
          <p:nvPr/>
        </p:nvSpPr>
        <p:spPr>
          <a:xfrm>
            <a:off x="666750" y="1057275"/>
            <a:ext cx="108585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Inter" panose="020B0604020202020204" charset="0"/>
              <a:ea typeface="Inter" panose="020B0604020202020204" charset="0"/>
              <a:cs typeface="Calibri"/>
              <a:sym typeface="Calibri"/>
            </a:endParaRPr>
          </a:p>
        </p:txBody>
      </p:sp>
      <p:sp>
        <p:nvSpPr>
          <p:cNvPr id="249" name="Google Shape;249;p21"/>
          <p:cNvSpPr txBox="1"/>
          <p:nvPr/>
        </p:nvSpPr>
        <p:spPr>
          <a:xfrm>
            <a:off x="666750" y="1352550"/>
            <a:ext cx="10858500" cy="346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Elementos que pertenecen a uno de los conjuntos, pero no a ambos.</a:t>
            </a:r>
            <a:endParaRPr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250" name="Google Shape;250;p21"/>
          <p:cNvSpPr txBox="1"/>
          <p:nvPr/>
        </p:nvSpPr>
        <p:spPr>
          <a:xfrm>
            <a:off x="914400" y="4010025"/>
            <a:ext cx="1061085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F46E5"/>
                </a:solidFill>
                <a:latin typeface="Inter" panose="020B0604020202020204" charset="0"/>
                <a:ea typeface="Inter" panose="020B0604020202020204" charset="0"/>
                <a:cs typeface="Inter SemiBold"/>
                <a:sym typeface="Inter SemiBold"/>
              </a:rPr>
              <a:t>Verificación Matemática (Ejercicio)</a:t>
            </a:r>
            <a:endParaRPr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252" name="Google Shape;252;p21"/>
          <p:cNvSpPr txBox="1"/>
          <p:nvPr/>
        </p:nvSpPr>
        <p:spPr>
          <a:xfrm>
            <a:off x="866775" y="2733675"/>
            <a:ext cx="10981372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6B21A8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Ejemplo Mejorado (Control de Versiones):</a:t>
            </a:r>
            <a:endParaRPr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253" name="Google Shape;253;p21"/>
          <p:cNvSpPr txBox="1"/>
          <p:nvPr/>
        </p:nvSpPr>
        <p:spPr>
          <a:xfrm>
            <a:off x="866775" y="3057525"/>
            <a:ext cx="10458450" cy="6232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Al comparar dos ramas de código (A y B) en Git, la diferencia simétrica muestra los cambios (commits) que son únicos para cada rama, excluyendo la base común. Es útil para ver el trabajo divergente.</a:t>
            </a:r>
            <a:endParaRPr>
              <a:latin typeface="Inter" panose="020B0604020202020204" charset="0"/>
              <a:ea typeface="Inter" panose="020B0604020202020204" charset="0"/>
            </a:endParaRPr>
          </a:p>
        </p:txBody>
      </p:sp>
      <p:pic>
        <p:nvPicPr>
          <p:cNvPr id="254" name="Google Shape;254;p21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66750" y="4048125"/>
            <a:ext cx="1524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21"/>
          <p:cNvSpPr txBox="1"/>
          <p:nvPr/>
        </p:nvSpPr>
        <p:spPr>
          <a:xfrm>
            <a:off x="914400" y="4548121"/>
            <a:ext cx="1104900" cy="332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 dirty="0">
                <a:solidFill>
                  <a:srgbClr val="1E293B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Dados:</a:t>
            </a:r>
            <a:endParaRPr dirty="0"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256" name="Google Shape;256;p21"/>
          <p:cNvSpPr txBox="1"/>
          <p:nvPr/>
        </p:nvSpPr>
        <p:spPr>
          <a:xfrm>
            <a:off x="914400" y="5128170"/>
            <a:ext cx="685800" cy="664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1E293B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Cálculo:</a:t>
            </a:r>
            <a:endParaRPr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257" name="Google Shape;257;p21"/>
          <p:cNvSpPr txBox="1"/>
          <p:nvPr/>
        </p:nvSpPr>
        <p:spPr>
          <a:xfrm>
            <a:off x="914400" y="6152852"/>
            <a:ext cx="10363200" cy="2954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16A34A"/>
                </a:solidFill>
                <a:latin typeface="Inter" panose="020B0604020202020204" charset="0"/>
                <a:ea typeface="Inter" panose="020B0604020202020204" charset="0"/>
                <a:cs typeface="Inter SemiBold"/>
                <a:sym typeface="Inter SemiBold"/>
              </a:rPr>
              <a:t>✓ Resultado obtenido.</a:t>
            </a:r>
            <a:endParaRPr>
              <a:latin typeface="Inter" panose="020B0604020202020204" charset="0"/>
              <a:ea typeface="Inter" panose="020B060402020202020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Google Shape;114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6602" y="2076450"/>
            <a:ext cx="3492549" cy="1409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651" y="2076450"/>
            <a:ext cx="3492549" cy="1409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032701" y="2076450"/>
            <a:ext cx="3492549" cy="1409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66602" y="3581400"/>
            <a:ext cx="5334000" cy="1143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191102" y="3581400"/>
            <a:ext cx="5334000" cy="1143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/>
          <p:cNvSpPr txBox="1"/>
          <p:nvPr/>
        </p:nvSpPr>
        <p:spPr>
          <a:xfrm>
            <a:off x="666750" y="476250"/>
            <a:ext cx="11401425" cy="447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0F172A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1. Definiciones Clave</a:t>
            </a:r>
            <a:endParaRPr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121" name="Google Shape;121;p15"/>
          <p:cNvSpPr/>
          <p:nvPr/>
        </p:nvSpPr>
        <p:spPr>
          <a:xfrm>
            <a:off x="666750" y="1057275"/>
            <a:ext cx="108585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Inter" panose="020B0604020202020204" charset="0"/>
              <a:ea typeface="Inter" panose="020B0604020202020204" charset="0"/>
              <a:cs typeface="Calibri"/>
              <a:sym typeface="Calibri"/>
            </a:endParaRPr>
          </a:p>
        </p:txBody>
      </p:sp>
      <p:sp>
        <p:nvSpPr>
          <p:cNvPr id="122" name="Google Shape;122;p15"/>
          <p:cNvSpPr txBox="1"/>
          <p:nvPr/>
        </p:nvSpPr>
        <p:spPr>
          <a:xfrm>
            <a:off x="914252" y="2324100"/>
            <a:ext cx="3147112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rgbClr val="3730A3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Unión (A U B)</a:t>
            </a:r>
            <a:endParaRPr sz="1800"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123" name="Google Shape;123;p15"/>
          <p:cNvSpPr txBox="1"/>
          <p:nvPr/>
        </p:nvSpPr>
        <p:spPr>
          <a:xfrm>
            <a:off x="914252" y="2714625"/>
            <a:ext cx="2997249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475569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Elementos que están en A, en B, o en ambos.</a:t>
            </a:r>
            <a:endParaRPr sz="1800"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124" name="Google Shape;124;p15"/>
          <p:cNvSpPr txBox="1"/>
          <p:nvPr/>
        </p:nvSpPr>
        <p:spPr>
          <a:xfrm>
            <a:off x="4597301" y="2324100"/>
            <a:ext cx="3147112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rgbClr val="166534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Intersección (A ∩ B)</a:t>
            </a:r>
            <a:endParaRPr sz="1800"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125" name="Google Shape;125;p15"/>
          <p:cNvSpPr txBox="1"/>
          <p:nvPr/>
        </p:nvSpPr>
        <p:spPr>
          <a:xfrm>
            <a:off x="4597301" y="2724150"/>
            <a:ext cx="2997249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475569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Elementos que están en A y también en B.</a:t>
            </a:r>
            <a:endParaRPr sz="1800"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126" name="Google Shape;126;p15"/>
          <p:cNvSpPr txBox="1"/>
          <p:nvPr/>
        </p:nvSpPr>
        <p:spPr>
          <a:xfrm>
            <a:off x="8280351" y="2324100"/>
            <a:ext cx="3147112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rgbClr val="854D0E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Diferencia (A - B)</a:t>
            </a:r>
            <a:endParaRPr sz="1800"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127" name="Google Shape;127;p15"/>
          <p:cNvSpPr txBox="1"/>
          <p:nvPr/>
        </p:nvSpPr>
        <p:spPr>
          <a:xfrm>
            <a:off x="8280351" y="2714625"/>
            <a:ext cx="2997249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475569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Elementos que están en A, pero no en B.</a:t>
            </a:r>
            <a:endParaRPr sz="1800"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128" name="Google Shape;128;p15"/>
          <p:cNvSpPr txBox="1"/>
          <p:nvPr/>
        </p:nvSpPr>
        <p:spPr>
          <a:xfrm>
            <a:off x="914252" y="3829050"/>
            <a:ext cx="5080635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rgbClr val="6B21A8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Complemento (A^c)</a:t>
            </a:r>
            <a:endParaRPr sz="1800"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129" name="Google Shape;129;p15"/>
          <p:cNvSpPr txBox="1"/>
          <p:nvPr/>
        </p:nvSpPr>
        <p:spPr>
          <a:xfrm>
            <a:off x="914252" y="4219575"/>
            <a:ext cx="48387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475569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Elementos en el universo (U) que no están en A.</a:t>
            </a:r>
            <a:endParaRPr sz="1800"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130" name="Google Shape;130;p15"/>
          <p:cNvSpPr txBox="1"/>
          <p:nvPr/>
        </p:nvSpPr>
        <p:spPr>
          <a:xfrm>
            <a:off x="6438752" y="3829050"/>
            <a:ext cx="5080635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rgbClr val="9F1239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Diferencia Simétrica (A Δ B)</a:t>
            </a:r>
            <a:endParaRPr sz="1800"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131" name="Google Shape;131;p15"/>
          <p:cNvSpPr txBox="1"/>
          <p:nvPr/>
        </p:nvSpPr>
        <p:spPr>
          <a:xfrm>
            <a:off x="6438752" y="4219575"/>
            <a:ext cx="48387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475569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Elementos en A o en B, pero no en ambos.</a:t>
            </a:r>
            <a:endParaRPr sz="1800">
              <a:latin typeface="Inter" panose="020B0604020202020204" charset="0"/>
              <a:ea typeface="Inter" panose="020B060402020202020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6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81000" y="1352551"/>
            <a:ext cx="11544300" cy="5029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52500" y="2038350"/>
            <a:ext cx="10287000" cy="53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52500" y="2714625"/>
            <a:ext cx="10287000" cy="53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1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52500" y="3771900"/>
            <a:ext cx="10287000" cy="5810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16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952500" y="4829175"/>
            <a:ext cx="10287000" cy="533400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16"/>
          <p:cNvSpPr txBox="1"/>
          <p:nvPr/>
        </p:nvSpPr>
        <p:spPr>
          <a:xfrm>
            <a:off x="666750" y="476250"/>
            <a:ext cx="11401425" cy="447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0F172A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2. Aplicación Práctica: E-commerce</a:t>
            </a:r>
            <a:endParaRPr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145" name="Google Shape;145;p16"/>
          <p:cNvSpPr/>
          <p:nvPr/>
        </p:nvSpPr>
        <p:spPr>
          <a:xfrm>
            <a:off x="666750" y="1057275"/>
            <a:ext cx="108585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chemeClr val="dk1"/>
              </a:solidFill>
              <a:latin typeface="Inter" panose="020B0604020202020204" charset="0"/>
              <a:ea typeface="Inter" panose="020B0604020202020204" charset="0"/>
              <a:cs typeface="Calibri"/>
              <a:sym typeface="Calibri"/>
            </a:endParaRPr>
          </a:p>
        </p:txBody>
      </p:sp>
      <p:sp>
        <p:nvSpPr>
          <p:cNvPr id="146" name="Google Shape;146;p16"/>
          <p:cNvSpPr txBox="1"/>
          <p:nvPr/>
        </p:nvSpPr>
        <p:spPr>
          <a:xfrm>
            <a:off x="952500" y="1638300"/>
            <a:ext cx="102870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475569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Analicemos los clientes de una tienda. Sean los conjuntos de IDs de clientes:</a:t>
            </a:r>
            <a:endParaRPr sz="1800"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147" name="Google Shape;147;p16"/>
          <p:cNvSpPr txBox="1"/>
          <p:nvPr/>
        </p:nvSpPr>
        <p:spPr>
          <a:xfrm>
            <a:off x="952500" y="3438525"/>
            <a:ext cx="10287000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1E293B"/>
                </a:solidFill>
                <a:latin typeface="Inter" panose="020B0604020202020204" charset="0"/>
                <a:ea typeface="Inter" panose="020B0604020202020204" charset="0"/>
                <a:cs typeface="Inter SemiBold"/>
                <a:sym typeface="Inter SemiBold"/>
              </a:rPr>
              <a:t>¿Clientes con al menos un producto? (A U B)</a:t>
            </a:r>
            <a:endParaRPr sz="1800"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148" name="Google Shape;148;p16"/>
          <p:cNvSpPr txBox="1"/>
          <p:nvPr/>
        </p:nvSpPr>
        <p:spPr>
          <a:xfrm>
            <a:off x="952500" y="4495800"/>
            <a:ext cx="10287000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1E293B"/>
                </a:solidFill>
                <a:latin typeface="Inter" panose="020B0604020202020204" charset="0"/>
                <a:ea typeface="Inter" panose="020B0604020202020204" charset="0"/>
                <a:cs typeface="Inter SemiBold"/>
                <a:sym typeface="Inter SemiBold"/>
              </a:rPr>
              <a:t>¿Clientes con ambos productos? (A ∩ B)</a:t>
            </a:r>
            <a:endParaRPr sz="1800">
              <a:latin typeface="Inter" panose="020B0604020202020204" charset="0"/>
              <a:ea typeface="Inter" panose="020B060402020202020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>
          <a:extLst>
            <a:ext uri="{FF2B5EF4-FFF2-40B4-BE49-F238E27FC236}">
              <a16:creationId xmlns:a16="http://schemas.microsoft.com/office/drawing/2014/main" id="{F5A01BD4-1D9E-95B7-9E92-985ACC334C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6;p16" descr="image.png">
            <a:extLst>
              <a:ext uri="{FF2B5EF4-FFF2-40B4-BE49-F238E27FC236}">
                <a16:creationId xmlns:a16="http://schemas.microsoft.com/office/drawing/2014/main" id="{A93A5775-B963-037A-635E-FB40F38B269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16" descr="image.png">
            <a:extLst>
              <a:ext uri="{FF2B5EF4-FFF2-40B4-BE49-F238E27FC236}">
                <a16:creationId xmlns:a16="http://schemas.microsoft.com/office/drawing/2014/main" id="{57692F58-3E60-A9CC-D7DD-E1C6AB2CB6E1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23850" y="1295401"/>
            <a:ext cx="11544300" cy="477203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16" descr="image.png">
            <a:extLst>
              <a:ext uri="{FF2B5EF4-FFF2-40B4-BE49-F238E27FC236}">
                <a16:creationId xmlns:a16="http://schemas.microsoft.com/office/drawing/2014/main" id="{9C0B3A81-D194-0888-45D6-58F5A4AF06C1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238250" y="2038350"/>
            <a:ext cx="10287000" cy="53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16" descr="image.png">
            <a:extLst>
              <a:ext uri="{FF2B5EF4-FFF2-40B4-BE49-F238E27FC236}">
                <a16:creationId xmlns:a16="http://schemas.microsoft.com/office/drawing/2014/main" id="{46AF5209-6E42-1B77-D69D-51DD76A26CF1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238250" y="3095625"/>
            <a:ext cx="10287000" cy="533400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16">
            <a:extLst>
              <a:ext uri="{FF2B5EF4-FFF2-40B4-BE49-F238E27FC236}">
                <a16:creationId xmlns:a16="http://schemas.microsoft.com/office/drawing/2014/main" id="{E4B47B29-04F1-028D-F202-7400E0E33A3E}"/>
              </a:ext>
            </a:extLst>
          </p:cNvPr>
          <p:cNvSpPr txBox="1"/>
          <p:nvPr/>
        </p:nvSpPr>
        <p:spPr>
          <a:xfrm>
            <a:off x="666750" y="476250"/>
            <a:ext cx="11401425" cy="447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0F172A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2. Aplicación Práctica: E-commerce</a:t>
            </a:r>
            <a:endParaRPr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145" name="Google Shape;145;p16">
            <a:extLst>
              <a:ext uri="{FF2B5EF4-FFF2-40B4-BE49-F238E27FC236}">
                <a16:creationId xmlns:a16="http://schemas.microsoft.com/office/drawing/2014/main" id="{27C54508-AA77-D7AA-A9DE-855268EE9C62}"/>
              </a:ext>
            </a:extLst>
          </p:cNvPr>
          <p:cNvSpPr/>
          <p:nvPr/>
        </p:nvSpPr>
        <p:spPr>
          <a:xfrm>
            <a:off x="666750" y="1057275"/>
            <a:ext cx="108585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chemeClr val="dk1"/>
              </a:solidFill>
              <a:latin typeface="Inter" panose="020B0604020202020204" charset="0"/>
              <a:ea typeface="Inter" panose="020B0604020202020204" charset="0"/>
              <a:cs typeface="Calibri"/>
              <a:sym typeface="Calibri"/>
            </a:endParaRPr>
          </a:p>
        </p:txBody>
      </p:sp>
      <p:sp>
        <p:nvSpPr>
          <p:cNvPr id="149" name="Google Shape;149;p16">
            <a:extLst>
              <a:ext uri="{FF2B5EF4-FFF2-40B4-BE49-F238E27FC236}">
                <a16:creationId xmlns:a16="http://schemas.microsoft.com/office/drawing/2014/main" id="{DB931DE0-69D5-4F8E-3CCE-330964D92B1E}"/>
              </a:ext>
            </a:extLst>
          </p:cNvPr>
          <p:cNvSpPr txBox="1"/>
          <p:nvPr/>
        </p:nvSpPr>
        <p:spPr>
          <a:xfrm>
            <a:off x="1238250" y="1704975"/>
            <a:ext cx="10287000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1E293B"/>
                </a:solidFill>
                <a:latin typeface="Inter" panose="020B0604020202020204" charset="0"/>
                <a:ea typeface="Inter" panose="020B0604020202020204" charset="0"/>
                <a:cs typeface="Inter SemiBold"/>
                <a:sym typeface="Inter SemiBold"/>
              </a:rPr>
              <a:t>¿Clientes con solo smartphone? (A - B)</a:t>
            </a:r>
            <a:endParaRPr sz="1800"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150" name="Google Shape;150;p16">
            <a:extLst>
              <a:ext uri="{FF2B5EF4-FFF2-40B4-BE49-F238E27FC236}">
                <a16:creationId xmlns:a16="http://schemas.microsoft.com/office/drawing/2014/main" id="{1516F354-193A-5F3E-7F4C-72D3FBA00345}"/>
              </a:ext>
            </a:extLst>
          </p:cNvPr>
          <p:cNvSpPr txBox="1"/>
          <p:nvPr/>
        </p:nvSpPr>
        <p:spPr>
          <a:xfrm>
            <a:off x="1238250" y="2762250"/>
            <a:ext cx="10287000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1E293B"/>
                </a:solidFill>
                <a:latin typeface="Inter" panose="020B0604020202020204" charset="0"/>
                <a:ea typeface="Inter" panose="020B0604020202020204" charset="0"/>
                <a:cs typeface="Inter SemiBold"/>
                <a:sym typeface="Inter SemiBold"/>
              </a:rPr>
              <a:t>¿Clientes con solo uno de los dos? (A Δ B)</a:t>
            </a:r>
            <a:endParaRPr sz="1800">
              <a:latin typeface="Inter" panose="020B0604020202020204" charset="0"/>
              <a:ea typeface="Inter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778528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Google Shape;155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6750" y="2543175"/>
            <a:ext cx="10858500" cy="1238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66750" y="1828800"/>
            <a:ext cx="5334000" cy="523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191250" y="1828800"/>
            <a:ext cx="5334000" cy="523875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7"/>
          <p:cNvSpPr txBox="1"/>
          <p:nvPr/>
        </p:nvSpPr>
        <p:spPr>
          <a:xfrm>
            <a:off x="1076325" y="423089"/>
            <a:ext cx="10971371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rgbClr val="0F172A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1. </a:t>
            </a:r>
            <a:r>
              <a:rPr lang="en-US" sz="3600" b="1" i="0" u="none" strike="noStrike" cap="none" dirty="0" err="1">
                <a:solidFill>
                  <a:srgbClr val="0F172A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Propiedad</a:t>
            </a:r>
            <a:r>
              <a:rPr lang="en-US" sz="3600" b="1" i="0" u="none" strike="noStrike" cap="none" dirty="0">
                <a:solidFill>
                  <a:srgbClr val="0F172A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 </a:t>
            </a:r>
            <a:r>
              <a:rPr lang="en-US" sz="3600" b="1" i="0" u="none" strike="noStrike" cap="none" dirty="0" err="1">
                <a:solidFill>
                  <a:srgbClr val="0F172A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Conmutativa</a:t>
            </a:r>
            <a:endParaRPr sz="1800" dirty="0"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161" name="Google Shape;161;p17"/>
          <p:cNvSpPr/>
          <p:nvPr/>
        </p:nvSpPr>
        <p:spPr>
          <a:xfrm>
            <a:off x="666750" y="1057275"/>
            <a:ext cx="108585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chemeClr val="dk1"/>
              </a:solidFill>
              <a:latin typeface="Inter" panose="020B0604020202020204" charset="0"/>
              <a:ea typeface="Inter" panose="020B0604020202020204" charset="0"/>
              <a:cs typeface="Calibri"/>
              <a:sym typeface="Calibri"/>
            </a:endParaRPr>
          </a:p>
        </p:txBody>
      </p:sp>
      <p:sp>
        <p:nvSpPr>
          <p:cNvPr id="162" name="Google Shape;162;p17"/>
          <p:cNvSpPr txBox="1"/>
          <p:nvPr/>
        </p:nvSpPr>
        <p:spPr>
          <a:xfrm>
            <a:off x="666750" y="1352550"/>
            <a:ext cx="10858500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475569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El orden de los conjuntos no altera el resultado.</a:t>
            </a:r>
            <a:endParaRPr sz="1800">
              <a:latin typeface="Inter" panose="020B0604020202020204" charset="0"/>
              <a:ea typeface="Inter" panose="020B0604020202020204" charset="0"/>
            </a:endParaRPr>
          </a:p>
        </p:txBody>
      </p:sp>
      <p:pic>
        <p:nvPicPr>
          <p:cNvPr id="164" name="Google Shape;164;p1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66750" y="542925"/>
            <a:ext cx="2667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17"/>
          <p:cNvSpPr txBox="1"/>
          <p:nvPr/>
        </p:nvSpPr>
        <p:spPr>
          <a:xfrm>
            <a:off x="866775" y="2743200"/>
            <a:ext cx="10981372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854D0E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Ejemplo Mejorado (Base de Datos):</a:t>
            </a:r>
            <a:endParaRPr sz="1800"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166" name="Google Shape;166;p17"/>
          <p:cNvSpPr txBox="1"/>
          <p:nvPr/>
        </p:nvSpPr>
        <p:spPr>
          <a:xfrm>
            <a:off x="866775" y="3067050"/>
            <a:ext cx="1045845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475569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Una consulta que busca usuarios (Rol = 'Admin') Y (Estado = 'Activo') devuelve lo mismo que (Estado = 'Activo') Y (Rol = 'Admin').</a:t>
            </a:r>
            <a:endParaRPr sz="1800">
              <a:latin typeface="Inter" panose="020B0604020202020204" charset="0"/>
              <a:ea typeface="Inter" panose="020B060402020202020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">
          <a:extLst>
            <a:ext uri="{FF2B5EF4-FFF2-40B4-BE49-F238E27FC236}">
              <a16:creationId xmlns:a16="http://schemas.microsoft.com/office/drawing/2014/main" id="{3A045828-23C9-784B-4175-F5C81DB684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Google Shape;155;p17" descr="image.png">
            <a:extLst>
              <a:ext uri="{FF2B5EF4-FFF2-40B4-BE49-F238E27FC236}">
                <a16:creationId xmlns:a16="http://schemas.microsoft.com/office/drawing/2014/main" id="{CFB028B5-DA28-D992-907B-6993752B0BE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17" descr="image.png">
            <a:extLst>
              <a:ext uri="{FF2B5EF4-FFF2-40B4-BE49-F238E27FC236}">
                <a16:creationId xmlns:a16="http://schemas.microsoft.com/office/drawing/2014/main" id="{019012A0-7B99-F6F4-ED29-93F175D4396A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6750" y="2305050"/>
            <a:ext cx="10858500" cy="3262758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7">
            <a:extLst>
              <a:ext uri="{FF2B5EF4-FFF2-40B4-BE49-F238E27FC236}">
                <a16:creationId xmlns:a16="http://schemas.microsoft.com/office/drawing/2014/main" id="{A45722B8-C3B7-80B5-B56B-1D0D081114E7}"/>
              </a:ext>
            </a:extLst>
          </p:cNvPr>
          <p:cNvSpPr txBox="1"/>
          <p:nvPr/>
        </p:nvSpPr>
        <p:spPr>
          <a:xfrm>
            <a:off x="1076325" y="476250"/>
            <a:ext cx="10971371" cy="447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 dirty="0">
                <a:solidFill>
                  <a:srgbClr val="0F172A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1. </a:t>
            </a:r>
            <a:r>
              <a:rPr lang="en-US" sz="2850" b="1" i="0" u="none" strike="noStrike" cap="none" dirty="0" err="1">
                <a:solidFill>
                  <a:srgbClr val="0F172A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Propiedad</a:t>
            </a:r>
            <a:r>
              <a:rPr lang="en-US" sz="2850" b="1" i="0" u="none" strike="noStrike" cap="none" dirty="0">
                <a:solidFill>
                  <a:srgbClr val="0F172A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 </a:t>
            </a:r>
            <a:r>
              <a:rPr lang="en-US" sz="2850" b="1" i="0" u="none" strike="noStrike" cap="none" dirty="0" err="1">
                <a:solidFill>
                  <a:srgbClr val="0F172A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Conmutativa</a:t>
            </a:r>
            <a:endParaRPr dirty="0"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161" name="Google Shape;161;p17">
            <a:extLst>
              <a:ext uri="{FF2B5EF4-FFF2-40B4-BE49-F238E27FC236}">
                <a16:creationId xmlns:a16="http://schemas.microsoft.com/office/drawing/2014/main" id="{B032DF4B-327E-3149-8CF4-5B2971C6DEB4}"/>
              </a:ext>
            </a:extLst>
          </p:cNvPr>
          <p:cNvSpPr/>
          <p:nvPr/>
        </p:nvSpPr>
        <p:spPr>
          <a:xfrm>
            <a:off x="666750" y="1057275"/>
            <a:ext cx="108585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chemeClr val="dk1"/>
              </a:solidFill>
              <a:latin typeface="Inter" panose="020B0604020202020204" charset="0"/>
              <a:ea typeface="Inter" panose="020B0604020202020204" charset="0"/>
              <a:cs typeface="Calibri"/>
              <a:sym typeface="Calibri"/>
            </a:endParaRPr>
          </a:p>
        </p:txBody>
      </p:sp>
      <p:sp>
        <p:nvSpPr>
          <p:cNvPr id="163" name="Google Shape;163;p17">
            <a:extLst>
              <a:ext uri="{FF2B5EF4-FFF2-40B4-BE49-F238E27FC236}">
                <a16:creationId xmlns:a16="http://schemas.microsoft.com/office/drawing/2014/main" id="{D5BDD700-7497-44D7-06AB-C7E06C4D6360}"/>
              </a:ext>
            </a:extLst>
          </p:cNvPr>
          <p:cNvSpPr txBox="1"/>
          <p:nvPr/>
        </p:nvSpPr>
        <p:spPr>
          <a:xfrm>
            <a:off x="914400" y="1957001"/>
            <a:ext cx="1061085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4F46E5"/>
                </a:solidFill>
                <a:latin typeface="Inter" panose="020B0604020202020204" charset="0"/>
                <a:ea typeface="Inter" panose="020B0604020202020204" charset="0"/>
                <a:cs typeface="Inter SemiBold"/>
                <a:sym typeface="Inter SemiBold"/>
              </a:rPr>
              <a:t>Verificación Matemática (Ejercicio)</a:t>
            </a:r>
            <a:endParaRPr sz="1800">
              <a:latin typeface="Inter" panose="020B0604020202020204" charset="0"/>
              <a:ea typeface="Inter" panose="020B0604020202020204" charset="0"/>
            </a:endParaRPr>
          </a:p>
        </p:txBody>
      </p:sp>
      <p:pic>
        <p:nvPicPr>
          <p:cNvPr id="164" name="Google Shape;164;p17" descr="image.png">
            <a:extLst>
              <a:ext uri="{FF2B5EF4-FFF2-40B4-BE49-F238E27FC236}">
                <a16:creationId xmlns:a16="http://schemas.microsoft.com/office/drawing/2014/main" id="{02D521D2-C31D-3037-2E3F-20B086E2F9F9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66750" y="542925"/>
            <a:ext cx="2667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17" descr="image.png">
            <a:extLst>
              <a:ext uri="{FF2B5EF4-FFF2-40B4-BE49-F238E27FC236}">
                <a16:creationId xmlns:a16="http://schemas.microsoft.com/office/drawing/2014/main" id="{C8A3368A-0D2E-4AC3-1629-2CE614968524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66750" y="2019300"/>
            <a:ext cx="1524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17">
            <a:extLst>
              <a:ext uri="{FF2B5EF4-FFF2-40B4-BE49-F238E27FC236}">
                <a16:creationId xmlns:a16="http://schemas.microsoft.com/office/drawing/2014/main" id="{7E26E1D3-FD03-D41A-BA3B-0C38993779F8}"/>
              </a:ext>
            </a:extLst>
          </p:cNvPr>
          <p:cNvSpPr txBox="1"/>
          <p:nvPr/>
        </p:nvSpPr>
        <p:spPr>
          <a:xfrm>
            <a:off x="819150" y="2472889"/>
            <a:ext cx="781050" cy="393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 dirty="0">
                <a:solidFill>
                  <a:srgbClr val="1E293B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Dados:</a:t>
            </a:r>
            <a:endParaRPr sz="1800" dirty="0"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169" name="Google Shape;169;p17">
            <a:extLst>
              <a:ext uri="{FF2B5EF4-FFF2-40B4-BE49-F238E27FC236}">
                <a16:creationId xmlns:a16="http://schemas.microsoft.com/office/drawing/2014/main" id="{EFBA2286-13C8-5CFF-D83A-0C9535CB1FB7}"/>
              </a:ext>
            </a:extLst>
          </p:cNvPr>
          <p:cNvSpPr txBox="1"/>
          <p:nvPr/>
        </p:nvSpPr>
        <p:spPr>
          <a:xfrm>
            <a:off x="914400" y="3035046"/>
            <a:ext cx="1219200" cy="393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 dirty="0">
                <a:solidFill>
                  <a:srgbClr val="1E293B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Unión:</a:t>
            </a:r>
            <a:endParaRPr sz="1800" dirty="0"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170" name="Google Shape;170;p17">
            <a:extLst>
              <a:ext uri="{FF2B5EF4-FFF2-40B4-BE49-F238E27FC236}">
                <a16:creationId xmlns:a16="http://schemas.microsoft.com/office/drawing/2014/main" id="{EAE4C567-D5D1-D1D6-BF9D-86F72DE1FEEC}"/>
              </a:ext>
            </a:extLst>
          </p:cNvPr>
          <p:cNvSpPr txBox="1"/>
          <p:nvPr/>
        </p:nvSpPr>
        <p:spPr>
          <a:xfrm>
            <a:off x="914400" y="3880246"/>
            <a:ext cx="10363200" cy="393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16A34A"/>
                </a:solidFill>
                <a:latin typeface="Inter" panose="020B0604020202020204" charset="0"/>
                <a:ea typeface="Inter" panose="020B0604020202020204" charset="0"/>
                <a:cs typeface="Inter SemiBold"/>
                <a:sym typeface="Inter SemiBold"/>
              </a:rPr>
              <a:t>✓ Se cumple la propiedad.</a:t>
            </a:r>
            <a:endParaRPr sz="1800"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171" name="Google Shape;171;p17">
            <a:extLst>
              <a:ext uri="{FF2B5EF4-FFF2-40B4-BE49-F238E27FC236}">
                <a16:creationId xmlns:a16="http://schemas.microsoft.com/office/drawing/2014/main" id="{9476360E-645E-2AE6-9BCD-4B57AE0BB377}"/>
              </a:ext>
            </a:extLst>
          </p:cNvPr>
          <p:cNvSpPr txBox="1"/>
          <p:nvPr/>
        </p:nvSpPr>
        <p:spPr>
          <a:xfrm>
            <a:off x="914400" y="4219128"/>
            <a:ext cx="1866900" cy="393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 dirty="0" err="1">
                <a:solidFill>
                  <a:srgbClr val="1E293B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Intersección</a:t>
            </a:r>
            <a:r>
              <a:rPr lang="en-US" sz="1600" b="1" i="0" u="none" strike="noStrike" cap="none" dirty="0">
                <a:solidFill>
                  <a:srgbClr val="1E293B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:</a:t>
            </a:r>
            <a:endParaRPr sz="1800" dirty="0"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172" name="Google Shape;172;p17">
            <a:extLst>
              <a:ext uri="{FF2B5EF4-FFF2-40B4-BE49-F238E27FC236}">
                <a16:creationId xmlns:a16="http://schemas.microsoft.com/office/drawing/2014/main" id="{7BE5E494-AB3E-3DBA-3678-AED9162CDE39}"/>
              </a:ext>
            </a:extLst>
          </p:cNvPr>
          <p:cNvSpPr txBox="1"/>
          <p:nvPr/>
        </p:nvSpPr>
        <p:spPr>
          <a:xfrm>
            <a:off x="914400" y="5076378"/>
            <a:ext cx="10363200" cy="393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16A34A"/>
                </a:solidFill>
                <a:latin typeface="Inter" panose="020B0604020202020204" charset="0"/>
                <a:ea typeface="Inter" panose="020B0604020202020204" charset="0"/>
                <a:cs typeface="Inter SemiBold"/>
                <a:sym typeface="Inter SemiBold"/>
              </a:rPr>
              <a:t>✓ Se cumple la propiedad.</a:t>
            </a:r>
            <a:endParaRPr sz="1800">
              <a:latin typeface="Inter" panose="020B0604020202020204" charset="0"/>
              <a:ea typeface="Inter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63574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">
          <a:extLst>
            <a:ext uri="{FF2B5EF4-FFF2-40B4-BE49-F238E27FC236}">
              <a16:creationId xmlns:a16="http://schemas.microsoft.com/office/drawing/2014/main" id="{C22042E4-1740-AA17-340C-A10CC421EC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7" name="Google Shape;177;p18" descr="image.png">
            <a:extLst>
              <a:ext uri="{FF2B5EF4-FFF2-40B4-BE49-F238E27FC236}">
                <a16:creationId xmlns:a16="http://schemas.microsoft.com/office/drawing/2014/main" id="{C502D0EF-F192-807C-75B3-542370F8C14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p18" descr="image.png">
            <a:extLst>
              <a:ext uri="{FF2B5EF4-FFF2-40B4-BE49-F238E27FC236}">
                <a16:creationId xmlns:a16="http://schemas.microsoft.com/office/drawing/2014/main" id="{FA8E8952-5CF6-F040-46D5-F0A71452CBBA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6750" y="2543174"/>
            <a:ext cx="10858500" cy="144720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18" descr="image.png">
            <a:extLst>
              <a:ext uri="{FF2B5EF4-FFF2-40B4-BE49-F238E27FC236}">
                <a16:creationId xmlns:a16="http://schemas.microsoft.com/office/drawing/2014/main" id="{CDE9FBC9-3F3A-F204-861B-0287F17DB3E4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66750" y="1828800"/>
            <a:ext cx="5334000" cy="523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p18" descr="image.png">
            <a:extLst>
              <a:ext uri="{FF2B5EF4-FFF2-40B4-BE49-F238E27FC236}">
                <a16:creationId xmlns:a16="http://schemas.microsoft.com/office/drawing/2014/main" id="{8A0FD969-7FC4-7B27-5701-057821892492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191250" y="1828800"/>
            <a:ext cx="5334000" cy="523875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18">
            <a:extLst>
              <a:ext uri="{FF2B5EF4-FFF2-40B4-BE49-F238E27FC236}">
                <a16:creationId xmlns:a16="http://schemas.microsoft.com/office/drawing/2014/main" id="{5C82ECB4-6A19-AF6E-630E-3CFCEB99D846}"/>
              </a:ext>
            </a:extLst>
          </p:cNvPr>
          <p:cNvSpPr txBox="1"/>
          <p:nvPr/>
        </p:nvSpPr>
        <p:spPr>
          <a:xfrm>
            <a:off x="1152525" y="423089"/>
            <a:ext cx="10891361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rgbClr val="0F172A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2. </a:t>
            </a:r>
            <a:r>
              <a:rPr lang="en-US" sz="3600" b="1" i="0" u="none" strike="noStrike" cap="none" dirty="0" err="1">
                <a:solidFill>
                  <a:srgbClr val="0F172A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Propiedad</a:t>
            </a:r>
            <a:r>
              <a:rPr lang="en-US" sz="3600" b="1" i="0" u="none" strike="noStrike" cap="none" dirty="0">
                <a:solidFill>
                  <a:srgbClr val="0F172A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 </a:t>
            </a:r>
            <a:r>
              <a:rPr lang="en-US" sz="3600" b="1" i="0" u="none" strike="noStrike" cap="none" dirty="0" err="1">
                <a:solidFill>
                  <a:srgbClr val="0F172A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Asociativa</a:t>
            </a:r>
            <a:endParaRPr sz="1800" dirty="0"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183" name="Google Shape;183;p18">
            <a:extLst>
              <a:ext uri="{FF2B5EF4-FFF2-40B4-BE49-F238E27FC236}">
                <a16:creationId xmlns:a16="http://schemas.microsoft.com/office/drawing/2014/main" id="{E78AC767-D5FF-085A-C3E8-27F576CBFEF3}"/>
              </a:ext>
            </a:extLst>
          </p:cNvPr>
          <p:cNvSpPr/>
          <p:nvPr/>
        </p:nvSpPr>
        <p:spPr>
          <a:xfrm>
            <a:off x="666750" y="1057275"/>
            <a:ext cx="108585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chemeClr val="dk1"/>
              </a:solidFill>
              <a:latin typeface="Inter" panose="020B0604020202020204" charset="0"/>
              <a:ea typeface="Inter" panose="020B0604020202020204" charset="0"/>
              <a:cs typeface="Calibri"/>
              <a:sym typeface="Calibri"/>
            </a:endParaRPr>
          </a:p>
        </p:txBody>
      </p:sp>
      <p:sp>
        <p:nvSpPr>
          <p:cNvPr id="184" name="Google Shape;184;p18">
            <a:extLst>
              <a:ext uri="{FF2B5EF4-FFF2-40B4-BE49-F238E27FC236}">
                <a16:creationId xmlns:a16="http://schemas.microsoft.com/office/drawing/2014/main" id="{9584B44A-5885-F9D1-F1A8-0ECB28C1E030}"/>
              </a:ext>
            </a:extLst>
          </p:cNvPr>
          <p:cNvSpPr txBox="1"/>
          <p:nvPr/>
        </p:nvSpPr>
        <p:spPr>
          <a:xfrm>
            <a:off x="666750" y="1352550"/>
            <a:ext cx="1085850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475569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Puedes agrupar los conjuntos en cualquier orden al operar.</a:t>
            </a:r>
            <a:endParaRPr sz="2400">
              <a:latin typeface="Inter" panose="020B0604020202020204" charset="0"/>
              <a:ea typeface="Inter" panose="020B0604020202020204" charset="0"/>
            </a:endParaRPr>
          </a:p>
        </p:txBody>
      </p:sp>
      <p:pic>
        <p:nvPicPr>
          <p:cNvPr id="186" name="Google Shape;186;p18" descr="image.png">
            <a:extLst>
              <a:ext uri="{FF2B5EF4-FFF2-40B4-BE49-F238E27FC236}">
                <a16:creationId xmlns:a16="http://schemas.microsoft.com/office/drawing/2014/main" id="{560BBAF5-DD7C-1886-B13E-C089748075F3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66750" y="542925"/>
            <a:ext cx="3429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18">
            <a:extLst>
              <a:ext uri="{FF2B5EF4-FFF2-40B4-BE49-F238E27FC236}">
                <a16:creationId xmlns:a16="http://schemas.microsoft.com/office/drawing/2014/main" id="{417AEFF3-F933-36FC-74F2-44BD958AA09F}"/>
              </a:ext>
            </a:extLst>
          </p:cNvPr>
          <p:cNvSpPr txBox="1"/>
          <p:nvPr/>
        </p:nvSpPr>
        <p:spPr>
          <a:xfrm>
            <a:off x="866775" y="2743200"/>
            <a:ext cx="1098137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F766E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Ejemplo Mejorado (Permisos):</a:t>
            </a:r>
            <a:endParaRPr sz="2400"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188" name="Google Shape;188;p18">
            <a:extLst>
              <a:ext uri="{FF2B5EF4-FFF2-40B4-BE49-F238E27FC236}">
                <a16:creationId xmlns:a16="http://schemas.microsoft.com/office/drawing/2014/main" id="{636BDDCF-C05B-EAF6-037F-2B6B7C446A5D}"/>
              </a:ext>
            </a:extLst>
          </p:cNvPr>
          <p:cNvSpPr txBox="1"/>
          <p:nvPr/>
        </p:nvSpPr>
        <p:spPr>
          <a:xfrm>
            <a:off x="866775" y="3067050"/>
            <a:ext cx="10458450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 err="1">
                <a:solidFill>
                  <a:srgbClr val="475569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Asignar</a:t>
            </a:r>
            <a:r>
              <a:rPr lang="en-US" sz="2000" b="0" i="0" u="none" strike="noStrike" cap="none" dirty="0">
                <a:solidFill>
                  <a:srgbClr val="475569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 (Lectura Y </a:t>
            </a:r>
            <a:r>
              <a:rPr lang="en-US" sz="2000" b="0" i="0" u="none" strike="noStrike" cap="none" dirty="0" err="1">
                <a:solidFill>
                  <a:srgbClr val="475569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Escritura</a:t>
            </a:r>
            <a:r>
              <a:rPr lang="en-US" sz="2000" b="0" i="0" u="none" strike="noStrike" cap="none" dirty="0">
                <a:solidFill>
                  <a:srgbClr val="475569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) y luego </a:t>
            </a:r>
            <a:r>
              <a:rPr lang="en-US" sz="2000" b="0" i="0" u="none" strike="noStrike" cap="none" dirty="0" err="1">
                <a:solidFill>
                  <a:srgbClr val="475569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Ejecución</a:t>
            </a:r>
            <a:r>
              <a:rPr lang="en-US" sz="2000" b="0" i="0" u="none" strike="noStrike" cap="none" dirty="0">
                <a:solidFill>
                  <a:srgbClr val="475569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, es </a:t>
            </a:r>
            <a:r>
              <a:rPr lang="en-US" sz="2000" b="0" i="0" u="none" strike="noStrike" cap="none" dirty="0" err="1">
                <a:solidFill>
                  <a:srgbClr val="475569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igual</a:t>
            </a:r>
            <a:r>
              <a:rPr lang="en-US" sz="2000" b="0" i="0" u="none" strike="noStrike" cap="none" dirty="0">
                <a:solidFill>
                  <a:srgbClr val="475569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 </a:t>
            </a:r>
            <a:r>
              <a:rPr lang="en-US" sz="2000" b="0" i="0" u="none" strike="noStrike" cap="none" dirty="0" err="1">
                <a:solidFill>
                  <a:srgbClr val="475569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que</a:t>
            </a:r>
            <a:r>
              <a:rPr lang="en-US" sz="2000" b="0" i="0" u="none" strike="noStrike" cap="none" dirty="0">
                <a:solidFill>
                  <a:srgbClr val="475569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 </a:t>
            </a:r>
            <a:r>
              <a:rPr lang="en-US" sz="2000" b="0" i="0" u="none" strike="noStrike" cap="none" dirty="0" err="1">
                <a:solidFill>
                  <a:srgbClr val="475569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asignar</a:t>
            </a:r>
            <a:r>
              <a:rPr lang="en-US" sz="2000" b="0" i="0" u="none" strike="noStrike" cap="none" dirty="0">
                <a:solidFill>
                  <a:srgbClr val="475569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 Lectura y luego (</a:t>
            </a:r>
            <a:r>
              <a:rPr lang="en-US" sz="2000" b="0" i="0" u="none" strike="noStrike" cap="none" dirty="0" err="1">
                <a:solidFill>
                  <a:srgbClr val="475569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Escritura</a:t>
            </a:r>
            <a:r>
              <a:rPr lang="en-US" sz="2000" b="0" i="0" u="none" strike="noStrike" cap="none" dirty="0">
                <a:solidFill>
                  <a:srgbClr val="475569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 Y </a:t>
            </a:r>
            <a:r>
              <a:rPr lang="en-US" sz="2000" b="0" i="0" u="none" strike="noStrike" cap="none" dirty="0" err="1">
                <a:solidFill>
                  <a:srgbClr val="475569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Ejecución</a:t>
            </a:r>
            <a:r>
              <a:rPr lang="en-US" sz="2000" b="0" i="0" u="none" strike="noStrike" cap="none" dirty="0">
                <a:solidFill>
                  <a:srgbClr val="475569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).</a:t>
            </a:r>
            <a:endParaRPr sz="2400" dirty="0">
              <a:latin typeface="Inter" panose="020B0604020202020204" charset="0"/>
              <a:ea typeface="Inter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96162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7" name="Google Shape;177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71550" y="1889410"/>
            <a:ext cx="10858500" cy="3262758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18"/>
          <p:cNvSpPr txBox="1"/>
          <p:nvPr/>
        </p:nvSpPr>
        <p:spPr>
          <a:xfrm>
            <a:off x="1152525" y="476250"/>
            <a:ext cx="10891361" cy="447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 dirty="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2. </a:t>
            </a:r>
            <a:r>
              <a:rPr lang="en-US" sz="2850" b="1" i="0" u="none" strike="noStrike" cap="none" dirty="0" err="1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Propiedad</a:t>
            </a:r>
            <a:r>
              <a:rPr lang="en-US" sz="2850" b="1" i="0" u="none" strike="noStrike" cap="none" dirty="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850" b="1" i="0" u="none" strike="noStrike" cap="none" dirty="0" err="1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Asociativa</a:t>
            </a:r>
            <a:endParaRPr dirty="0"/>
          </a:p>
        </p:txBody>
      </p:sp>
      <p:sp>
        <p:nvSpPr>
          <p:cNvPr id="185" name="Google Shape;185;p18"/>
          <p:cNvSpPr txBox="1"/>
          <p:nvPr/>
        </p:nvSpPr>
        <p:spPr>
          <a:xfrm>
            <a:off x="1066800" y="1449572"/>
            <a:ext cx="1061085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4F46E5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Verificación Matemática (Ejercicio)</a:t>
            </a:r>
            <a:endParaRPr sz="1800"/>
          </a:p>
        </p:txBody>
      </p:sp>
      <p:pic>
        <p:nvPicPr>
          <p:cNvPr id="186" name="Google Shape;186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66750" y="542925"/>
            <a:ext cx="3429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1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9150" y="1511871"/>
            <a:ext cx="1524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18"/>
          <p:cNvSpPr txBox="1"/>
          <p:nvPr/>
        </p:nvSpPr>
        <p:spPr>
          <a:xfrm>
            <a:off x="1066800" y="2013378"/>
            <a:ext cx="762000" cy="393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 dirty="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Dados:</a:t>
            </a:r>
            <a:endParaRPr sz="1800" dirty="0"/>
          </a:p>
        </p:txBody>
      </p:sp>
      <p:sp>
        <p:nvSpPr>
          <p:cNvPr id="191" name="Google Shape;191;p18"/>
          <p:cNvSpPr txBox="1"/>
          <p:nvPr/>
        </p:nvSpPr>
        <p:spPr>
          <a:xfrm>
            <a:off x="1066800" y="2507344"/>
            <a:ext cx="762000" cy="393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 dirty="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Unión:</a:t>
            </a:r>
            <a:endParaRPr sz="1800" dirty="0"/>
          </a:p>
        </p:txBody>
      </p:sp>
      <p:sp>
        <p:nvSpPr>
          <p:cNvPr id="192" name="Google Shape;192;p18"/>
          <p:cNvSpPr txBox="1"/>
          <p:nvPr/>
        </p:nvSpPr>
        <p:spPr>
          <a:xfrm>
            <a:off x="1066800" y="3372817"/>
            <a:ext cx="10363200" cy="393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16A34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✓ Se cumple la propiedad.</a:t>
            </a:r>
            <a:endParaRPr sz="1800"/>
          </a:p>
        </p:txBody>
      </p:sp>
      <p:sp>
        <p:nvSpPr>
          <p:cNvPr id="193" name="Google Shape;193;p18"/>
          <p:cNvSpPr txBox="1"/>
          <p:nvPr/>
        </p:nvSpPr>
        <p:spPr>
          <a:xfrm>
            <a:off x="1066800" y="3669806"/>
            <a:ext cx="1676400" cy="393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 dirty="0" err="1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Intersección</a:t>
            </a:r>
            <a:r>
              <a:rPr lang="en-US" sz="1600" b="1" i="0" u="none" strike="noStrike" cap="none" dirty="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:</a:t>
            </a:r>
            <a:endParaRPr sz="1800" dirty="0"/>
          </a:p>
        </p:txBody>
      </p:sp>
      <p:sp>
        <p:nvSpPr>
          <p:cNvPr id="194" name="Google Shape;194;p18"/>
          <p:cNvSpPr txBox="1"/>
          <p:nvPr/>
        </p:nvSpPr>
        <p:spPr>
          <a:xfrm>
            <a:off x="1066800" y="4568949"/>
            <a:ext cx="10363200" cy="393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16A34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✓ Se cumple la propiedad.</a:t>
            </a:r>
            <a:endParaRPr sz="18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8">
          <a:extLst>
            <a:ext uri="{FF2B5EF4-FFF2-40B4-BE49-F238E27FC236}">
              <a16:creationId xmlns:a16="http://schemas.microsoft.com/office/drawing/2014/main" id="{23D6A7DC-B8F1-647B-1F2D-6665C59B63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9" name="Google Shape;199;p19" descr="image.png">
            <a:extLst>
              <a:ext uri="{FF2B5EF4-FFF2-40B4-BE49-F238E27FC236}">
                <a16:creationId xmlns:a16="http://schemas.microsoft.com/office/drawing/2014/main" id="{4A02E54E-9BE3-2D15-1BC1-BAF72B66BFB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Google Shape;200;p19" descr="image.png">
            <a:extLst>
              <a:ext uri="{FF2B5EF4-FFF2-40B4-BE49-F238E27FC236}">
                <a16:creationId xmlns:a16="http://schemas.microsoft.com/office/drawing/2014/main" id="{F3E1D833-309B-7E92-AB73-9A6D550FBB30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6750" y="2543175"/>
            <a:ext cx="10858500" cy="1238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p19" descr="image.png">
            <a:extLst>
              <a:ext uri="{FF2B5EF4-FFF2-40B4-BE49-F238E27FC236}">
                <a16:creationId xmlns:a16="http://schemas.microsoft.com/office/drawing/2014/main" id="{D0E8600B-6172-AB15-A0D3-86FEE3647341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66750" y="1828800"/>
            <a:ext cx="5334000" cy="523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" name="Google Shape;203;p19" descr="image.png">
            <a:extLst>
              <a:ext uri="{FF2B5EF4-FFF2-40B4-BE49-F238E27FC236}">
                <a16:creationId xmlns:a16="http://schemas.microsoft.com/office/drawing/2014/main" id="{BCF873DE-A567-11CE-AB56-7989BFA4ED29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191250" y="1828800"/>
            <a:ext cx="5334000" cy="523875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19">
            <a:extLst>
              <a:ext uri="{FF2B5EF4-FFF2-40B4-BE49-F238E27FC236}">
                <a16:creationId xmlns:a16="http://schemas.microsoft.com/office/drawing/2014/main" id="{69FC3F3A-9F49-87DF-2A97-AD2B1A129E70}"/>
              </a:ext>
            </a:extLst>
          </p:cNvPr>
          <p:cNvSpPr txBox="1"/>
          <p:nvPr/>
        </p:nvSpPr>
        <p:spPr>
          <a:xfrm>
            <a:off x="1114425" y="476250"/>
            <a:ext cx="10931366" cy="447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 dirty="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3. </a:t>
            </a:r>
            <a:r>
              <a:rPr lang="en-US" sz="2850" b="1" i="0" u="none" strike="noStrike" cap="none" dirty="0" err="1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Propiedad</a:t>
            </a:r>
            <a:r>
              <a:rPr lang="en-US" sz="2850" b="1" i="0" u="none" strike="noStrike" cap="none" dirty="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850" b="1" i="0" u="none" strike="noStrike" cap="none" dirty="0" err="1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Idempotente</a:t>
            </a:r>
            <a:endParaRPr dirty="0"/>
          </a:p>
        </p:txBody>
      </p:sp>
      <p:sp>
        <p:nvSpPr>
          <p:cNvPr id="205" name="Google Shape;205;p19">
            <a:extLst>
              <a:ext uri="{FF2B5EF4-FFF2-40B4-BE49-F238E27FC236}">
                <a16:creationId xmlns:a16="http://schemas.microsoft.com/office/drawing/2014/main" id="{56F4E6FE-646C-58A5-20F7-CF8956CEFBA7}"/>
              </a:ext>
            </a:extLst>
          </p:cNvPr>
          <p:cNvSpPr/>
          <p:nvPr/>
        </p:nvSpPr>
        <p:spPr>
          <a:xfrm>
            <a:off x="666750" y="1057275"/>
            <a:ext cx="108585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9">
            <a:extLst>
              <a:ext uri="{FF2B5EF4-FFF2-40B4-BE49-F238E27FC236}">
                <a16:creationId xmlns:a16="http://schemas.microsoft.com/office/drawing/2014/main" id="{C08B016F-0E3E-9B54-C768-CAEBDB253D04}"/>
              </a:ext>
            </a:extLst>
          </p:cNvPr>
          <p:cNvSpPr txBox="1"/>
          <p:nvPr/>
        </p:nvSpPr>
        <p:spPr>
          <a:xfrm>
            <a:off x="666750" y="1352550"/>
            <a:ext cx="10858500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Operar un conjunto consigo mismo no cambia el resultado.</a:t>
            </a:r>
            <a:endParaRPr sz="1800"/>
          </a:p>
        </p:txBody>
      </p:sp>
      <p:pic>
        <p:nvPicPr>
          <p:cNvPr id="208" name="Google Shape;208;p19" descr="image.png">
            <a:extLst>
              <a:ext uri="{FF2B5EF4-FFF2-40B4-BE49-F238E27FC236}">
                <a16:creationId xmlns:a16="http://schemas.microsoft.com/office/drawing/2014/main" id="{E60DCC9D-8FAD-84B8-2E15-291188250E5C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66750" y="542925"/>
            <a:ext cx="3048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19">
            <a:extLst>
              <a:ext uri="{FF2B5EF4-FFF2-40B4-BE49-F238E27FC236}">
                <a16:creationId xmlns:a16="http://schemas.microsoft.com/office/drawing/2014/main" id="{AD315EB5-2E0C-D97B-AAB9-2AB604A2BD4C}"/>
              </a:ext>
            </a:extLst>
          </p:cNvPr>
          <p:cNvSpPr txBox="1"/>
          <p:nvPr/>
        </p:nvSpPr>
        <p:spPr>
          <a:xfrm>
            <a:off x="866775" y="2743200"/>
            <a:ext cx="10981372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6B21A8"/>
                </a:solidFill>
                <a:latin typeface="Inter"/>
                <a:ea typeface="Inter"/>
                <a:cs typeface="Inter"/>
                <a:sym typeface="Inter"/>
              </a:rPr>
              <a:t>Ejemplo Mejorado (Optimización):</a:t>
            </a:r>
            <a:endParaRPr sz="1800"/>
          </a:p>
        </p:txBody>
      </p:sp>
      <p:sp>
        <p:nvSpPr>
          <p:cNvPr id="210" name="Google Shape;210;p19">
            <a:extLst>
              <a:ext uri="{FF2B5EF4-FFF2-40B4-BE49-F238E27FC236}">
                <a16:creationId xmlns:a16="http://schemas.microsoft.com/office/drawing/2014/main" id="{B8508AC8-AAA8-2208-82B9-0AF3448CF8A8}"/>
              </a:ext>
            </a:extLst>
          </p:cNvPr>
          <p:cNvSpPr txBox="1"/>
          <p:nvPr/>
        </p:nvSpPr>
        <p:spPr>
          <a:xfrm>
            <a:off x="866775" y="3067050"/>
            <a:ext cx="1045845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Si aplicas un filtro (usuarios &gt; 18) a una lista ya filtrada con la misma condición, la lista no cambia. La segunda operación es redundante.</a:t>
            </a:r>
            <a:endParaRPr sz="1800"/>
          </a:p>
        </p:txBody>
      </p:sp>
    </p:spTree>
    <p:extLst>
      <p:ext uri="{BB962C8B-B14F-4D97-AF65-F5344CB8AC3E}">
        <p14:creationId xmlns:p14="http://schemas.microsoft.com/office/powerpoint/2010/main" val="24474674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9" name="Google Shape;199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00100" y="2041401"/>
            <a:ext cx="10858500" cy="2775198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19"/>
          <p:cNvSpPr txBox="1"/>
          <p:nvPr/>
        </p:nvSpPr>
        <p:spPr>
          <a:xfrm>
            <a:off x="1114425" y="476250"/>
            <a:ext cx="10931366" cy="447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 dirty="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3. </a:t>
            </a:r>
            <a:r>
              <a:rPr lang="en-US" sz="2850" b="1" i="0" u="none" strike="noStrike" cap="none" dirty="0" err="1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Propiedad</a:t>
            </a:r>
            <a:r>
              <a:rPr lang="en-US" sz="2850" b="1" i="0" u="none" strike="noStrike" cap="none" dirty="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850" b="1" i="0" u="none" strike="noStrike" cap="none" dirty="0" err="1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Idempotente</a:t>
            </a:r>
            <a:endParaRPr dirty="0"/>
          </a:p>
        </p:txBody>
      </p:sp>
      <p:sp>
        <p:nvSpPr>
          <p:cNvPr id="205" name="Google Shape;205;p19"/>
          <p:cNvSpPr/>
          <p:nvPr/>
        </p:nvSpPr>
        <p:spPr>
          <a:xfrm>
            <a:off x="666750" y="1057275"/>
            <a:ext cx="108585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9"/>
          <p:cNvSpPr txBox="1"/>
          <p:nvPr/>
        </p:nvSpPr>
        <p:spPr>
          <a:xfrm>
            <a:off x="1047750" y="1693352"/>
            <a:ext cx="1061085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4F46E5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Verificación Matemática (Ejercicio)</a:t>
            </a:r>
            <a:endParaRPr sz="1800"/>
          </a:p>
        </p:txBody>
      </p:sp>
      <p:pic>
        <p:nvPicPr>
          <p:cNvPr id="208" name="Google Shape;208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66750" y="542925"/>
            <a:ext cx="3048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1" name="Google Shape;211;p1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00100" y="1755651"/>
            <a:ext cx="1524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19"/>
          <p:cNvSpPr txBox="1"/>
          <p:nvPr/>
        </p:nvSpPr>
        <p:spPr>
          <a:xfrm>
            <a:off x="909637" y="2179141"/>
            <a:ext cx="742950" cy="393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 dirty="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Dado:</a:t>
            </a:r>
            <a:endParaRPr sz="1800" dirty="0"/>
          </a:p>
        </p:txBody>
      </p:sp>
      <p:sp>
        <p:nvSpPr>
          <p:cNvPr id="213" name="Google Shape;213;p19"/>
          <p:cNvSpPr txBox="1"/>
          <p:nvPr/>
        </p:nvSpPr>
        <p:spPr>
          <a:xfrm>
            <a:off x="862012" y="2770073"/>
            <a:ext cx="1114425" cy="393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 dirty="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Unión:</a:t>
            </a:r>
            <a:endParaRPr sz="1800" dirty="0"/>
          </a:p>
        </p:txBody>
      </p:sp>
      <p:sp>
        <p:nvSpPr>
          <p:cNvPr id="214" name="Google Shape;214;p19"/>
          <p:cNvSpPr txBox="1"/>
          <p:nvPr/>
        </p:nvSpPr>
        <p:spPr>
          <a:xfrm>
            <a:off x="1047750" y="3372817"/>
            <a:ext cx="10363200" cy="393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16A34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✓ El resultado es igual a A.</a:t>
            </a:r>
            <a:endParaRPr sz="1800"/>
          </a:p>
        </p:txBody>
      </p:sp>
      <p:sp>
        <p:nvSpPr>
          <p:cNvPr id="215" name="Google Shape;215;p19"/>
          <p:cNvSpPr txBox="1"/>
          <p:nvPr/>
        </p:nvSpPr>
        <p:spPr>
          <a:xfrm>
            <a:off x="904874" y="3667562"/>
            <a:ext cx="1447800" cy="393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 dirty="0" err="1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Intersección</a:t>
            </a:r>
            <a:r>
              <a:rPr lang="en-US" sz="1600" b="1" i="0" u="none" strike="noStrike" cap="none" dirty="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:</a:t>
            </a:r>
            <a:endParaRPr sz="1800" dirty="0"/>
          </a:p>
        </p:txBody>
      </p:sp>
      <p:sp>
        <p:nvSpPr>
          <p:cNvPr id="216" name="Google Shape;216;p19"/>
          <p:cNvSpPr txBox="1"/>
          <p:nvPr/>
        </p:nvSpPr>
        <p:spPr>
          <a:xfrm>
            <a:off x="1047750" y="4325168"/>
            <a:ext cx="10363200" cy="393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16A34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✓ El resultado es igual a A.</a:t>
            </a:r>
            <a:endParaRPr sz="18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1" name="Google Shape;221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2" name="Google Shape;222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6750" y="2543175"/>
            <a:ext cx="10858500" cy="1238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4" name="Google Shape;224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66750" y="1828800"/>
            <a:ext cx="5334000" cy="523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5" name="Google Shape;225;p2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191250" y="1828800"/>
            <a:ext cx="5334000" cy="523875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20"/>
          <p:cNvSpPr txBox="1"/>
          <p:nvPr/>
        </p:nvSpPr>
        <p:spPr>
          <a:xfrm>
            <a:off x="1114425" y="476250"/>
            <a:ext cx="10931366" cy="447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 dirty="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4. </a:t>
            </a:r>
            <a:r>
              <a:rPr lang="en-US" sz="2850" b="1" i="0" u="none" strike="noStrike" cap="none" dirty="0" err="1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Propiedad</a:t>
            </a:r>
            <a:r>
              <a:rPr lang="en-US" sz="2850" b="1" i="0" u="none" strike="noStrike" cap="none" dirty="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 de </a:t>
            </a:r>
            <a:r>
              <a:rPr lang="en-US" sz="2850" b="1" i="0" u="none" strike="noStrike" cap="none" dirty="0" err="1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Absorción</a:t>
            </a:r>
            <a:endParaRPr dirty="0"/>
          </a:p>
        </p:txBody>
      </p:sp>
      <p:sp>
        <p:nvSpPr>
          <p:cNvPr id="227" name="Google Shape;227;p20"/>
          <p:cNvSpPr/>
          <p:nvPr/>
        </p:nvSpPr>
        <p:spPr>
          <a:xfrm>
            <a:off x="666750" y="1057275"/>
            <a:ext cx="108585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20"/>
          <p:cNvSpPr txBox="1"/>
          <p:nvPr/>
        </p:nvSpPr>
        <p:spPr>
          <a:xfrm>
            <a:off x="666750" y="1352550"/>
            <a:ext cx="10858500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Una operación "absorbe" a otra bajo ciertas condiciones.</a:t>
            </a:r>
            <a:endParaRPr sz="1800"/>
          </a:p>
        </p:txBody>
      </p:sp>
      <p:pic>
        <p:nvPicPr>
          <p:cNvPr id="230" name="Google Shape;230;p20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66750" y="542925"/>
            <a:ext cx="3048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20"/>
          <p:cNvSpPr txBox="1"/>
          <p:nvPr/>
        </p:nvSpPr>
        <p:spPr>
          <a:xfrm>
            <a:off x="866775" y="2743200"/>
            <a:ext cx="10981372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9F1239"/>
                </a:solidFill>
                <a:latin typeface="Inter"/>
                <a:ea typeface="Inter"/>
                <a:cs typeface="Inter"/>
                <a:sym typeface="Inter"/>
              </a:rPr>
              <a:t>Ejemplo Mejorado (Filtros):</a:t>
            </a:r>
            <a:endParaRPr sz="1800"/>
          </a:p>
        </p:txBody>
      </p:sp>
      <p:sp>
        <p:nvSpPr>
          <p:cNvPr id="232" name="Google Shape;232;p20"/>
          <p:cNvSpPr txBox="1"/>
          <p:nvPr/>
        </p:nvSpPr>
        <p:spPr>
          <a:xfrm>
            <a:off x="866775" y="3067050"/>
            <a:ext cx="1045845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Si buscas ('Smartphones') Y ('Smartphones' O 'Cargadores'), la condición 'Cargadores' es irrelevante. El resultado final siempre será solo 'Smartphones'. La condición más específica absorbe a la más general.</a:t>
            </a:r>
            <a:endParaRPr sz="18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>
          <a:extLst>
            <a:ext uri="{FF2B5EF4-FFF2-40B4-BE49-F238E27FC236}">
              <a16:creationId xmlns:a16="http://schemas.microsoft.com/office/drawing/2014/main" id="{210BC131-B212-D277-5089-3406BB5F5B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1" name="Google Shape;221;p20" descr="image.png">
            <a:extLst>
              <a:ext uri="{FF2B5EF4-FFF2-40B4-BE49-F238E27FC236}">
                <a16:creationId xmlns:a16="http://schemas.microsoft.com/office/drawing/2014/main" id="{3A0D450F-F169-810B-6085-B8DEB312DCB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3" name="Google Shape;223;p20" descr="image.png">
            <a:extLst>
              <a:ext uri="{FF2B5EF4-FFF2-40B4-BE49-F238E27FC236}">
                <a16:creationId xmlns:a16="http://schemas.microsoft.com/office/drawing/2014/main" id="{A6EEB4E2-64D2-87DC-1EED-60B69416AC4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6750" y="1797621"/>
            <a:ext cx="10858500" cy="3262758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20">
            <a:extLst>
              <a:ext uri="{FF2B5EF4-FFF2-40B4-BE49-F238E27FC236}">
                <a16:creationId xmlns:a16="http://schemas.microsoft.com/office/drawing/2014/main" id="{A1E94FDC-40DE-DBB6-49D3-EE06F05E84A5}"/>
              </a:ext>
            </a:extLst>
          </p:cNvPr>
          <p:cNvSpPr txBox="1"/>
          <p:nvPr/>
        </p:nvSpPr>
        <p:spPr>
          <a:xfrm>
            <a:off x="1114425" y="476250"/>
            <a:ext cx="10931366" cy="447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 dirty="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4. </a:t>
            </a:r>
            <a:r>
              <a:rPr lang="en-US" sz="2850" b="1" i="0" u="none" strike="noStrike" cap="none" dirty="0" err="1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Propiedad</a:t>
            </a:r>
            <a:r>
              <a:rPr lang="en-US" sz="2850" b="1" i="0" u="none" strike="noStrike" cap="none" dirty="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 de </a:t>
            </a:r>
            <a:r>
              <a:rPr lang="en-US" sz="2850" b="1" i="0" u="none" strike="noStrike" cap="none" dirty="0" err="1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Absorción</a:t>
            </a:r>
            <a:endParaRPr dirty="0"/>
          </a:p>
        </p:txBody>
      </p:sp>
      <p:sp>
        <p:nvSpPr>
          <p:cNvPr id="227" name="Google Shape;227;p20">
            <a:extLst>
              <a:ext uri="{FF2B5EF4-FFF2-40B4-BE49-F238E27FC236}">
                <a16:creationId xmlns:a16="http://schemas.microsoft.com/office/drawing/2014/main" id="{EF896260-EC71-78C2-3D54-9B554FE85F76}"/>
              </a:ext>
            </a:extLst>
          </p:cNvPr>
          <p:cNvSpPr/>
          <p:nvPr/>
        </p:nvSpPr>
        <p:spPr>
          <a:xfrm>
            <a:off x="666750" y="1057275"/>
            <a:ext cx="108585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20">
            <a:extLst>
              <a:ext uri="{FF2B5EF4-FFF2-40B4-BE49-F238E27FC236}">
                <a16:creationId xmlns:a16="http://schemas.microsoft.com/office/drawing/2014/main" id="{0F1B6215-C1B3-1034-E88A-308043277BE6}"/>
              </a:ext>
            </a:extLst>
          </p:cNvPr>
          <p:cNvSpPr txBox="1"/>
          <p:nvPr/>
        </p:nvSpPr>
        <p:spPr>
          <a:xfrm>
            <a:off x="914400" y="1473771"/>
            <a:ext cx="1061085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F46E5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Verificación Matemática (Ejercicio)</a:t>
            </a:r>
            <a:endParaRPr/>
          </a:p>
        </p:txBody>
      </p:sp>
      <p:pic>
        <p:nvPicPr>
          <p:cNvPr id="230" name="Google Shape;230;p20" descr="image.png">
            <a:extLst>
              <a:ext uri="{FF2B5EF4-FFF2-40B4-BE49-F238E27FC236}">
                <a16:creationId xmlns:a16="http://schemas.microsoft.com/office/drawing/2014/main" id="{59A9A73C-B0FB-25AB-DE0A-ADE8B2621182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66750" y="542925"/>
            <a:ext cx="3048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3" name="Google Shape;233;p20" descr="image.png">
            <a:extLst>
              <a:ext uri="{FF2B5EF4-FFF2-40B4-BE49-F238E27FC236}">
                <a16:creationId xmlns:a16="http://schemas.microsoft.com/office/drawing/2014/main" id="{CF4F5F35-86A3-849B-107A-D2D145693EE8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66750" y="1511871"/>
            <a:ext cx="1524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20">
            <a:extLst>
              <a:ext uri="{FF2B5EF4-FFF2-40B4-BE49-F238E27FC236}">
                <a16:creationId xmlns:a16="http://schemas.microsoft.com/office/drawing/2014/main" id="{01F145DC-E9B5-9890-F830-EB977E0485D6}"/>
              </a:ext>
            </a:extLst>
          </p:cNvPr>
          <p:cNvSpPr txBox="1"/>
          <p:nvPr/>
        </p:nvSpPr>
        <p:spPr>
          <a:xfrm>
            <a:off x="819150" y="1957875"/>
            <a:ext cx="857250" cy="332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 dirty="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Dados:</a:t>
            </a:r>
            <a:endParaRPr dirty="0"/>
          </a:p>
        </p:txBody>
      </p:sp>
      <p:sp>
        <p:nvSpPr>
          <p:cNvPr id="235" name="Google Shape;235;p20">
            <a:extLst>
              <a:ext uri="{FF2B5EF4-FFF2-40B4-BE49-F238E27FC236}">
                <a16:creationId xmlns:a16="http://schemas.microsoft.com/office/drawing/2014/main" id="{AD9258A7-54FB-A43F-B7EF-8A724C2C964C}"/>
              </a:ext>
            </a:extLst>
          </p:cNvPr>
          <p:cNvSpPr txBox="1"/>
          <p:nvPr/>
        </p:nvSpPr>
        <p:spPr>
          <a:xfrm>
            <a:off x="819150" y="2509309"/>
            <a:ext cx="1962150" cy="332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 dirty="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Ley 1: A U (A ∩ B) = A</a:t>
            </a:r>
            <a:endParaRPr dirty="0"/>
          </a:p>
        </p:txBody>
      </p:sp>
      <p:sp>
        <p:nvSpPr>
          <p:cNvPr id="236" name="Google Shape;236;p20">
            <a:extLst>
              <a:ext uri="{FF2B5EF4-FFF2-40B4-BE49-F238E27FC236}">
                <a16:creationId xmlns:a16="http://schemas.microsoft.com/office/drawing/2014/main" id="{A56C0658-062F-FA63-318E-F30DBE4CC122}"/>
              </a:ext>
            </a:extLst>
          </p:cNvPr>
          <p:cNvSpPr txBox="1"/>
          <p:nvPr/>
        </p:nvSpPr>
        <p:spPr>
          <a:xfrm>
            <a:off x="914400" y="3372817"/>
            <a:ext cx="10363200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16A34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✓ El resultado es igual a A.</a:t>
            </a:r>
            <a:endParaRPr/>
          </a:p>
        </p:txBody>
      </p:sp>
      <p:sp>
        <p:nvSpPr>
          <p:cNvPr id="237" name="Google Shape;237;p20">
            <a:extLst>
              <a:ext uri="{FF2B5EF4-FFF2-40B4-BE49-F238E27FC236}">
                <a16:creationId xmlns:a16="http://schemas.microsoft.com/office/drawing/2014/main" id="{634F01C8-F3CF-4666-FDD6-8668DF49E1BB}"/>
              </a:ext>
            </a:extLst>
          </p:cNvPr>
          <p:cNvSpPr txBox="1"/>
          <p:nvPr/>
        </p:nvSpPr>
        <p:spPr>
          <a:xfrm>
            <a:off x="914400" y="3788048"/>
            <a:ext cx="2171700" cy="332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 dirty="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Ley 2: A ∩ (A U B) = A</a:t>
            </a:r>
            <a:endParaRPr dirty="0"/>
          </a:p>
        </p:txBody>
      </p:sp>
      <p:sp>
        <p:nvSpPr>
          <p:cNvPr id="238" name="Google Shape;238;p20">
            <a:extLst>
              <a:ext uri="{FF2B5EF4-FFF2-40B4-BE49-F238E27FC236}">
                <a16:creationId xmlns:a16="http://schemas.microsoft.com/office/drawing/2014/main" id="{9E627000-22D2-1C1F-F48B-4C56AA90DEC0}"/>
              </a:ext>
            </a:extLst>
          </p:cNvPr>
          <p:cNvSpPr txBox="1"/>
          <p:nvPr/>
        </p:nvSpPr>
        <p:spPr>
          <a:xfrm>
            <a:off x="914400" y="4568949"/>
            <a:ext cx="1036320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16A34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✓ El resultado es igual a A.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8569208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1626840"/>
            <a:ext cx="11049000" cy="504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2274540"/>
            <a:ext cx="11049000" cy="504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922240"/>
            <a:ext cx="11049000" cy="1518195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1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4926210"/>
            <a:ext cx="11049000" cy="1518195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3"/>
          <p:cNvSpPr txBox="1"/>
          <p:nvPr/>
        </p:nvSpPr>
        <p:spPr>
          <a:xfrm>
            <a:off x="1019175" y="381000"/>
            <a:ext cx="11131391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none" strike="noStrike" cap="none" dirty="0">
                <a:solidFill>
                  <a:srgbClr val="1E293B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5. </a:t>
            </a:r>
            <a:r>
              <a:rPr lang="en-US" sz="2550" b="1" i="0" u="none" strike="noStrike" cap="none" dirty="0" err="1">
                <a:solidFill>
                  <a:srgbClr val="1E293B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Propiedad</a:t>
            </a:r>
            <a:r>
              <a:rPr lang="en-US" sz="2550" b="1" i="0" u="none" strike="noStrike" cap="none" dirty="0">
                <a:solidFill>
                  <a:srgbClr val="1E293B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 </a:t>
            </a:r>
            <a:r>
              <a:rPr lang="en-US" sz="2550" b="1" i="0" u="none" strike="noStrike" cap="none" dirty="0" err="1">
                <a:solidFill>
                  <a:srgbClr val="1E293B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Distributiva</a:t>
            </a:r>
            <a:endParaRPr dirty="0"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89" name="Google Shape;89;p13"/>
          <p:cNvSpPr/>
          <p:nvPr/>
        </p:nvSpPr>
        <p:spPr>
          <a:xfrm>
            <a:off x="571500" y="914400"/>
            <a:ext cx="110490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Inter" panose="020B0604020202020204" charset="0"/>
              <a:ea typeface="Inter" panose="020B0604020202020204" charset="0"/>
              <a:cs typeface="Calibri"/>
              <a:sym typeface="Calibri"/>
            </a:endParaRPr>
          </a:p>
        </p:txBody>
      </p:sp>
      <p:sp>
        <p:nvSpPr>
          <p:cNvPr id="90" name="Google Shape;90;p13"/>
          <p:cNvSpPr txBox="1"/>
          <p:nvPr/>
        </p:nvSpPr>
        <p:spPr>
          <a:xfrm>
            <a:off x="571500" y="1162050"/>
            <a:ext cx="11049000" cy="332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Permite "distribuir" una operación sobre otra dentro de un paréntesis.</a:t>
            </a:r>
            <a:endParaRPr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91" name="Google Shape;91;p13"/>
          <p:cNvSpPr txBox="1"/>
          <p:nvPr/>
        </p:nvSpPr>
        <p:spPr>
          <a:xfrm>
            <a:off x="819150" y="4627073"/>
            <a:ext cx="10801350" cy="207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F46E5"/>
                </a:solidFill>
                <a:latin typeface="Inter" panose="020B0604020202020204" charset="0"/>
                <a:ea typeface="Inter" panose="020B0604020202020204" charset="0"/>
                <a:cs typeface="Inter SemiBold"/>
                <a:sym typeface="Inter SemiBold"/>
              </a:rPr>
              <a:t>Verificación Matemática (Ejercicio)</a:t>
            </a:r>
            <a:endParaRPr>
              <a:latin typeface="Inter" panose="020B0604020202020204" charset="0"/>
              <a:ea typeface="Inter" panose="020B0604020202020204" charset="0"/>
            </a:endParaRPr>
          </a:p>
        </p:txBody>
      </p:sp>
      <p:pic>
        <p:nvPicPr>
          <p:cNvPr id="92" name="Google Shape;92;p1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442912"/>
            <a:ext cx="3048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3"/>
          <p:cNvSpPr txBox="1"/>
          <p:nvPr/>
        </p:nvSpPr>
        <p:spPr>
          <a:xfrm>
            <a:off x="762000" y="1779240"/>
            <a:ext cx="571500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334155"/>
                </a:solidFill>
                <a:latin typeface="Inter" panose="020B0604020202020204" charset="0"/>
                <a:ea typeface="Inter" panose="020B0604020202020204" charset="0"/>
                <a:cs typeface="JetBrains Mono"/>
                <a:sym typeface="JetBrains Mono"/>
              </a:rPr>
              <a:t>Ley 1:</a:t>
            </a:r>
            <a:endParaRPr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94" name="Google Shape;94;p13"/>
          <p:cNvSpPr txBox="1"/>
          <p:nvPr/>
        </p:nvSpPr>
        <p:spPr>
          <a:xfrm>
            <a:off x="762000" y="2426940"/>
            <a:ext cx="571500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334155"/>
                </a:solidFill>
                <a:latin typeface="Inter" panose="020B0604020202020204" charset="0"/>
                <a:ea typeface="Inter" panose="020B0604020202020204" charset="0"/>
                <a:cs typeface="JetBrains Mono"/>
                <a:sym typeface="JetBrains Mono"/>
              </a:rPr>
              <a:t>Ley 2:</a:t>
            </a:r>
            <a:endParaRPr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95" name="Google Shape;95;p13"/>
          <p:cNvSpPr txBox="1"/>
          <p:nvPr/>
        </p:nvSpPr>
        <p:spPr>
          <a:xfrm>
            <a:off x="771525" y="3122265"/>
            <a:ext cx="11181397" cy="207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166534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Ejemplo Mejorado (Recomendaciones):</a:t>
            </a:r>
            <a:endParaRPr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96" name="Google Shape;96;p13"/>
          <p:cNvSpPr txBox="1"/>
          <p:nvPr/>
        </p:nvSpPr>
        <p:spPr>
          <a:xfrm>
            <a:off x="771525" y="3417540"/>
            <a:ext cx="10648950" cy="9971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Para recomendar un producto a clientes que compraron `(Computadoras) Y (Impresoras O Escáneres)`, el sistema puede buscar dos grupos por separado: `(Clientes de Computadoras Y Impresoras)` unidos a los `(Clientes de Computadoras Y Escáneres)`. El resultado es el mismo.</a:t>
            </a:r>
            <a:endParaRPr>
              <a:latin typeface="Inter" panose="020B0604020202020204" charset="0"/>
              <a:ea typeface="Inter" panose="020B0604020202020204" charset="0"/>
            </a:endParaRPr>
          </a:p>
        </p:txBody>
      </p:sp>
      <p:pic>
        <p:nvPicPr>
          <p:cNvPr id="97" name="Google Shape;97;p13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500" y="4654748"/>
            <a:ext cx="1524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3"/>
          <p:cNvSpPr txBox="1"/>
          <p:nvPr/>
        </p:nvSpPr>
        <p:spPr>
          <a:xfrm>
            <a:off x="771525" y="5074549"/>
            <a:ext cx="802442" cy="2954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 dirty="0">
                <a:solidFill>
                  <a:srgbClr val="1E293B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Dados:</a:t>
            </a:r>
            <a:endParaRPr dirty="0"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99" name="Google Shape;99;p13"/>
          <p:cNvSpPr txBox="1"/>
          <p:nvPr/>
        </p:nvSpPr>
        <p:spPr>
          <a:xfrm>
            <a:off x="771525" y="5540281"/>
            <a:ext cx="2730549" cy="2954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 dirty="0">
                <a:solidFill>
                  <a:srgbClr val="1E293B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Ley 1: A ∩ (B ∪ C) = (A ∩ B) ∪ (A ∩ C)</a:t>
            </a:r>
            <a:endParaRPr dirty="0"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101" name="Google Shape;101;p13"/>
          <p:cNvSpPr txBox="1"/>
          <p:nvPr/>
        </p:nvSpPr>
        <p:spPr>
          <a:xfrm>
            <a:off x="5229875" y="5083427"/>
            <a:ext cx="2772816" cy="2954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 dirty="0">
                <a:solidFill>
                  <a:srgbClr val="1E293B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Ley 2: A ∪ (B ∩ C) = (A ∪ B) ∩ (A ∪ C)</a:t>
            </a:r>
            <a:endParaRPr dirty="0">
              <a:latin typeface="Inter" panose="020B0604020202020204" charset="0"/>
              <a:ea typeface="Inter" panose="020B0604020202020204" charset="0"/>
            </a:endParaRPr>
          </a:p>
        </p:txBody>
      </p:sp>
      <p:pic>
        <p:nvPicPr>
          <p:cNvPr id="103" name="Google Shape;103;p13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428750" y="1807815"/>
            <a:ext cx="3069133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13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428750" y="2455515"/>
            <a:ext cx="3088183" cy="18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Google Shape;109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1626840"/>
            <a:ext cx="11049000" cy="504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2274540"/>
            <a:ext cx="11049000" cy="504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922240"/>
            <a:ext cx="11049000" cy="124390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4651920"/>
            <a:ext cx="11049000" cy="1825079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4"/>
          <p:cNvSpPr txBox="1"/>
          <p:nvPr/>
        </p:nvSpPr>
        <p:spPr>
          <a:xfrm>
            <a:off x="1019175" y="381000"/>
            <a:ext cx="11131391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none" strike="noStrike" cap="none" dirty="0">
                <a:solidFill>
                  <a:srgbClr val="1E293B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6. Leyes de </a:t>
            </a:r>
            <a:r>
              <a:rPr lang="en-US" sz="2550" b="1" i="0" u="none" strike="noStrike" cap="none" dirty="0" err="1">
                <a:solidFill>
                  <a:srgbClr val="1E293B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De</a:t>
            </a:r>
            <a:r>
              <a:rPr lang="en-US" sz="2550" b="1" i="0" u="none" strike="noStrike" cap="none" dirty="0">
                <a:solidFill>
                  <a:srgbClr val="1E293B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 Morgan</a:t>
            </a:r>
            <a:endParaRPr dirty="0"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114" name="Google Shape;114;p14"/>
          <p:cNvSpPr/>
          <p:nvPr/>
        </p:nvSpPr>
        <p:spPr>
          <a:xfrm>
            <a:off x="571500" y="914400"/>
            <a:ext cx="110490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Inter" panose="020B0604020202020204" charset="0"/>
              <a:ea typeface="Inter" panose="020B0604020202020204" charset="0"/>
              <a:cs typeface="Calibri"/>
              <a:sym typeface="Calibri"/>
            </a:endParaRPr>
          </a:p>
        </p:txBody>
      </p:sp>
      <p:sp>
        <p:nvSpPr>
          <p:cNvPr id="115" name="Google Shape;115;p14"/>
          <p:cNvSpPr txBox="1"/>
          <p:nvPr/>
        </p:nvSpPr>
        <p:spPr>
          <a:xfrm>
            <a:off x="571500" y="1162050"/>
            <a:ext cx="11049000" cy="332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Relacionan la unión, intersección y el complemento de conjuntos.</a:t>
            </a:r>
            <a:endParaRPr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116" name="Google Shape;116;p14"/>
          <p:cNvSpPr txBox="1"/>
          <p:nvPr/>
        </p:nvSpPr>
        <p:spPr>
          <a:xfrm>
            <a:off x="819150" y="4352783"/>
            <a:ext cx="10801350" cy="207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F46E5"/>
                </a:solidFill>
                <a:latin typeface="Inter" panose="020B0604020202020204" charset="0"/>
                <a:ea typeface="Inter" panose="020B0604020202020204" charset="0"/>
                <a:cs typeface="Inter SemiBold"/>
                <a:sym typeface="Inter SemiBold"/>
              </a:rPr>
              <a:t>Verificación Matemática (Ejercicio)</a:t>
            </a:r>
            <a:endParaRPr>
              <a:latin typeface="Inter" panose="020B0604020202020204" charset="0"/>
              <a:ea typeface="Inter" panose="020B0604020202020204" charset="0"/>
            </a:endParaRPr>
          </a:p>
        </p:txBody>
      </p:sp>
      <p:pic>
        <p:nvPicPr>
          <p:cNvPr id="117" name="Google Shape;117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442912"/>
            <a:ext cx="3048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4"/>
          <p:cNvSpPr txBox="1"/>
          <p:nvPr/>
        </p:nvSpPr>
        <p:spPr>
          <a:xfrm>
            <a:off x="762000" y="1779240"/>
            <a:ext cx="571500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334155"/>
                </a:solidFill>
                <a:latin typeface="Inter" panose="020B0604020202020204" charset="0"/>
                <a:ea typeface="Inter" panose="020B0604020202020204" charset="0"/>
                <a:cs typeface="JetBrains Mono"/>
                <a:sym typeface="JetBrains Mono"/>
              </a:rPr>
              <a:t>Ley 1:</a:t>
            </a:r>
            <a:endParaRPr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119" name="Google Shape;119;p14"/>
          <p:cNvSpPr txBox="1"/>
          <p:nvPr/>
        </p:nvSpPr>
        <p:spPr>
          <a:xfrm>
            <a:off x="762000" y="2426940"/>
            <a:ext cx="571500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334155"/>
                </a:solidFill>
                <a:latin typeface="Inter" panose="020B0604020202020204" charset="0"/>
                <a:ea typeface="Inter" panose="020B0604020202020204" charset="0"/>
                <a:cs typeface="JetBrains Mono"/>
                <a:sym typeface="JetBrains Mono"/>
              </a:rPr>
              <a:t>Ley 2:</a:t>
            </a:r>
            <a:endParaRPr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120" name="Google Shape;120;p14"/>
          <p:cNvSpPr txBox="1"/>
          <p:nvPr/>
        </p:nvSpPr>
        <p:spPr>
          <a:xfrm>
            <a:off x="771525" y="3122265"/>
            <a:ext cx="11181397" cy="207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1E293B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Ejemplo Mejorado (Circuitos Lógicos):</a:t>
            </a:r>
            <a:endParaRPr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121" name="Google Shape;121;p14"/>
          <p:cNvSpPr txBox="1"/>
          <p:nvPr/>
        </p:nvSpPr>
        <p:spPr>
          <a:xfrm>
            <a:off x="771525" y="3417540"/>
            <a:ext cx="10648950" cy="664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Una alarma que se activa si `NO (se presiona el botón A O se activa el sensor B)` es lógicamente igual a una que se activa si `(NO se presiona el botón A) Y (NO se activa el sensor B)`. Esto permite simplificar el diseño de circuitos.</a:t>
            </a:r>
            <a:endParaRPr>
              <a:latin typeface="Inter" panose="020B0604020202020204" charset="0"/>
              <a:ea typeface="Inter" panose="020B0604020202020204" charset="0"/>
            </a:endParaRPr>
          </a:p>
        </p:txBody>
      </p:sp>
      <p:pic>
        <p:nvPicPr>
          <p:cNvPr id="122" name="Google Shape;122;p1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500" y="4380458"/>
            <a:ext cx="1524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4"/>
          <p:cNvSpPr txBox="1"/>
          <p:nvPr/>
        </p:nvSpPr>
        <p:spPr>
          <a:xfrm>
            <a:off x="738187" y="4793749"/>
            <a:ext cx="561975" cy="2954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 dirty="0">
                <a:solidFill>
                  <a:srgbClr val="1E293B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Dados:</a:t>
            </a:r>
            <a:endParaRPr dirty="0"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124" name="Google Shape;124;p14"/>
          <p:cNvSpPr txBox="1"/>
          <p:nvPr/>
        </p:nvSpPr>
        <p:spPr>
          <a:xfrm>
            <a:off x="771525" y="5279524"/>
            <a:ext cx="1786532" cy="2954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 dirty="0">
                <a:solidFill>
                  <a:srgbClr val="1E293B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Ley 1: (A ∪ B)ᶜ = Aᶜ ∩ Bᶜ</a:t>
            </a:r>
            <a:endParaRPr dirty="0"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126" name="Google Shape;126;p14"/>
          <p:cNvSpPr txBox="1"/>
          <p:nvPr/>
        </p:nvSpPr>
        <p:spPr>
          <a:xfrm>
            <a:off x="5886450" y="4810097"/>
            <a:ext cx="1815107" cy="2954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1E293B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Ley 2: (A ∩ B)ᶜ = Aᶜ ∪ Bᶜ</a:t>
            </a:r>
            <a:endParaRPr>
              <a:latin typeface="Inter" panose="020B0604020202020204" charset="0"/>
              <a:ea typeface="Inter" panose="020B0604020202020204" charset="0"/>
            </a:endParaRPr>
          </a:p>
        </p:txBody>
      </p:sp>
      <p:pic>
        <p:nvPicPr>
          <p:cNvPr id="128" name="Google Shape;128;p14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428750" y="1789955"/>
            <a:ext cx="1678334" cy="19883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14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428750" y="2437655"/>
            <a:ext cx="1678334" cy="1988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" name="Google Shape;134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2305050"/>
            <a:ext cx="11049000" cy="124390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4034730"/>
            <a:ext cx="11049000" cy="244226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1162050"/>
            <a:ext cx="3555950" cy="95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317950" y="1162050"/>
            <a:ext cx="3555950" cy="95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064400" y="1162050"/>
            <a:ext cx="3555950" cy="952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15"/>
          <p:cNvSpPr txBox="1"/>
          <p:nvPr/>
        </p:nvSpPr>
        <p:spPr>
          <a:xfrm>
            <a:off x="981075" y="381000"/>
            <a:ext cx="11171396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dirty="0">
                <a:solidFill>
                  <a:srgbClr val="1E293B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9</a:t>
            </a:r>
            <a:r>
              <a:rPr lang="en-US" sz="2550" b="1" i="0" u="none" strike="noStrike" cap="none" dirty="0">
                <a:solidFill>
                  <a:srgbClr val="1E293B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. Identidad, </a:t>
            </a:r>
            <a:r>
              <a:rPr lang="en-US" sz="2550" b="1" i="0" u="none" strike="noStrike" cap="none" dirty="0" err="1">
                <a:solidFill>
                  <a:srgbClr val="1E293B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Dominación</a:t>
            </a:r>
            <a:r>
              <a:rPr lang="en-US" sz="2550" b="1" i="0" u="none" strike="noStrike" cap="none" dirty="0">
                <a:solidFill>
                  <a:srgbClr val="1E293B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 y </a:t>
            </a:r>
            <a:r>
              <a:rPr lang="en-US" sz="2550" b="1" i="0" u="none" strike="noStrike" cap="none" dirty="0" err="1">
                <a:solidFill>
                  <a:srgbClr val="1E293B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Complemento</a:t>
            </a:r>
            <a:endParaRPr dirty="0"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140" name="Google Shape;140;p15"/>
          <p:cNvSpPr/>
          <p:nvPr/>
        </p:nvSpPr>
        <p:spPr>
          <a:xfrm>
            <a:off x="571500" y="914400"/>
            <a:ext cx="110490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Inter" panose="020B0604020202020204" charset="0"/>
              <a:ea typeface="Inter" panose="020B0604020202020204" charset="0"/>
              <a:cs typeface="Calibri"/>
              <a:sym typeface="Calibri"/>
            </a:endParaRPr>
          </a:p>
        </p:txBody>
      </p:sp>
      <p:sp>
        <p:nvSpPr>
          <p:cNvPr id="141" name="Google Shape;141;p15"/>
          <p:cNvSpPr txBox="1"/>
          <p:nvPr/>
        </p:nvSpPr>
        <p:spPr>
          <a:xfrm>
            <a:off x="819150" y="3735593"/>
            <a:ext cx="10801350" cy="207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F46E5"/>
                </a:solidFill>
                <a:latin typeface="Inter" panose="020B0604020202020204" charset="0"/>
                <a:ea typeface="Inter" panose="020B0604020202020204" charset="0"/>
                <a:cs typeface="Inter SemiBold"/>
                <a:sym typeface="Inter SemiBold"/>
              </a:rPr>
              <a:t>Verificación Matemática (Ejercicio)</a:t>
            </a:r>
            <a:endParaRPr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143" name="Google Shape;143;p15"/>
          <p:cNvSpPr txBox="1"/>
          <p:nvPr/>
        </p:nvSpPr>
        <p:spPr>
          <a:xfrm>
            <a:off x="771525" y="2505075"/>
            <a:ext cx="11181397" cy="207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1E293B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Ejemplo Mejorado (Gestión de Usuarios):</a:t>
            </a:r>
            <a:endParaRPr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144" name="Google Shape;144;p15"/>
          <p:cNvSpPr txBox="1"/>
          <p:nvPr/>
        </p:nvSpPr>
        <p:spPr>
          <a:xfrm>
            <a:off x="771525" y="2800350"/>
            <a:ext cx="10648950" cy="664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334155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Si `A` son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los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 '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usuarios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activos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' y `Aᶜ`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los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 '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inactivos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', la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unión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 `A U Aᶜ`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representa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 a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todos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los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usuarios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 del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sistema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 (`U`), y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su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intersección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 `A ∩ Aᶜ` es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vacía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,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porque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 un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usuario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 no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puede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 ser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activo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 e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inactivo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 a la </a:t>
            </a:r>
            <a:r>
              <a:rPr lang="en-US" sz="1350" b="0" i="0" u="none" strike="noStrike" cap="none" dirty="0" err="1">
                <a:solidFill>
                  <a:srgbClr val="334155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vez</a:t>
            </a:r>
            <a:r>
              <a:rPr lang="en-US" sz="1350" b="0" i="0" u="none" strike="noStrike" cap="none" dirty="0">
                <a:solidFill>
                  <a:srgbClr val="334155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.</a:t>
            </a:r>
            <a:endParaRPr dirty="0">
              <a:latin typeface="Inter" panose="020B0604020202020204" charset="0"/>
              <a:ea typeface="Inter" panose="020B0604020202020204" charset="0"/>
            </a:endParaRPr>
          </a:p>
        </p:txBody>
      </p:sp>
      <p:pic>
        <p:nvPicPr>
          <p:cNvPr id="145" name="Google Shape;145;p1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71500" y="3763267"/>
            <a:ext cx="1524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5"/>
          <p:cNvSpPr txBox="1"/>
          <p:nvPr/>
        </p:nvSpPr>
        <p:spPr>
          <a:xfrm>
            <a:off x="723900" y="4179158"/>
            <a:ext cx="685800" cy="2954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 dirty="0">
                <a:solidFill>
                  <a:srgbClr val="1E293B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Dados:</a:t>
            </a:r>
            <a:endParaRPr dirty="0"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147" name="Google Shape;147;p15"/>
          <p:cNvSpPr txBox="1"/>
          <p:nvPr/>
        </p:nvSpPr>
        <p:spPr>
          <a:xfrm>
            <a:off x="771525" y="4664933"/>
            <a:ext cx="685800" cy="5909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 dirty="0" err="1">
                <a:solidFill>
                  <a:srgbClr val="1E293B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Cálculos</a:t>
            </a:r>
            <a:r>
              <a:rPr lang="en-US" sz="1200" b="1" i="0" u="none" strike="noStrike" cap="none" dirty="0">
                <a:solidFill>
                  <a:srgbClr val="1E293B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:</a:t>
            </a:r>
            <a:endParaRPr dirty="0"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149" name="Google Shape;149;p15"/>
          <p:cNvSpPr txBox="1"/>
          <p:nvPr/>
        </p:nvSpPr>
        <p:spPr>
          <a:xfrm>
            <a:off x="771525" y="1362075"/>
            <a:ext cx="3313695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369A1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Leyes de Identidad</a:t>
            </a:r>
            <a:endParaRPr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150" name="Google Shape;150;p15"/>
          <p:cNvSpPr txBox="1"/>
          <p:nvPr/>
        </p:nvSpPr>
        <p:spPr>
          <a:xfrm>
            <a:off x="4517975" y="1362075"/>
            <a:ext cx="3313695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BE123C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Leyes de Dominación</a:t>
            </a:r>
            <a:endParaRPr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151" name="Google Shape;151;p15"/>
          <p:cNvSpPr txBox="1"/>
          <p:nvPr/>
        </p:nvSpPr>
        <p:spPr>
          <a:xfrm>
            <a:off x="8264425" y="1362075"/>
            <a:ext cx="3313695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15803D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Leyes del Complemento</a:t>
            </a:r>
            <a:endParaRPr>
              <a:latin typeface="Inter" panose="020B0604020202020204" charset="0"/>
              <a:ea typeface="Inter" panose="020B0604020202020204" charset="0"/>
            </a:endParaRPr>
          </a:p>
        </p:txBody>
      </p:sp>
      <p:pic>
        <p:nvPicPr>
          <p:cNvPr id="152" name="Google Shape;152;p15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771525" y="1743075"/>
            <a:ext cx="858738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15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1735038" y="1743075"/>
            <a:ext cx="782538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15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4517975" y="1743075"/>
            <a:ext cx="801588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15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5424338" y="1743075"/>
            <a:ext cx="896838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15" descr="image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8264425" y="1725215"/>
            <a:ext cx="884187" cy="151209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15" descr="image.png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9253388" y="1725215"/>
            <a:ext cx="922287" cy="1512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6"/>
          <p:cNvSpPr txBox="1"/>
          <p:nvPr/>
        </p:nvSpPr>
        <p:spPr>
          <a:xfrm>
            <a:off x="571500" y="381000"/>
            <a:ext cx="11601450" cy="39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0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Ejercicios Básicos de Operaciones entre Conjuntos</a:t>
            </a:r>
            <a:endParaRPr/>
          </a:p>
        </p:txBody>
      </p:sp>
      <p:sp>
        <p:nvSpPr>
          <p:cNvPr id="163" name="Google Shape;163;p16"/>
          <p:cNvSpPr txBox="1"/>
          <p:nvPr/>
        </p:nvSpPr>
        <p:spPr>
          <a:xfrm>
            <a:off x="571500" y="1009650"/>
            <a:ext cx="11049000" cy="393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Una empresa maneja dos niveles de acceso para sus empleados:</a:t>
            </a:r>
            <a:endParaRPr sz="1800"/>
          </a:p>
        </p:txBody>
      </p:sp>
      <p:sp>
        <p:nvSpPr>
          <p:cNvPr id="164" name="Google Shape;164;p16"/>
          <p:cNvSpPr txBox="1"/>
          <p:nvPr/>
        </p:nvSpPr>
        <p:spPr>
          <a:xfrm>
            <a:off x="571500" y="2773560"/>
            <a:ext cx="11049000" cy="393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Los datos son:</a:t>
            </a:r>
            <a:endParaRPr sz="1800"/>
          </a:p>
        </p:txBody>
      </p:sp>
      <p:sp>
        <p:nvSpPr>
          <p:cNvPr id="165" name="Google Shape;165;p16"/>
          <p:cNvSpPr txBox="1"/>
          <p:nvPr/>
        </p:nvSpPr>
        <p:spPr>
          <a:xfrm>
            <a:off x="800100" y="4477639"/>
            <a:ext cx="10820400" cy="393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Preguntas:</a:t>
            </a:r>
            <a:endParaRPr sz="1800"/>
          </a:p>
        </p:txBody>
      </p:sp>
      <p:sp>
        <p:nvSpPr>
          <p:cNvPr id="166" name="Google Shape;166;p16"/>
          <p:cNvSpPr txBox="1"/>
          <p:nvPr/>
        </p:nvSpPr>
        <p:spPr>
          <a:xfrm>
            <a:off x="952500" y="1366983"/>
            <a:ext cx="10668000" cy="393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= Empleados con acceso a servidores internos.</a:t>
            </a:r>
            <a:endParaRPr sz="1800"/>
          </a:p>
        </p:txBody>
      </p:sp>
      <p:sp>
        <p:nvSpPr>
          <p:cNvPr id="167" name="Google Shape;167;p16"/>
          <p:cNvSpPr txBox="1"/>
          <p:nvPr/>
        </p:nvSpPr>
        <p:spPr>
          <a:xfrm>
            <a:off x="952500" y="1736523"/>
            <a:ext cx="10668000" cy="393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= Empleados con acceso a datos financieros.</a:t>
            </a:r>
            <a:endParaRPr sz="1800"/>
          </a:p>
        </p:txBody>
      </p:sp>
      <p:sp>
        <p:nvSpPr>
          <p:cNvPr id="168" name="Google Shape;168;p16"/>
          <p:cNvSpPr txBox="1"/>
          <p:nvPr/>
        </p:nvSpPr>
        <p:spPr>
          <a:xfrm>
            <a:off x="952500" y="2106063"/>
            <a:ext cx="10668000" cy="393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= Empleados con acceso a información clasificada.</a:t>
            </a:r>
            <a:endParaRPr sz="1800"/>
          </a:p>
        </p:txBody>
      </p:sp>
      <p:sp>
        <p:nvSpPr>
          <p:cNvPr id="170" name="Google Shape;170;p16"/>
          <p:cNvSpPr txBox="1"/>
          <p:nvPr/>
        </p:nvSpPr>
        <p:spPr>
          <a:xfrm>
            <a:off x="647699" y="4953684"/>
            <a:ext cx="343011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1.</a:t>
            </a:r>
            <a:endParaRPr sz="1800"/>
          </a:p>
        </p:txBody>
      </p:sp>
      <p:sp>
        <p:nvSpPr>
          <p:cNvPr id="171" name="Google Shape;171;p16"/>
          <p:cNvSpPr txBox="1"/>
          <p:nvPr/>
        </p:nvSpPr>
        <p:spPr>
          <a:xfrm>
            <a:off x="857250" y="4894805"/>
            <a:ext cx="10763250" cy="393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ctr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¿</a:t>
            </a:r>
            <a:r>
              <a:rPr lang="en-US" sz="160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Cuántos</a:t>
            </a:r>
            <a:r>
              <a:rPr lang="en-US" sz="160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60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empleados</a:t>
            </a:r>
            <a:r>
              <a:rPr lang="en-US" sz="160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60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tienen</a:t>
            </a:r>
            <a:r>
              <a:rPr lang="en-US" sz="160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60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acceso</a:t>
            </a:r>
            <a:r>
              <a:rPr lang="en-US" sz="160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a </a:t>
            </a:r>
            <a:r>
              <a:rPr lang="en-US" sz="160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cualquier</a:t>
            </a:r>
            <a:r>
              <a:rPr lang="en-US" sz="160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60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sistema</a:t>
            </a:r>
            <a:r>
              <a:rPr lang="en-US" sz="160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? →</a:t>
            </a:r>
            <a:endParaRPr sz="1800" dirty="0"/>
          </a:p>
        </p:txBody>
      </p:sp>
      <p:sp>
        <p:nvSpPr>
          <p:cNvPr id="172" name="Google Shape;172;p16"/>
          <p:cNvSpPr txBox="1"/>
          <p:nvPr/>
        </p:nvSpPr>
        <p:spPr>
          <a:xfrm>
            <a:off x="609600" y="5342274"/>
            <a:ext cx="457348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2.</a:t>
            </a:r>
            <a:endParaRPr sz="1800"/>
          </a:p>
        </p:txBody>
      </p:sp>
      <p:sp>
        <p:nvSpPr>
          <p:cNvPr id="173" name="Google Shape;173;p16"/>
          <p:cNvSpPr txBox="1"/>
          <p:nvPr/>
        </p:nvSpPr>
        <p:spPr>
          <a:xfrm>
            <a:off x="857250" y="5283395"/>
            <a:ext cx="10763250" cy="393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2400" tIns="0" rIns="0" bIns="0" anchor="ctr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¿Cuántos empleados tienen acceso a todos los sistemas? →</a:t>
            </a:r>
            <a:endParaRPr sz="1800"/>
          </a:p>
        </p:txBody>
      </p:sp>
      <p:sp>
        <p:nvSpPr>
          <p:cNvPr id="174" name="Google Shape;174;p16"/>
          <p:cNvSpPr txBox="1"/>
          <p:nvPr/>
        </p:nvSpPr>
        <p:spPr>
          <a:xfrm>
            <a:off x="609600" y="5730865"/>
            <a:ext cx="457348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3.</a:t>
            </a:r>
            <a:endParaRPr sz="1800"/>
          </a:p>
        </p:txBody>
      </p:sp>
      <p:sp>
        <p:nvSpPr>
          <p:cNvPr id="175" name="Google Shape;175;p16"/>
          <p:cNvSpPr txBox="1"/>
          <p:nvPr/>
        </p:nvSpPr>
        <p:spPr>
          <a:xfrm>
            <a:off x="857250" y="5731817"/>
            <a:ext cx="10763250" cy="393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24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¿Cuántos empleados tienen acceso a </a:t>
            </a:r>
            <a:r>
              <a:rPr lang="en-US" sz="1600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solo dos</a:t>
            </a:r>
            <a:r>
              <a:rPr lang="en-US" sz="16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de los tres sistemas?</a:t>
            </a:r>
            <a:endParaRPr sz="1800"/>
          </a:p>
        </p:txBody>
      </p:sp>
      <p:sp>
        <p:nvSpPr>
          <p:cNvPr id="176" name="Google Shape;176;p16"/>
          <p:cNvSpPr txBox="1"/>
          <p:nvPr/>
        </p:nvSpPr>
        <p:spPr>
          <a:xfrm>
            <a:off x="609600" y="6119455"/>
            <a:ext cx="457348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4.</a:t>
            </a:r>
            <a:endParaRPr sz="1800"/>
          </a:p>
        </p:txBody>
      </p:sp>
      <p:sp>
        <p:nvSpPr>
          <p:cNvPr id="177" name="Google Shape;177;p16"/>
          <p:cNvSpPr txBox="1"/>
          <p:nvPr/>
        </p:nvSpPr>
        <p:spPr>
          <a:xfrm>
            <a:off x="857250" y="6120407"/>
            <a:ext cx="10763250" cy="393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24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¿Cuántos empleados tienen acceso </a:t>
            </a:r>
            <a:r>
              <a:rPr lang="en-US" sz="1600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solo a un</a:t>
            </a:r>
            <a:r>
              <a:rPr lang="en-US" sz="16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sistema?</a:t>
            </a:r>
            <a:endParaRPr sz="1800"/>
          </a:p>
        </p:txBody>
      </p:sp>
      <p:pic>
        <p:nvPicPr>
          <p:cNvPr id="184" name="Google Shape;184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57348" y="1513351"/>
            <a:ext cx="123825" cy="123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57348" y="1882891"/>
            <a:ext cx="114448" cy="123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57348" y="2252431"/>
            <a:ext cx="114448" cy="123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52500" y="3257401"/>
            <a:ext cx="1651992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1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52500" y="3626941"/>
            <a:ext cx="1642616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16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952500" y="3996481"/>
            <a:ext cx="1642616" cy="15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6" name="Google Shape;196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1996380"/>
            <a:ext cx="11049000" cy="847725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17"/>
          <p:cNvSpPr txBox="1"/>
          <p:nvPr/>
        </p:nvSpPr>
        <p:spPr>
          <a:xfrm>
            <a:off x="1047750" y="381000"/>
            <a:ext cx="11101387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none" strike="noStrike" cap="none" dirty="0">
                <a:solidFill>
                  <a:srgbClr val="1E293B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10. Taller: </a:t>
            </a:r>
            <a:r>
              <a:rPr lang="en-US" sz="2550" b="1" i="0" u="none" strike="noStrike" cap="none" dirty="0" err="1">
                <a:solidFill>
                  <a:srgbClr val="1E293B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Simplificación</a:t>
            </a:r>
            <a:r>
              <a:rPr lang="en-US" sz="2550" b="1" i="0" u="none" strike="noStrike" cap="none" dirty="0">
                <a:solidFill>
                  <a:srgbClr val="1E293B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 </a:t>
            </a:r>
            <a:r>
              <a:rPr lang="en-US" sz="2550" b="1" i="0" u="none" strike="noStrike" cap="none" dirty="0" err="1">
                <a:solidFill>
                  <a:srgbClr val="1E293B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Lógica</a:t>
            </a:r>
            <a:endParaRPr dirty="0"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199" name="Google Shape;199;p17"/>
          <p:cNvSpPr/>
          <p:nvPr/>
        </p:nvSpPr>
        <p:spPr>
          <a:xfrm>
            <a:off x="571500" y="914400"/>
            <a:ext cx="110490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Inter" panose="020B0604020202020204" charset="0"/>
              <a:ea typeface="Inter" panose="020B0604020202020204" charset="0"/>
              <a:cs typeface="Calibri"/>
              <a:sym typeface="Calibri"/>
            </a:endParaRPr>
          </a:p>
        </p:txBody>
      </p:sp>
      <p:sp>
        <p:nvSpPr>
          <p:cNvPr id="200" name="Google Shape;200;p17"/>
          <p:cNvSpPr txBox="1"/>
          <p:nvPr/>
        </p:nvSpPr>
        <p:spPr>
          <a:xfrm>
            <a:off x="571500" y="1162050"/>
            <a:ext cx="11049000" cy="393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334155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Pregunta:</a:t>
            </a:r>
            <a:endParaRPr sz="1800"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201" name="Google Shape;201;p17"/>
          <p:cNvSpPr txBox="1"/>
          <p:nvPr/>
        </p:nvSpPr>
        <p:spPr>
          <a:xfrm>
            <a:off x="571500" y="1531590"/>
            <a:ext cx="11049000" cy="393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334155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Simplifica la siguiente expresión, justificando cada paso con las propiedades de conjuntos:</a:t>
            </a:r>
            <a:endParaRPr sz="1800">
              <a:latin typeface="Inter" panose="020B0604020202020204" charset="0"/>
              <a:ea typeface="Inter" panose="020B0604020202020204" charset="0"/>
            </a:endParaRPr>
          </a:p>
        </p:txBody>
      </p:sp>
      <p:pic>
        <p:nvPicPr>
          <p:cNvPr id="202" name="Google Shape;202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442912"/>
            <a:ext cx="333375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163889" y="2349996"/>
            <a:ext cx="1864072" cy="1893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1" name="Google Shape;211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1626840"/>
            <a:ext cx="11049000" cy="1497210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18"/>
          <p:cNvSpPr txBox="1"/>
          <p:nvPr/>
        </p:nvSpPr>
        <p:spPr>
          <a:xfrm>
            <a:off x="981075" y="381000"/>
            <a:ext cx="11171396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none" strike="noStrike" cap="none" dirty="0">
                <a:solidFill>
                  <a:srgbClr val="1E293B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11. Taller: </a:t>
            </a:r>
            <a:r>
              <a:rPr lang="en-US" sz="2550" b="1" i="0" u="none" strike="noStrike" cap="none" dirty="0" err="1">
                <a:solidFill>
                  <a:srgbClr val="1E293B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Diagrama</a:t>
            </a:r>
            <a:r>
              <a:rPr lang="en-US" sz="2550" b="1" i="0" u="none" strike="noStrike" cap="none" dirty="0">
                <a:solidFill>
                  <a:srgbClr val="1E293B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 de Venn y </a:t>
            </a:r>
            <a:r>
              <a:rPr lang="en-US" sz="2550" b="1" i="0" u="none" strike="noStrike" cap="none" dirty="0" err="1">
                <a:solidFill>
                  <a:srgbClr val="1E293B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Análisis</a:t>
            </a:r>
            <a:endParaRPr dirty="0"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214" name="Google Shape;214;p18"/>
          <p:cNvSpPr/>
          <p:nvPr/>
        </p:nvSpPr>
        <p:spPr>
          <a:xfrm>
            <a:off x="571500" y="914400"/>
            <a:ext cx="110490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chemeClr val="dk1"/>
              </a:solidFill>
              <a:latin typeface="Inter" panose="020B0604020202020204" charset="0"/>
              <a:ea typeface="Inter" panose="020B0604020202020204" charset="0"/>
              <a:cs typeface="Calibri"/>
              <a:sym typeface="Calibri"/>
            </a:endParaRPr>
          </a:p>
        </p:txBody>
      </p:sp>
      <p:sp>
        <p:nvSpPr>
          <p:cNvPr id="215" name="Google Shape;215;p18"/>
          <p:cNvSpPr txBox="1"/>
          <p:nvPr/>
        </p:nvSpPr>
        <p:spPr>
          <a:xfrm>
            <a:off x="571500" y="1162050"/>
            <a:ext cx="11049000" cy="393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334155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Considera los siguientes conjuntos de usuarios de una red social:</a:t>
            </a:r>
            <a:endParaRPr sz="1800"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216" name="Google Shape;216;p18"/>
          <p:cNvSpPr txBox="1"/>
          <p:nvPr/>
        </p:nvSpPr>
        <p:spPr>
          <a:xfrm>
            <a:off x="571500" y="3314551"/>
            <a:ext cx="11049000" cy="393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334155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Tareas:</a:t>
            </a:r>
            <a:endParaRPr sz="1800">
              <a:latin typeface="Inter" panose="020B0604020202020204" charset="0"/>
              <a:ea typeface="Inter" panose="020B0604020202020204" charset="0"/>
            </a:endParaRPr>
          </a:p>
        </p:txBody>
      </p:sp>
      <p:pic>
        <p:nvPicPr>
          <p:cNvPr id="217" name="Google Shape;217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442912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18"/>
          <p:cNvSpPr txBox="1"/>
          <p:nvPr/>
        </p:nvSpPr>
        <p:spPr>
          <a:xfrm>
            <a:off x="742950" y="1680085"/>
            <a:ext cx="95250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1E293B"/>
                </a:solidFill>
                <a:latin typeface="Inter" panose="020B0604020202020204" charset="0"/>
                <a:ea typeface="Inter" panose="020B0604020202020204" charset="0"/>
                <a:cs typeface="JetBrains Mono"/>
                <a:sym typeface="JetBrains Mono"/>
              </a:rPr>
              <a:t>U</a:t>
            </a:r>
            <a:endParaRPr sz="1800"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219" name="Google Shape;219;p18"/>
          <p:cNvSpPr txBox="1"/>
          <p:nvPr/>
        </p:nvSpPr>
        <p:spPr>
          <a:xfrm>
            <a:off x="742950" y="1954375"/>
            <a:ext cx="95250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1E293B"/>
                </a:solidFill>
                <a:latin typeface="Inter" panose="020B0604020202020204" charset="0"/>
                <a:ea typeface="Inter" panose="020B0604020202020204" charset="0"/>
                <a:cs typeface="JetBrains Mono"/>
                <a:sym typeface="JetBrains Mono"/>
              </a:rPr>
              <a:t>A</a:t>
            </a:r>
            <a:endParaRPr sz="1800"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220" name="Google Shape;220;p18"/>
          <p:cNvSpPr txBox="1"/>
          <p:nvPr/>
        </p:nvSpPr>
        <p:spPr>
          <a:xfrm>
            <a:off x="742950" y="2228665"/>
            <a:ext cx="95250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1E293B"/>
                </a:solidFill>
                <a:latin typeface="Inter" panose="020B0604020202020204" charset="0"/>
                <a:ea typeface="Inter" panose="020B0604020202020204" charset="0"/>
                <a:cs typeface="JetBrains Mono"/>
                <a:sym typeface="JetBrains Mono"/>
              </a:rPr>
              <a:t>B</a:t>
            </a:r>
            <a:endParaRPr sz="1800"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221" name="Google Shape;221;p18"/>
          <p:cNvSpPr txBox="1"/>
          <p:nvPr/>
        </p:nvSpPr>
        <p:spPr>
          <a:xfrm>
            <a:off x="742950" y="2502955"/>
            <a:ext cx="95250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1E293B"/>
                </a:solidFill>
                <a:latin typeface="Inter" panose="020B0604020202020204" charset="0"/>
                <a:ea typeface="Inter" panose="020B0604020202020204" charset="0"/>
                <a:cs typeface="JetBrains Mono"/>
                <a:sym typeface="JetBrains Mono"/>
              </a:rPr>
              <a:t>C</a:t>
            </a:r>
            <a:endParaRPr sz="1800"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222" name="Google Shape;222;p18"/>
          <p:cNvSpPr txBox="1"/>
          <p:nvPr/>
        </p:nvSpPr>
        <p:spPr>
          <a:xfrm>
            <a:off x="647700" y="3683138"/>
            <a:ext cx="114300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334155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1.</a:t>
            </a:r>
            <a:endParaRPr sz="1800"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223" name="Google Shape;223;p18"/>
          <p:cNvSpPr txBox="1"/>
          <p:nvPr/>
        </p:nvSpPr>
        <p:spPr>
          <a:xfrm>
            <a:off x="857250" y="3684091"/>
            <a:ext cx="10763250" cy="393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334155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Dibuja el Diagrama de Venn</a:t>
            </a:r>
            <a:r>
              <a:rPr lang="en-US" sz="1600" b="0" i="0" u="none" strike="noStrike" cap="none">
                <a:solidFill>
                  <a:srgbClr val="334155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 que representa los tres conjuntos (A, B y C) dentro del universo U.</a:t>
            </a:r>
            <a:endParaRPr sz="1800"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224" name="Google Shape;224;p18"/>
          <p:cNvSpPr txBox="1"/>
          <p:nvPr/>
        </p:nvSpPr>
        <p:spPr>
          <a:xfrm>
            <a:off x="609600" y="4071729"/>
            <a:ext cx="152400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334155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2.</a:t>
            </a:r>
            <a:endParaRPr sz="1800"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225" name="Google Shape;225;p18"/>
          <p:cNvSpPr txBox="1"/>
          <p:nvPr/>
        </p:nvSpPr>
        <p:spPr>
          <a:xfrm>
            <a:off x="857250" y="4072681"/>
            <a:ext cx="10763250" cy="393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24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334155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Responde:</a:t>
            </a:r>
            <a:r>
              <a:rPr lang="en-US" sz="1600" b="0" i="0" u="none" strike="noStrike" cap="none">
                <a:solidFill>
                  <a:srgbClr val="334155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 ¿Qué usuarios se encuentran en la intersección de los tres conjuntos? (A ∩ B ∩ C)</a:t>
            </a:r>
            <a:endParaRPr sz="1800"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226" name="Google Shape;226;p18"/>
          <p:cNvSpPr txBox="1"/>
          <p:nvPr/>
        </p:nvSpPr>
        <p:spPr>
          <a:xfrm>
            <a:off x="609600" y="4460319"/>
            <a:ext cx="152400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334155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3.</a:t>
            </a:r>
            <a:endParaRPr sz="1800"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227" name="Google Shape;227;p18"/>
          <p:cNvSpPr txBox="1"/>
          <p:nvPr/>
        </p:nvSpPr>
        <p:spPr>
          <a:xfrm>
            <a:off x="857250" y="4461271"/>
            <a:ext cx="10763250" cy="393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24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334155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Responde:</a:t>
            </a:r>
            <a:r>
              <a:rPr lang="en-US" sz="1600" b="0" i="0" u="none" strike="noStrike" cap="none">
                <a:solidFill>
                  <a:srgbClr val="334155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 ¿Qué usuarios siguen a 'Ciencia' o 'Arte', pero NO han compartido ningún post? ((A U B) - C)</a:t>
            </a:r>
            <a:endParaRPr sz="1800"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228" name="Google Shape;228;p18"/>
          <p:cNvSpPr txBox="1"/>
          <p:nvPr/>
        </p:nvSpPr>
        <p:spPr>
          <a:xfrm>
            <a:off x="609600" y="4848909"/>
            <a:ext cx="152400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334155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4.</a:t>
            </a:r>
            <a:endParaRPr sz="1800"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229" name="Google Shape;229;p18"/>
          <p:cNvSpPr txBox="1"/>
          <p:nvPr/>
        </p:nvSpPr>
        <p:spPr>
          <a:xfrm>
            <a:off x="857250" y="4849862"/>
            <a:ext cx="10763250" cy="393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24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334155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Responde:</a:t>
            </a:r>
            <a:r>
              <a:rPr lang="en-US" sz="1600" b="0" i="0" u="none" strike="noStrike" cap="none">
                <a:solidFill>
                  <a:srgbClr val="334155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 ¿Qué usuarios no participan en ninguna de las tres actividades? ((A U B U C)ᶜ)</a:t>
            </a:r>
            <a:endParaRPr sz="1800">
              <a:latin typeface="Inter" panose="020B0604020202020204" charset="0"/>
              <a:ea typeface="Inter" panose="020B0604020202020204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7" name="Google Shape;237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1996380"/>
            <a:ext cx="11049000" cy="847725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19"/>
          <p:cNvSpPr txBox="1"/>
          <p:nvPr/>
        </p:nvSpPr>
        <p:spPr>
          <a:xfrm>
            <a:off x="952500" y="381000"/>
            <a:ext cx="1120140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none" strike="noStrike" cap="none" dirty="0">
                <a:solidFill>
                  <a:srgbClr val="1E293B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12. Taller: </a:t>
            </a:r>
            <a:r>
              <a:rPr lang="en-US" sz="2550" b="1" i="0" u="none" strike="noStrike" cap="none" dirty="0" err="1">
                <a:solidFill>
                  <a:srgbClr val="1E293B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Simplificación</a:t>
            </a:r>
            <a:endParaRPr dirty="0"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240" name="Google Shape;240;p19"/>
          <p:cNvSpPr/>
          <p:nvPr/>
        </p:nvSpPr>
        <p:spPr>
          <a:xfrm>
            <a:off x="571500" y="914400"/>
            <a:ext cx="110490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Inter" panose="020B0604020202020204" charset="0"/>
              <a:ea typeface="Inter" panose="020B0604020202020204" charset="0"/>
              <a:cs typeface="Calibri"/>
              <a:sym typeface="Calibri"/>
            </a:endParaRPr>
          </a:p>
        </p:txBody>
      </p:sp>
      <p:sp>
        <p:nvSpPr>
          <p:cNvPr id="241" name="Google Shape;241;p19"/>
          <p:cNvSpPr txBox="1"/>
          <p:nvPr/>
        </p:nvSpPr>
        <p:spPr>
          <a:xfrm>
            <a:off x="571500" y="1162050"/>
            <a:ext cx="11049000" cy="332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334155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Pregunta:</a:t>
            </a:r>
            <a:endParaRPr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242" name="Google Shape;242;p19"/>
          <p:cNvSpPr txBox="1"/>
          <p:nvPr/>
        </p:nvSpPr>
        <p:spPr>
          <a:xfrm>
            <a:off x="571500" y="1531590"/>
            <a:ext cx="11049000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334155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Simplifica la siguiente expresión a su mínima forma posible, justificando cada paso:</a:t>
            </a:r>
            <a:endParaRPr sz="2000">
              <a:latin typeface="Inter" panose="020B0604020202020204" charset="0"/>
              <a:ea typeface="Inter" panose="020B0604020202020204" charset="0"/>
            </a:endParaRPr>
          </a:p>
        </p:txBody>
      </p:sp>
      <p:pic>
        <p:nvPicPr>
          <p:cNvPr id="243" name="Google Shape;243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442912"/>
            <a:ext cx="238125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5" name="Google Shape;245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631977" y="2349996"/>
            <a:ext cx="2927895" cy="1893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2" name="Google Shape;252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1626840"/>
            <a:ext cx="11049000" cy="1771501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20"/>
          <p:cNvSpPr txBox="1"/>
          <p:nvPr/>
        </p:nvSpPr>
        <p:spPr>
          <a:xfrm>
            <a:off x="1019175" y="381000"/>
            <a:ext cx="11131391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none" strike="noStrike" cap="none">
                <a:solidFill>
                  <a:srgbClr val="1E293B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Taller: Encuesta de Preferencias</a:t>
            </a:r>
            <a:endParaRPr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255" name="Google Shape;255;p20"/>
          <p:cNvSpPr/>
          <p:nvPr/>
        </p:nvSpPr>
        <p:spPr>
          <a:xfrm>
            <a:off x="571500" y="914400"/>
            <a:ext cx="110490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Inter" panose="020B0604020202020204" charset="0"/>
              <a:ea typeface="Inter" panose="020B0604020202020204" charset="0"/>
              <a:cs typeface="Calibri"/>
              <a:sym typeface="Calibri"/>
            </a:endParaRPr>
          </a:p>
        </p:txBody>
      </p:sp>
      <p:sp>
        <p:nvSpPr>
          <p:cNvPr id="256" name="Google Shape;256;p20"/>
          <p:cNvSpPr txBox="1"/>
          <p:nvPr/>
        </p:nvSpPr>
        <p:spPr>
          <a:xfrm>
            <a:off x="571500" y="1162050"/>
            <a:ext cx="11049000" cy="332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En una encuesta a un total de 50 estudiantes sobre sus materias preferidas, se obtuvieron los siguientes datos:</a:t>
            </a:r>
            <a:endParaRPr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257" name="Google Shape;257;p20"/>
          <p:cNvSpPr txBox="1"/>
          <p:nvPr/>
        </p:nvSpPr>
        <p:spPr>
          <a:xfrm>
            <a:off x="571500" y="3588841"/>
            <a:ext cx="11049000" cy="332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334155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Preguntas:</a:t>
            </a:r>
            <a:endParaRPr>
              <a:latin typeface="Inter" panose="020B0604020202020204" charset="0"/>
              <a:ea typeface="Inter" panose="020B0604020202020204" charset="0"/>
            </a:endParaRPr>
          </a:p>
        </p:txBody>
      </p:sp>
      <p:pic>
        <p:nvPicPr>
          <p:cNvPr id="258" name="Google Shape;258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442912"/>
            <a:ext cx="3048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20"/>
          <p:cNvSpPr txBox="1"/>
          <p:nvPr/>
        </p:nvSpPr>
        <p:spPr>
          <a:xfrm>
            <a:off x="771525" y="1779240"/>
            <a:ext cx="10648950" cy="332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1E293B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Datos Recopilados:</a:t>
            </a:r>
            <a:endParaRPr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260" name="Google Shape;260;p20"/>
          <p:cNvSpPr txBox="1"/>
          <p:nvPr/>
        </p:nvSpPr>
        <p:spPr>
          <a:xfrm>
            <a:off x="771525" y="3977431"/>
            <a:ext cx="185738" cy="207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1.</a:t>
            </a:r>
            <a:endParaRPr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261" name="Google Shape;261;p20"/>
          <p:cNvSpPr txBox="1"/>
          <p:nvPr/>
        </p:nvSpPr>
        <p:spPr>
          <a:xfrm>
            <a:off x="857250" y="3958381"/>
            <a:ext cx="10763250" cy="332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¿Cuántos estudiantes prefieren </a:t>
            </a:r>
            <a:r>
              <a:rPr lang="en-US" sz="1350" b="1" i="0" u="none" strike="noStrike" cap="none">
                <a:solidFill>
                  <a:srgbClr val="334155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únicamente</a:t>
            </a:r>
            <a:r>
              <a:rPr lang="en-US" sz="1350" b="0" i="0" u="none" strike="noStrike" cap="none">
                <a:solidFill>
                  <a:srgbClr val="334155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 Programación?</a:t>
            </a:r>
            <a:endParaRPr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262" name="Google Shape;262;p20"/>
          <p:cNvSpPr txBox="1"/>
          <p:nvPr/>
        </p:nvSpPr>
        <p:spPr>
          <a:xfrm>
            <a:off x="733425" y="4366021"/>
            <a:ext cx="247650" cy="207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2.</a:t>
            </a:r>
            <a:endParaRPr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263" name="Google Shape;263;p20"/>
          <p:cNvSpPr txBox="1"/>
          <p:nvPr/>
        </p:nvSpPr>
        <p:spPr>
          <a:xfrm>
            <a:off x="857250" y="4346971"/>
            <a:ext cx="10763250" cy="332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24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¿Cuántos estudiantes prefieren </a:t>
            </a:r>
            <a:r>
              <a:rPr lang="en-US" sz="1350" b="1" i="0" u="none" strike="noStrike" cap="none">
                <a:solidFill>
                  <a:srgbClr val="334155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únicamente</a:t>
            </a:r>
            <a:r>
              <a:rPr lang="en-US" sz="1350" b="0" i="0" u="none" strike="noStrike" cap="none">
                <a:solidFill>
                  <a:srgbClr val="334155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 Matemáticas?</a:t>
            </a:r>
            <a:endParaRPr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264" name="Google Shape;264;p20"/>
          <p:cNvSpPr txBox="1"/>
          <p:nvPr/>
        </p:nvSpPr>
        <p:spPr>
          <a:xfrm>
            <a:off x="733425" y="4754611"/>
            <a:ext cx="247650" cy="207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3.</a:t>
            </a:r>
            <a:endParaRPr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265" name="Google Shape;265;p20"/>
          <p:cNvSpPr txBox="1"/>
          <p:nvPr/>
        </p:nvSpPr>
        <p:spPr>
          <a:xfrm>
            <a:off x="857250" y="4735562"/>
            <a:ext cx="10763250" cy="332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24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¿Cuántos estudiantes prefieren </a:t>
            </a:r>
            <a:r>
              <a:rPr lang="en-US" sz="1350" b="1" i="0" u="none" strike="noStrike" cap="none">
                <a:solidFill>
                  <a:srgbClr val="334155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al menos una</a:t>
            </a:r>
            <a:r>
              <a:rPr lang="en-US" sz="1350" b="0" i="0" u="none" strike="noStrike" cap="none">
                <a:solidFill>
                  <a:srgbClr val="334155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 de las dos materias?</a:t>
            </a:r>
            <a:endParaRPr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266" name="Google Shape;266;p20"/>
          <p:cNvSpPr txBox="1"/>
          <p:nvPr/>
        </p:nvSpPr>
        <p:spPr>
          <a:xfrm>
            <a:off x="733425" y="5143201"/>
            <a:ext cx="247650" cy="207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4.</a:t>
            </a:r>
            <a:endParaRPr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267" name="Google Shape;267;p20"/>
          <p:cNvSpPr txBox="1"/>
          <p:nvPr/>
        </p:nvSpPr>
        <p:spPr>
          <a:xfrm>
            <a:off x="857250" y="5124152"/>
            <a:ext cx="10763250" cy="332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24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¿Cuántos estudiantes </a:t>
            </a:r>
            <a:r>
              <a:rPr lang="en-US" sz="1350" b="1" i="0" u="none" strike="noStrike" cap="none">
                <a:solidFill>
                  <a:srgbClr val="334155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no prefieren ninguna</a:t>
            </a:r>
            <a:r>
              <a:rPr lang="en-US" sz="1350" b="0" i="0" u="none" strike="noStrike" cap="none">
                <a:solidFill>
                  <a:srgbClr val="334155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 de estas dos materias?</a:t>
            </a:r>
            <a:endParaRPr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269" name="Google Shape;269;p20"/>
          <p:cNvSpPr txBox="1"/>
          <p:nvPr/>
        </p:nvSpPr>
        <p:spPr>
          <a:xfrm>
            <a:off x="866775" y="2148780"/>
            <a:ext cx="10553700" cy="332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1E293B"/>
                </a:solidFill>
                <a:latin typeface="Inter" panose="020B0604020202020204" charset="0"/>
                <a:ea typeface="Inter" panose="020B0604020202020204" charset="0"/>
                <a:cs typeface="JetBrains Mono"/>
                <a:sym typeface="JetBrains Mono"/>
              </a:rPr>
              <a:t>• </a:t>
            </a:r>
            <a:r>
              <a:rPr lang="en-US" sz="1350" b="1" i="0" u="none" strike="noStrike" cap="none">
                <a:solidFill>
                  <a:srgbClr val="1E293B"/>
                </a:solidFill>
                <a:latin typeface="Inter" panose="020B0604020202020204" charset="0"/>
                <a:ea typeface="Inter" panose="020B0604020202020204" charset="0"/>
                <a:cs typeface="JetBrains Mono"/>
                <a:sym typeface="JetBrains Mono"/>
              </a:rPr>
              <a:t>Total de Estudiantes (Universo |U|):</a:t>
            </a:r>
            <a:r>
              <a:rPr lang="en-US" sz="1350" b="0" i="0" u="none" strike="noStrike" cap="none">
                <a:solidFill>
                  <a:srgbClr val="1E293B"/>
                </a:solidFill>
                <a:latin typeface="Inter" panose="020B0604020202020204" charset="0"/>
                <a:ea typeface="Inter" panose="020B0604020202020204" charset="0"/>
                <a:cs typeface="JetBrains Mono"/>
                <a:sym typeface="JetBrains Mono"/>
              </a:rPr>
              <a:t> 50</a:t>
            </a:r>
            <a:endParaRPr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270" name="Google Shape;270;p20"/>
          <p:cNvSpPr txBox="1"/>
          <p:nvPr/>
        </p:nvSpPr>
        <p:spPr>
          <a:xfrm>
            <a:off x="866775" y="2423070"/>
            <a:ext cx="10553700" cy="332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1E293B"/>
                </a:solidFill>
                <a:latin typeface="Inter" panose="020B0604020202020204" charset="0"/>
                <a:ea typeface="Inter" panose="020B0604020202020204" charset="0"/>
                <a:cs typeface="JetBrains Mono"/>
                <a:sym typeface="JetBrains Mono"/>
              </a:rPr>
              <a:t>• </a:t>
            </a:r>
            <a:r>
              <a:rPr lang="en-US" sz="1350" b="1" i="0" u="none" strike="noStrike" cap="none">
                <a:solidFill>
                  <a:srgbClr val="1E293B"/>
                </a:solidFill>
                <a:latin typeface="Inter" panose="020B0604020202020204" charset="0"/>
                <a:ea typeface="Inter" panose="020B0604020202020204" charset="0"/>
                <a:cs typeface="JetBrains Mono"/>
                <a:sym typeface="JetBrains Mono"/>
              </a:rPr>
              <a:t>Prefieren Programación (|P|):</a:t>
            </a:r>
            <a:r>
              <a:rPr lang="en-US" sz="1350" b="0" i="0" u="none" strike="noStrike" cap="none">
                <a:solidFill>
                  <a:srgbClr val="1E293B"/>
                </a:solidFill>
                <a:latin typeface="Inter" panose="020B0604020202020204" charset="0"/>
                <a:ea typeface="Inter" panose="020B0604020202020204" charset="0"/>
                <a:cs typeface="JetBrains Mono"/>
                <a:sym typeface="JetBrains Mono"/>
              </a:rPr>
              <a:t> 30</a:t>
            </a:r>
            <a:endParaRPr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271" name="Google Shape;271;p20"/>
          <p:cNvSpPr txBox="1"/>
          <p:nvPr/>
        </p:nvSpPr>
        <p:spPr>
          <a:xfrm>
            <a:off x="866775" y="2697360"/>
            <a:ext cx="10553700" cy="332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1E293B"/>
                </a:solidFill>
                <a:latin typeface="Inter" panose="020B0604020202020204" charset="0"/>
                <a:ea typeface="Inter" panose="020B0604020202020204" charset="0"/>
                <a:cs typeface="JetBrains Mono"/>
                <a:sym typeface="JetBrains Mono"/>
              </a:rPr>
              <a:t>• </a:t>
            </a:r>
            <a:r>
              <a:rPr lang="en-US" sz="1350" b="1" i="0" u="none" strike="noStrike" cap="none">
                <a:solidFill>
                  <a:srgbClr val="1E293B"/>
                </a:solidFill>
                <a:latin typeface="Inter" panose="020B0604020202020204" charset="0"/>
                <a:ea typeface="Inter" panose="020B0604020202020204" charset="0"/>
                <a:cs typeface="JetBrains Mono"/>
                <a:sym typeface="JetBrains Mono"/>
              </a:rPr>
              <a:t>Prefieren Matemáticas (|M|):</a:t>
            </a:r>
            <a:r>
              <a:rPr lang="en-US" sz="1350" b="0" i="0" u="none" strike="noStrike" cap="none">
                <a:solidFill>
                  <a:srgbClr val="1E293B"/>
                </a:solidFill>
                <a:latin typeface="Inter" panose="020B0604020202020204" charset="0"/>
                <a:ea typeface="Inter" panose="020B0604020202020204" charset="0"/>
                <a:cs typeface="JetBrains Mono"/>
                <a:sym typeface="JetBrains Mono"/>
              </a:rPr>
              <a:t> 25</a:t>
            </a:r>
            <a:endParaRPr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272" name="Google Shape;272;p20"/>
          <p:cNvSpPr txBox="1"/>
          <p:nvPr/>
        </p:nvSpPr>
        <p:spPr>
          <a:xfrm>
            <a:off x="866775" y="2971651"/>
            <a:ext cx="10553700" cy="332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1E293B"/>
                </a:solidFill>
                <a:latin typeface="Inter" panose="020B0604020202020204" charset="0"/>
                <a:ea typeface="Inter" panose="020B0604020202020204" charset="0"/>
                <a:cs typeface="JetBrains Mono"/>
                <a:sym typeface="JetBrains Mono"/>
              </a:rPr>
              <a:t>• </a:t>
            </a:r>
            <a:r>
              <a:rPr lang="en-US" sz="1350" b="1" i="0" u="none" strike="noStrike" cap="none">
                <a:solidFill>
                  <a:srgbClr val="1E293B"/>
                </a:solidFill>
                <a:latin typeface="Inter" panose="020B0604020202020204" charset="0"/>
                <a:ea typeface="Inter" panose="020B0604020202020204" charset="0"/>
                <a:cs typeface="JetBrains Mono"/>
                <a:sym typeface="JetBrains Mono"/>
              </a:rPr>
              <a:t>Prefieren ambas (|P ∩ M|):</a:t>
            </a:r>
            <a:r>
              <a:rPr lang="en-US" sz="1350" b="0" i="0" u="none" strike="noStrike" cap="none">
                <a:solidFill>
                  <a:srgbClr val="1E293B"/>
                </a:solidFill>
                <a:latin typeface="Inter" panose="020B0604020202020204" charset="0"/>
                <a:ea typeface="Inter" panose="020B0604020202020204" charset="0"/>
                <a:cs typeface="JetBrains Mono"/>
                <a:sym typeface="JetBrains Mono"/>
              </a:rPr>
              <a:t> 10</a:t>
            </a:r>
            <a:endParaRPr>
              <a:latin typeface="Inter" panose="020B0604020202020204" charset="0"/>
              <a:ea typeface="Inter" panose="020B0604020202020204" charset="0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76275" y="1304925"/>
            <a:ext cx="10839450" cy="1849487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76275" y="3392537"/>
            <a:ext cx="10839450" cy="1560016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3"/>
          <p:cNvSpPr txBox="1"/>
          <p:nvPr/>
        </p:nvSpPr>
        <p:spPr>
          <a:xfrm>
            <a:off x="405288" y="485775"/>
            <a:ext cx="11381422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0" i="0" u="none" strike="noStrike" cap="none" dirty="0" err="1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Ejercicios</a:t>
            </a:r>
            <a:r>
              <a:rPr lang="en-US" sz="2850" b="0" i="0" u="none" strike="noStrike" cap="none" dirty="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de </a:t>
            </a:r>
            <a:r>
              <a:rPr lang="en-US" sz="2850" b="0" i="0" u="none" strike="noStrike" cap="none" dirty="0" err="1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Operaciones</a:t>
            </a:r>
            <a:r>
              <a:rPr lang="en-US" sz="2850" b="0" i="0" u="none" strike="noStrike" cap="none" dirty="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entre Conjuntos</a:t>
            </a:r>
            <a:endParaRPr dirty="0"/>
          </a:p>
        </p:txBody>
      </p:sp>
      <p:sp>
        <p:nvSpPr>
          <p:cNvPr id="88" name="Google Shape;88;p13"/>
          <p:cNvSpPr txBox="1"/>
          <p:nvPr/>
        </p:nvSpPr>
        <p:spPr>
          <a:xfrm>
            <a:off x="1066799" y="1398774"/>
            <a:ext cx="10058400" cy="886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Simplifica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la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siguiente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expresión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utilizando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propiedades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de </a:t>
            </a:r>
            <a:r>
              <a:rPr lang="en-US" sz="1800" b="1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asociatividad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, </a:t>
            </a:r>
            <a:r>
              <a:rPr lang="en-US" sz="1800" b="1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conmutatividad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, </a:t>
            </a:r>
            <a:r>
              <a:rPr lang="en-US" sz="1800" b="1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idempotencia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y </a:t>
            </a:r>
            <a:r>
              <a:rPr lang="en-US" sz="1800" b="1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absorción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:</a:t>
            </a:r>
            <a:endParaRPr sz="1800" dirty="0"/>
          </a:p>
        </p:txBody>
      </p:sp>
      <p:sp>
        <p:nvSpPr>
          <p:cNvPr id="89" name="Google Shape;89;p13"/>
          <p:cNvSpPr txBox="1"/>
          <p:nvPr/>
        </p:nvSpPr>
        <p:spPr>
          <a:xfrm>
            <a:off x="1066800" y="2672581"/>
            <a:ext cx="10058400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Explica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paso a paso la </a:t>
            </a:r>
            <a:r>
              <a:rPr lang="en-US" sz="1800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simplificación</a:t>
            </a:r>
            <a:r>
              <a:rPr lang="en-US" sz="1800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sz="1800" dirty="0"/>
          </a:p>
        </p:txBody>
      </p:sp>
      <p:sp>
        <p:nvSpPr>
          <p:cNvPr id="90" name="Google Shape;90;p13"/>
          <p:cNvSpPr txBox="1"/>
          <p:nvPr/>
        </p:nvSpPr>
        <p:spPr>
          <a:xfrm>
            <a:off x="1066800" y="3735437"/>
            <a:ext cx="10058400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Dado:</a:t>
            </a:r>
            <a:endParaRPr sz="1800"/>
          </a:p>
        </p:txBody>
      </p:sp>
      <p:sp>
        <p:nvSpPr>
          <p:cNvPr id="91" name="Google Shape;91;p13"/>
          <p:cNvSpPr txBox="1"/>
          <p:nvPr/>
        </p:nvSpPr>
        <p:spPr>
          <a:xfrm>
            <a:off x="1066800" y="4320182"/>
            <a:ext cx="10058400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Simplifica la expresión al menor número de términos posible, justificando cada paso.</a:t>
            </a:r>
            <a:endParaRPr sz="1800"/>
          </a:p>
        </p:txBody>
      </p:sp>
      <p:pic>
        <p:nvPicPr>
          <p:cNvPr id="92" name="Google Shape;92;p1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066800" y="2407667"/>
            <a:ext cx="2484239" cy="228748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3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066799" y="4135035"/>
            <a:ext cx="3902124" cy="2287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76275" y="1209675"/>
            <a:ext cx="5229225" cy="1560016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4"/>
          <p:cNvSpPr txBox="1"/>
          <p:nvPr/>
        </p:nvSpPr>
        <p:spPr>
          <a:xfrm>
            <a:off x="405288" y="485775"/>
            <a:ext cx="11381422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0" i="0" u="none" strike="noStrike" cap="none">
                <a:solidFill>
                  <a:srgbClr val="1E293B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Ejercicios Básicos de Operaciones entre Conjuntos</a:t>
            </a:r>
            <a:endParaRPr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102" name="Google Shape;102;p14"/>
          <p:cNvSpPr txBox="1"/>
          <p:nvPr/>
        </p:nvSpPr>
        <p:spPr>
          <a:xfrm>
            <a:off x="1066800" y="1552575"/>
            <a:ext cx="4448175" cy="70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Simplificar la siguiente expresión usando las Leyes de De Morgan:</a:t>
            </a:r>
            <a:endParaRPr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103" name="Google Shape;103;p14"/>
          <p:cNvSpPr txBox="1"/>
          <p:nvPr/>
        </p:nvSpPr>
        <p:spPr>
          <a:xfrm>
            <a:off x="6677025" y="1552575"/>
            <a:ext cx="4448175" cy="70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Un sistema de redes tiene tres categorías de usuarios:</a:t>
            </a:r>
            <a:endParaRPr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104" name="Google Shape;104;p14"/>
          <p:cNvSpPr txBox="1"/>
          <p:nvPr/>
        </p:nvSpPr>
        <p:spPr>
          <a:xfrm>
            <a:off x="6677025" y="4013299"/>
            <a:ext cx="4448175" cy="350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 dirty="0">
                <a:solidFill>
                  <a:srgbClr val="334155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Se define la 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expresión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:</a:t>
            </a:r>
            <a:endParaRPr dirty="0"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105" name="Google Shape;105;p14"/>
          <p:cNvSpPr txBox="1"/>
          <p:nvPr/>
        </p:nvSpPr>
        <p:spPr>
          <a:xfrm>
            <a:off x="1400173" y="3974010"/>
            <a:ext cx="421005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 err="1">
                <a:solidFill>
                  <a:srgbClr val="0F172A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Preguntas</a:t>
            </a:r>
            <a:r>
              <a:rPr lang="en-US" sz="1500" b="1" i="0" u="none" strike="noStrike" cap="none" dirty="0">
                <a:solidFill>
                  <a:srgbClr val="0F172A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:</a:t>
            </a:r>
            <a:endParaRPr dirty="0">
              <a:latin typeface="Inter" panose="020B0604020202020204" charset="0"/>
              <a:ea typeface="Inter" panose="020B0604020202020204" charset="0"/>
            </a:endParaRPr>
          </a:p>
        </p:txBody>
      </p:sp>
      <p:pic>
        <p:nvPicPr>
          <p:cNvPr id="106" name="Google Shape;106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66800" y="2351931"/>
            <a:ext cx="2569071" cy="233362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4"/>
          <p:cNvSpPr txBox="1"/>
          <p:nvPr/>
        </p:nvSpPr>
        <p:spPr>
          <a:xfrm>
            <a:off x="7286625" y="2217241"/>
            <a:ext cx="4067175" cy="350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 dirty="0">
                <a:solidFill>
                  <a:srgbClr val="334155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= 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Usuarios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 con 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acceso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 a la intranet.</a:t>
            </a:r>
            <a:endParaRPr dirty="0"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108" name="Google Shape;108;p14"/>
          <p:cNvSpPr txBox="1"/>
          <p:nvPr/>
        </p:nvSpPr>
        <p:spPr>
          <a:xfrm>
            <a:off x="7296150" y="2596158"/>
            <a:ext cx="4067175" cy="70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 dirty="0">
                <a:solidFill>
                  <a:srgbClr val="334155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= 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Usuarios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 con 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acceso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 a 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archivos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 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compartidos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.</a:t>
            </a:r>
            <a:endParaRPr dirty="0"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109" name="Google Shape;109;p14"/>
          <p:cNvSpPr txBox="1"/>
          <p:nvPr/>
        </p:nvSpPr>
        <p:spPr>
          <a:xfrm>
            <a:off x="7286625" y="3313807"/>
            <a:ext cx="4067175" cy="350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 dirty="0">
                <a:solidFill>
                  <a:srgbClr val="334155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= 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Usuarios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 con 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acceso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 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remoto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.</a:t>
            </a:r>
            <a:endParaRPr dirty="0">
              <a:latin typeface="Inter" panose="020B0604020202020204" charset="0"/>
              <a:ea typeface="Inter" panose="020B0604020202020204" charset="0"/>
            </a:endParaRPr>
          </a:p>
        </p:txBody>
      </p:sp>
      <p:pic>
        <p:nvPicPr>
          <p:cNvPr id="110" name="Google Shape;110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63073" y="4512319"/>
            <a:ext cx="1476077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4"/>
          <p:cNvSpPr txBox="1"/>
          <p:nvPr/>
        </p:nvSpPr>
        <p:spPr>
          <a:xfrm>
            <a:off x="1276348" y="4490265"/>
            <a:ext cx="196663" cy="21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1.</a:t>
            </a:r>
            <a:endParaRPr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113" name="Google Shape;113;p14"/>
          <p:cNvSpPr txBox="1"/>
          <p:nvPr/>
        </p:nvSpPr>
        <p:spPr>
          <a:xfrm>
            <a:off x="1495423" y="4488360"/>
            <a:ext cx="4114800" cy="70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3825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Explica qué representa la expresión en términos de acceso de usuarios.</a:t>
            </a:r>
            <a:endParaRPr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114" name="Google Shape;114;p14"/>
          <p:cNvSpPr txBox="1"/>
          <p:nvPr/>
        </p:nvSpPr>
        <p:spPr>
          <a:xfrm>
            <a:off x="1238248" y="5240657"/>
            <a:ext cx="257175" cy="21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2.</a:t>
            </a:r>
            <a:endParaRPr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115" name="Google Shape;115;p14"/>
          <p:cNvSpPr txBox="1"/>
          <p:nvPr/>
        </p:nvSpPr>
        <p:spPr>
          <a:xfrm>
            <a:off x="1495423" y="5238752"/>
            <a:ext cx="4114800" cy="350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1925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Calcula la expresión si:</a:t>
            </a:r>
            <a:endParaRPr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116" name="Google Shape;116;p14"/>
          <p:cNvSpPr txBox="1"/>
          <p:nvPr/>
        </p:nvSpPr>
        <p:spPr>
          <a:xfrm>
            <a:off x="6867525" y="2274391"/>
            <a:ext cx="85725" cy="350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0F172A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•</a:t>
            </a:r>
            <a:endParaRPr>
              <a:latin typeface="Inter" panose="020B0604020202020204" charset="0"/>
              <a:ea typeface="Inter" panose="020B0604020202020204" charset="0"/>
            </a:endParaRPr>
          </a:p>
        </p:txBody>
      </p:sp>
      <p:pic>
        <p:nvPicPr>
          <p:cNvPr id="117" name="Google Shape;117;p1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105650" y="2331541"/>
            <a:ext cx="133350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4"/>
          <p:cNvSpPr txBox="1"/>
          <p:nvPr/>
        </p:nvSpPr>
        <p:spPr>
          <a:xfrm>
            <a:off x="6867525" y="2678162"/>
            <a:ext cx="85725" cy="350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0F172A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•</a:t>
            </a:r>
            <a:endParaRPr>
              <a:latin typeface="Inter" panose="020B0604020202020204" charset="0"/>
              <a:ea typeface="Inter" panose="020B0604020202020204" charset="0"/>
            </a:endParaRPr>
          </a:p>
        </p:txBody>
      </p:sp>
      <p:pic>
        <p:nvPicPr>
          <p:cNvPr id="119" name="Google Shape;119;p14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105650" y="2725787"/>
            <a:ext cx="123825" cy="161925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4"/>
          <p:cNvSpPr txBox="1"/>
          <p:nvPr/>
        </p:nvSpPr>
        <p:spPr>
          <a:xfrm>
            <a:off x="6867525" y="3371403"/>
            <a:ext cx="85725" cy="350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0F172A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•</a:t>
            </a:r>
            <a:endParaRPr>
              <a:latin typeface="Inter" panose="020B0604020202020204" charset="0"/>
              <a:ea typeface="Inter" panose="020B0604020202020204" charset="0"/>
            </a:endParaRPr>
          </a:p>
        </p:txBody>
      </p:sp>
      <p:pic>
        <p:nvPicPr>
          <p:cNvPr id="121" name="Google Shape;121;p14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7105650" y="3419028"/>
            <a:ext cx="123825" cy="161925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4"/>
          <p:cNvSpPr txBox="1"/>
          <p:nvPr/>
        </p:nvSpPr>
        <p:spPr>
          <a:xfrm>
            <a:off x="1685923" y="5594898"/>
            <a:ext cx="85725" cy="350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0F172A"/>
                </a:solidFill>
                <a:latin typeface="Inter" panose="020B0604020202020204" charset="0"/>
                <a:ea typeface="Inter" panose="020B0604020202020204" charset="0"/>
                <a:cs typeface="Merriweather"/>
                <a:sym typeface="Merriweather"/>
              </a:rPr>
              <a:t>•</a:t>
            </a:r>
            <a:endParaRPr>
              <a:latin typeface="Inter" panose="020B0604020202020204" charset="0"/>
              <a:ea typeface="Inter" panose="020B0604020202020204" charset="0"/>
            </a:endParaRPr>
          </a:p>
        </p:txBody>
      </p:sp>
      <p:pic>
        <p:nvPicPr>
          <p:cNvPr id="123" name="Google Shape;123;p14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1968697" y="5732416"/>
            <a:ext cx="1536501" cy="161925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4"/>
          <p:cNvSpPr txBox="1"/>
          <p:nvPr/>
        </p:nvSpPr>
        <p:spPr>
          <a:xfrm>
            <a:off x="1685923" y="6027243"/>
            <a:ext cx="85725" cy="350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0F172A"/>
                </a:solidFill>
                <a:latin typeface="Inter" panose="020B0604020202020204" charset="0"/>
                <a:ea typeface="Inter" panose="020B0604020202020204" charset="0"/>
                <a:cs typeface="Merriweather"/>
                <a:sym typeface="Merriweather"/>
              </a:rPr>
              <a:t>•</a:t>
            </a:r>
            <a:endParaRPr>
              <a:latin typeface="Inter" panose="020B0604020202020204" charset="0"/>
              <a:ea typeface="Inter" panose="020B0604020202020204" charset="0"/>
            </a:endParaRPr>
          </a:p>
        </p:txBody>
      </p:sp>
      <p:pic>
        <p:nvPicPr>
          <p:cNvPr id="125" name="Google Shape;125;p14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1968697" y="6168930"/>
            <a:ext cx="152653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14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7296150" y="7693223"/>
            <a:ext cx="1496466" cy="161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Google Shape;132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34865" y="791246"/>
            <a:ext cx="10839450" cy="588645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5"/>
          <p:cNvSpPr txBox="1"/>
          <p:nvPr/>
        </p:nvSpPr>
        <p:spPr>
          <a:xfrm>
            <a:off x="405288" y="485775"/>
            <a:ext cx="11381422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 err="1">
                <a:solidFill>
                  <a:srgbClr val="1E293B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Trabajo</a:t>
            </a:r>
            <a:r>
              <a:rPr lang="en-US" sz="2400" b="0" i="0" u="none" strike="noStrike" cap="none" dirty="0">
                <a:solidFill>
                  <a:srgbClr val="1E293B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 </a:t>
            </a:r>
            <a:r>
              <a:rPr lang="en-US" sz="2400" b="0" i="0" u="none" strike="noStrike" cap="none" dirty="0" err="1">
                <a:solidFill>
                  <a:srgbClr val="1E293B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independiente</a:t>
            </a:r>
            <a:endParaRPr dirty="0"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135" name="Google Shape;135;p15"/>
          <p:cNvSpPr txBox="1"/>
          <p:nvPr/>
        </p:nvSpPr>
        <p:spPr>
          <a:xfrm>
            <a:off x="1225390" y="1134146"/>
            <a:ext cx="10561320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0F172A"/>
                </a:solidFill>
                <a:latin typeface="Inter" panose="020B0604020202020204" charset="0"/>
                <a:ea typeface="Inter" panose="020B0604020202020204" charset="0"/>
                <a:cs typeface="Inter ExtraBold"/>
                <a:sym typeface="Inter ExtraBold"/>
              </a:rPr>
              <a:t>Ejercicio 1: Optimización de Consultas en Bases de Datos</a:t>
            </a:r>
            <a:endParaRPr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136" name="Google Shape;136;p15"/>
          <p:cNvSpPr txBox="1"/>
          <p:nvPr/>
        </p:nvSpPr>
        <p:spPr>
          <a:xfrm>
            <a:off x="1225390" y="1667546"/>
            <a:ext cx="10058400" cy="350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Una tienda en línea almacena información de sus clientes en conjuntos:</a:t>
            </a:r>
            <a:endParaRPr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137" name="Google Shape;137;p15"/>
          <p:cNvSpPr txBox="1"/>
          <p:nvPr/>
        </p:nvSpPr>
        <p:spPr>
          <a:xfrm>
            <a:off x="1225390" y="3549328"/>
            <a:ext cx="10058400" cy="350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Se plantea la siguiente expresión para segmentar clientes:</a:t>
            </a:r>
            <a:endParaRPr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138" name="Google Shape;138;p15"/>
          <p:cNvSpPr txBox="1"/>
          <p:nvPr/>
        </p:nvSpPr>
        <p:spPr>
          <a:xfrm>
            <a:off x="1463515" y="4848449"/>
            <a:ext cx="982027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F172A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Preguntas:</a:t>
            </a:r>
            <a:endParaRPr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139" name="Google Shape;139;p15"/>
          <p:cNvSpPr txBox="1"/>
          <p:nvPr/>
        </p:nvSpPr>
        <p:spPr>
          <a:xfrm>
            <a:off x="1606390" y="2099891"/>
            <a:ext cx="9677400" cy="350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= Clientes que compraron en el último mes.</a:t>
            </a:r>
            <a:endParaRPr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140" name="Google Shape;140;p15"/>
          <p:cNvSpPr txBox="1"/>
          <p:nvPr/>
        </p:nvSpPr>
        <p:spPr>
          <a:xfrm>
            <a:off x="1606390" y="2503662"/>
            <a:ext cx="9677400" cy="350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= Clientes que han dejado una reseña.</a:t>
            </a:r>
            <a:endParaRPr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141" name="Google Shape;141;p15"/>
          <p:cNvSpPr txBox="1"/>
          <p:nvPr/>
        </p:nvSpPr>
        <p:spPr>
          <a:xfrm>
            <a:off x="1606390" y="2907433"/>
            <a:ext cx="9677400" cy="350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= Clientes que se han suscrito al boletín de ofertas.</a:t>
            </a:r>
            <a:endParaRPr>
              <a:latin typeface="Inter" panose="020B0604020202020204" charset="0"/>
              <a:ea typeface="Inter" panose="020B0604020202020204" charset="0"/>
            </a:endParaRPr>
          </a:p>
        </p:txBody>
      </p:sp>
      <p:pic>
        <p:nvPicPr>
          <p:cNvPr id="142" name="Google Shape;142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407335" y="4143599"/>
            <a:ext cx="3694509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225390" y="4867499"/>
            <a:ext cx="142875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15"/>
          <p:cNvSpPr txBox="1"/>
          <p:nvPr/>
        </p:nvSpPr>
        <p:spPr>
          <a:xfrm>
            <a:off x="1152285" y="5431824"/>
            <a:ext cx="534269" cy="21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1.</a:t>
            </a:r>
            <a:endParaRPr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145" name="Google Shape;145;p15"/>
          <p:cNvSpPr txBox="1"/>
          <p:nvPr/>
        </p:nvSpPr>
        <p:spPr>
          <a:xfrm>
            <a:off x="1558765" y="5362799"/>
            <a:ext cx="9725025" cy="350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3825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334155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Simplifica</a:t>
            </a:r>
            <a:r>
              <a:rPr lang="en-US" sz="1425" b="0" i="0" u="none" strike="noStrike" cap="none">
                <a:solidFill>
                  <a:srgbClr val="334155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 la expresión usando las propiedades de conjuntos.</a:t>
            </a:r>
            <a:endParaRPr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146" name="Google Shape;146;p15"/>
          <p:cNvSpPr txBox="1"/>
          <p:nvPr/>
        </p:nvSpPr>
        <p:spPr>
          <a:xfrm>
            <a:off x="1114185" y="5864170"/>
            <a:ext cx="698660" cy="21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2.</a:t>
            </a:r>
            <a:endParaRPr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147" name="Google Shape;147;p15"/>
          <p:cNvSpPr txBox="1"/>
          <p:nvPr/>
        </p:nvSpPr>
        <p:spPr>
          <a:xfrm>
            <a:off x="1558765" y="5795145"/>
            <a:ext cx="9725025" cy="350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1925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Explica </a:t>
            </a:r>
            <a:r>
              <a:rPr lang="en-US" sz="1425" b="1" i="0" u="none" strike="noStrike" cap="none">
                <a:solidFill>
                  <a:srgbClr val="334155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qué tipo de clientes representa</a:t>
            </a:r>
            <a:r>
              <a:rPr lang="en-US" sz="1425" b="0" i="0" u="none" strike="noStrike" cap="none">
                <a:solidFill>
                  <a:srgbClr val="334155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 la expresión final.</a:t>
            </a:r>
            <a:endParaRPr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148" name="Google Shape;148;p15"/>
          <p:cNvSpPr txBox="1"/>
          <p:nvPr/>
        </p:nvSpPr>
        <p:spPr>
          <a:xfrm>
            <a:off x="1114185" y="6296515"/>
            <a:ext cx="698660" cy="21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3.</a:t>
            </a:r>
            <a:endParaRPr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149" name="Google Shape;149;p15"/>
          <p:cNvSpPr txBox="1"/>
          <p:nvPr/>
        </p:nvSpPr>
        <p:spPr>
          <a:xfrm>
            <a:off x="1558765" y="6227490"/>
            <a:ext cx="9725025" cy="350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1925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¿Cómo podrías utilizar esta información en una estrategia de marketing?</a:t>
            </a:r>
            <a:endParaRPr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150" name="Google Shape;150;p15"/>
          <p:cNvSpPr txBox="1"/>
          <p:nvPr/>
        </p:nvSpPr>
        <p:spPr>
          <a:xfrm>
            <a:off x="1173002" y="2178175"/>
            <a:ext cx="85725" cy="350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0F172A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•</a:t>
            </a:r>
            <a:endParaRPr>
              <a:latin typeface="Inter" panose="020B0604020202020204" charset="0"/>
              <a:ea typeface="Inter" panose="020B0604020202020204" charset="0"/>
            </a:endParaRPr>
          </a:p>
        </p:txBody>
      </p:sp>
      <p:pic>
        <p:nvPicPr>
          <p:cNvPr id="151" name="Google Shape;151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411127" y="2235325"/>
            <a:ext cx="133350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5"/>
          <p:cNvSpPr txBox="1"/>
          <p:nvPr/>
        </p:nvSpPr>
        <p:spPr>
          <a:xfrm>
            <a:off x="1173002" y="2581946"/>
            <a:ext cx="85725" cy="350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0F172A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•</a:t>
            </a:r>
            <a:endParaRPr>
              <a:latin typeface="Inter" panose="020B0604020202020204" charset="0"/>
              <a:ea typeface="Inter" panose="020B0604020202020204" charset="0"/>
            </a:endParaRPr>
          </a:p>
        </p:txBody>
      </p:sp>
      <p:pic>
        <p:nvPicPr>
          <p:cNvPr id="153" name="Google Shape;153;p1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411127" y="2629571"/>
            <a:ext cx="123825" cy="161925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15"/>
          <p:cNvSpPr txBox="1"/>
          <p:nvPr/>
        </p:nvSpPr>
        <p:spPr>
          <a:xfrm>
            <a:off x="1173002" y="2985717"/>
            <a:ext cx="85725" cy="350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0F172A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•</a:t>
            </a:r>
            <a:endParaRPr>
              <a:latin typeface="Inter" panose="020B0604020202020204" charset="0"/>
              <a:ea typeface="Inter" panose="020B0604020202020204" charset="0"/>
            </a:endParaRPr>
          </a:p>
        </p:txBody>
      </p:sp>
      <p:pic>
        <p:nvPicPr>
          <p:cNvPr id="155" name="Google Shape;155;p15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411127" y="3033342"/>
            <a:ext cx="123825" cy="161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" name="Google Shape;160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76275" y="485774"/>
            <a:ext cx="10839450" cy="6296025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6"/>
          <p:cNvSpPr txBox="1"/>
          <p:nvPr/>
        </p:nvSpPr>
        <p:spPr>
          <a:xfrm>
            <a:off x="1066800" y="828675"/>
            <a:ext cx="10561320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0F172A"/>
                </a:solidFill>
                <a:latin typeface="Inter" panose="020B0604020202020204" charset="0"/>
                <a:ea typeface="Inter" panose="020B0604020202020204" charset="0"/>
                <a:cs typeface="Inter ExtraBold"/>
                <a:sym typeface="Inter ExtraBold"/>
              </a:rPr>
              <a:t>Ejercicio 2: Control de Accesos en un Sistema de Seguridad</a:t>
            </a:r>
            <a:endParaRPr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163" name="Google Shape;163;p16"/>
          <p:cNvSpPr txBox="1"/>
          <p:nvPr/>
        </p:nvSpPr>
        <p:spPr>
          <a:xfrm>
            <a:off x="1066800" y="1362075"/>
            <a:ext cx="10058400" cy="350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En una empresa, los permisos de acceso están definidos por:</a:t>
            </a:r>
            <a:endParaRPr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164" name="Google Shape;164;p16"/>
          <p:cNvSpPr txBox="1"/>
          <p:nvPr/>
        </p:nvSpPr>
        <p:spPr>
          <a:xfrm>
            <a:off x="1066800" y="3243857"/>
            <a:ext cx="10058400" cy="350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Se define la expresión:</a:t>
            </a:r>
            <a:endParaRPr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165" name="Google Shape;165;p16"/>
          <p:cNvSpPr txBox="1"/>
          <p:nvPr/>
        </p:nvSpPr>
        <p:spPr>
          <a:xfrm>
            <a:off x="1304925" y="4542978"/>
            <a:ext cx="982027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F172A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Preguntas:</a:t>
            </a:r>
            <a:endParaRPr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166" name="Google Shape;166;p16"/>
          <p:cNvSpPr txBox="1"/>
          <p:nvPr/>
        </p:nvSpPr>
        <p:spPr>
          <a:xfrm>
            <a:off x="1447800" y="1794420"/>
            <a:ext cx="9677400" cy="350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= Empleados con acceso al servidor principal.</a:t>
            </a:r>
            <a:endParaRPr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167" name="Google Shape;167;p16"/>
          <p:cNvSpPr txBox="1"/>
          <p:nvPr/>
        </p:nvSpPr>
        <p:spPr>
          <a:xfrm>
            <a:off x="1447800" y="2198191"/>
            <a:ext cx="9677400" cy="350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= Empleados con acceso a datos sensibles.</a:t>
            </a:r>
            <a:endParaRPr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168" name="Google Shape;168;p16"/>
          <p:cNvSpPr txBox="1"/>
          <p:nvPr/>
        </p:nvSpPr>
        <p:spPr>
          <a:xfrm>
            <a:off x="1447800" y="2601962"/>
            <a:ext cx="9677400" cy="350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= Empleados con acceso a información restringida.</a:t>
            </a:r>
            <a:endParaRPr>
              <a:latin typeface="Inter" panose="020B0604020202020204" charset="0"/>
              <a:ea typeface="Inter" panose="020B0604020202020204" charset="0"/>
            </a:endParaRPr>
          </a:p>
        </p:txBody>
      </p:sp>
      <p:pic>
        <p:nvPicPr>
          <p:cNvPr id="169" name="Google Shape;169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866530" y="3818929"/>
            <a:ext cx="2458938" cy="228748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16"/>
          <p:cNvSpPr txBox="1"/>
          <p:nvPr/>
        </p:nvSpPr>
        <p:spPr>
          <a:xfrm>
            <a:off x="1270635" y="5126830"/>
            <a:ext cx="256391" cy="21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1.</a:t>
            </a:r>
            <a:endParaRPr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172" name="Google Shape;172;p16"/>
          <p:cNvSpPr txBox="1"/>
          <p:nvPr/>
        </p:nvSpPr>
        <p:spPr>
          <a:xfrm>
            <a:off x="1400175" y="5057328"/>
            <a:ext cx="9725025" cy="350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3825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334155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Interpreta</a:t>
            </a:r>
            <a:r>
              <a:rPr lang="en-US" sz="1425" b="0" i="0" u="none" strike="noStrike" cap="none">
                <a:solidFill>
                  <a:srgbClr val="334155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 qué significa la expresión en términos de permisos de acceso.</a:t>
            </a:r>
            <a:endParaRPr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173" name="Google Shape;173;p16"/>
          <p:cNvSpPr txBox="1"/>
          <p:nvPr/>
        </p:nvSpPr>
        <p:spPr>
          <a:xfrm>
            <a:off x="1232535" y="5559176"/>
            <a:ext cx="335280" cy="21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334155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2.</a:t>
            </a:r>
            <a:endParaRPr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174" name="Google Shape;174;p16"/>
          <p:cNvSpPr txBox="1"/>
          <p:nvPr/>
        </p:nvSpPr>
        <p:spPr>
          <a:xfrm>
            <a:off x="1400175" y="5489674"/>
            <a:ext cx="9725025" cy="350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1925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334155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Simplifica</a:t>
            </a:r>
            <a:r>
              <a:rPr lang="en-US" sz="1425" b="0" i="0" u="none" strike="noStrike" cap="none">
                <a:solidFill>
                  <a:srgbClr val="334155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 la expresión aplicando propiedades de conjuntos.</a:t>
            </a:r>
            <a:endParaRPr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175" name="Google Shape;175;p16"/>
          <p:cNvSpPr txBox="1"/>
          <p:nvPr/>
        </p:nvSpPr>
        <p:spPr>
          <a:xfrm>
            <a:off x="1232535" y="6020096"/>
            <a:ext cx="335280" cy="21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 dirty="0">
                <a:solidFill>
                  <a:srgbClr val="334155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3.</a:t>
            </a:r>
            <a:endParaRPr dirty="0"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176" name="Google Shape;176;p16"/>
          <p:cNvSpPr txBox="1"/>
          <p:nvPr/>
        </p:nvSpPr>
        <p:spPr>
          <a:xfrm>
            <a:off x="1400175" y="5950594"/>
            <a:ext cx="9725025" cy="70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1925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 dirty="0">
                <a:solidFill>
                  <a:srgbClr val="334155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Si 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los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 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empleados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 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están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 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organizados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 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en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 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los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 conjuntos: 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Calcula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 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el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 </a:t>
            </a:r>
            <a:r>
              <a:rPr lang="en-US" sz="1425" b="1" i="0" u="none" strike="noStrike" cap="none" dirty="0">
                <a:solidFill>
                  <a:srgbClr val="334155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conjunto </a:t>
            </a:r>
            <a:r>
              <a:rPr lang="en-US" sz="1425" b="1" i="0" u="none" strike="noStrike" cap="none" dirty="0" err="1">
                <a:solidFill>
                  <a:srgbClr val="334155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resultante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 de la 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expresión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 </a:t>
            </a:r>
            <a:r>
              <a:rPr lang="en-US" sz="1425" b="0" i="0" u="none" strike="noStrike" cap="none" dirty="0" err="1">
                <a:solidFill>
                  <a:srgbClr val="334155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simplificada</a:t>
            </a:r>
            <a:r>
              <a:rPr lang="en-US" sz="1425" b="0" i="0" u="none" strike="noStrike" cap="none" dirty="0">
                <a:solidFill>
                  <a:srgbClr val="334155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.</a:t>
            </a:r>
            <a:endParaRPr dirty="0"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177" name="Google Shape;177;p16"/>
          <p:cNvSpPr txBox="1"/>
          <p:nvPr/>
        </p:nvSpPr>
        <p:spPr>
          <a:xfrm>
            <a:off x="1028700" y="1872704"/>
            <a:ext cx="85725" cy="350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0F172A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•</a:t>
            </a:r>
            <a:endParaRPr>
              <a:latin typeface="Inter" panose="020B0604020202020204" charset="0"/>
              <a:ea typeface="Inter" panose="020B0604020202020204" charset="0"/>
            </a:endParaRPr>
          </a:p>
        </p:txBody>
      </p:sp>
      <p:pic>
        <p:nvPicPr>
          <p:cNvPr id="178" name="Google Shape;178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266825" y="1929854"/>
            <a:ext cx="133350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16"/>
          <p:cNvSpPr txBox="1"/>
          <p:nvPr/>
        </p:nvSpPr>
        <p:spPr>
          <a:xfrm>
            <a:off x="1028700" y="2276475"/>
            <a:ext cx="85725" cy="350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0F172A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•</a:t>
            </a:r>
            <a:endParaRPr>
              <a:latin typeface="Inter" panose="020B0604020202020204" charset="0"/>
              <a:ea typeface="Inter" panose="020B0604020202020204" charset="0"/>
            </a:endParaRPr>
          </a:p>
        </p:txBody>
      </p:sp>
      <p:pic>
        <p:nvPicPr>
          <p:cNvPr id="180" name="Google Shape;180;p1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266825" y="2324100"/>
            <a:ext cx="123825" cy="161925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16"/>
          <p:cNvSpPr txBox="1"/>
          <p:nvPr/>
        </p:nvSpPr>
        <p:spPr>
          <a:xfrm>
            <a:off x="1028700" y="2680246"/>
            <a:ext cx="85725" cy="350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0F172A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•</a:t>
            </a:r>
            <a:endParaRPr>
              <a:latin typeface="Inter" panose="020B0604020202020204" charset="0"/>
              <a:ea typeface="Inter" panose="020B0604020202020204" charset="0"/>
            </a:endParaRPr>
          </a:p>
        </p:txBody>
      </p:sp>
      <p:pic>
        <p:nvPicPr>
          <p:cNvPr id="182" name="Google Shape;182;p16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266825" y="2727871"/>
            <a:ext cx="123825" cy="161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16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2943225" y="6430566"/>
            <a:ext cx="1506289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16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4766370" y="6406157"/>
            <a:ext cx="1496317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16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6449468" y="6436075"/>
            <a:ext cx="1496317" cy="15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3" name="Google Shape;193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90525" y="390525"/>
            <a:ext cx="5562600" cy="6467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38875" y="390525"/>
            <a:ext cx="5676900" cy="6534150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17"/>
          <p:cNvSpPr txBox="1"/>
          <p:nvPr/>
        </p:nvSpPr>
        <p:spPr>
          <a:xfrm>
            <a:off x="638175" y="638175"/>
            <a:ext cx="5320665" cy="253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0F172A"/>
                </a:solidFill>
                <a:latin typeface="Inter" panose="020B0604020202020204" charset="0"/>
                <a:ea typeface="Inter" panose="020B0604020202020204" charset="0"/>
                <a:cs typeface="Inter ExtraBold"/>
                <a:sym typeface="Inter ExtraBold"/>
              </a:rPr>
              <a:t>Ejercicio 3: Análisis de Datos en Redes Sociales</a:t>
            </a:r>
            <a:endParaRPr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197" name="Google Shape;197;p17"/>
          <p:cNvSpPr txBox="1"/>
          <p:nvPr/>
        </p:nvSpPr>
        <p:spPr>
          <a:xfrm>
            <a:off x="638175" y="1028700"/>
            <a:ext cx="5067300" cy="6278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334155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Una plataforma de redes sociales analiza la actividad de sus usuarios:</a:t>
            </a:r>
            <a:endParaRPr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198" name="Google Shape;198;p17"/>
          <p:cNvSpPr txBox="1"/>
          <p:nvPr/>
        </p:nvSpPr>
        <p:spPr>
          <a:xfrm>
            <a:off x="638175" y="3049190"/>
            <a:ext cx="5067300" cy="6278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334155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Se formula la siguiente condición para analizar la actividad de los usuarios:</a:t>
            </a:r>
            <a:endParaRPr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199" name="Google Shape;199;p17"/>
          <p:cNvSpPr txBox="1"/>
          <p:nvPr/>
        </p:nvSpPr>
        <p:spPr>
          <a:xfrm>
            <a:off x="866775" y="4230000"/>
            <a:ext cx="4838700" cy="207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F172A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Preguntas:</a:t>
            </a:r>
            <a:endParaRPr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200" name="Google Shape;200;p17"/>
          <p:cNvSpPr txBox="1"/>
          <p:nvPr/>
        </p:nvSpPr>
        <p:spPr>
          <a:xfrm>
            <a:off x="6486525" y="638175"/>
            <a:ext cx="5320665" cy="50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0F172A"/>
                </a:solidFill>
                <a:latin typeface="Inter" panose="020B0604020202020204" charset="0"/>
                <a:ea typeface="Inter" panose="020B0604020202020204" charset="0"/>
                <a:cs typeface="Inter ExtraBold"/>
                <a:sym typeface="Inter ExtraBold"/>
              </a:rPr>
              <a:t>Ejercicio 4: Diagnóstico Médico Basado en Conjuntos</a:t>
            </a:r>
            <a:endParaRPr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201" name="Google Shape;201;p17"/>
          <p:cNvSpPr txBox="1"/>
          <p:nvPr/>
        </p:nvSpPr>
        <p:spPr>
          <a:xfrm>
            <a:off x="6486525" y="1276350"/>
            <a:ext cx="5067300" cy="3139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334155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Un hospital gestiona registros de pacientes según sus síntomas:</a:t>
            </a:r>
            <a:endParaRPr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202" name="Google Shape;202;p17"/>
          <p:cNvSpPr txBox="1"/>
          <p:nvPr/>
        </p:nvSpPr>
        <p:spPr>
          <a:xfrm>
            <a:off x="6486525" y="2778918"/>
            <a:ext cx="5067300" cy="6278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334155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Un algoritmo de diagnóstico utiliza la siguiente expresión para identificar casos críticos:</a:t>
            </a:r>
            <a:endParaRPr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203" name="Google Shape;203;p17"/>
          <p:cNvSpPr txBox="1"/>
          <p:nvPr/>
        </p:nvSpPr>
        <p:spPr>
          <a:xfrm>
            <a:off x="6715125" y="3959728"/>
            <a:ext cx="4838700" cy="207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0F172A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Preguntas:</a:t>
            </a:r>
            <a:endParaRPr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204" name="Google Shape;204;p17"/>
          <p:cNvSpPr txBox="1"/>
          <p:nvPr/>
        </p:nvSpPr>
        <p:spPr>
          <a:xfrm>
            <a:off x="971550" y="1641871"/>
            <a:ext cx="4733925" cy="6278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334155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= Usuarios que han publicado contenido en la última semana.</a:t>
            </a:r>
            <a:endParaRPr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205" name="Google Shape;205;p17"/>
          <p:cNvSpPr txBox="1"/>
          <p:nvPr/>
        </p:nvSpPr>
        <p:spPr>
          <a:xfrm>
            <a:off x="971550" y="2235993"/>
            <a:ext cx="4733925" cy="3139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334155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= Usuarios que han dado "Me gusta" a una publicación.</a:t>
            </a:r>
            <a:endParaRPr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206" name="Google Shape;206;p17"/>
          <p:cNvSpPr txBox="1"/>
          <p:nvPr/>
        </p:nvSpPr>
        <p:spPr>
          <a:xfrm>
            <a:off x="971550" y="2571154"/>
            <a:ext cx="4733925" cy="3139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334155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= Usuarios que han comentado una publicación.</a:t>
            </a:r>
            <a:endParaRPr>
              <a:latin typeface="Inter" panose="020B0604020202020204" charset="0"/>
              <a:ea typeface="Inter" panose="020B0604020202020204" charset="0"/>
            </a:endParaRPr>
          </a:p>
        </p:txBody>
      </p:sp>
      <p:pic>
        <p:nvPicPr>
          <p:cNvPr id="207" name="Google Shape;207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502098" y="3734544"/>
            <a:ext cx="1339453" cy="213568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p1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38175" y="4248150"/>
            <a:ext cx="13335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17"/>
          <p:cNvSpPr txBox="1"/>
          <p:nvPr/>
        </p:nvSpPr>
        <p:spPr>
          <a:xfrm>
            <a:off x="714375" y="4577715"/>
            <a:ext cx="114300" cy="3924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334155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1.</a:t>
            </a:r>
            <a:endParaRPr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210" name="Google Shape;210;p17"/>
          <p:cNvSpPr txBox="1"/>
          <p:nvPr/>
        </p:nvSpPr>
        <p:spPr>
          <a:xfrm>
            <a:off x="923925" y="4576762"/>
            <a:ext cx="4781550" cy="6278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334155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Explica qué representa la expresión en términos de comportamiento de los usuarios.</a:t>
            </a:r>
            <a:endParaRPr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211" name="Google Shape;211;p17"/>
          <p:cNvSpPr txBox="1"/>
          <p:nvPr/>
        </p:nvSpPr>
        <p:spPr>
          <a:xfrm>
            <a:off x="685800" y="5190886"/>
            <a:ext cx="142875" cy="3924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334155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2.</a:t>
            </a:r>
            <a:endParaRPr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212" name="Google Shape;212;p17"/>
          <p:cNvSpPr txBox="1"/>
          <p:nvPr/>
        </p:nvSpPr>
        <p:spPr>
          <a:xfrm>
            <a:off x="923925" y="5189934"/>
            <a:ext cx="4781550" cy="3139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2875" tIns="0" rIns="0" bIns="0" anchor="t" anchorCtr="0">
            <a:spAutoFit/>
          </a:bodyPr>
          <a:lstStyle/>
          <a:p>
            <a:pPr marL="0" marR="0" lvl="0" indent="0" algn="l" rtl="0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1" i="0" u="none" strike="noStrike" cap="none">
                <a:solidFill>
                  <a:srgbClr val="334155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Simplifica</a:t>
            </a:r>
            <a:r>
              <a:rPr lang="en-US" sz="1275" b="0" i="0" u="none" strike="noStrike" cap="none">
                <a:solidFill>
                  <a:srgbClr val="334155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 la expresión aplicando las Leyes de De Morgan.</a:t>
            </a:r>
            <a:endParaRPr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213" name="Google Shape;213;p17"/>
          <p:cNvSpPr txBox="1"/>
          <p:nvPr/>
        </p:nvSpPr>
        <p:spPr>
          <a:xfrm>
            <a:off x="676275" y="5573672"/>
            <a:ext cx="152400" cy="1962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334155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3.</a:t>
            </a:r>
            <a:endParaRPr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214" name="Google Shape;214;p17"/>
          <p:cNvSpPr txBox="1"/>
          <p:nvPr/>
        </p:nvSpPr>
        <p:spPr>
          <a:xfrm>
            <a:off x="923925" y="5572720"/>
            <a:ext cx="4781550" cy="12557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2400" tIns="0" rIns="0" bIns="0" anchor="t" anchorCtr="0">
            <a:spAutoFit/>
          </a:bodyPr>
          <a:lstStyle/>
          <a:p>
            <a:pPr marL="0" marR="0" lvl="0" indent="0" algn="l" rtl="0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 dirty="0">
                <a:solidFill>
                  <a:srgbClr val="334155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Si </a:t>
            </a:r>
            <a:r>
              <a:rPr lang="en-US" sz="1275" b="0" i="0" u="none" strike="noStrike" cap="none" dirty="0" err="1">
                <a:solidFill>
                  <a:srgbClr val="334155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los</a:t>
            </a:r>
            <a:r>
              <a:rPr lang="en-US" sz="1275" b="0" i="0" u="none" strike="noStrike" cap="none" dirty="0">
                <a:solidFill>
                  <a:srgbClr val="334155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 </a:t>
            </a:r>
            <a:r>
              <a:rPr lang="en-US" sz="1275" b="0" i="0" u="none" strike="noStrike" cap="none" dirty="0" err="1">
                <a:solidFill>
                  <a:srgbClr val="334155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usuarios</a:t>
            </a:r>
            <a:r>
              <a:rPr lang="en-US" sz="1275" b="0" i="0" u="none" strike="noStrike" cap="none" dirty="0">
                <a:solidFill>
                  <a:srgbClr val="334155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 </a:t>
            </a:r>
            <a:r>
              <a:rPr lang="en-US" sz="1275" b="0" i="0" u="none" strike="noStrike" cap="none" dirty="0" err="1">
                <a:solidFill>
                  <a:srgbClr val="334155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están</a:t>
            </a:r>
            <a:r>
              <a:rPr lang="en-US" sz="1275" b="0" i="0" u="none" strike="noStrike" cap="none" dirty="0">
                <a:solidFill>
                  <a:srgbClr val="334155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 </a:t>
            </a:r>
            <a:r>
              <a:rPr lang="en-US" sz="1275" b="0" i="0" u="none" strike="noStrike" cap="none" dirty="0" err="1">
                <a:solidFill>
                  <a:srgbClr val="334155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organizados</a:t>
            </a:r>
            <a:r>
              <a:rPr lang="en-US" sz="1275" b="0" i="0" u="none" strike="noStrike" cap="none" dirty="0">
                <a:solidFill>
                  <a:srgbClr val="334155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 </a:t>
            </a:r>
            <a:r>
              <a:rPr lang="en-US" sz="1275" b="0" i="0" u="none" strike="noStrike" cap="none" dirty="0" err="1">
                <a:solidFill>
                  <a:srgbClr val="334155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en</a:t>
            </a:r>
            <a:r>
              <a:rPr lang="en-US" sz="1275" b="0" i="0" u="none" strike="noStrike" cap="none" dirty="0">
                <a:solidFill>
                  <a:srgbClr val="334155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: </a:t>
            </a:r>
          </a:p>
          <a:p>
            <a:pPr marL="0" marR="0" lvl="0" indent="0" algn="l" rtl="0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275" dirty="0">
              <a:solidFill>
                <a:srgbClr val="334155"/>
              </a:solidFill>
              <a:latin typeface="Inter" panose="020B0604020202020204" charset="0"/>
              <a:ea typeface="Inter" panose="020B0604020202020204" charset="0"/>
              <a:cs typeface="Inter"/>
              <a:sym typeface="Inter"/>
            </a:endParaRPr>
          </a:p>
          <a:p>
            <a:pPr marL="0" marR="0" lvl="0" indent="0" algn="l" rtl="0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275" b="0" i="0" u="none" strike="noStrike" cap="none" dirty="0">
              <a:solidFill>
                <a:srgbClr val="334155"/>
              </a:solidFill>
              <a:latin typeface="Inter" panose="020B0604020202020204" charset="0"/>
              <a:ea typeface="Inter" panose="020B0604020202020204" charset="0"/>
              <a:cs typeface="Inter"/>
              <a:sym typeface="Inter"/>
            </a:endParaRPr>
          </a:p>
          <a:p>
            <a:pPr marL="0" marR="0" lvl="0" indent="0" algn="l" rtl="0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 dirty="0" err="1">
                <a:solidFill>
                  <a:srgbClr val="334155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Calcula</a:t>
            </a:r>
            <a:r>
              <a:rPr lang="en-US" sz="1275" b="0" i="0" u="none" strike="noStrike" cap="none" dirty="0">
                <a:solidFill>
                  <a:srgbClr val="334155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 </a:t>
            </a:r>
            <a:r>
              <a:rPr lang="en-US" sz="1275" b="0" i="0" u="none" strike="noStrike" cap="none" dirty="0" err="1">
                <a:solidFill>
                  <a:srgbClr val="334155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el</a:t>
            </a:r>
            <a:r>
              <a:rPr lang="en-US" sz="1275" b="0" i="0" u="none" strike="noStrike" cap="none" dirty="0">
                <a:solidFill>
                  <a:srgbClr val="334155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 </a:t>
            </a:r>
            <a:r>
              <a:rPr lang="en-US" sz="1275" b="1" i="0" u="none" strike="noStrike" cap="none" dirty="0">
                <a:solidFill>
                  <a:srgbClr val="334155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conjunto </a:t>
            </a:r>
            <a:r>
              <a:rPr lang="en-US" sz="1275" b="1" i="0" u="none" strike="noStrike" cap="none" dirty="0" err="1">
                <a:solidFill>
                  <a:srgbClr val="334155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resultante</a:t>
            </a:r>
            <a:r>
              <a:rPr lang="en-US" sz="1275" b="0" i="0" u="none" strike="noStrike" cap="none" dirty="0">
                <a:solidFill>
                  <a:srgbClr val="334155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 de la </a:t>
            </a:r>
            <a:r>
              <a:rPr lang="en-US" sz="1275" b="0" i="0" u="none" strike="noStrike" cap="none" dirty="0" err="1">
                <a:solidFill>
                  <a:srgbClr val="334155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expresión</a:t>
            </a:r>
            <a:r>
              <a:rPr lang="en-US" sz="1275" b="0" i="0" u="none" strike="noStrike" cap="none" dirty="0">
                <a:solidFill>
                  <a:srgbClr val="334155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.</a:t>
            </a:r>
            <a:endParaRPr dirty="0"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215" name="Google Shape;215;p17"/>
          <p:cNvSpPr txBox="1"/>
          <p:nvPr/>
        </p:nvSpPr>
        <p:spPr>
          <a:xfrm>
            <a:off x="6819900" y="1630560"/>
            <a:ext cx="4733925" cy="3139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334155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= Pacientes con fiebre.</a:t>
            </a:r>
            <a:endParaRPr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216" name="Google Shape;216;p17"/>
          <p:cNvSpPr txBox="1"/>
          <p:nvPr/>
        </p:nvSpPr>
        <p:spPr>
          <a:xfrm>
            <a:off x="6819900" y="1965721"/>
            <a:ext cx="4733925" cy="3139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334155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= Pacientes con dificultad para respirar.</a:t>
            </a:r>
            <a:endParaRPr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217" name="Google Shape;217;p17"/>
          <p:cNvSpPr txBox="1"/>
          <p:nvPr/>
        </p:nvSpPr>
        <p:spPr>
          <a:xfrm>
            <a:off x="6819900" y="2300882"/>
            <a:ext cx="4733925" cy="3139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334155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= Pacientes con fatiga severa.</a:t>
            </a:r>
            <a:endParaRPr>
              <a:latin typeface="Inter" panose="020B0604020202020204" charset="0"/>
              <a:ea typeface="Inter" panose="020B0604020202020204" charset="0"/>
            </a:endParaRPr>
          </a:p>
        </p:txBody>
      </p:sp>
      <p:pic>
        <p:nvPicPr>
          <p:cNvPr id="218" name="Google Shape;218;p17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487989" y="3487340"/>
            <a:ext cx="3064222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" name="Google Shape;219;p17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486525" y="3977878"/>
            <a:ext cx="13335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17"/>
          <p:cNvSpPr txBox="1"/>
          <p:nvPr/>
        </p:nvSpPr>
        <p:spPr>
          <a:xfrm>
            <a:off x="6562725" y="4307443"/>
            <a:ext cx="114300" cy="3924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334155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1.</a:t>
            </a:r>
            <a:endParaRPr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221" name="Google Shape;221;p17"/>
          <p:cNvSpPr txBox="1"/>
          <p:nvPr/>
        </p:nvSpPr>
        <p:spPr>
          <a:xfrm>
            <a:off x="6772275" y="4306490"/>
            <a:ext cx="4781550" cy="6278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1" i="0" u="none" strike="noStrike" cap="none">
                <a:solidFill>
                  <a:srgbClr val="334155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Simplifica</a:t>
            </a:r>
            <a:r>
              <a:rPr lang="en-US" sz="1275" b="0" i="0" u="none" strike="noStrike" cap="none">
                <a:solidFill>
                  <a:srgbClr val="334155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 la expresión aplicando las propiedades de conjuntos.</a:t>
            </a:r>
            <a:endParaRPr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222" name="Google Shape;222;p17"/>
          <p:cNvSpPr txBox="1"/>
          <p:nvPr/>
        </p:nvSpPr>
        <p:spPr>
          <a:xfrm>
            <a:off x="6534150" y="4920615"/>
            <a:ext cx="142875" cy="3924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334155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2.</a:t>
            </a:r>
            <a:endParaRPr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223" name="Google Shape;223;p17"/>
          <p:cNvSpPr txBox="1"/>
          <p:nvPr/>
        </p:nvSpPr>
        <p:spPr>
          <a:xfrm>
            <a:off x="6772275" y="4919662"/>
            <a:ext cx="4781550" cy="6278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2875" tIns="0" rIns="0" bIns="0" anchor="t" anchorCtr="0">
            <a:spAutoFit/>
          </a:bodyPr>
          <a:lstStyle/>
          <a:p>
            <a:pPr marL="0" marR="0" lvl="0" indent="0" algn="l" rtl="0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334155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¿Cómo se podría </a:t>
            </a:r>
            <a:r>
              <a:rPr lang="en-US" sz="1275" b="1" i="0" u="none" strike="noStrike" cap="none">
                <a:solidFill>
                  <a:srgbClr val="334155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interpretar médicamente</a:t>
            </a:r>
            <a:r>
              <a:rPr lang="en-US" sz="1275" b="0" i="0" u="none" strike="noStrike" cap="none">
                <a:solidFill>
                  <a:srgbClr val="334155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 el conjunto resultante?</a:t>
            </a:r>
            <a:endParaRPr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224" name="Google Shape;224;p17"/>
          <p:cNvSpPr txBox="1"/>
          <p:nvPr/>
        </p:nvSpPr>
        <p:spPr>
          <a:xfrm>
            <a:off x="6524625" y="5562361"/>
            <a:ext cx="152400" cy="1962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334155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3.</a:t>
            </a:r>
            <a:endParaRPr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225" name="Google Shape;225;p17"/>
          <p:cNvSpPr txBox="1"/>
          <p:nvPr/>
        </p:nvSpPr>
        <p:spPr>
          <a:xfrm>
            <a:off x="6772275" y="5561409"/>
            <a:ext cx="3138741" cy="12557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2400" tIns="0" rIns="0" bIns="0" anchor="t" anchorCtr="0">
            <a:spAutoFit/>
          </a:bodyPr>
          <a:lstStyle/>
          <a:p>
            <a:pPr marL="0" marR="0" lvl="0" indent="0" algn="l" rtl="0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 dirty="0">
                <a:solidFill>
                  <a:srgbClr val="334155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Si </a:t>
            </a:r>
            <a:r>
              <a:rPr lang="en-US" sz="1275" b="0" i="0" u="none" strike="noStrike" cap="none" dirty="0" err="1">
                <a:solidFill>
                  <a:srgbClr val="334155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los</a:t>
            </a:r>
            <a:r>
              <a:rPr lang="en-US" sz="1275" b="0" i="0" u="none" strike="noStrike" cap="none" dirty="0">
                <a:solidFill>
                  <a:srgbClr val="334155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 </a:t>
            </a:r>
            <a:r>
              <a:rPr lang="en-US" sz="1275" b="0" i="0" u="none" strike="noStrike" cap="none" dirty="0" err="1">
                <a:solidFill>
                  <a:srgbClr val="334155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pacientes</a:t>
            </a:r>
            <a:r>
              <a:rPr lang="en-US" sz="1275" b="0" i="0" u="none" strike="noStrike" cap="none" dirty="0">
                <a:solidFill>
                  <a:srgbClr val="334155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 se </a:t>
            </a:r>
            <a:r>
              <a:rPr lang="en-US" sz="1275" b="0" i="0" u="none" strike="noStrike" cap="none" dirty="0" err="1">
                <a:solidFill>
                  <a:srgbClr val="334155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organizan</a:t>
            </a:r>
            <a:r>
              <a:rPr lang="en-US" sz="1275" b="0" i="0" u="none" strike="noStrike" cap="none" dirty="0">
                <a:solidFill>
                  <a:srgbClr val="334155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 </a:t>
            </a:r>
            <a:r>
              <a:rPr lang="en-US" sz="1275" b="0" i="0" u="none" strike="noStrike" cap="none" dirty="0" err="1">
                <a:solidFill>
                  <a:srgbClr val="334155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como</a:t>
            </a:r>
            <a:r>
              <a:rPr lang="en-US" sz="1275" b="0" i="0" u="none" strike="noStrike" cap="none" dirty="0">
                <a:solidFill>
                  <a:srgbClr val="334155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: </a:t>
            </a:r>
          </a:p>
          <a:p>
            <a:pPr marL="0" marR="0" lvl="0" indent="0" algn="l" rtl="0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275" dirty="0">
              <a:solidFill>
                <a:srgbClr val="334155"/>
              </a:solidFill>
              <a:latin typeface="Inter" panose="020B0604020202020204" charset="0"/>
              <a:ea typeface="Inter" panose="020B0604020202020204" charset="0"/>
              <a:cs typeface="Inter"/>
              <a:sym typeface="Inter"/>
            </a:endParaRPr>
          </a:p>
          <a:p>
            <a:pPr marL="0" marR="0" lvl="0" indent="0" algn="l" rtl="0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 dirty="0" err="1">
                <a:solidFill>
                  <a:srgbClr val="334155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Calcula</a:t>
            </a:r>
            <a:r>
              <a:rPr lang="en-US" sz="1275" b="0" i="0" u="none" strike="noStrike" cap="none" dirty="0">
                <a:solidFill>
                  <a:srgbClr val="334155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 </a:t>
            </a:r>
            <a:r>
              <a:rPr lang="en-US" sz="1275" b="0" i="0" u="none" strike="noStrike" cap="none" dirty="0" err="1">
                <a:solidFill>
                  <a:srgbClr val="334155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el</a:t>
            </a:r>
            <a:r>
              <a:rPr lang="en-US" sz="1275" b="0" i="0" u="none" strike="noStrike" cap="none" dirty="0">
                <a:solidFill>
                  <a:srgbClr val="334155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 </a:t>
            </a:r>
            <a:r>
              <a:rPr lang="en-US" sz="1275" b="1" i="0" u="none" strike="noStrike" cap="none" dirty="0">
                <a:solidFill>
                  <a:srgbClr val="334155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conjunto </a:t>
            </a:r>
            <a:r>
              <a:rPr lang="en-US" sz="1275" b="1" i="0" u="none" strike="noStrike" cap="none" dirty="0" err="1">
                <a:solidFill>
                  <a:srgbClr val="334155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resultante</a:t>
            </a:r>
            <a:r>
              <a:rPr lang="en-US" sz="1275" b="0" i="0" u="none" strike="noStrike" cap="none" dirty="0">
                <a:solidFill>
                  <a:srgbClr val="334155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 de la </a:t>
            </a:r>
            <a:r>
              <a:rPr lang="en-US" sz="1275" b="0" i="0" u="none" strike="noStrike" cap="none" dirty="0" err="1">
                <a:solidFill>
                  <a:srgbClr val="334155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expresión</a:t>
            </a:r>
            <a:r>
              <a:rPr lang="en-US" sz="1275" b="0" i="0" u="none" strike="noStrike" cap="none" dirty="0">
                <a:solidFill>
                  <a:srgbClr val="334155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 </a:t>
            </a:r>
            <a:r>
              <a:rPr lang="en-US" sz="1275" b="0" i="0" u="none" strike="noStrike" cap="none" dirty="0" err="1">
                <a:solidFill>
                  <a:srgbClr val="334155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simplificada</a:t>
            </a:r>
            <a:r>
              <a:rPr lang="en-US" sz="1275" b="0" i="0" u="none" strike="noStrike" cap="none" dirty="0">
                <a:solidFill>
                  <a:srgbClr val="334155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.</a:t>
            </a:r>
            <a:endParaRPr dirty="0"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226" name="Google Shape;226;p17"/>
          <p:cNvSpPr txBox="1"/>
          <p:nvPr/>
        </p:nvSpPr>
        <p:spPr>
          <a:xfrm>
            <a:off x="581025" y="1719857"/>
            <a:ext cx="76200" cy="3139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1" i="0" u="none" strike="noStrike" cap="none">
                <a:solidFill>
                  <a:srgbClr val="0F172A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•</a:t>
            </a:r>
            <a:endParaRPr>
              <a:latin typeface="Inter" panose="020B0604020202020204" charset="0"/>
              <a:ea typeface="Inter" panose="020B0604020202020204" charset="0"/>
            </a:endParaRPr>
          </a:p>
        </p:txBody>
      </p:sp>
      <p:pic>
        <p:nvPicPr>
          <p:cNvPr id="227" name="Google Shape;227;p17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819150" y="1757957"/>
            <a:ext cx="133350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17"/>
          <p:cNvSpPr txBox="1"/>
          <p:nvPr/>
        </p:nvSpPr>
        <p:spPr>
          <a:xfrm>
            <a:off x="581025" y="2313979"/>
            <a:ext cx="76200" cy="3139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1" i="0" u="none" strike="noStrike" cap="none">
                <a:solidFill>
                  <a:srgbClr val="0F172A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•</a:t>
            </a:r>
            <a:endParaRPr>
              <a:latin typeface="Inter" panose="020B0604020202020204" charset="0"/>
              <a:ea typeface="Inter" panose="020B0604020202020204" charset="0"/>
            </a:endParaRPr>
          </a:p>
        </p:txBody>
      </p:sp>
      <p:pic>
        <p:nvPicPr>
          <p:cNvPr id="229" name="Google Shape;229;p17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819150" y="2342554"/>
            <a:ext cx="123825" cy="161925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17"/>
          <p:cNvSpPr txBox="1"/>
          <p:nvPr/>
        </p:nvSpPr>
        <p:spPr>
          <a:xfrm>
            <a:off x="581025" y="2649140"/>
            <a:ext cx="76200" cy="3139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1" i="0" u="none" strike="noStrike" cap="none">
                <a:solidFill>
                  <a:srgbClr val="0F172A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•</a:t>
            </a:r>
            <a:endParaRPr>
              <a:latin typeface="Inter" panose="020B0604020202020204" charset="0"/>
              <a:ea typeface="Inter" panose="020B0604020202020204" charset="0"/>
            </a:endParaRPr>
          </a:p>
        </p:txBody>
      </p:sp>
      <p:pic>
        <p:nvPicPr>
          <p:cNvPr id="231" name="Google Shape;231;p17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819150" y="2677715"/>
            <a:ext cx="123825" cy="161925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17"/>
          <p:cNvSpPr txBox="1"/>
          <p:nvPr/>
        </p:nvSpPr>
        <p:spPr>
          <a:xfrm>
            <a:off x="6365875" y="1656396"/>
            <a:ext cx="76200" cy="3139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1" i="0" u="none" strike="noStrike" cap="none">
                <a:solidFill>
                  <a:srgbClr val="0F172A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•</a:t>
            </a:r>
            <a:endParaRPr>
              <a:latin typeface="Inter" panose="020B0604020202020204" charset="0"/>
              <a:ea typeface="Inter" panose="020B0604020202020204" charset="0"/>
            </a:endParaRPr>
          </a:p>
        </p:txBody>
      </p:sp>
      <p:pic>
        <p:nvPicPr>
          <p:cNvPr id="233" name="Google Shape;233;p17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6604000" y="1694496"/>
            <a:ext cx="133350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17"/>
          <p:cNvSpPr txBox="1"/>
          <p:nvPr/>
        </p:nvSpPr>
        <p:spPr>
          <a:xfrm>
            <a:off x="6365875" y="1991557"/>
            <a:ext cx="76200" cy="3139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1" i="0" u="none" strike="noStrike" cap="none">
                <a:solidFill>
                  <a:srgbClr val="0F172A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•</a:t>
            </a:r>
            <a:endParaRPr>
              <a:latin typeface="Inter" panose="020B0604020202020204" charset="0"/>
              <a:ea typeface="Inter" panose="020B0604020202020204" charset="0"/>
            </a:endParaRPr>
          </a:p>
        </p:txBody>
      </p:sp>
      <p:pic>
        <p:nvPicPr>
          <p:cNvPr id="235" name="Google Shape;235;p17" descr="image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6604000" y="2020132"/>
            <a:ext cx="123825" cy="161925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17"/>
          <p:cNvSpPr txBox="1"/>
          <p:nvPr/>
        </p:nvSpPr>
        <p:spPr>
          <a:xfrm>
            <a:off x="6365875" y="2326718"/>
            <a:ext cx="76200" cy="3139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1" i="0" u="none" strike="noStrike" cap="none">
                <a:solidFill>
                  <a:srgbClr val="0F172A"/>
                </a:solidFill>
                <a:latin typeface="Inter" panose="020B0604020202020204" charset="0"/>
                <a:ea typeface="Inter" panose="020B0604020202020204" charset="0"/>
                <a:cs typeface="Inter"/>
                <a:sym typeface="Inter"/>
              </a:rPr>
              <a:t>•</a:t>
            </a:r>
            <a:endParaRPr>
              <a:latin typeface="Inter" panose="020B0604020202020204" charset="0"/>
              <a:ea typeface="Inter" panose="020B0604020202020204" charset="0"/>
            </a:endParaRPr>
          </a:p>
        </p:txBody>
      </p:sp>
      <p:pic>
        <p:nvPicPr>
          <p:cNvPr id="237" name="Google Shape;237;p17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6604000" y="2355293"/>
            <a:ext cx="123825" cy="161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9" name="Google Shape;239;p17" descr="image.png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4145013" y="5698442"/>
            <a:ext cx="1573708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1" name="Google Shape;241;p17" descr="image.png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4153496" y="5963058"/>
            <a:ext cx="156522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3" name="Google Shape;243;p17" descr="image.png"/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4153496" y="6254464"/>
            <a:ext cx="156522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5" name="Google Shape;245;p17" descr="image.png"/>
          <p:cNvPicPr preferRelativeResize="0"/>
          <p:nvPr/>
        </p:nvPicPr>
        <p:blipFill rotWithShape="1">
          <a:blip r:embed="rId17">
            <a:alphaModFix/>
          </a:blip>
          <a:srcRect/>
          <a:stretch/>
        </p:blipFill>
        <p:spPr>
          <a:xfrm>
            <a:off x="10187241" y="5980692"/>
            <a:ext cx="1573708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7" name="Google Shape;247;p17" descr="image.png"/>
          <p:cNvPicPr preferRelativeResize="0"/>
          <p:nvPr/>
        </p:nvPicPr>
        <p:blipFill rotWithShape="1">
          <a:blip r:embed="rId18">
            <a:alphaModFix/>
          </a:blip>
          <a:srcRect/>
          <a:stretch/>
        </p:blipFill>
        <p:spPr>
          <a:xfrm>
            <a:off x="10187241" y="6272097"/>
            <a:ext cx="1565225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9" name="Google Shape;249;p17" descr="image.png"/>
          <p:cNvPicPr preferRelativeResize="0"/>
          <p:nvPr/>
        </p:nvPicPr>
        <p:blipFill rotWithShape="1">
          <a:blip r:embed="rId19">
            <a:alphaModFix/>
          </a:blip>
          <a:srcRect/>
          <a:stretch/>
        </p:blipFill>
        <p:spPr>
          <a:xfrm>
            <a:off x="10187241" y="6563503"/>
            <a:ext cx="1565225" cy="15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190</TotalTime>
  <Words>1893</Words>
  <Application>Microsoft Office PowerPoint</Application>
  <PresentationFormat>Panorámica</PresentationFormat>
  <Paragraphs>254</Paragraphs>
  <Slides>26</Slides>
  <Notes>26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26</vt:i4>
      </vt:variant>
    </vt:vector>
  </HeadingPairs>
  <TitlesOfParts>
    <vt:vector size="31" baseType="lpstr">
      <vt:lpstr>Inter SemiBold</vt:lpstr>
      <vt:lpstr>Arial</vt:lpstr>
      <vt:lpstr>Calibri</vt:lpstr>
      <vt:lpstr>Inter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Sebastian Montoya Villada</dc:creator>
  <cp:lastModifiedBy>Sebastian Montoya Villada</cp:lastModifiedBy>
  <cp:revision>7</cp:revision>
  <dcterms:modified xsi:type="dcterms:W3CDTF">2026-03-20T14:51:07Z</dcterms:modified>
</cp:coreProperties>
</file>