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9144000"/>
  <p:embeddedFontLst>
    <p:embeddedFont>
      <p:font typeface="Inter" panose="020B0604020202020204" charset="0"/>
      <p:regular r:id="rId31"/>
      <p:bold r:id="rId32"/>
      <p:italic r:id="rId33"/>
      <p:boldItalic r:id="rId34"/>
    </p:embeddedFont>
    <p:embeddedFont>
      <p:font typeface="Inter Medium" panose="020B0604020202020204" charset="0"/>
      <p:regular r:id="rId35"/>
      <p:bold r:id="rId36"/>
      <p:italic r:id="rId37"/>
      <p:boldItalic r:id="rId38"/>
    </p:embeddedFont>
    <p:embeddedFont>
      <p:font typeface="Inter SemiBold" panose="020B0604020202020204" charset="0"/>
      <p:regular r:id="rId39"/>
      <p:bold r:id="rId40"/>
      <p:italic r:id="rId41"/>
      <p:boldItalic r:id="rId42"/>
    </p:embeddedFont>
    <p:embeddedFont>
      <p:font typeface="Lato" panose="020F0502020204030203" pitchFamily="34" charset="0"/>
      <p:regular r:id="rId43"/>
      <p:bold r:id="rId44"/>
    </p:embeddedFont>
    <p:embeddedFont>
      <p:font typeface="Poppins" panose="00000500000000000000" pitchFamily="2" charset="0"/>
      <p:regular r:id="rId45"/>
      <p:bold r:id="rId46"/>
      <p:italic r:id="rId47"/>
      <p:boldItalic r:id="rId48"/>
    </p:embeddedFont>
    <p:embeddedFont>
      <p:font typeface="Poppins SemiBold" panose="00000700000000000000" pitchFamily="2" charset="0"/>
      <p:bold r:id="rId49"/>
    </p:embeddedFont>
    <p:embeddedFont>
      <p:font typeface="Roboto Mono" panose="00000009000000000000" pitchFamily="49" charset="0"/>
      <p:regular r:id="rId50"/>
      <p:bold r:id="rId51"/>
      <p:italic r:id="rId52"/>
      <p:boldItalic r:id="rId53"/>
    </p:embeddedFont>
    <p:embeddedFont>
      <p:font typeface="Roboto Mono SemiBold" panose="020B0604020202020204" charset="0"/>
      <p:regular r:id="rId54"/>
      <p:bold r:id="rId55"/>
      <p:italic r:id="rId56"/>
      <p:boldItalic r:id="rId5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78" y="10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9.fntdata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42" Type="http://schemas.openxmlformats.org/officeDocument/2006/relationships/font" Target="fonts/font12.fntdata"/><Relationship Id="rId47" Type="http://schemas.openxmlformats.org/officeDocument/2006/relationships/font" Target="fonts/font17.fntdata"/><Relationship Id="rId50" Type="http://schemas.openxmlformats.org/officeDocument/2006/relationships/font" Target="fonts/font20.fntdata"/><Relationship Id="rId55" Type="http://schemas.openxmlformats.org/officeDocument/2006/relationships/font" Target="fonts/font25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font" Target="fonts/font10.fntdata"/><Relationship Id="rId45" Type="http://schemas.openxmlformats.org/officeDocument/2006/relationships/font" Target="fonts/font15.fntdata"/><Relationship Id="rId53" Type="http://schemas.openxmlformats.org/officeDocument/2006/relationships/font" Target="fonts/font23.fntdata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43" Type="http://schemas.openxmlformats.org/officeDocument/2006/relationships/font" Target="fonts/font13.fntdata"/><Relationship Id="rId48" Type="http://schemas.openxmlformats.org/officeDocument/2006/relationships/font" Target="fonts/font18.fntdata"/><Relationship Id="rId56" Type="http://schemas.openxmlformats.org/officeDocument/2006/relationships/font" Target="fonts/font26.fntdata"/><Relationship Id="rId8" Type="http://schemas.openxmlformats.org/officeDocument/2006/relationships/slide" Target="slides/slide7.xml"/><Relationship Id="rId51" Type="http://schemas.openxmlformats.org/officeDocument/2006/relationships/font" Target="fonts/font21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font" Target="fonts/font8.fntdata"/><Relationship Id="rId46" Type="http://schemas.openxmlformats.org/officeDocument/2006/relationships/font" Target="fonts/font16.fntdata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font" Target="fonts/font11.fntdata"/><Relationship Id="rId54" Type="http://schemas.openxmlformats.org/officeDocument/2006/relationships/font" Target="fonts/font2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49" Type="http://schemas.openxmlformats.org/officeDocument/2006/relationships/font" Target="fonts/font19.fntdata"/><Relationship Id="rId57" Type="http://schemas.openxmlformats.org/officeDocument/2006/relationships/font" Target="fonts/font27.fntdata"/><Relationship Id="rId10" Type="http://schemas.openxmlformats.org/officeDocument/2006/relationships/slide" Target="slides/slide9.xml"/><Relationship Id="rId31" Type="http://schemas.openxmlformats.org/officeDocument/2006/relationships/font" Target="fonts/font1.fntdata"/><Relationship Id="rId44" Type="http://schemas.openxmlformats.org/officeDocument/2006/relationships/font" Target="fonts/font14.fntdata"/><Relationship Id="rId52" Type="http://schemas.openxmlformats.org/officeDocument/2006/relationships/font" Target="fonts/font22.fntdata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.pn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1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1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1.pn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1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Relationship Id="rId9" Type="http://schemas.openxmlformats.org/officeDocument/2006/relationships/image" Target="../media/image6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3" Type="http://schemas.openxmlformats.org/officeDocument/2006/relationships/image" Target="../media/image1.png"/><Relationship Id="rId7" Type="http://schemas.openxmlformats.org/officeDocument/2006/relationships/image" Target="../media/image8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83.png"/><Relationship Id="rId9" Type="http://schemas.openxmlformats.org/officeDocument/2006/relationships/image" Target="../media/image88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3" Type="http://schemas.openxmlformats.org/officeDocument/2006/relationships/image" Target="../media/image89.png"/><Relationship Id="rId7" Type="http://schemas.openxmlformats.org/officeDocument/2006/relationships/image" Target="../media/image93.png"/><Relationship Id="rId12" Type="http://schemas.openxmlformats.org/officeDocument/2006/relationships/image" Target="../media/image9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2.png"/><Relationship Id="rId11" Type="http://schemas.openxmlformats.org/officeDocument/2006/relationships/image" Target="../media/image97.png"/><Relationship Id="rId5" Type="http://schemas.openxmlformats.org/officeDocument/2006/relationships/image" Target="../media/image91.png"/><Relationship Id="rId10" Type="http://schemas.openxmlformats.org/officeDocument/2006/relationships/image" Target="../media/image96.png"/><Relationship Id="rId4" Type="http://schemas.openxmlformats.org/officeDocument/2006/relationships/image" Target="../media/image90.png"/><Relationship Id="rId9" Type="http://schemas.openxmlformats.org/officeDocument/2006/relationships/image" Target="../media/image95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3" Type="http://schemas.openxmlformats.org/officeDocument/2006/relationships/image" Target="../media/image99.png"/><Relationship Id="rId7" Type="http://schemas.openxmlformats.org/officeDocument/2006/relationships/image" Target="../media/image102.png"/><Relationship Id="rId12" Type="http://schemas.openxmlformats.org/officeDocument/2006/relationships/image" Target="../media/image10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1.png"/><Relationship Id="rId11" Type="http://schemas.openxmlformats.org/officeDocument/2006/relationships/image" Target="../media/image96.png"/><Relationship Id="rId5" Type="http://schemas.openxmlformats.org/officeDocument/2006/relationships/image" Target="../media/image100.png"/><Relationship Id="rId10" Type="http://schemas.openxmlformats.org/officeDocument/2006/relationships/image" Target="../media/image104.png"/><Relationship Id="rId4" Type="http://schemas.openxmlformats.org/officeDocument/2006/relationships/image" Target="../media/image90.png"/><Relationship Id="rId9" Type="http://schemas.openxmlformats.org/officeDocument/2006/relationships/image" Target="../media/image103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3" Type="http://schemas.openxmlformats.org/officeDocument/2006/relationships/image" Target="../media/image89.png"/><Relationship Id="rId7" Type="http://schemas.openxmlformats.org/officeDocument/2006/relationships/image" Target="../media/image10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2.png"/><Relationship Id="rId5" Type="http://schemas.openxmlformats.org/officeDocument/2006/relationships/image" Target="../media/image106.png"/><Relationship Id="rId10" Type="http://schemas.openxmlformats.org/officeDocument/2006/relationships/image" Target="../media/image109.png"/><Relationship Id="rId4" Type="http://schemas.openxmlformats.org/officeDocument/2006/relationships/image" Target="../media/image90.png"/><Relationship Id="rId9" Type="http://schemas.openxmlformats.org/officeDocument/2006/relationships/image" Target="../media/image96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png"/><Relationship Id="rId3" Type="http://schemas.openxmlformats.org/officeDocument/2006/relationships/image" Target="../media/image99.png"/><Relationship Id="rId7" Type="http://schemas.openxmlformats.org/officeDocument/2006/relationships/image" Target="../media/image11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2.png"/><Relationship Id="rId5" Type="http://schemas.openxmlformats.org/officeDocument/2006/relationships/image" Target="../media/image110.png"/><Relationship Id="rId10" Type="http://schemas.openxmlformats.org/officeDocument/2006/relationships/image" Target="../media/image95.png"/><Relationship Id="rId4" Type="http://schemas.openxmlformats.org/officeDocument/2006/relationships/image" Target="../media/image90.png"/><Relationship Id="rId9" Type="http://schemas.openxmlformats.org/officeDocument/2006/relationships/image" Target="../media/image11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7" Type="http://schemas.openxmlformats.org/officeDocument/2006/relationships/image" Target="../media/image11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7.png"/><Relationship Id="rId5" Type="http://schemas.openxmlformats.org/officeDocument/2006/relationships/image" Target="../media/image116.png"/><Relationship Id="rId4" Type="http://schemas.openxmlformats.org/officeDocument/2006/relationships/image" Target="../media/image115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png"/><Relationship Id="rId13" Type="http://schemas.openxmlformats.org/officeDocument/2006/relationships/image" Target="../media/image127.png"/><Relationship Id="rId3" Type="http://schemas.openxmlformats.org/officeDocument/2006/relationships/image" Target="../media/image89.png"/><Relationship Id="rId7" Type="http://schemas.openxmlformats.org/officeDocument/2006/relationships/image" Target="../media/image121.png"/><Relationship Id="rId12" Type="http://schemas.openxmlformats.org/officeDocument/2006/relationships/image" Target="../media/image12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0.png"/><Relationship Id="rId11" Type="http://schemas.openxmlformats.org/officeDocument/2006/relationships/image" Target="../media/image125.png"/><Relationship Id="rId5" Type="http://schemas.openxmlformats.org/officeDocument/2006/relationships/image" Target="../media/image119.png"/><Relationship Id="rId10" Type="http://schemas.openxmlformats.org/officeDocument/2006/relationships/image" Target="../media/image124.png"/><Relationship Id="rId4" Type="http://schemas.openxmlformats.org/officeDocument/2006/relationships/image" Target="../media/image90.png"/><Relationship Id="rId9" Type="http://schemas.openxmlformats.org/officeDocument/2006/relationships/image" Target="../media/image123.png"/><Relationship Id="rId14" Type="http://schemas.openxmlformats.org/officeDocument/2006/relationships/image" Target="../media/image1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48150" y="2041177"/>
            <a:ext cx="3695700" cy="35242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333500" y="2622390"/>
            <a:ext cx="9174079" cy="863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100" b="1" i="0" u="none" strike="noStrike" cap="none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El </a:t>
            </a:r>
            <a:r>
              <a:rPr lang="en-US" sz="5100" b="1" i="0" u="none" strike="noStrike" cap="none" dirty="0" err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Producto</a:t>
            </a:r>
            <a:r>
              <a:rPr lang="en-US" sz="5100" b="1" i="0" u="none" strike="noStrike" cap="none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5100" b="1" i="0" u="none" strike="noStrike" cap="none" dirty="0" err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Cartesiano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1333500" y="3820417"/>
            <a:ext cx="9525000" cy="85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De la abstracción matemática a la lógica de programación y el diseño de bases de datos relacionales.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Objetivos de la Sesión</a:t>
            </a:r>
            <a:endParaRPr/>
          </a:p>
        </p:txBody>
      </p:sp>
      <p:sp>
        <p:nvSpPr>
          <p:cNvPr id="94" name="Google Shape;94;p14"/>
          <p:cNvSpPr/>
          <p:nvPr/>
        </p:nvSpPr>
        <p:spPr>
          <a:xfrm>
            <a:off x="571500" y="1200150"/>
            <a:ext cx="11049000" cy="28575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1000125" y="2256680"/>
            <a:ext cx="10620375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Comprender la base:</a:t>
            </a:r>
            <a:r>
              <a:rPr lang="en-US" sz="15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Explorar la anatomía del Producto Cartesiano y sus propiedades matemáticas fundamentales.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1000125" y="3182391"/>
            <a:ext cx="10620375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Modelar problemas:</a:t>
            </a:r>
            <a:r>
              <a:rPr lang="en-US" sz="15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Aplicar el mundo de los conjuntos para representar la realidad utilizando pares y tuplas ordenadas.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1000125" y="4108102"/>
            <a:ext cx="10620375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Demostrar su utilidad:</a:t>
            </a:r>
            <a:r>
              <a:rPr lang="en-US" sz="15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Evidenciar cómo esta operación matemática es el motor detrás de las Bases de Datos (SQL) y la algoritmia.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1000125" y="5033813"/>
            <a:ext cx="10620375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Resolver retos:</a:t>
            </a:r>
            <a:r>
              <a:rPr lang="en-US" sz="15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Desarrollar lógica estructurada solucionando problemas técnicos reales (sistemas y juegos).</a:t>
            </a:r>
            <a:endParaRPr/>
          </a:p>
        </p:txBody>
      </p:sp>
      <p:pic>
        <p:nvPicPr>
          <p:cNvPr id="99" name="Google Shape;99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90018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215729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141440"/>
            <a:ext cx="21907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5067151"/>
            <a:ext cx="247650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39540"/>
            <a:ext cx="5286375" cy="38169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039540"/>
            <a:ext cx="5286375" cy="3816994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1. Definición Formal</a:t>
            </a:r>
            <a:endParaRPr/>
          </a:p>
        </p:txBody>
      </p:sp>
      <p:sp>
        <p:nvSpPr>
          <p:cNvPr id="111" name="Google Shape;111;p15"/>
          <p:cNvSpPr/>
          <p:nvPr/>
        </p:nvSpPr>
        <p:spPr>
          <a:xfrm>
            <a:off x="571500" y="1200150"/>
            <a:ext cx="11049000" cy="28575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962025" y="2430065"/>
            <a:ext cx="4730591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Concepto Matemático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962025" y="2868215"/>
            <a:ext cx="4505325" cy="959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Dados dos conjuntos no vacíos </a:t>
            </a:r>
            <a:r>
              <a:rPr lang="en-US" sz="1575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r>
              <a:rPr lang="en-US" sz="15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y </a:t>
            </a:r>
            <a:r>
              <a:rPr lang="en-US" sz="1575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</a:t>
            </a:r>
            <a:r>
              <a:rPr lang="en-US" sz="15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, el producto cartesiano (</a:t>
            </a:r>
            <a:r>
              <a:rPr lang="en-US" sz="1575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 × B</a:t>
            </a:r>
            <a:r>
              <a:rPr lang="en-US" sz="15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) es el conjunto de </a:t>
            </a:r>
            <a:r>
              <a:rPr lang="en-US" sz="1575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todos los posibles pares ordenados</a:t>
            </a:r>
            <a:r>
              <a:rPr lang="en-US" sz="15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(a, b).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6724650" y="2430065"/>
            <a:ext cx="4730591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Componentes Clave</a:t>
            </a:r>
            <a:endParaRPr/>
          </a:p>
        </p:txBody>
      </p:sp>
      <p:pic>
        <p:nvPicPr>
          <p:cNvPr id="115" name="Google Shape;115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01476" y="4199632"/>
            <a:ext cx="4226421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7153275" y="2963465"/>
            <a:ext cx="4076700" cy="868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El Par Ordenado (a, b):</a:t>
            </a:r>
            <a:r>
              <a:rPr lang="en-US" sz="14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No es una lista. El orden es estricto; el primer elemento siempre proviene de A, y el segundo proviene de B.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7153275" y="4022377"/>
            <a:ext cx="4076700" cy="1157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El Resultado:</a:t>
            </a:r>
            <a:r>
              <a:rPr lang="en-US" sz="14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La operación no genera un número ni una secuencia, sino un </a:t>
            </a:r>
            <a:r>
              <a:rPr lang="en-US" sz="1425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nuevo conjunto</a:t>
            </a:r>
            <a:r>
              <a:rPr lang="en-US" sz="14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construido enteramente por combinaciones.</a:t>
            </a:r>
            <a:endParaRPr/>
          </a:p>
        </p:txBody>
      </p:sp>
      <p:pic>
        <p:nvPicPr>
          <p:cNvPr id="118" name="Google Shape;118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24650" y="2996803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724650" y="4055715"/>
            <a:ext cx="219075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984325"/>
            <a:ext cx="5286375" cy="3927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34150" y="4024312"/>
            <a:ext cx="4886325" cy="133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34150" y="2662237"/>
            <a:ext cx="2252662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167812" y="2538412"/>
            <a:ext cx="2252662" cy="1200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Ejemplo: Configurador de E-commerce</a:t>
            </a:r>
            <a:endParaRPr/>
          </a:p>
        </p:txBody>
      </p:sp>
      <p:sp>
        <p:nvSpPr>
          <p:cNvPr id="130" name="Google Shape;130;p16"/>
          <p:cNvSpPr/>
          <p:nvPr/>
        </p:nvSpPr>
        <p:spPr>
          <a:xfrm>
            <a:off x="571500" y="1200150"/>
            <a:ext cx="11049000" cy="28575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6"/>
          <p:cNvSpPr txBox="1"/>
          <p:nvPr/>
        </p:nvSpPr>
        <p:spPr>
          <a:xfrm>
            <a:off x="571500" y="1984325"/>
            <a:ext cx="5286375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Generación automática del catálogo base combinando especificaciones técnicas de hardware.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1000125" y="2814786"/>
            <a:ext cx="4857750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Procesador (P):</a:t>
            </a:r>
            <a:r>
              <a:rPr lang="en-US" sz="15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Define las opciones de CPU disponibles para el equipo.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1000125" y="3740497"/>
            <a:ext cx="4857750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Memoria RAM (R):</a:t>
            </a:r>
            <a:r>
              <a:rPr lang="en-US" sz="15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Define las capacidades de memoria volátil a instalar.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1000125" y="4666208"/>
            <a:ext cx="4857750" cy="959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Inventario Total:</a:t>
            </a:r>
            <a:r>
              <a:rPr lang="en-US" sz="15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El producto P × R genera de forma sistemática todas las configuraciones disponibles para la venta.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8882062" y="3038475"/>
            <a:ext cx="1905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×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6632019" y="4233862"/>
            <a:ext cx="4690586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Catálogo Resultante (P × R)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6743700" y="4576762"/>
            <a:ext cx="44672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Roboto Mono"/>
                <a:ea typeface="Roboto Mono"/>
                <a:cs typeface="Roboto Mono"/>
                <a:sym typeface="Roboto Mono"/>
              </a:rPr>
              <a:t>{ ('i5', '8GB'), ('i5', '16GB'),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1E293B"/>
                </a:solidFill>
                <a:latin typeface="Roboto Mono"/>
                <a:ea typeface="Roboto Mono"/>
                <a:cs typeface="Roboto Mono"/>
                <a:sym typeface="Roboto Mono"/>
              </a:rPr>
              <a:t> ('i7', '8GB'), ('i7', '16GB') }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6697860" y="2871787"/>
            <a:ext cx="192524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PROCESADOR (P)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6743700" y="3157537"/>
            <a:ext cx="1833562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Roboto Mono"/>
                <a:ea typeface="Roboto Mono"/>
                <a:cs typeface="Roboto Mono"/>
                <a:sym typeface="Roboto Mono"/>
              </a:rPr>
              <a:t>{ 'i5', 'i7' }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9331523" y="2747962"/>
            <a:ext cx="192524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MEMORIA RAM (R)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9377361" y="3033712"/>
            <a:ext cx="1945243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1E293B"/>
                </a:solidFill>
                <a:latin typeface="Roboto Mono"/>
                <a:ea typeface="Roboto Mono"/>
                <a:cs typeface="Roboto Mono"/>
                <a:sym typeface="Roboto Mono"/>
              </a:rPr>
              <a:t>{ '8GB', '16GB' }</a:t>
            </a:r>
            <a:endParaRPr dirty="0"/>
          </a:p>
        </p:txBody>
      </p:sp>
      <p:pic>
        <p:nvPicPr>
          <p:cNvPr id="142" name="Google Shape;142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2848123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71500" y="3773834"/>
            <a:ext cx="27622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71500" y="4699545"/>
            <a:ext cx="314325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609725"/>
            <a:ext cx="6449169" cy="50686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496919" y="1609725"/>
            <a:ext cx="4123580" cy="5040063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7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Extensión a Múltiples Dimensiones</a:t>
            </a:r>
            <a:endParaRPr/>
          </a:p>
        </p:txBody>
      </p:sp>
      <p:sp>
        <p:nvSpPr>
          <p:cNvPr id="153" name="Google Shape;153;p17"/>
          <p:cNvSpPr/>
          <p:nvPr/>
        </p:nvSpPr>
        <p:spPr>
          <a:xfrm>
            <a:off x="571500" y="1200150"/>
            <a:ext cx="11049000" cy="28575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 txBox="1"/>
          <p:nvPr/>
        </p:nvSpPr>
        <p:spPr>
          <a:xfrm>
            <a:off x="962025" y="2000250"/>
            <a:ext cx="595152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Más Allá de Dos Conjuntos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962025" y="2438400"/>
            <a:ext cx="5668119" cy="959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El producto cartesiano escala. Si al e-commerce anterior agregamos un tercer conjunto (Almacenamiento S), ya no tenemos pares, sino </a:t>
            </a:r>
            <a:r>
              <a:rPr lang="en-US" sz="1575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ternas ordenadas</a:t>
            </a:r>
            <a:r>
              <a:rPr lang="en-US" sz="15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(p, r, s).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7887444" y="2000250"/>
            <a:ext cx="3509657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Continuando el Ejemplo...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7887444" y="2438400"/>
            <a:ext cx="3342530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Añadimos el conjunto S (Unidad SSD):</a:t>
            </a:r>
            <a:endParaRPr/>
          </a:p>
        </p:txBody>
      </p:sp>
      <p:pic>
        <p:nvPicPr>
          <p:cNvPr id="158" name="Google Shape;158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887444" y="3221235"/>
            <a:ext cx="3342530" cy="48384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 txBox="1"/>
          <p:nvPr/>
        </p:nvSpPr>
        <p:spPr>
          <a:xfrm>
            <a:off x="7887444" y="3895576"/>
            <a:ext cx="3342530" cy="959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El </a:t>
            </a:r>
            <a:r>
              <a:rPr lang="en-US" sz="157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resultado</a:t>
            </a:r>
            <a:r>
              <a:rPr lang="en-US" sz="15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final </a:t>
            </a:r>
            <a:r>
              <a:rPr lang="en-US" sz="1575" b="1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 × R × S</a:t>
            </a:r>
            <a:r>
              <a:rPr lang="en-US" sz="15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7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agrupa</a:t>
            </a:r>
            <a:r>
              <a:rPr lang="en-US" sz="15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7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combinaciones</a:t>
            </a:r>
            <a:r>
              <a:rPr lang="en-US" sz="15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7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secuenciales</a:t>
            </a:r>
            <a:r>
              <a:rPr lang="en-US" sz="15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7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en</a:t>
            </a:r>
            <a:r>
              <a:rPr lang="en-US" sz="15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ternas:</a:t>
            </a:r>
            <a:endParaRPr dirty="0"/>
          </a:p>
        </p:txBody>
      </p:sp>
      <p:pic>
        <p:nvPicPr>
          <p:cNvPr id="160" name="Google Shape;160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62025" y="3769816"/>
            <a:ext cx="5668119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7"/>
          <p:cNvSpPr txBox="1"/>
          <p:nvPr/>
        </p:nvSpPr>
        <p:spPr>
          <a:xfrm>
            <a:off x="8070423" y="5025686"/>
            <a:ext cx="3326677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 dirty="0">
                <a:solidFill>
                  <a:srgbClr val="475569"/>
                </a:solidFill>
                <a:latin typeface="Roboto Mono"/>
                <a:ea typeface="Roboto Mono"/>
                <a:cs typeface="Roboto Mono"/>
                <a:sym typeface="Roboto Mono"/>
              </a:rPr>
              <a:t>('i5', '8GB', '256GB')</a:t>
            </a:r>
            <a:endParaRPr dirty="0"/>
          </a:p>
        </p:txBody>
      </p:sp>
      <p:sp>
        <p:nvSpPr>
          <p:cNvPr id="162" name="Google Shape;162;p17"/>
          <p:cNvSpPr txBox="1"/>
          <p:nvPr/>
        </p:nvSpPr>
        <p:spPr>
          <a:xfrm>
            <a:off x="8070423" y="5421867"/>
            <a:ext cx="3326677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 dirty="0">
                <a:solidFill>
                  <a:srgbClr val="475569"/>
                </a:solidFill>
                <a:latin typeface="Roboto Mono"/>
                <a:ea typeface="Roboto Mono"/>
                <a:cs typeface="Roboto Mono"/>
                <a:sym typeface="Roboto Mono"/>
              </a:rPr>
              <a:t>('i5', '8GB', '512GB')</a:t>
            </a:r>
            <a:endParaRPr dirty="0"/>
          </a:p>
        </p:txBody>
      </p:sp>
      <p:sp>
        <p:nvSpPr>
          <p:cNvPr id="163" name="Google Shape;163;p17"/>
          <p:cNvSpPr txBox="1"/>
          <p:nvPr/>
        </p:nvSpPr>
        <p:spPr>
          <a:xfrm>
            <a:off x="8070423" y="5807242"/>
            <a:ext cx="3326677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475569"/>
                </a:solidFill>
                <a:latin typeface="Roboto Mono"/>
                <a:ea typeface="Roboto Mono"/>
                <a:cs typeface="Roboto Mono"/>
                <a:sym typeface="Roboto Mono"/>
              </a:rPr>
              <a:t>... hasta completar 8 elementos (2×2×2)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797546"/>
            <a:ext cx="3233737" cy="43011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090987" y="1797546"/>
            <a:ext cx="3233737" cy="43011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10475" y="1797546"/>
            <a:ext cx="4010173" cy="4301132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8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2. Propiedades Matemáticas Clave</a:t>
            </a:r>
            <a:endParaRPr/>
          </a:p>
        </p:txBody>
      </p:sp>
      <p:sp>
        <p:nvSpPr>
          <p:cNvPr id="173" name="Google Shape;173;p18"/>
          <p:cNvSpPr/>
          <p:nvPr/>
        </p:nvSpPr>
        <p:spPr>
          <a:xfrm>
            <a:off x="571500" y="1200150"/>
            <a:ext cx="11049000" cy="28575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8"/>
          <p:cNvSpPr txBox="1"/>
          <p:nvPr/>
        </p:nvSpPr>
        <p:spPr>
          <a:xfrm>
            <a:off x="914400" y="2816721"/>
            <a:ext cx="2675334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NO es Conmutativo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914400" y="3254871"/>
            <a:ext cx="2547937" cy="1919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El orden es vital. Intercambiar posiciones genera conjuntos distintos. Coordenadas (10, 5) no equivalen a (5, 10).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4433887" y="2816721"/>
            <a:ext cx="2675334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Cardinalidad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4433887" y="3254871"/>
            <a:ext cx="2547937" cy="1599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Para saber el número exacto de elementos resultantes (Regla del Producto), se multiplican los tamaños de origen.</a:t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7953375" y="2816721"/>
            <a:ext cx="3490592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Distributividad</a:t>
            </a:r>
            <a:endParaRPr/>
          </a:p>
        </p:txBody>
      </p:sp>
      <p:sp>
        <p:nvSpPr>
          <p:cNvPr id="179" name="Google Shape;179;p18"/>
          <p:cNvSpPr txBox="1"/>
          <p:nvPr/>
        </p:nvSpPr>
        <p:spPr>
          <a:xfrm>
            <a:off x="7953375" y="3254871"/>
            <a:ext cx="3324373" cy="1279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 distribuye impecablemente sobre operaciones lógicas de unión o intersección, facilitando los cálculos.</a:t>
            </a:r>
            <a:endParaRPr/>
          </a:p>
        </p:txBody>
      </p:sp>
      <p:pic>
        <p:nvPicPr>
          <p:cNvPr id="180" name="Google Shape;180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14400" y="2178546"/>
            <a:ext cx="36195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546621" y="5384303"/>
            <a:ext cx="1283344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433887" y="2178546"/>
            <a:ext cx="276225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8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613671" y="5384303"/>
            <a:ext cx="2188219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8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953375" y="2178546"/>
            <a:ext cx="409575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8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953375" y="5374778"/>
            <a:ext cx="3324373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9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3. Aplicaciones en Programación</a:t>
            </a:r>
            <a:endParaRPr/>
          </a:p>
        </p:txBody>
      </p:sp>
      <p:sp>
        <p:nvSpPr>
          <p:cNvPr id="196" name="Google Shape;196;p19"/>
          <p:cNvSpPr/>
          <p:nvPr/>
        </p:nvSpPr>
        <p:spPr>
          <a:xfrm>
            <a:off x="571500" y="1200150"/>
            <a:ext cx="11049000" cy="28575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24058BD-808C-455A-1907-5BA85962D1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257" y="1504685"/>
            <a:ext cx="10868593" cy="506522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0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4. Fundamento de Bases de Datos (SQL)</a:t>
            </a:r>
            <a:endParaRPr/>
          </a:p>
        </p:txBody>
      </p:sp>
      <p:sp>
        <p:nvSpPr>
          <p:cNvPr id="207" name="Google Shape;207;p20"/>
          <p:cNvSpPr/>
          <p:nvPr/>
        </p:nvSpPr>
        <p:spPr>
          <a:xfrm>
            <a:off x="571500" y="1200150"/>
            <a:ext cx="11049000" cy="28575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0"/>
          <p:cNvSpPr txBox="1"/>
          <p:nvPr/>
        </p:nvSpPr>
        <p:spPr>
          <a:xfrm>
            <a:off x="571500" y="2087165"/>
            <a:ext cx="1104900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Las bases de datos modernas y el Modelo Relacional operan bajo las leyes de la teoría de conjuntos pura.</a:t>
            </a:r>
            <a:endParaRPr/>
          </a:p>
        </p:txBody>
      </p:sp>
      <p:sp>
        <p:nvSpPr>
          <p:cNvPr id="209" name="Google Shape;209;p20"/>
          <p:cNvSpPr txBox="1"/>
          <p:nvPr/>
        </p:nvSpPr>
        <p:spPr>
          <a:xfrm>
            <a:off x="1000125" y="2692896"/>
            <a:ext cx="10620375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Dominios (Conjuntos Base):</a:t>
            </a:r>
            <a:r>
              <a:rPr lang="en-US" sz="15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Cada columna es un conjunto de valores permitidos y controlados.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75" b="0" i="1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Ejemplo: Nombres = {Ana, Luis}, Cursos = {Cálculo, Física}.</a:t>
            </a:r>
            <a:endParaRPr/>
          </a:p>
        </p:txBody>
      </p:sp>
      <p:sp>
        <p:nvSpPr>
          <p:cNvPr id="210" name="Google Shape;210;p20"/>
          <p:cNvSpPr txBox="1"/>
          <p:nvPr/>
        </p:nvSpPr>
        <p:spPr>
          <a:xfrm>
            <a:off x="1000125" y="3618607"/>
            <a:ext cx="10620375" cy="6494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Producto Cartesiano (El Universo):</a:t>
            </a:r>
            <a:r>
              <a:rPr lang="en-US" sz="15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La operación Nombres × Cursos representa matemáticamente </a:t>
            </a:r>
            <a:r>
              <a:rPr lang="en-US" sz="1575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todas</a:t>
            </a:r>
            <a:r>
              <a:rPr lang="en-US" sz="15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las combinaciones de inscripciones teóricas en la universidad.</a:t>
            </a:r>
            <a:endParaRPr/>
          </a:p>
        </p:txBody>
      </p:sp>
      <p:sp>
        <p:nvSpPr>
          <p:cNvPr id="211" name="Google Shape;211;p20"/>
          <p:cNvSpPr txBox="1"/>
          <p:nvPr/>
        </p:nvSpPr>
        <p:spPr>
          <a:xfrm>
            <a:off x="1000125" y="4553842"/>
            <a:ext cx="10620375" cy="969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La Tabla (Una Relación):</a:t>
            </a:r>
            <a:r>
              <a:rPr lang="en-US" sz="15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Una tabla real en SQL es simplemente un </a:t>
            </a:r>
            <a:r>
              <a:rPr lang="en-US" sz="1575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subconjunto</a:t>
            </a:r>
            <a:r>
              <a:rPr lang="en-US" sz="15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de ese producto cartesiano (las combinaciones que de verdad ocurrieron).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75" b="0" i="1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Nota técnica: En SQL, la instrucción explícita CROSS JOIN ejecuta esta operación.</a:t>
            </a:r>
            <a:endParaRPr/>
          </a:p>
        </p:txBody>
      </p:sp>
      <p:pic>
        <p:nvPicPr>
          <p:cNvPr id="212" name="Google Shape;212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726233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651944"/>
            <a:ext cx="27622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587180"/>
            <a:ext cx="247650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281237"/>
            <a:ext cx="52863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1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5. Geometría y Visualización</a:t>
            </a:r>
            <a:endParaRPr/>
          </a:p>
        </p:txBody>
      </p:sp>
      <p:sp>
        <p:nvSpPr>
          <p:cNvPr id="222" name="Google Shape;222;p21"/>
          <p:cNvSpPr/>
          <p:nvPr/>
        </p:nvSpPr>
        <p:spPr>
          <a:xfrm>
            <a:off x="571500" y="1200150"/>
            <a:ext cx="11049000" cy="28575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1"/>
          <p:cNvSpPr txBox="1"/>
          <p:nvPr/>
        </p:nvSpPr>
        <p:spPr>
          <a:xfrm>
            <a:off x="571500" y="2120503"/>
            <a:ext cx="5286375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El concepto del "Plano Cartesiano" nace directamente de esta teoría matemática.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1000125" y="2998589"/>
            <a:ext cx="4857750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ℝ × ℝ = ℝ²</a:t>
            </a:r>
            <a:r>
              <a:rPr lang="en-US" sz="15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conforma el plano bidimensional continuo (Pantallas, Gráficos 2D, Mapas).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1000125" y="3924300"/>
            <a:ext cx="4857750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ℝ × ℝ × ℝ = ℝ³</a:t>
            </a:r>
            <a:r>
              <a:rPr lang="en-US" sz="15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define el espacio tridimensional empleado en renderizado 3D y simulaciones.</a:t>
            </a:r>
            <a:endParaRPr/>
          </a:p>
        </p:txBody>
      </p:sp>
      <p:sp>
        <p:nvSpPr>
          <p:cNvPr id="226" name="Google Shape;226;p21"/>
          <p:cNvSpPr txBox="1"/>
          <p:nvPr/>
        </p:nvSpPr>
        <p:spPr>
          <a:xfrm>
            <a:off x="1000125" y="4850010"/>
            <a:ext cx="4857750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Cada píxel único en tu pantalla es simplemente un par ordenado (x, y) de este producto.</a:t>
            </a:r>
            <a:endParaRPr/>
          </a:p>
        </p:txBody>
      </p:sp>
      <p:sp>
        <p:nvSpPr>
          <p:cNvPr id="227" name="Google Shape;227;p21"/>
          <p:cNvSpPr txBox="1"/>
          <p:nvPr/>
        </p:nvSpPr>
        <p:spPr>
          <a:xfrm>
            <a:off x="7815262" y="2471737"/>
            <a:ext cx="1143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Y</a:t>
            </a:r>
            <a:endParaRPr/>
          </a:p>
        </p:txBody>
      </p:sp>
      <p:sp>
        <p:nvSpPr>
          <p:cNvPr id="228" name="Google Shape;228;p21"/>
          <p:cNvSpPr txBox="1"/>
          <p:nvPr/>
        </p:nvSpPr>
        <p:spPr>
          <a:xfrm>
            <a:off x="10434637" y="5062537"/>
            <a:ext cx="1143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X</a:t>
            </a:r>
            <a:endParaRPr/>
          </a:p>
        </p:txBody>
      </p:sp>
      <p:pic>
        <p:nvPicPr>
          <p:cNvPr id="229" name="Google Shape;229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031926"/>
            <a:ext cx="21907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957637"/>
            <a:ext cx="27622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883348"/>
            <a:ext cx="19050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1"/>
          <p:cNvSpPr/>
          <p:nvPr/>
        </p:nvSpPr>
        <p:spPr>
          <a:xfrm>
            <a:off x="8627268" y="4260056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1"/>
          <p:cNvSpPr/>
          <p:nvPr/>
        </p:nvSpPr>
        <p:spPr>
          <a:xfrm>
            <a:off x="9410700" y="3476625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1"/>
          <p:cNvSpPr txBox="1"/>
          <p:nvPr/>
        </p:nvSpPr>
        <p:spPr>
          <a:xfrm>
            <a:off x="8408193" y="4364831"/>
            <a:ext cx="5715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Roboto Mono"/>
                <a:ea typeface="Roboto Mono"/>
                <a:cs typeface="Roboto Mono"/>
                <a:sym typeface="Roboto Mono"/>
              </a:rPr>
              <a:t>(1, 1)</a:t>
            </a:r>
            <a:endParaRPr/>
          </a:p>
        </p:txBody>
      </p:sp>
      <p:sp>
        <p:nvSpPr>
          <p:cNvPr id="235" name="Google Shape;235;p21"/>
          <p:cNvSpPr txBox="1"/>
          <p:nvPr/>
        </p:nvSpPr>
        <p:spPr>
          <a:xfrm>
            <a:off x="9620250" y="3438525"/>
            <a:ext cx="5715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Roboto Mono"/>
                <a:ea typeface="Roboto Mono"/>
                <a:cs typeface="Roboto Mono"/>
                <a:sym typeface="Roboto Mono"/>
              </a:rPr>
              <a:t>(2, 2)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609725"/>
            <a:ext cx="5286375" cy="520005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609725"/>
            <a:ext cx="5286375" cy="520005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3779341"/>
            <a:ext cx="4505325" cy="18669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2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Taller Práctico 1: Sistema de Reservas</a:t>
            </a:r>
            <a:endParaRPr/>
          </a:p>
        </p:txBody>
      </p:sp>
      <p:sp>
        <p:nvSpPr>
          <p:cNvPr id="245" name="Google Shape;245;p22"/>
          <p:cNvSpPr/>
          <p:nvPr/>
        </p:nvSpPr>
        <p:spPr>
          <a:xfrm>
            <a:off x="571500" y="1200150"/>
            <a:ext cx="11049000" cy="28575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2"/>
          <p:cNvSpPr txBox="1"/>
          <p:nvPr/>
        </p:nvSpPr>
        <p:spPr>
          <a:xfrm>
            <a:off x="962025" y="2000250"/>
            <a:ext cx="4730591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Reto de Arquitectura de Datos</a:t>
            </a:r>
            <a:endParaRPr/>
          </a:p>
        </p:txBody>
      </p:sp>
      <p:sp>
        <p:nvSpPr>
          <p:cNvPr id="247" name="Google Shape;247;p22"/>
          <p:cNvSpPr txBox="1"/>
          <p:nvPr/>
        </p:nvSpPr>
        <p:spPr>
          <a:xfrm>
            <a:off x="962025" y="2438400"/>
            <a:ext cx="4505325" cy="959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Un sistema informático de un hotel en producción define las opciones del usuario usando los siguientes conjuntos:</a:t>
            </a:r>
            <a:endParaRPr/>
          </a:p>
        </p:txBody>
      </p:sp>
      <p:sp>
        <p:nvSpPr>
          <p:cNvPr id="248" name="Google Shape;248;p22"/>
          <p:cNvSpPr txBox="1"/>
          <p:nvPr/>
        </p:nvSpPr>
        <p:spPr>
          <a:xfrm>
            <a:off x="6724650" y="2000250"/>
            <a:ext cx="4730591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Misiones de Diseño</a:t>
            </a:r>
            <a:endParaRPr/>
          </a:p>
        </p:txBody>
      </p:sp>
      <p:sp>
        <p:nvSpPr>
          <p:cNvPr id="249" name="Google Shape;249;p22"/>
          <p:cNvSpPr txBox="1"/>
          <p:nvPr/>
        </p:nvSpPr>
        <p:spPr>
          <a:xfrm>
            <a:off x="6724650" y="6032599"/>
            <a:ext cx="45053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* Pista para la cardinalidad: Recuerda usar |A × B × C|</a:t>
            </a:r>
            <a:endParaRPr/>
          </a:p>
        </p:txBody>
      </p:sp>
      <p:sp>
        <p:nvSpPr>
          <p:cNvPr id="250" name="Google Shape;250;p22"/>
          <p:cNvSpPr txBox="1"/>
          <p:nvPr/>
        </p:nvSpPr>
        <p:spPr>
          <a:xfrm>
            <a:off x="7153275" y="2581275"/>
            <a:ext cx="4076700" cy="1599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Cardinalidad Mental:</a:t>
            </a:r>
            <a:r>
              <a:rPr lang="en-US" sz="15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Sin necesidad de codificar ni escribir las combinaciones a mano, ¿cuántas opciones únicas de reserva (Hotel, Habitación, Día) existen en total en el sistema?</a:t>
            </a:r>
            <a:endParaRPr/>
          </a:p>
        </p:txBody>
      </p:sp>
      <p:sp>
        <p:nvSpPr>
          <p:cNvPr id="251" name="Google Shape;251;p22"/>
          <p:cNvSpPr txBox="1"/>
          <p:nvPr/>
        </p:nvSpPr>
        <p:spPr>
          <a:xfrm>
            <a:off x="7153275" y="4466927"/>
            <a:ext cx="4076700" cy="1279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Generación Manual:</a:t>
            </a:r>
            <a:r>
              <a:rPr lang="en-US" sz="15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Escribe explícitamente en notación matemática el conjunto resultante solo para las reservas exclusivas del hotel 'Norte'.</a:t>
            </a:r>
            <a:endParaRPr/>
          </a:p>
        </p:txBody>
      </p:sp>
      <p:pic>
        <p:nvPicPr>
          <p:cNvPr id="252" name="Google Shape;252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24650" y="2614612"/>
            <a:ext cx="12382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724650" y="4500264"/>
            <a:ext cx="161925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882800"/>
            <a:ext cx="5286375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43812" y="3216175"/>
            <a:ext cx="2667000" cy="266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3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Taller Práctico 2: Motor de Ajedrez</a:t>
            </a:r>
            <a:endParaRPr/>
          </a:p>
        </p:txBody>
      </p:sp>
      <p:sp>
        <p:nvSpPr>
          <p:cNvPr id="262" name="Google Shape;262;p23"/>
          <p:cNvSpPr/>
          <p:nvPr/>
        </p:nvSpPr>
        <p:spPr>
          <a:xfrm>
            <a:off x="571500" y="1200150"/>
            <a:ext cx="11049000" cy="28575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3"/>
          <p:cNvSpPr txBox="1"/>
          <p:nvPr/>
        </p:nvSpPr>
        <p:spPr>
          <a:xfrm>
            <a:off x="571500" y="1609725"/>
            <a:ext cx="5286375" cy="959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El tablero clásico de ajedrez tiene 64 casillas. Definimos el conjunto matemático base que modelará nuestro motor:</a:t>
            </a:r>
            <a:endParaRPr/>
          </a:p>
        </p:txBody>
      </p:sp>
      <p:pic>
        <p:nvPicPr>
          <p:cNvPr id="264" name="Google Shape;264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961753"/>
            <a:ext cx="5286375" cy="57909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3"/>
          <p:cNvSpPr txBox="1"/>
          <p:nvPr/>
        </p:nvSpPr>
        <p:spPr>
          <a:xfrm>
            <a:off x="571500" y="3672631"/>
            <a:ext cx="5550693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Preguntas para debatir:</a:t>
            </a:r>
            <a:endParaRPr/>
          </a:p>
        </p:txBody>
      </p:sp>
      <p:sp>
        <p:nvSpPr>
          <p:cNvPr id="266" name="Google Shape;266;p23"/>
          <p:cNvSpPr txBox="1"/>
          <p:nvPr/>
        </p:nvSpPr>
        <p:spPr>
          <a:xfrm>
            <a:off x="1000124" y="4063156"/>
            <a:ext cx="5286375" cy="1163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Si un "</a:t>
            </a:r>
            <a:r>
              <a:rPr lang="en-US" sz="157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movimiento</a:t>
            </a:r>
            <a:r>
              <a:rPr lang="en-US" sz="15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" es </a:t>
            </a:r>
            <a:r>
              <a:rPr lang="en-US" sz="157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el</a:t>
            </a:r>
            <a:r>
              <a:rPr lang="en-US" sz="15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par (</a:t>
            </a:r>
            <a:r>
              <a:rPr lang="en-US" sz="157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origen</a:t>
            </a:r>
            <a:r>
              <a:rPr lang="en-US" sz="15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57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destino</a:t>
            </a:r>
            <a:r>
              <a:rPr lang="en-US" sz="15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), ¿</a:t>
            </a:r>
            <a:r>
              <a:rPr lang="en-US" sz="157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cómo</a:t>
            </a:r>
            <a:r>
              <a:rPr lang="en-US" sz="15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7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aplicarías</a:t>
            </a:r>
            <a:r>
              <a:rPr lang="en-US" sz="15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7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el</a:t>
            </a:r>
            <a:r>
              <a:rPr lang="en-US" sz="15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7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producto</a:t>
            </a:r>
            <a:r>
              <a:rPr lang="en-US" sz="15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7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cartesiano</a:t>
            </a:r>
            <a:r>
              <a:rPr lang="en-US" sz="15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para registrar TODOS </a:t>
            </a:r>
            <a:r>
              <a:rPr lang="en-US" sz="157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los</a:t>
            </a:r>
            <a:r>
              <a:rPr lang="en-US" sz="15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7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movimientos</a:t>
            </a:r>
            <a:r>
              <a:rPr lang="en-US" sz="15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7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posibles</a:t>
            </a:r>
            <a:r>
              <a:rPr lang="en-US" sz="15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?</a:t>
            </a:r>
            <a:endParaRPr dirty="0"/>
          </a:p>
        </p:txBody>
      </p:sp>
      <p:sp>
        <p:nvSpPr>
          <p:cNvPr id="267" name="Google Shape;267;p23"/>
          <p:cNvSpPr txBox="1"/>
          <p:nvPr/>
        </p:nvSpPr>
        <p:spPr>
          <a:xfrm>
            <a:off x="1000125" y="5318373"/>
            <a:ext cx="4857750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¿</a:t>
            </a:r>
            <a:r>
              <a:rPr lang="en-US" sz="157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Cuántos</a:t>
            </a:r>
            <a:r>
              <a:rPr lang="en-US" sz="15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7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elementos</a:t>
            </a:r>
            <a:r>
              <a:rPr lang="en-US" sz="15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7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abrumadores</a:t>
            </a:r>
            <a:r>
              <a:rPr lang="en-US" sz="15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7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contendría</a:t>
            </a:r>
            <a:r>
              <a:rPr lang="en-US" sz="15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7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este</a:t>
            </a:r>
            <a:r>
              <a:rPr lang="en-US" sz="15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conjunto </a:t>
            </a:r>
            <a:r>
              <a:rPr lang="en-US" sz="157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universo</a:t>
            </a:r>
            <a:r>
              <a:rPr lang="en-US" sz="15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?</a:t>
            </a:r>
            <a:endParaRPr dirty="0"/>
          </a:p>
        </p:txBody>
      </p:sp>
      <p:sp>
        <p:nvSpPr>
          <p:cNvPr id="269" name="Google Shape;269;p23"/>
          <p:cNvSpPr/>
          <p:nvPr/>
        </p:nvSpPr>
        <p:spPr>
          <a:xfrm>
            <a:off x="7681912" y="3254275"/>
            <a:ext cx="323850" cy="3238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3"/>
          <p:cNvSpPr/>
          <p:nvPr/>
        </p:nvSpPr>
        <p:spPr>
          <a:xfrm>
            <a:off x="8005762" y="3254275"/>
            <a:ext cx="323850" cy="32385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3"/>
          <p:cNvSpPr/>
          <p:nvPr/>
        </p:nvSpPr>
        <p:spPr>
          <a:xfrm>
            <a:off x="8329612" y="3254275"/>
            <a:ext cx="323850" cy="3238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3"/>
          <p:cNvSpPr/>
          <p:nvPr/>
        </p:nvSpPr>
        <p:spPr>
          <a:xfrm>
            <a:off x="8653462" y="3254275"/>
            <a:ext cx="323850" cy="32385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3"/>
          <p:cNvSpPr/>
          <p:nvPr/>
        </p:nvSpPr>
        <p:spPr>
          <a:xfrm>
            <a:off x="8977312" y="3254275"/>
            <a:ext cx="323850" cy="3238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3"/>
          <p:cNvSpPr/>
          <p:nvPr/>
        </p:nvSpPr>
        <p:spPr>
          <a:xfrm>
            <a:off x="9301162" y="3254275"/>
            <a:ext cx="323850" cy="32385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3"/>
          <p:cNvSpPr/>
          <p:nvPr/>
        </p:nvSpPr>
        <p:spPr>
          <a:xfrm>
            <a:off x="9625012" y="3254275"/>
            <a:ext cx="323850" cy="3238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3"/>
          <p:cNvSpPr/>
          <p:nvPr/>
        </p:nvSpPr>
        <p:spPr>
          <a:xfrm>
            <a:off x="9948862" y="3254275"/>
            <a:ext cx="323850" cy="32385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3"/>
          <p:cNvSpPr/>
          <p:nvPr/>
        </p:nvSpPr>
        <p:spPr>
          <a:xfrm>
            <a:off x="7681912" y="3578125"/>
            <a:ext cx="323850" cy="32385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3"/>
          <p:cNvSpPr/>
          <p:nvPr/>
        </p:nvSpPr>
        <p:spPr>
          <a:xfrm>
            <a:off x="8005762" y="3578125"/>
            <a:ext cx="323850" cy="3238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3"/>
          <p:cNvSpPr/>
          <p:nvPr/>
        </p:nvSpPr>
        <p:spPr>
          <a:xfrm>
            <a:off x="8329612" y="3578125"/>
            <a:ext cx="323850" cy="32385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3"/>
          <p:cNvSpPr/>
          <p:nvPr/>
        </p:nvSpPr>
        <p:spPr>
          <a:xfrm>
            <a:off x="8653462" y="3578125"/>
            <a:ext cx="323850" cy="3238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3"/>
          <p:cNvSpPr/>
          <p:nvPr/>
        </p:nvSpPr>
        <p:spPr>
          <a:xfrm>
            <a:off x="8977312" y="3578125"/>
            <a:ext cx="323850" cy="32385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3"/>
          <p:cNvSpPr/>
          <p:nvPr/>
        </p:nvSpPr>
        <p:spPr>
          <a:xfrm>
            <a:off x="9301162" y="3578125"/>
            <a:ext cx="323850" cy="3238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3"/>
          <p:cNvSpPr/>
          <p:nvPr/>
        </p:nvSpPr>
        <p:spPr>
          <a:xfrm>
            <a:off x="9625012" y="3578125"/>
            <a:ext cx="323850" cy="32385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3"/>
          <p:cNvSpPr/>
          <p:nvPr/>
        </p:nvSpPr>
        <p:spPr>
          <a:xfrm>
            <a:off x="9948862" y="3578125"/>
            <a:ext cx="323850" cy="3238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3"/>
          <p:cNvSpPr/>
          <p:nvPr/>
        </p:nvSpPr>
        <p:spPr>
          <a:xfrm>
            <a:off x="7681912" y="3901975"/>
            <a:ext cx="323850" cy="3238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3"/>
          <p:cNvSpPr/>
          <p:nvPr/>
        </p:nvSpPr>
        <p:spPr>
          <a:xfrm>
            <a:off x="8005762" y="3901975"/>
            <a:ext cx="323850" cy="32385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3"/>
          <p:cNvSpPr/>
          <p:nvPr/>
        </p:nvSpPr>
        <p:spPr>
          <a:xfrm>
            <a:off x="8329612" y="3901975"/>
            <a:ext cx="323850" cy="3238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3"/>
          <p:cNvSpPr/>
          <p:nvPr/>
        </p:nvSpPr>
        <p:spPr>
          <a:xfrm>
            <a:off x="8653462" y="3901975"/>
            <a:ext cx="323850" cy="32385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3"/>
          <p:cNvSpPr/>
          <p:nvPr/>
        </p:nvSpPr>
        <p:spPr>
          <a:xfrm>
            <a:off x="8977312" y="3901975"/>
            <a:ext cx="323850" cy="3238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3"/>
          <p:cNvSpPr/>
          <p:nvPr/>
        </p:nvSpPr>
        <p:spPr>
          <a:xfrm>
            <a:off x="9301162" y="3901975"/>
            <a:ext cx="323850" cy="32385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3"/>
          <p:cNvSpPr/>
          <p:nvPr/>
        </p:nvSpPr>
        <p:spPr>
          <a:xfrm>
            <a:off x="9625012" y="3901975"/>
            <a:ext cx="323850" cy="3238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3"/>
          <p:cNvSpPr/>
          <p:nvPr/>
        </p:nvSpPr>
        <p:spPr>
          <a:xfrm>
            <a:off x="9948862" y="3901975"/>
            <a:ext cx="323850" cy="32385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3"/>
          <p:cNvSpPr/>
          <p:nvPr/>
        </p:nvSpPr>
        <p:spPr>
          <a:xfrm>
            <a:off x="7681912" y="4225825"/>
            <a:ext cx="323850" cy="32385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3"/>
          <p:cNvSpPr/>
          <p:nvPr/>
        </p:nvSpPr>
        <p:spPr>
          <a:xfrm>
            <a:off x="8005762" y="4225825"/>
            <a:ext cx="323850" cy="3238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3"/>
          <p:cNvSpPr/>
          <p:nvPr/>
        </p:nvSpPr>
        <p:spPr>
          <a:xfrm>
            <a:off x="8329612" y="4225825"/>
            <a:ext cx="323850" cy="32385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3"/>
          <p:cNvSpPr/>
          <p:nvPr/>
        </p:nvSpPr>
        <p:spPr>
          <a:xfrm>
            <a:off x="8653462" y="4225825"/>
            <a:ext cx="323850" cy="3238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3"/>
          <p:cNvSpPr/>
          <p:nvPr/>
        </p:nvSpPr>
        <p:spPr>
          <a:xfrm>
            <a:off x="8977312" y="4225825"/>
            <a:ext cx="323850" cy="3238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3"/>
          <p:cNvSpPr/>
          <p:nvPr/>
        </p:nvSpPr>
        <p:spPr>
          <a:xfrm>
            <a:off x="9301162" y="4225825"/>
            <a:ext cx="323850" cy="3238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3"/>
          <p:cNvSpPr/>
          <p:nvPr/>
        </p:nvSpPr>
        <p:spPr>
          <a:xfrm>
            <a:off x="9625012" y="4225825"/>
            <a:ext cx="323850" cy="32385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3"/>
          <p:cNvSpPr/>
          <p:nvPr/>
        </p:nvSpPr>
        <p:spPr>
          <a:xfrm>
            <a:off x="9948862" y="4225825"/>
            <a:ext cx="323850" cy="3238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3"/>
          <p:cNvSpPr/>
          <p:nvPr/>
        </p:nvSpPr>
        <p:spPr>
          <a:xfrm>
            <a:off x="7681912" y="4549675"/>
            <a:ext cx="323850" cy="3238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3"/>
          <p:cNvSpPr/>
          <p:nvPr/>
        </p:nvSpPr>
        <p:spPr>
          <a:xfrm>
            <a:off x="8005762" y="4549675"/>
            <a:ext cx="323850" cy="32385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3"/>
          <p:cNvSpPr/>
          <p:nvPr/>
        </p:nvSpPr>
        <p:spPr>
          <a:xfrm>
            <a:off x="8329612" y="4549675"/>
            <a:ext cx="323850" cy="3238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3"/>
          <p:cNvSpPr/>
          <p:nvPr/>
        </p:nvSpPr>
        <p:spPr>
          <a:xfrm>
            <a:off x="8653462" y="4549675"/>
            <a:ext cx="323850" cy="32385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3"/>
          <p:cNvSpPr/>
          <p:nvPr/>
        </p:nvSpPr>
        <p:spPr>
          <a:xfrm>
            <a:off x="8977312" y="4549675"/>
            <a:ext cx="323850" cy="3238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3"/>
          <p:cNvSpPr/>
          <p:nvPr/>
        </p:nvSpPr>
        <p:spPr>
          <a:xfrm>
            <a:off x="9301162" y="4549675"/>
            <a:ext cx="323850" cy="32385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3"/>
          <p:cNvSpPr/>
          <p:nvPr/>
        </p:nvSpPr>
        <p:spPr>
          <a:xfrm>
            <a:off x="9625012" y="4549675"/>
            <a:ext cx="323850" cy="3238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3"/>
          <p:cNvSpPr/>
          <p:nvPr/>
        </p:nvSpPr>
        <p:spPr>
          <a:xfrm>
            <a:off x="9948862" y="4549675"/>
            <a:ext cx="323850" cy="32385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3"/>
          <p:cNvSpPr/>
          <p:nvPr/>
        </p:nvSpPr>
        <p:spPr>
          <a:xfrm>
            <a:off x="7681912" y="4873525"/>
            <a:ext cx="323850" cy="32385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3"/>
          <p:cNvSpPr/>
          <p:nvPr/>
        </p:nvSpPr>
        <p:spPr>
          <a:xfrm>
            <a:off x="8005762" y="4873525"/>
            <a:ext cx="323850" cy="3238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3"/>
          <p:cNvSpPr/>
          <p:nvPr/>
        </p:nvSpPr>
        <p:spPr>
          <a:xfrm>
            <a:off x="8329612" y="4873525"/>
            <a:ext cx="323850" cy="32385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3"/>
          <p:cNvSpPr/>
          <p:nvPr/>
        </p:nvSpPr>
        <p:spPr>
          <a:xfrm>
            <a:off x="8653462" y="4873525"/>
            <a:ext cx="323850" cy="3238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3"/>
          <p:cNvSpPr/>
          <p:nvPr/>
        </p:nvSpPr>
        <p:spPr>
          <a:xfrm>
            <a:off x="8977312" y="4873525"/>
            <a:ext cx="323850" cy="32385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3"/>
          <p:cNvSpPr/>
          <p:nvPr/>
        </p:nvSpPr>
        <p:spPr>
          <a:xfrm>
            <a:off x="9301162" y="4873525"/>
            <a:ext cx="323850" cy="3238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3"/>
          <p:cNvSpPr/>
          <p:nvPr/>
        </p:nvSpPr>
        <p:spPr>
          <a:xfrm>
            <a:off x="9625012" y="4873525"/>
            <a:ext cx="323850" cy="32385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3"/>
          <p:cNvSpPr/>
          <p:nvPr/>
        </p:nvSpPr>
        <p:spPr>
          <a:xfrm>
            <a:off x="9948862" y="4873525"/>
            <a:ext cx="323850" cy="3238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3"/>
          <p:cNvSpPr/>
          <p:nvPr/>
        </p:nvSpPr>
        <p:spPr>
          <a:xfrm>
            <a:off x="7681912" y="5197375"/>
            <a:ext cx="323850" cy="3238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3"/>
          <p:cNvSpPr/>
          <p:nvPr/>
        </p:nvSpPr>
        <p:spPr>
          <a:xfrm>
            <a:off x="8005762" y="5197375"/>
            <a:ext cx="323850" cy="32385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3"/>
          <p:cNvSpPr/>
          <p:nvPr/>
        </p:nvSpPr>
        <p:spPr>
          <a:xfrm>
            <a:off x="8329612" y="5197375"/>
            <a:ext cx="323850" cy="3238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3"/>
          <p:cNvSpPr/>
          <p:nvPr/>
        </p:nvSpPr>
        <p:spPr>
          <a:xfrm>
            <a:off x="8653462" y="5197375"/>
            <a:ext cx="323850" cy="32385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3"/>
          <p:cNvSpPr/>
          <p:nvPr/>
        </p:nvSpPr>
        <p:spPr>
          <a:xfrm>
            <a:off x="8977312" y="5197375"/>
            <a:ext cx="323850" cy="3238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3"/>
          <p:cNvSpPr/>
          <p:nvPr/>
        </p:nvSpPr>
        <p:spPr>
          <a:xfrm>
            <a:off x="9301162" y="5197375"/>
            <a:ext cx="323850" cy="32385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3"/>
          <p:cNvSpPr/>
          <p:nvPr/>
        </p:nvSpPr>
        <p:spPr>
          <a:xfrm>
            <a:off x="9625012" y="5197375"/>
            <a:ext cx="323850" cy="3238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3"/>
          <p:cNvSpPr/>
          <p:nvPr/>
        </p:nvSpPr>
        <p:spPr>
          <a:xfrm>
            <a:off x="9948862" y="5197375"/>
            <a:ext cx="323850" cy="32385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3"/>
          <p:cNvSpPr/>
          <p:nvPr/>
        </p:nvSpPr>
        <p:spPr>
          <a:xfrm>
            <a:off x="7681912" y="5521225"/>
            <a:ext cx="323850" cy="32385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3"/>
          <p:cNvSpPr/>
          <p:nvPr/>
        </p:nvSpPr>
        <p:spPr>
          <a:xfrm>
            <a:off x="8005762" y="5521225"/>
            <a:ext cx="323850" cy="3238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3"/>
          <p:cNvSpPr/>
          <p:nvPr/>
        </p:nvSpPr>
        <p:spPr>
          <a:xfrm>
            <a:off x="8329612" y="5521225"/>
            <a:ext cx="323850" cy="32385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3"/>
          <p:cNvSpPr/>
          <p:nvPr/>
        </p:nvSpPr>
        <p:spPr>
          <a:xfrm>
            <a:off x="8653462" y="5521225"/>
            <a:ext cx="323850" cy="3238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3"/>
          <p:cNvSpPr/>
          <p:nvPr/>
        </p:nvSpPr>
        <p:spPr>
          <a:xfrm>
            <a:off x="8977312" y="5521225"/>
            <a:ext cx="323850" cy="32385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3"/>
          <p:cNvSpPr/>
          <p:nvPr/>
        </p:nvSpPr>
        <p:spPr>
          <a:xfrm>
            <a:off x="9301162" y="5521225"/>
            <a:ext cx="323850" cy="3238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3"/>
          <p:cNvSpPr/>
          <p:nvPr/>
        </p:nvSpPr>
        <p:spPr>
          <a:xfrm>
            <a:off x="9625012" y="5521225"/>
            <a:ext cx="323850" cy="32385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3"/>
          <p:cNvSpPr/>
          <p:nvPr/>
        </p:nvSpPr>
        <p:spPr>
          <a:xfrm>
            <a:off x="9948862" y="5521225"/>
            <a:ext cx="323850" cy="3238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3" name="Google Shape;333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096494"/>
            <a:ext cx="21907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5351710"/>
            <a:ext cx="190500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49" y="2508946"/>
            <a:ext cx="4993927" cy="4198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41677" y="2630685"/>
            <a:ext cx="5578822" cy="4077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41727" y="4571702"/>
            <a:ext cx="4778722" cy="83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734888" y="4783337"/>
            <a:ext cx="1714500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496888" y="4783337"/>
            <a:ext cx="1714500" cy="17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1. La Intuición: Evitar el Doble Conteo</a:t>
            </a:r>
            <a:endParaRPr/>
          </a:p>
        </p:txBody>
      </p:sp>
      <p:sp>
        <p:nvSpPr>
          <p:cNvPr id="99" name="Google Shape;99;p14"/>
          <p:cNvSpPr/>
          <p:nvPr/>
        </p:nvSpPr>
        <p:spPr>
          <a:xfrm>
            <a:off x="571500" y="1200150"/>
            <a:ext cx="11049000" cy="28575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1333500" y="1609725"/>
            <a:ext cx="9525000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Cuando queremos contar los elementos de la unión de dos conjuntos, no podemos simplemente sumar sus tamaños. Si lo hiciéramos, los elementos compartidos se contarían dos veces.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876299" y="2908995"/>
            <a:ext cx="4403519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DC262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El Problema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876299" y="3347145"/>
            <a:ext cx="4193827" cy="959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Si </a:t>
            </a:r>
            <a:r>
              <a:rPr lang="en-US" sz="157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sumamos</a:t>
            </a:r>
            <a:r>
              <a:rPr lang="en-US" sz="15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7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el</a:t>
            </a:r>
            <a:r>
              <a:rPr lang="en-US" sz="15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7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tamaño</a:t>
            </a:r>
            <a:r>
              <a:rPr lang="en-US" sz="15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de A y </a:t>
            </a:r>
            <a:r>
              <a:rPr lang="en-US" sz="157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el</a:t>
            </a:r>
            <a:r>
              <a:rPr lang="en-US" sz="15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de B, la zona de la </a:t>
            </a:r>
            <a:r>
              <a:rPr lang="en-US" sz="157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intersección</a:t>
            </a:r>
            <a:r>
              <a:rPr lang="en-US" sz="15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se "pinta" o </a:t>
            </a:r>
            <a:r>
              <a:rPr lang="en-US" sz="157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contabiliza</a:t>
            </a:r>
            <a:r>
              <a:rPr lang="en-US" sz="15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dos </a:t>
            </a:r>
            <a:r>
              <a:rPr lang="en-US" sz="157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veces</a:t>
            </a:r>
            <a:r>
              <a:rPr lang="en-US" sz="15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103" name="Google Shape;103;p14"/>
          <p:cNvSpPr txBox="1"/>
          <p:nvPr/>
        </p:nvSpPr>
        <p:spPr>
          <a:xfrm>
            <a:off x="6441727" y="3030735"/>
            <a:ext cx="5017658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16A34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 Solución (PIE)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441727" y="3468885"/>
            <a:ext cx="4778722" cy="959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Para corregirlo, </a:t>
            </a:r>
            <a:r>
              <a:rPr lang="en-US" sz="1575" b="1" i="0" u="none" strike="noStrike" cap="none">
                <a:solidFill>
                  <a:srgbClr val="15803D"/>
                </a:solidFill>
                <a:latin typeface="Inter"/>
                <a:ea typeface="Inter"/>
                <a:cs typeface="Inter"/>
                <a:sym typeface="Inter"/>
              </a:rPr>
              <a:t>incluimos</a:t>
            </a:r>
            <a:r>
              <a:rPr lang="en-US" sz="15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la suma de ambos conjuntos individuales y luego </a:t>
            </a:r>
            <a:r>
              <a:rPr lang="en-US" sz="1575" b="1" i="0" u="none" strike="noStrike" cap="none">
                <a:solidFill>
                  <a:srgbClr val="B91C1C"/>
                </a:solidFill>
                <a:latin typeface="Inter"/>
                <a:ea typeface="Inter"/>
                <a:cs typeface="Inter"/>
                <a:sym typeface="Inter"/>
              </a:rPr>
              <a:t>excluimos</a:t>
            </a:r>
            <a:r>
              <a:rPr lang="en-US" sz="15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(restamos) la intersección que contamos de más.</a:t>
            </a:r>
            <a:endParaRPr/>
          </a:p>
        </p:txBody>
      </p:sp>
      <p:pic>
        <p:nvPicPr>
          <p:cNvPr id="105" name="Google Shape;105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698902" y="4905077"/>
            <a:ext cx="4264372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2511919" y="5411987"/>
            <a:ext cx="92258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rPr>
              <a:t>Doble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1" i="0" u="none" strike="noStrike" cap="none" dirty="0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1" i="0" u="none" strike="noStrike" cap="none" dirty="0" err="1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rPr>
              <a:t>Conteo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609725"/>
            <a:ext cx="11049000" cy="2251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147095"/>
            <a:ext cx="11049000" cy="24934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2775495"/>
            <a:ext cx="10267950" cy="83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62025" y="5602337"/>
            <a:ext cx="10267950" cy="79057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2. Fórmulas Generales (PIE)</a:t>
            </a:r>
            <a:endParaRPr/>
          </a:p>
        </p:txBody>
      </p:sp>
      <p:sp>
        <p:nvSpPr>
          <p:cNvPr id="117" name="Google Shape;117;p15"/>
          <p:cNvSpPr/>
          <p:nvPr/>
        </p:nvSpPr>
        <p:spPr>
          <a:xfrm>
            <a:off x="571500" y="1200150"/>
            <a:ext cx="11049000" cy="28575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 txBox="1"/>
          <p:nvPr/>
        </p:nvSpPr>
        <p:spPr>
          <a:xfrm>
            <a:off x="962025" y="1857375"/>
            <a:ext cx="10781347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Caso de Dos Conjuntos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962025" y="2200275"/>
            <a:ext cx="1026795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 suman los tamaños de los conjuntos individuales y se resta el tamaño de su intersección.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962025" y="4394745"/>
            <a:ext cx="10781347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Caso de Tres Conjuntos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962025" y="4737645"/>
            <a:ext cx="1026795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El patrón continúa: se suman los individuales (+), se restan las intersecciones de pares (-) y finalmente se vuelve a sumar la intersección de los tres (+).</a:t>
            </a:r>
            <a:endParaRPr/>
          </a:p>
        </p:txBody>
      </p:sp>
      <p:pic>
        <p:nvPicPr>
          <p:cNvPr id="122" name="Google Shape;122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219200" y="3108870"/>
            <a:ext cx="4264372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219200" y="5926187"/>
            <a:ext cx="8840688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83060"/>
            <a:ext cx="11049000" cy="8707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739604"/>
            <a:ext cx="11049000" cy="2952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3. La Fórmula General para "n" Conjuntos</a:t>
            </a:r>
            <a:endParaRPr/>
          </a:p>
        </p:txBody>
      </p:sp>
      <p:sp>
        <p:nvSpPr>
          <p:cNvPr id="132" name="Google Shape;132;p16"/>
          <p:cNvSpPr/>
          <p:nvPr/>
        </p:nvSpPr>
        <p:spPr>
          <a:xfrm>
            <a:off x="571500" y="1200150"/>
            <a:ext cx="11049000" cy="28575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 txBox="1"/>
          <p:nvPr/>
        </p:nvSpPr>
        <p:spPr>
          <a:xfrm>
            <a:off x="571500" y="1609725"/>
            <a:ext cx="11049000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El patrón de </a:t>
            </a:r>
            <a:r>
              <a:rPr lang="en-US" sz="1575" b="0" i="0" u="none" strike="noStrike" cap="non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"sumar, restar, sumar, restar..."</a:t>
            </a:r>
            <a:r>
              <a:rPr lang="en-US" sz="15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se puede generalizar matemáticamente a cualquier número de conjuntos.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866775" y="4034879"/>
            <a:ext cx="10981372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El Patrón de Alternancia:</a:t>
            </a:r>
            <a:endParaRPr/>
          </a:p>
        </p:txBody>
      </p:sp>
      <p:pic>
        <p:nvPicPr>
          <p:cNvPr id="135" name="Google Shape;135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28675" y="2916435"/>
            <a:ext cx="8751242" cy="280243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/>
          <p:cNvSpPr txBox="1"/>
          <p:nvPr/>
        </p:nvSpPr>
        <p:spPr>
          <a:xfrm>
            <a:off x="866775" y="4473029"/>
            <a:ext cx="1045845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0B981"/>
                </a:solidFill>
                <a:latin typeface="Roboto Mono"/>
                <a:ea typeface="Roboto Mono"/>
                <a:cs typeface="Roboto Mono"/>
                <a:sym typeface="Roboto Mono"/>
              </a:rPr>
              <a:t>+</a:t>
            </a:r>
            <a:r>
              <a:rPr lang="en-US" sz="1650" b="0" i="0" u="none" strike="noStrike" cap="none">
                <a:solidFill>
                  <a:srgbClr val="334155"/>
                </a:solidFill>
                <a:latin typeface="Roboto Mono"/>
                <a:ea typeface="Roboto Mono"/>
                <a:cs typeface="Roboto Mono"/>
                <a:sym typeface="Roboto Mono"/>
              </a:rPr>
              <a:t> Sumar las cardinalidades de los conjuntos </a:t>
            </a:r>
            <a:r>
              <a:rPr lang="en-US" sz="1650" b="1" i="0" u="none" strike="noStrike" cap="none">
                <a:solidFill>
                  <a:srgbClr val="334155"/>
                </a:solidFill>
                <a:latin typeface="Roboto Mono"/>
                <a:ea typeface="Roboto Mono"/>
                <a:cs typeface="Roboto Mono"/>
                <a:sym typeface="Roboto Mono"/>
              </a:rPr>
              <a:t>individuales</a:t>
            </a:r>
            <a:r>
              <a:rPr lang="en-US" sz="1650" b="0" i="0" u="none" strike="noStrike" cap="none">
                <a:solidFill>
                  <a:srgbClr val="334155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866775" y="4968329"/>
            <a:ext cx="1045845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EF4444"/>
                </a:solidFill>
                <a:latin typeface="Roboto Mono"/>
                <a:ea typeface="Roboto Mono"/>
                <a:cs typeface="Roboto Mono"/>
                <a:sym typeface="Roboto Mono"/>
              </a:rPr>
              <a:t>-</a:t>
            </a:r>
            <a:r>
              <a:rPr lang="en-US" sz="1650" b="0" i="0" u="none" strike="noStrike" cap="none">
                <a:solidFill>
                  <a:srgbClr val="334155"/>
                </a:solidFill>
                <a:latin typeface="Roboto Mono"/>
                <a:ea typeface="Roboto Mono"/>
                <a:cs typeface="Roboto Mono"/>
                <a:sym typeface="Roboto Mono"/>
              </a:rPr>
              <a:t> Restar las cardinalidades de todas las intersecciones de </a:t>
            </a:r>
            <a:r>
              <a:rPr lang="en-US" sz="1650" b="1" i="0" u="none" strike="noStrike" cap="none">
                <a:solidFill>
                  <a:srgbClr val="334155"/>
                </a:solidFill>
                <a:latin typeface="Roboto Mono"/>
                <a:ea typeface="Roboto Mono"/>
                <a:cs typeface="Roboto Mono"/>
                <a:sym typeface="Roboto Mono"/>
              </a:rPr>
              <a:t>pares</a:t>
            </a:r>
            <a:r>
              <a:rPr lang="en-US" sz="1650" b="0" i="0" u="none" strike="noStrike" cap="none">
                <a:solidFill>
                  <a:srgbClr val="334155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866775" y="5463629"/>
            <a:ext cx="1045845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0B981"/>
                </a:solidFill>
                <a:latin typeface="Roboto Mono"/>
                <a:ea typeface="Roboto Mono"/>
                <a:cs typeface="Roboto Mono"/>
                <a:sym typeface="Roboto Mono"/>
              </a:rPr>
              <a:t>+</a:t>
            </a:r>
            <a:r>
              <a:rPr lang="en-US" sz="1650" b="0" i="0" u="none" strike="noStrike" cap="none">
                <a:solidFill>
                  <a:srgbClr val="334155"/>
                </a:solidFill>
                <a:latin typeface="Roboto Mono"/>
                <a:ea typeface="Roboto Mono"/>
                <a:cs typeface="Roboto Mono"/>
                <a:sym typeface="Roboto Mono"/>
              </a:rPr>
              <a:t> Sumar las cardinalidades de todas las intersecciones de </a:t>
            </a:r>
            <a:r>
              <a:rPr lang="en-US" sz="1650" b="1" i="0" u="none" strike="noStrike" cap="none">
                <a:solidFill>
                  <a:srgbClr val="334155"/>
                </a:solidFill>
                <a:latin typeface="Roboto Mono"/>
                <a:ea typeface="Roboto Mono"/>
                <a:cs typeface="Roboto Mono"/>
                <a:sym typeface="Roboto Mono"/>
              </a:rPr>
              <a:t>tríos</a:t>
            </a:r>
            <a:r>
              <a:rPr lang="en-US" sz="1650" b="0" i="0" u="none" strike="noStrike" cap="none">
                <a:solidFill>
                  <a:srgbClr val="334155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866775" y="6054179"/>
            <a:ext cx="104584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...y así sucesivamente, hasta llegar a la intersección completa de todos los conjuntos.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83060"/>
            <a:ext cx="11049000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4. Aplicación Directa en Probabilidad</a:t>
            </a:r>
            <a:endParaRPr/>
          </a:p>
        </p:txBody>
      </p:sp>
      <p:sp>
        <p:nvSpPr>
          <p:cNvPr id="148" name="Google Shape;148;p17"/>
          <p:cNvSpPr/>
          <p:nvPr/>
        </p:nvSpPr>
        <p:spPr>
          <a:xfrm>
            <a:off x="571500" y="1200150"/>
            <a:ext cx="11049000" cy="28575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 txBox="1"/>
          <p:nvPr/>
        </p:nvSpPr>
        <p:spPr>
          <a:xfrm>
            <a:off x="571500" y="1609725"/>
            <a:ext cx="11049000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La fórmula de Inclusión-Exclusión se traduce perfectamente al cálculo de probabilidades. Para encontrar la probabilidad de que ocurra al menos uno de dos eventos mutuamente no excluyentes, aplicamos la misma lógica.</a:t>
            </a:r>
            <a:endParaRPr/>
          </a:p>
        </p:txBody>
      </p:sp>
      <p:pic>
        <p:nvPicPr>
          <p:cNvPr id="150" name="Google Shape;150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28675" y="2906910"/>
            <a:ext cx="5141267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7"/>
          <p:cNvSpPr txBox="1"/>
          <p:nvPr/>
        </p:nvSpPr>
        <p:spPr>
          <a:xfrm>
            <a:off x="571500" y="3802260"/>
            <a:ext cx="1570196" cy="885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Ejemplo: Probabilidad con Cartas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571500" y="4830960"/>
            <a:ext cx="4289258" cy="1163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En un </a:t>
            </a:r>
            <a:r>
              <a:rPr lang="en-US" sz="157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mazo</a:t>
            </a:r>
            <a:r>
              <a:rPr lang="en-US" sz="15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7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estándar</a:t>
            </a:r>
            <a:r>
              <a:rPr lang="en-US" sz="15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de 52 cartas, ¿</a:t>
            </a:r>
            <a:r>
              <a:rPr lang="en-US" sz="157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cuál</a:t>
            </a:r>
            <a:r>
              <a:rPr lang="en-US" sz="15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es la </a:t>
            </a:r>
            <a:r>
              <a:rPr lang="en-US" sz="157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probabilidad</a:t>
            </a:r>
            <a:r>
              <a:rPr lang="en-US" sz="15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de </a:t>
            </a:r>
            <a:r>
              <a:rPr lang="en-US" sz="157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sacar</a:t>
            </a:r>
            <a:r>
              <a:rPr lang="en-US" sz="15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7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una</a:t>
            </a:r>
            <a:r>
              <a:rPr lang="en-US" sz="15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carta </a:t>
            </a:r>
            <a:r>
              <a:rPr lang="en-US" sz="157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que</a:t>
            </a:r>
            <a:r>
              <a:rPr lang="en-US" sz="15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sea </a:t>
            </a:r>
            <a:r>
              <a:rPr lang="en-US" sz="1575" b="1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corazón</a:t>
            </a:r>
            <a:r>
              <a:rPr lang="en-US" sz="15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o </a:t>
            </a:r>
            <a:r>
              <a:rPr lang="en-US" sz="157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una</a:t>
            </a:r>
            <a:r>
              <a:rPr lang="en-US" sz="15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75" b="1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figura</a:t>
            </a:r>
            <a:r>
              <a:rPr lang="en-US" sz="15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(J, Q, K)?</a:t>
            </a:r>
            <a:endParaRPr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1B7FDEB-87A4-2A75-5AF1-75C90D54B5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9942" y="3666901"/>
            <a:ext cx="5604711" cy="305245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609725"/>
            <a:ext cx="11049000" cy="13677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" y="6036990"/>
            <a:ext cx="11049000" cy="67434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8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5. Taller: Conteo Numérico con Restricciones</a:t>
            </a:r>
            <a:endParaRPr/>
          </a:p>
        </p:txBody>
      </p:sp>
      <p:sp>
        <p:nvSpPr>
          <p:cNvPr id="162" name="Google Shape;162;p18"/>
          <p:cNvSpPr/>
          <p:nvPr/>
        </p:nvSpPr>
        <p:spPr>
          <a:xfrm>
            <a:off x="571500" y="1200150"/>
            <a:ext cx="11049000" cy="28575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8"/>
          <p:cNvSpPr txBox="1"/>
          <p:nvPr/>
        </p:nvSpPr>
        <p:spPr>
          <a:xfrm>
            <a:off x="571500" y="3263205"/>
            <a:ext cx="1160145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Pasos a seguir aplicando PIE: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876300" y="1914525"/>
            <a:ext cx="1096137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BE123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El Problema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876300" y="2352675"/>
            <a:ext cx="1043940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 dirty="0" err="1">
                <a:solidFill>
                  <a:srgbClr val="9F1239"/>
                </a:solidFill>
                <a:latin typeface="Inter Medium"/>
                <a:ea typeface="Inter Medium"/>
                <a:cs typeface="Inter Medium"/>
                <a:sym typeface="Inter Medium"/>
              </a:rPr>
              <a:t>Calcula</a:t>
            </a:r>
            <a:r>
              <a:rPr lang="en-US" sz="1575" b="0" i="0" u="none" strike="noStrike" cap="none" dirty="0">
                <a:solidFill>
                  <a:srgbClr val="9F1239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1575" b="0" i="0" u="none" strike="noStrike" cap="none" dirty="0" err="1">
                <a:solidFill>
                  <a:srgbClr val="9F1239"/>
                </a:solidFill>
                <a:latin typeface="Inter Medium"/>
                <a:ea typeface="Inter Medium"/>
                <a:cs typeface="Inter Medium"/>
                <a:sym typeface="Inter Medium"/>
              </a:rPr>
              <a:t>cuántos</a:t>
            </a:r>
            <a:r>
              <a:rPr lang="en-US" sz="1575" b="0" i="0" u="none" strike="noStrike" cap="none" dirty="0">
                <a:solidFill>
                  <a:srgbClr val="9F1239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1575" b="0" i="0" u="none" strike="noStrike" cap="none" dirty="0" err="1">
                <a:solidFill>
                  <a:srgbClr val="9F1239"/>
                </a:solidFill>
                <a:latin typeface="Inter Medium"/>
                <a:ea typeface="Inter Medium"/>
                <a:cs typeface="Inter Medium"/>
                <a:sym typeface="Inter Medium"/>
              </a:rPr>
              <a:t>números</a:t>
            </a:r>
            <a:r>
              <a:rPr lang="en-US" sz="1575" b="0" i="0" u="none" strike="noStrike" cap="none" dirty="0">
                <a:solidFill>
                  <a:srgbClr val="9F1239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1575" b="0" i="0" u="none" strike="noStrike" cap="none" dirty="0" err="1">
                <a:solidFill>
                  <a:srgbClr val="9F1239"/>
                </a:solidFill>
                <a:latin typeface="Inter Medium"/>
                <a:ea typeface="Inter Medium"/>
                <a:cs typeface="Inter Medium"/>
                <a:sym typeface="Inter Medium"/>
              </a:rPr>
              <a:t>enteros</a:t>
            </a:r>
            <a:r>
              <a:rPr lang="en-US" sz="1575" b="0" i="0" u="none" strike="noStrike" cap="none" dirty="0">
                <a:solidFill>
                  <a:srgbClr val="9F1239"/>
                </a:solidFill>
                <a:latin typeface="Inter Medium"/>
                <a:ea typeface="Inter Medium"/>
                <a:cs typeface="Inter Medium"/>
                <a:sym typeface="Inter Medium"/>
              </a:rPr>
              <a:t> entre 1 y 500 (inclusive) son </a:t>
            </a:r>
            <a:r>
              <a:rPr lang="en-US" sz="1575" b="0" i="0" u="none" strike="noStrike" cap="none" dirty="0" err="1">
                <a:solidFill>
                  <a:srgbClr val="9F1239"/>
                </a:solidFill>
                <a:latin typeface="Inter Medium"/>
                <a:ea typeface="Inter Medium"/>
                <a:cs typeface="Inter Medium"/>
                <a:sym typeface="Inter Medium"/>
              </a:rPr>
              <a:t>divisibles</a:t>
            </a:r>
            <a:r>
              <a:rPr lang="en-US" sz="1575" b="0" i="0" u="none" strike="noStrike" cap="none" dirty="0">
                <a:solidFill>
                  <a:srgbClr val="9F1239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1575" b="0" i="0" u="none" strike="noStrike" cap="none" dirty="0" err="1">
                <a:solidFill>
                  <a:srgbClr val="9F1239"/>
                </a:solidFill>
                <a:latin typeface="Inter Medium"/>
                <a:ea typeface="Inter Medium"/>
                <a:cs typeface="Inter Medium"/>
                <a:sym typeface="Inter Medium"/>
              </a:rPr>
              <a:t>por</a:t>
            </a:r>
            <a:r>
              <a:rPr lang="en-US" sz="1575" b="0" i="0" u="none" strike="noStrike" cap="none" dirty="0">
                <a:solidFill>
                  <a:srgbClr val="9F1239"/>
                </a:solidFill>
                <a:latin typeface="Inter Medium"/>
                <a:ea typeface="Inter Medium"/>
                <a:cs typeface="Inter Medium"/>
                <a:sym typeface="Inter Medium"/>
              </a:rPr>
              <a:t> 4 o </a:t>
            </a:r>
            <a:r>
              <a:rPr lang="en-US" sz="1575" b="0" i="0" u="none" strike="noStrike" cap="none" dirty="0" err="1">
                <a:solidFill>
                  <a:srgbClr val="9F1239"/>
                </a:solidFill>
                <a:latin typeface="Inter Medium"/>
                <a:ea typeface="Inter Medium"/>
                <a:cs typeface="Inter Medium"/>
                <a:sym typeface="Inter Medium"/>
              </a:rPr>
              <a:t>por</a:t>
            </a:r>
            <a:r>
              <a:rPr lang="en-US" sz="1575" b="0" i="0" u="none" strike="noStrike" cap="none" dirty="0">
                <a:solidFill>
                  <a:srgbClr val="9F1239"/>
                </a:solidFill>
                <a:latin typeface="Inter Medium"/>
                <a:ea typeface="Inter Medium"/>
                <a:cs typeface="Inter Medium"/>
                <a:sym typeface="Inter Medium"/>
              </a:rPr>
              <a:t> 7.</a:t>
            </a:r>
            <a:endParaRPr dirty="0"/>
          </a:p>
        </p:txBody>
      </p:sp>
      <p:sp>
        <p:nvSpPr>
          <p:cNvPr id="166" name="Google Shape;166;p18"/>
          <p:cNvSpPr txBox="1"/>
          <p:nvPr/>
        </p:nvSpPr>
        <p:spPr>
          <a:xfrm>
            <a:off x="628650" y="3891855"/>
            <a:ext cx="1333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1.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762000" y="3891855"/>
            <a:ext cx="10858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Define el conjunto A como los números divisibles por 4 y calcula su tamaño </a:t>
            </a:r>
            <a:r>
              <a:rPr lang="en-US" sz="15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|A|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590550" y="4339530"/>
            <a:ext cx="1714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2.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762000" y="4339530"/>
            <a:ext cx="10858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Define el conjunto B como los números divisibles por 7 y calcula su tamaño </a:t>
            </a:r>
            <a:r>
              <a:rPr lang="en-US" sz="15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|B|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590550" y="4787205"/>
            <a:ext cx="1714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3.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762000" y="4787205"/>
            <a:ext cx="10858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Define la intersección </a:t>
            </a:r>
            <a:r>
              <a:rPr lang="en-US" sz="15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(A ∩ B)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 Para ser divisible por ambos, debe ser divisible por su Mínimo Común Múltiplo (28). Calcula su tamaño.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590550" y="5539680"/>
            <a:ext cx="1714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4.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762000" y="5539680"/>
            <a:ext cx="10858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Aplica la fórmula de Inclusión-Exclusión para </a:t>
            </a:r>
            <a:r>
              <a:rPr lang="en-US" sz="15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|A ∪ B|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828675" y="6237015"/>
            <a:ext cx="106489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B45309"/>
                </a:solidFill>
                <a:latin typeface="Inter"/>
                <a:ea typeface="Inter"/>
                <a:cs typeface="Inter"/>
                <a:sym typeface="Inter"/>
              </a:rPr>
              <a:t>Pista de cálculo:</a:t>
            </a:r>
            <a:r>
              <a:rPr lang="en-US" sz="1350" b="0" i="0" u="none" strike="noStrike" cap="none">
                <a:solidFill>
                  <a:srgbClr val="B45309"/>
                </a:solidFill>
                <a:latin typeface="Inter"/>
                <a:ea typeface="Inter"/>
                <a:cs typeface="Inter"/>
                <a:sym typeface="Inter"/>
              </a:rPr>
              <a:t> Para saber cuántos números hasta N son divisibles por 'd', usa la división entera: piso(N / d).</a:t>
            </a:r>
            <a:endParaRPr/>
          </a:p>
        </p:txBody>
      </p:sp>
      <p:pic>
        <p:nvPicPr>
          <p:cNvPr id="175" name="Google Shape;175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28675" y="6284640"/>
            <a:ext cx="133350" cy="17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3396555"/>
            <a:ext cx="5286375" cy="212407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9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6. Anatomía de 3 Conjuntos (Mapa Visual)</a:t>
            </a:r>
            <a:endParaRPr/>
          </a:p>
        </p:txBody>
      </p:sp>
      <p:sp>
        <p:nvSpPr>
          <p:cNvPr id="183" name="Google Shape;183;p19"/>
          <p:cNvSpPr/>
          <p:nvPr/>
        </p:nvSpPr>
        <p:spPr>
          <a:xfrm>
            <a:off x="571500" y="1200150"/>
            <a:ext cx="11049000" cy="28575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9"/>
          <p:cNvSpPr txBox="1"/>
          <p:nvPr/>
        </p:nvSpPr>
        <p:spPr>
          <a:xfrm>
            <a:off x="571500" y="1866007"/>
            <a:ext cx="11049000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Antes de resolver problemas complejos, debemos entender cómo se divide el espacio cuando tenemos 3 variables. Identificar la "región verbal" correcta es el 90% del éxito.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6486525" y="3548955"/>
            <a:ext cx="5230653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Vocabulario Clave:</a:t>
            </a:r>
            <a:endParaRPr/>
          </a:p>
        </p:txBody>
      </p:sp>
      <p:sp>
        <p:nvSpPr>
          <p:cNvPr id="196" name="Google Shape;196;p19"/>
          <p:cNvSpPr/>
          <p:nvPr/>
        </p:nvSpPr>
        <p:spPr>
          <a:xfrm>
            <a:off x="6486525" y="3939480"/>
            <a:ext cx="152400" cy="152400"/>
          </a:xfrm>
          <a:prstGeom prst="roundRect">
            <a:avLst>
              <a:gd name="adj" fmla="val 25000"/>
            </a:avLst>
          </a:prstGeom>
          <a:solidFill>
            <a:srgbClr val="3B82F6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9"/>
          <p:cNvSpPr txBox="1"/>
          <p:nvPr/>
        </p:nvSpPr>
        <p:spPr>
          <a:xfrm>
            <a:off x="6734175" y="3920430"/>
            <a:ext cx="4318836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"</a:t>
            </a:r>
            <a:r>
              <a:rPr lang="en-US" sz="120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Exactamente</a:t>
            </a:r>
            <a:r>
              <a:rPr lang="en-US" sz="12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uno":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Zonas "Solo A", "Solo B", "Solo C".</a:t>
            </a:r>
            <a:endParaRPr dirty="0"/>
          </a:p>
        </p:txBody>
      </p:sp>
      <p:sp>
        <p:nvSpPr>
          <p:cNvPr id="198" name="Google Shape;198;p19"/>
          <p:cNvSpPr/>
          <p:nvPr/>
        </p:nvSpPr>
        <p:spPr>
          <a:xfrm>
            <a:off x="6486525" y="4301430"/>
            <a:ext cx="138856" cy="152400"/>
          </a:xfrm>
          <a:prstGeom prst="roundRect">
            <a:avLst>
              <a:gd name="adj" fmla="val 27438"/>
            </a:avLst>
          </a:prstGeom>
          <a:solidFill>
            <a:srgbClr val="A78BFA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9"/>
          <p:cNvSpPr txBox="1"/>
          <p:nvPr/>
        </p:nvSpPr>
        <p:spPr>
          <a:xfrm>
            <a:off x="6720631" y="4187130"/>
            <a:ext cx="4747468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"</a:t>
            </a:r>
            <a:r>
              <a:rPr lang="en-US" sz="120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Exactamente</a:t>
            </a:r>
            <a:r>
              <a:rPr lang="en-US" sz="12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dos":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Las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tres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zonas de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intersección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doble (sin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el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centro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).</a:t>
            </a:r>
            <a:endParaRPr dirty="0"/>
          </a:p>
        </p:txBody>
      </p:sp>
      <p:sp>
        <p:nvSpPr>
          <p:cNvPr id="200" name="Google Shape;200;p19"/>
          <p:cNvSpPr/>
          <p:nvPr/>
        </p:nvSpPr>
        <p:spPr>
          <a:xfrm>
            <a:off x="6486525" y="4758630"/>
            <a:ext cx="136773" cy="152400"/>
          </a:xfrm>
          <a:prstGeom prst="roundRect">
            <a:avLst>
              <a:gd name="adj" fmla="val 27856"/>
            </a:avLst>
          </a:prstGeom>
          <a:solidFill>
            <a:srgbClr val="94A3B8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9"/>
          <p:cNvSpPr txBox="1"/>
          <p:nvPr/>
        </p:nvSpPr>
        <p:spPr>
          <a:xfrm>
            <a:off x="6718548" y="4644330"/>
            <a:ext cx="4749551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"Al menos uno":</a:t>
            </a:r>
            <a:r>
              <a:rPr lang="en-US" sz="12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La Unión total (TODO lo que está dentro de los círculos).</a:t>
            </a:r>
            <a:endParaRPr/>
          </a:p>
        </p:txBody>
      </p:sp>
      <p:sp>
        <p:nvSpPr>
          <p:cNvPr id="202" name="Google Shape;202;p19"/>
          <p:cNvSpPr/>
          <p:nvPr/>
        </p:nvSpPr>
        <p:spPr>
          <a:xfrm>
            <a:off x="6486525" y="5120580"/>
            <a:ext cx="152400" cy="152400"/>
          </a:xfrm>
          <a:prstGeom prst="roundRect">
            <a:avLst>
              <a:gd name="adj" fmla="val 25000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9"/>
          <p:cNvSpPr txBox="1"/>
          <p:nvPr/>
        </p:nvSpPr>
        <p:spPr>
          <a:xfrm>
            <a:off x="6734175" y="5101530"/>
            <a:ext cx="36671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"Ninguno":</a:t>
            </a:r>
            <a:r>
              <a:rPr lang="en-US" sz="12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El universo total, menos la Unión total.</a:t>
            </a:r>
            <a:endParaRPr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3206DD8-F1B7-62F6-9B7D-F9FA04028E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996153"/>
            <a:ext cx="3984458" cy="351960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131807" y="2167830"/>
            <a:ext cx="1504950" cy="41125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1131807" y="6470898"/>
            <a:ext cx="1504950" cy="4112567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0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7. Taller: Habilidades de Empleados</a:t>
            </a:r>
            <a:endParaRPr/>
          </a:p>
        </p:txBody>
      </p:sp>
      <p:sp>
        <p:nvSpPr>
          <p:cNvPr id="213" name="Google Shape;213;p20"/>
          <p:cNvSpPr/>
          <p:nvPr/>
        </p:nvSpPr>
        <p:spPr>
          <a:xfrm>
            <a:off x="571500" y="1200150"/>
            <a:ext cx="11049000" cy="28575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>
            <a:off x="571500" y="1609725"/>
            <a:ext cx="1104900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Una empresa tecnológica analiza las habilidades de sus </a:t>
            </a:r>
            <a:r>
              <a:rPr lang="en-US" sz="1575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150 empleados totales</a:t>
            </a:r>
            <a:r>
              <a:rPr lang="en-US" sz="15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en tres áreas clave:</a:t>
            </a:r>
            <a:endParaRPr/>
          </a:p>
        </p:txBody>
      </p:sp>
      <p:sp>
        <p:nvSpPr>
          <p:cNvPr id="217" name="Google Shape;217;p20"/>
          <p:cNvSpPr txBox="1"/>
          <p:nvPr/>
        </p:nvSpPr>
        <p:spPr>
          <a:xfrm>
            <a:off x="15010804" y="6156573"/>
            <a:ext cx="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Roboto Mono"/>
                <a:ea typeface="Roboto Mono"/>
                <a:cs typeface="Roboto Mono"/>
                <a:sym typeface="Roboto Mono"/>
              </a:rPr>
              <a:t>// Intersección de los tres:</a:t>
            </a:r>
            <a:endParaRPr/>
          </a:p>
        </p:txBody>
      </p:sp>
      <p:sp>
        <p:nvSpPr>
          <p:cNvPr id="218" name="Google Shape;218;p20"/>
          <p:cNvSpPr txBox="1"/>
          <p:nvPr/>
        </p:nvSpPr>
        <p:spPr>
          <a:xfrm>
            <a:off x="21379457" y="2415480"/>
            <a:ext cx="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Pregunta 1:</a:t>
            </a:r>
            <a:endParaRPr/>
          </a:p>
        </p:txBody>
      </p:sp>
      <p:sp>
        <p:nvSpPr>
          <p:cNvPr id="219" name="Google Shape;219;p20"/>
          <p:cNvSpPr txBox="1"/>
          <p:nvPr/>
        </p:nvSpPr>
        <p:spPr>
          <a:xfrm>
            <a:off x="21379457" y="3015555"/>
            <a:ext cx="0" cy="3017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Usando la fórmula PIE general para 3 conjuntos, ¿cuántos empleados tienen </a:t>
            </a:r>
            <a:r>
              <a:rPr lang="en-US" sz="135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al menos una</a:t>
            </a: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de estas habilidades?</a:t>
            </a:r>
            <a:endParaRPr/>
          </a:p>
        </p:txBody>
      </p:sp>
      <p:sp>
        <p:nvSpPr>
          <p:cNvPr id="220" name="Google Shape;220;p20"/>
          <p:cNvSpPr txBox="1"/>
          <p:nvPr/>
        </p:nvSpPr>
        <p:spPr>
          <a:xfrm>
            <a:off x="21379457" y="6718548"/>
            <a:ext cx="0" cy="139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Pregunta 2:</a:t>
            </a:r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21379457" y="731862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Basado en el resultado anterior, ¿cuántos empleados del total de 150 </a:t>
            </a:r>
            <a:r>
              <a:rPr lang="en-US" sz="135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no tienen ninguna</a:t>
            </a: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de estas tres habilidades?</a:t>
            </a:r>
            <a:endParaRPr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4B3CDCD-CC6C-FC3C-2B1A-66BF04B2AF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499" y="2310705"/>
            <a:ext cx="10744535" cy="372204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53300" y="2379166"/>
            <a:ext cx="4267200" cy="3992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5579566"/>
            <a:ext cx="6400800" cy="79236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1"/>
          <p:cNvSpPr txBox="1"/>
          <p:nvPr/>
        </p:nvSpPr>
        <p:spPr>
          <a:xfrm>
            <a:off x="571500" y="571500"/>
            <a:ext cx="116014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8. Taller: </a:t>
            </a:r>
            <a:r>
              <a:rPr lang="en-US" sz="3150" b="1" i="0" u="none" strike="noStrike" cap="none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Análisis</a:t>
            </a:r>
            <a:r>
              <a:rPr lang="en-US" sz="3150" b="1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de </a:t>
            </a:r>
            <a:r>
              <a:rPr lang="en-US" sz="3150" b="1" i="0" u="none" strike="noStrike" cap="none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Inscripciones</a:t>
            </a:r>
            <a:endParaRPr dirty="0"/>
          </a:p>
        </p:txBody>
      </p:sp>
      <p:sp>
        <p:nvSpPr>
          <p:cNvPr id="230" name="Google Shape;230;p21"/>
          <p:cNvSpPr/>
          <p:nvPr/>
        </p:nvSpPr>
        <p:spPr>
          <a:xfrm>
            <a:off x="571500" y="1200150"/>
            <a:ext cx="11049000" cy="28575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1"/>
          <p:cNvSpPr txBox="1"/>
          <p:nvPr/>
        </p:nvSpPr>
        <p:spPr>
          <a:xfrm>
            <a:off x="571500" y="1609725"/>
            <a:ext cx="1104900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La oficina de admisiones analiza la matrícula de </a:t>
            </a:r>
            <a:r>
              <a:rPr lang="en-US" sz="1425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500 estudiantes</a:t>
            </a:r>
            <a:r>
              <a:rPr lang="en-US" sz="14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en tres cursos. Analiza las regiones del Diagrama de Venn (Cálculo=250, Física=180, Prog=200, C∩F=90, C∩P=100, P∩F=80, C∩P∩F=50).</a:t>
            </a:r>
            <a:endParaRPr/>
          </a:p>
        </p:txBody>
      </p:sp>
      <p:sp>
        <p:nvSpPr>
          <p:cNvPr id="232" name="Google Shape;232;p21"/>
          <p:cNvSpPr txBox="1"/>
          <p:nvPr/>
        </p:nvSpPr>
        <p:spPr>
          <a:xfrm>
            <a:off x="628650" y="2379166"/>
            <a:ext cx="1333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1.</a:t>
            </a:r>
            <a:endParaRPr/>
          </a:p>
        </p:txBody>
      </p:sp>
      <p:sp>
        <p:nvSpPr>
          <p:cNvPr id="233" name="Google Shape;233;p21"/>
          <p:cNvSpPr txBox="1"/>
          <p:nvPr/>
        </p:nvSpPr>
        <p:spPr>
          <a:xfrm>
            <a:off x="762000" y="2379166"/>
            <a:ext cx="62103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¿Cuántos estudiantes están inscritos en </a:t>
            </a:r>
            <a:r>
              <a:rPr lang="en-US" sz="15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al menos uno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de los cursos?</a:t>
            </a:r>
            <a:endParaRPr/>
          </a:p>
        </p:txBody>
      </p:sp>
      <p:sp>
        <p:nvSpPr>
          <p:cNvPr id="234" name="Google Shape;234;p21"/>
          <p:cNvSpPr txBox="1"/>
          <p:nvPr/>
        </p:nvSpPr>
        <p:spPr>
          <a:xfrm>
            <a:off x="590550" y="3131641"/>
            <a:ext cx="1714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2.</a:t>
            </a:r>
            <a:endParaRPr/>
          </a:p>
        </p:txBody>
      </p:sp>
      <p:sp>
        <p:nvSpPr>
          <p:cNvPr id="235" name="Google Shape;235;p21"/>
          <p:cNvSpPr txBox="1"/>
          <p:nvPr/>
        </p:nvSpPr>
        <p:spPr>
          <a:xfrm>
            <a:off x="762000" y="3131641"/>
            <a:ext cx="62103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¿Cuántos estudiantes están inscritos </a:t>
            </a:r>
            <a:r>
              <a:rPr lang="en-US" sz="15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únicamente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en Programación?</a:t>
            </a:r>
            <a:endParaRPr/>
          </a:p>
        </p:txBody>
      </p:sp>
      <p:sp>
        <p:nvSpPr>
          <p:cNvPr id="236" name="Google Shape;236;p21"/>
          <p:cNvSpPr txBox="1"/>
          <p:nvPr/>
        </p:nvSpPr>
        <p:spPr>
          <a:xfrm>
            <a:off x="590550" y="3884116"/>
            <a:ext cx="1714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3.</a:t>
            </a:r>
            <a:endParaRPr/>
          </a:p>
        </p:txBody>
      </p:sp>
      <p:sp>
        <p:nvSpPr>
          <p:cNvPr id="237" name="Google Shape;237;p21"/>
          <p:cNvSpPr txBox="1"/>
          <p:nvPr/>
        </p:nvSpPr>
        <p:spPr>
          <a:xfrm>
            <a:off x="762000" y="3884116"/>
            <a:ext cx="62103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¿Cuántos están inscritos en Cálculo y Física, pero </a:t>
            </a:r>
            <a:r>
              <a:rPr lang="en-US" sz="15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NO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en Programación?</a:t>
            </a:r>
            <a:endParaRPr/>
          </a:p>
        </p:txBody>
      </p:sp>
      <p:sp>
        <p:nvSpPr>
          <p:cNvPr id="238" name="Google Shape;238;p21"/>
          <p:cNvSpPr txBox="1"/>
          <p:nvPr/>
        </p:nvSpPr>
        <p:spPr>
          <a:xfrm>
            <a:off x="590550" y="4636591"/>
            <a:ext cx="1714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4.</a:t>
            </a:r>
            <a:endParaRPr/>
          </a:p>
        </p:txBody>
      </p:sp>
      <p:sp>
        <p:nvSpPr>
          <p:cNvPr id="239" name="Google Shape;239;p21"/>
          <p:cNvSpPr txBox="1"/>
          <p:nvPr/>
        </p:nvSpPr>
        <p:spPr>
          <a:xfrm>
            <a:off x="762000" y="4636591"/>
            <a:ext cx="6210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¿Cuántos están inscritos en </a:t>
            </a:r>
            <a:r>
              <a:rPr lang="en-US" sz="15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exactamente dos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de los tres cursos?</a:t>
            </a:r>
            <a:endParaRPr/>
          </a:p>
        </p:txBody>
      </p:sp>
      <p:sp>
        <p:nvSpPr>
          <p:cNvPr id="240" name="Google Shape;240;p21"/>
          <p:cNvSpPr txBox="1"/>
          <p:nvPr/>
        </p:nvSpPr>
        <p:spPr>
          <a:xfrm>
            <a:off x="600075" y="5084266"/>
            <a:ext cx="1619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5.</a:t>
            </a:r>
            <a:endParaRPr/>
          </a:p>
        </p:txBody>
      </p:sp>
      <p:sp>
        <p:nvSpPr>
          <p:cNvPr id="241" name="Google Shape;241;p21"/>
          <p:cNvSpPr txBox="1"/>
          <p:nvPr/>
        </p:nvSpPr>
        <p:spPr>
          <a:xfrm>
            <a:off x="762000" y="5084266"/>
            <a:ext cx="64008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19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Del total de 500, ¿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cuántos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1" i="0" u="none" strike="noStrike" cap="none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no </a:t>
            </a:r>
            <a:r>
              <a:rPr lang="en-US" sz="1500" b="1" i="0" u="none" strike="noStrike" cap="none" dirty="0" err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están</a:t>
            </a:r>
            <a:r>
              <a:rPr lang="en-US" sz="1500" b="1" i="0" u="none" strike="noStrike" cap="none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1" i="0" u="none" strike="noStrike" cap="none" dirty="0" err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en</a:t>
            </a:r>
            <a:r>
              <a:rPr lang="en-US" sz="1500" b="1" i="0" u="none" strike="noStrike" cap="none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1" i="0" u="none" strike="noStrike" cap="none" dirty="0" err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ninguno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?</a:t>
            </a:r>
            <a:endParaRPr dirty="0"/>
          </a:p>
        </p:txBody>
      </p:sp>
      <p:sp>
        <p:nvSpPr>
          <p:cNvPr id="242" name="Google Shape;242;p21"/>
          <p:cNvSpPr txBox="1"/>
          <p:nvPr/>
        </p:nvSpPr>
        <p:spPr>
          <a:xfrm>
            <a:off x="723900" y="5731966"/>
            <a:ext cx="609600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B45309"/>
                </a:solidFill>
                <a:latin typeface="Inter"/>
                <a:ea typeface="Inter"/>
                <a:cs typeface="Inter"/>
                <a:sym typeface="Inter"/>
              </a:rPr>
              <a:t>Pista General:</a:t>
            </a:r>
            <a:r>
              <a:rPr lang="en-US" sz="1200" b="0" i="0" u="none" strike="noStrike" cap="none">
                <a:solidFill>
                  <a:srgbClr val="B45309"/>
                </a:solidFill>
                <a:latin typeface="Inter"/>
                <a:ea typeface="Inter"/>
                <a:cs typeface="Inter"/>
                <a:sym typeface="Inter"/>
              </a:rPr>
              <a:t> Dibuja un Diagrama de Venn de 3 círculos. Empieza llenando siempre el valor de la intersección central de los 3, y resta hacia afuera.</a:t>
            </a:r>
            <a:endParaRPr/>
          </a:p>
        </p:txBody>
      </p:sp>
      <p:pic>
        <p:nvPicPr>
          <p:cNvPr id="247" name="Google Shape;247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23900" y="5770066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58159775-B334-DCF0-5CA2-F6FBEDA976C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34082" y="3016946"/>
            <a:ext cx="3305636" cy="28293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53362" y="2584102"/>
            <a:ext cx="3767137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750790"/>
            <a:ext cx="3402806" cy="50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64806" y="2750790"/>
            <a:ext cx="3402806" cy="504825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2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9. Taller: Relaciones, Cuadrícula y Filtro Numérico</a:t>
            </a:r>
            <a:endParaRPr/>
          </a:p>
        </p:txBody>
      </p:sp>
      <p:sp>
        <p:nvSpPr>
          <p:cNvPr id="257" name="Google Shape;257;p22"/>
          <p:cNvSpPr/>
          <p:nvPr/>
        </p:nvSpPr>
        <p:spPr>
          <a:xfrm>
            <a:off x="571500" y="1200150"/>
            <a:ext cx="11049000" cy="28575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2"/>
          <p:cNvSpPr txBox="1"/>
          <p:nvPr/>
        </p:nvSpPr>
        <p:spPr>
          <a:xfrm>
            <a:off x="571500" y="1978372"/>
            <a:ext cx="1104900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Conectando con el Producto Cartesiano: Una cuadrícula de píxeles se define por las siguientes coordenadas.</a:t>
            </a:r>
            <a:endParaRPr/>
          </a:p>
        </p:txBody>
      </p:sp>
      <p:sp>
        <p:nvSpPr>
          <p:cNvPr id="259" name="Google Shape;259;p22"/>
          <p:cNvSpPr txBox="1"/>
          <p:nvPr/>
        </p:nvSpPr>
        <p:spPr>
          <a:xfrm>
            <a:off x="571500" y="3493740"/>
            <a:ext cx="7345918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Tareas:</a:t>
            </a:r>
            <a:endParaRPr/>
          </a:p>
        </p:txBody>
      </p:sp>
      <p:sp>
        <p:nvSpPr>
          <p:cNvPr id="260" name="Google Shape;260;p22"/>
          <p:cNvSpPr txBox="1"/>
          <p:nvPr/>
        </p:nvSpPr>
        <p:spPr>
          <a:xfrm>
            <a:off x="8855868" y="5603527"/>
            <a:ext cx="15716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Puntos resaltados: x &gt; y</a:t>
            </a:r>
            <a:endParaRPr/>
          </a:p>
        </p:txBody>
      </p:sp>
      <p:sp>
        <p:nvSpPr>
          <p:cNvPr id="261" name="Google Shape;261;p22"/>
          <p:cNvSpPr txBox="1"/>
          <p:nvPr/>
        </p:nvSpPr>
        <p:spPr>
          <a:xfrm>
            <a:off x="628650" y="3931890"/>
            <a:ext cx="1333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1.</a:t>
            </a:r>
            <a:endParaRPr/>
          </a:p>
        </p:txBody>
      </p:sp>
      <p:sp>
        <p:nvSpPr>
          <p:cNvPr id="262" name="Google Shape;262;p22"/>
          <p:cNvSpPr txBox="1"/>
          <p:nvPr/>
        </p:nvSpPr>
        <p:spPr>
          <a:xfrm>
            <a:off x="762000" y="3931890"/>
            <a:ext cx="6805612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Calcula: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Escribe el producto cartesiano X × Y (todas las coordenadas de la cuadrícula). ¿Cuántas hay en total?</a:t>
            </a:r>
            <a:endParaRPr/>
          </a:p>
        </p:txBody>
      </p:sp>
      <p:sp>
        <p:nvSpPr>
          <p:cNvPr id="263" name="Google Shape;263;p22"/>
          <p:cNvSpPr txBox="1"/>
          <p:nvPr/>
        </p:nvSpPr>
        <p:spPr>
          <a:xfrm>
            <a:off x="590550" y="4684365"/>
            <a:ext cx="1714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2.</a:t>
            </a:r>
            <a:endParaRPr/>
          </a:p>
        </p:txBody>
      </p:sp>
      <p:sp>
        <p:nvSpPr>
          <p:cNvPr id="264" name="Google Shape;264;p22"/>
          <p:cNvSpPr txBox="1"/>
          <p:nvPr/>
        </p:nvSpPr>
        <p:spPr>
          <a:xfrm>
            <a:off x="762000" y="4684365"/>
            <a:ext cx="6805612" cy="923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Aplica un Filtro: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De ese conjunto universo, extrae y escribe la relación matemática (subconjunto) `R` compuesta solo por los puntos `(x, y)` que cumplen la condición estricta: x &gt; y.</a:t>
            </a:r>
            <a:endParaRPr/>
          </a:p>
        </p:txBody>
      </p:sp>
      <p:sp>
        <p:nvSpPr>
          <p:cNvPr id="265" name="Google Shape;265;p22"/>
          <p:cNvSpPr txBox="1"/>
          <p:nvPr/>
        </p:nvSpPr>
        <p:spPr>
          <a:xfrm>
            <a:off x="8289131" y="2774602"/>
            <a:ext cx="1143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Y</a:t>
            </a:r>
            <a:endParaRPr/>
          </a:p>
        </p:txBody>
      </p:sp>
      <p:sp>
        <p:nvSpPr>
          <p:cNvPr id="266" name="Google Shape;266;p22"/>
          <p:cNvSpPr txBox="1"/>
          <p:nvPr/>
        </p:nvSpPr>
        <p:spPr>
          <a:xfrm>
            <a:off x="11384756" y="4889152"/>
            <a:ext cx="1143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X</a:t>
            </a:r>
            <a:endParaRPr/>
          </a:p>
        </p:txBody>
      </p:sp>
      <p:sp>
        <p:nvSpPr>
          <p:cNvPr id="267" name="Google Shape;267;p22"/>
          <p:cNvSpPr txBox="1"/>
          <p:nvPr/>
        </p:nvSpPr>
        <p:spPr>
          <a:xfrm>
            <a:off x="8193881" y="4993927"/>
            <a:ext cx="3810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Roboto Mono"/>
                <a:ea typeface="Roboto Mono"/>
                <a:cs typeface="Roboto Mono"/>
                <a:sym typeface="Roboto Mono"/>
              </a:rPr>
              <a:t>(0,0)</a:t>
            </a:r>
            <a:endParaRPr/>
          </a:p>
        </p:txBody>
      </p:sp>
      <p:sp>
        <p:nvSpPr>
          <p:cNvPr id="268" name="Google Shape;268;p22"/>
          <p:cNvSpPr txBox="1"/>
          <p:nvPr/>
        </p:nvSpPr>
        <p:spPr>
          <a:xfrm>
            <a:off x="9608343" y="4993927"/>
            <a:ext cx="3810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(1,0)</a:t>
            </a:r>
            <a:endParaRPr/>
          </a:p>
        </p:txBody>
      </p:sp>
      <p:sp>
        <p:nvSpPr>
          <p:cNvPr id="269" name="Google Shape;269;p22"/>
          <p:cNvSpPr txBox="1"/>
          <p:nvPr/>
        </p:nvSpPr>
        <p:spPr>
          <a:xfrm>
            <a:off x="11022806" y="4993927"/>
            <a:ext cx="3810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(2,0)</a:t>
            </a:r>
            <a:endParaRPr/>
          </a:p>
        </p:txBody>
      </p:sp>
      <p:sp>
        <p:nvSpPr>
          <p:cNvPr id="270" name="Google Shape;270;p22"/>
          <p:cNvSpPr txBox="1"/>
          <p:nvPr/>
        </p:nvSpPr>
        <p:spPr>
          <a:xfrm>
            <a:off x="8193881" y="3117502"/>
            <a:ext cx="3810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Roboto Mono"/>
                <a:ea typeface="Roboto Mono"/>
                <a:cs typeface="Roboto Mono"/>
                <a:sym typeface="Roboto Mono"/>
              </a:rPr>
              <a:t>(0,1)</a:t>
            </a:r>
            <a:endParaRPr/>
          </a:p>
        </p:txBody>
      </p:sp>
      <p:sp>
        <p:nvSpPr>
          <p:cNvPr id="271" name="Google Shape;271;p22"/>
          <p:cNvSpPr txBox="1"/>
          <p:nvPr/>
        </p:nvSpPr>
        <p:spPr>
          <a:xfrm>
            <a:off x="9608343" y="3117502"/>
            <a:ext cx="3810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Roboto Mono"/>
                <a:ea typeface="Roboto Mono"/>
                <a:cs typeface="Roboto Mono"/>
                <a:sym typeface="Roboto Mono"/>
              </a:rPr>
              <a:t>(1,1)</a:t>
            </a:r>
            <a:endParaRPr/>
          </a:p>
        </p:txBody>
      </p:sp>
      <p:sp>
        <p:nvSpPr>
          <p:cNvPr id="272" name="Google Shape;272;p22"/>
          <p:cNvSpPr txBox="1"/>
          <p:nvPr/>
        </p:nvSpPr>
        <p:spPr>
          <a:xfrm>
            <a:off x="11022806" y="3117502"/>
            <a:ext cx="3810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(2,1)</a:t>
            </a:r>
            <a:endParaRPr/>
          </a:p>
        </p:txBody>
      </p:sp>
      <p:sp>
        <p:nvSpPr>
          <p:cNvPr id="273" name="Google Shape;273;p22"/>
          <p:cNvSpPr txBox="1"/>
          <p:nvPr/>
        </p:nvSpPr>
        <p:spPr>
          <a:xfrm>
            <a:off x="723900" y="2912715"/>
            <a:ext cx="4286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Eje X:</a:t>
            </a:r>
            <a:endParaRPr/>
          </a:p>
        </p:txBody>
      </p:sp>
      <p:sp>
        <p:nvSpPr>
          <p:cNvPr id="274" name="Google Shape;274;p22"/>
          <p:cNvSpPr txBox="1"/>
          <p:nvPr/>
        </p:nvSpPr>
        <p:spPr>
          <a:xfrm>
            <a:off x="1200150" y="2903190"/>
            <a:ext cx="10477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{ 0, 1, 2 }</a:t>
            </a:r>
            <a:endParaRPr/>
          </a:p>
        </p:txBody>
      </p:sp>
      <p:sp>
        <p:nvSpPr>
          <p:cNvPr id="275" name="Google Shape;275;p22"/>
          <p:cNvSpPr txBox="1"/>
          <p:nvPr/>
        </p:nvSpPr>
        <p:spPr>
          <a:xfrm>
            <a:off x="4317205" y="2912714"/>
            <a:ext cx="571023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Eje Y:</a:t>
            </a:r>
            <a:endParaRPr dirty="0"/>
          </a:p>
        </p:txBody>
      </p:sp>
      <p:sp>
        <p:nvSpPr>
          <p:cNvPr id="276" name="Google Shape;276;p22"/>
          <p:cNvSpPr txBox="1"/>
          <p:nvPr/>
        </p:nvSpPr>
        <p:spPr>
          <a:xfrm>
            <a:off x="4783930" y="2903190"/>
            <a:ext cx="1312069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{ 0, 1 }</a:t>
            </a:r>
            <a:endParaRPr dirty="0"/>
          </a:p>
        </p:txBody>
      </p:sp>
      <p:sp>
        <p:nvSpPr>
          <p:cNvPr id="277" name="Google Shape;277;p22"/>
          <p:cNvSpPr/>
          <p:nvPr/>
        </p:nvSpPr>
        <p:spPr>
          <a:xfrm>
            <a:off x="8298656" y="4851052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2"/>
          <p:cNvSpPr/>
          <p:nvPr/>
        </p:nvSpPr>
        <p:spPr>
          <a:xfrm>
            <a:off x="9695973" y="4833907"/>
            <a:ext cx="205740" cy="205739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2"/>
          <p:cNvSpPr/>
          <p:nvPr/>
        </p:nvSpPr>
        <p:spPr>
          <a:xfrm>
            <a:off x="11110435" y="4833907"/>
            <a:ext cx="205740" cy="205739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2"/>
          <p:cNvSpPr/>
          <p:nvPr/>
        </p:nvSpPr>
        <p:spPr>
          <a:xfrm>
            <a:off x="8298656" y="2974627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2"/>
          <p:cNvSpPr/>
          <p:nvPr/>
        </p:nvSpPr>
        <p:spPr>
          <a:xfrm>
            <a:off x="9713118" y="2974627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2"/>
          <p:cNvSpPr/>
          <p:nvPr/>
        </p:nvSpPr>
        <p:spPr>
          <a:xfrm>
            <a:off x="11110435" y="2957482"/>
            <a:ext cx="205740" cy="205739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Google Shape;287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05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722066"/>
            <a:ext cx="3492549" cy="38155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722066"/>
            <a:ext cx="3492549" cy="38155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722066"/>
            <a:ext cx="3492549" cy="3815506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3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Resumen y Conclusiones</a:t>
            </a:r>
            <a:endParaRPr/>
          </a:p>
        </p:txBody>
      </p:sp>
      <p:sp>
        <p:nvSpPr>
          <p:cNvPr id="292" name="Google Shape;292;p23"/>
          <p:cNvSpPr/>
          <p:nvPr/>
        </p:nvSpPr>
        <p:spPr>
          <a:xfrm>
            <a:off x="571500" y="1200150"/>
            <a:ext cx="11049000" cy="28575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3"/>
          <p:cNvSpPr txBox="1"/>
          <p:nvPr/>
        </p:nvSpPr>
        <p:spPr>
          <a:xfrm>
            <a:off x="571500" y="1609725"/>
            <a:ext cx="110490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La Teoría de Conjuntos no es solo matemática abstracta; es el lenguaje fundamental para modelar, contar y estructurar datos en el mundo de la tecnología.</a:t>
            </a:r>
            <a:endParaRPr/>
          </a:p>
        </p:txBody>
      </p:sp>
      <p:sp>
        <p:nvSpPr>
          <p:cNvPr id="294" name="Google Shape;294;p23"/>
          <p:cNvSpPr txBox="1"/>
          <p:nvPr/>
        </p:nvSpPr>
        <p:spPr>
          <a:xfrm>
            <a:off x="914400" y="3741241"/>
            <a:ext cx="2947087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Evitar el Doble Conteo</a:t>
            </a:r>
            <a:endParaRPr/>
          </a:p>
        </p:txBody>
      </p:sp>
      <p:sp>
        <p:nvSpPr>
          <p:cNvPr id="295" name="Google Shape;295;p23"/>
          <p:cNvSpPr txBox="1"/>
          <p:nvPr/>
        </p:nvSpPr>
        <p:spPr>
          <a:xfrm>
            <a:off x="914400" y="4131766"/>
            <a:ext cx="2806749" cy="1645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El </a:t>
            </a:r>
            <a:r>
              <a:rPr lang="en-US" sz="135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PIE</a:t>
            </a: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soluciona el solapamiento de datos. Sumamos inclusiones, restamos exclusiones. Es un principio de equilibrio matemático para conjuntos que comparten elementos.</a:t>
            </a:r>
            <a:endParaRPr/>
          </a:p>
        </p:txBody>
      </p:sp>
      <p:sp>
        <p:nvSpPr>
          <p:cNvPr id="296" name="Google Shape;296;p23"/>
          <p:cNvSpPr txBox="1"/>
          <p:nvPr/>
        </p:nvSpPr>
        <p:spPr>
          <a:xfrm>
            <a:off x="4692699" y="3741241"/>
            <a:ext cx="2947087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Escalabilidad Lógica</a:t>
            </a:r>
            <a:endParaRPr/>
          </a:p>
        </p:txBody>
      </p:sp>
      <p:sp>
        <p:nvSpPr>
          <p:cNvPr id="297" name="Google Shape;297;p23"/>
          <p:cNvSpPr txBox="1"/>
          <p:nvPr/>
        </p:nvSpPr>
        <p:spPr>
          <a:xfrm>
            <a:off x="4692699" y="4131766"/>
            <a:ext cx="2806749" cy="1645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Desde 2 hasta "n" conjuntos, el patrón alternante (sumar, restar, sumar...) se mantiene constante. Esto permite que los algoritmos informáticos procesen análisis de Big Data de forma predecible.</a:t>
            </a:r>
            <a:endParaRPr/>
          </a:p>
        </p:txBody>
      </p:sp>
      <p:sp>
        <p:nvSpPr>
          <p:cNvPr id="298" name="Google Shape;298;p23"/>
          <p:cNvSpPr txBox="1"/>
          <p:nvPr/>
        </p:nvSpPr>
        <p:spPr>
          <a:xfrm>
            <a:off x="8470999" y="3741241"/>
            <a:ext cx="2947087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El Motor Oculto</a:t>
            </a:r>
            <a:endParaRPr/>
          </a:p>
        </p:txBody>
      </p:sp>
      <p:sp>
        <p:nvSpPr>
          <p:cNvPr id="299" name="Google Shape;299;p23"/>
          <p:cNvSpPr txBox="1"/>
          <p:nvPr/>
        </p:nvSpPr>
        <p:spPr>
          <a:xfrm>
            <a:off x="8470999" y="4131766"/>
            <a:ext cx="2806749" cy="1920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Cada vez que calculamos probabilidades compuestas en estadística, estructuramos bases de datos relacionales (SQL) o generamos bucles anidados, estamos aplicando estos teoremas fundacionales.</a:t>
            </a:r>
            <a:endParaRPr/>
          </a:p>
        </p:txBody>
      </p:sp>
      <p:pic>
        <p:nvPicPr>
          <p:cNvPr id="300" name="Google Shape;300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14400" y="3103066"/>
            <a:ext cx="409575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92699" y="3103066"/>
            <a:ext cx="45720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2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70999" y="3103066"/>
            <a:ext cx="457200" cy="36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1676400"/>
            <a:ext cx="5324475" cy="460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676400"/>
            <a:ext cx="5324475" cy="460057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5"/>
          <p:cNvSpPr txBox="1"/>
          <p:nvPr/>
        </p:nvSpPr>
        <p:spPr>
          <a:xfrm>
            <a:off x="581025" y="581025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00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Ejercicio 1: Sistema de Reservas de Vuelos</a:t>
            </a:r>
            <a:endParaRPr/>
          </a:p>
        </p:txBody>
      </p:sp>
      <p:sp>
        <p:nvSpPr>
          <p:cNvPr id="101" name="Google Shape;101;p15"/>
          <p:cNvSpPr/>
          <p:nvPr/>
        </p:nvSpPr>
        <p:spPr>
          <a:xfrm>
            <a:off x="581025" y="1266825"/>
            <a:ext cx="11029950" cy="28575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" name="Google Shape;102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666750"/>
            <a:ext cx="45720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 txBox="1"/>
          <p:nvPr/>
        </p:nvSpPr>
        <p:spPr>
          <a:xfrm>
            <a:off x="971550" y="2066925"/>
            <a:ext cx="4770596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Contexto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971550" y="2657475"/>
            <a:ext cx="45434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Una aerolínea gestiona las combinaciones de vuelos en sus destinos.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6677025" y="2066925"/>
            <a:ext cx="4770596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19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Preguntas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998787" y="385286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1209675" y="3409950"/>
            <a:ext cx="43053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(Ciudades de origen)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998787" y="457676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1209675" y="4133850"/>
            <a:ext cx="43053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(Días de salida)</a:t>
            </a:r>
            <a:endParaRPr/>
          </a:p>
        </p:txBody>
      </p:sp>
      <p:pic>
        <p:nvPicPr>
          <p:cNvPr id="110" name="Google Shape;110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77025" y="2124075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6677025" y="2552700"/>
            <a:ext cx="15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1.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6829425" y="2552700"/>
            <a:ext cx="4305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¿Cuántos elementos hay en el conjunto ?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6677025" y="2971800"/>
            <a:ext cx="15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2.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6829425" y="2971800"/>
            <a:ext cx="4305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Escribe todos los pares ordenados de 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6677025" y="3390900"/>
            <a:ext cx="15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3.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6829425" y="3390900"/>
            <a:ext cx="43053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 se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agrega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un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tercer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conjunto (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horario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del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vuelo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), ¿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cuántos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elementos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habrá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                     ?</a:t>
            </a:r>
            <a:endParaRPr dirty="0"/>
          </a:p>
        </p:txBody>
      </p:sp>
      <p:pic>
        <p:nvPicPr>
          <p:cNvPr id="117" name="Google Shape;117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13087" y="3919537"/>
            <a:ext cx="2906017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113087" y="4643437"/>
            <a:ext cx="3258442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475570" y="2700338"/>
            <a:ext cx="516433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475569" y="3109341"/>
            <a:ext cx="516433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878241" y="4167187"/>
            <a:ext cx="2160984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0179396" y="3905249"/>
            <a:ext cx="899517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1676400"/>
            <a:ext cx="5324475" cy="460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676400"/>
            <a:ext cx="5324475" cy="460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71550" y="4676775"/>
            <a:ext cx="4543425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581025" y="581025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24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Ejercicio 2: Relaciones Binarias</a:t>
            </a:r>
            <a:endParaRPr/>
          </a:p>
        </p:txBody>
      </p:sp>
      <p:sp>
        <p:nvSpPr>
          <p:cNvPr id="131" name="Google Shape;131;p16"/>
          <p:cNvSpPr/>
          <p:nvPr/>
        </p:nvSpPr>
        <p:spPr>
          <a:xfrm>
            <a:off x="581025" y="1266825"/>
            <a:ext cx="11029950" cy="28575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2" name="Google Shape;132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666750"/>
            <a:ext cx="409575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971550" y="2066925"/>
            <a:ext cx="4770596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Contexto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971550" y="2657475"/>
            <a:ext cx="4543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Dado los conjuntos: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971550" y="4133850"/>
            <a:ext cx="4543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Define la relación R como: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6677025" y="2066925"/>
            <a:ext cx="4770596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19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Preguntas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1095375" y="310515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1095375" y="352425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pic>
        <p:nvPicPr>
          <p:cNvPr id="139" name="Google Shape;139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90836" y="4838700"/>
            <a:ext cx="3104852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677025" y="2124075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6"/>
          <p:cNvSpPr txBox="1"/>
          <p:nvPr/>
        </p:nvSpPr>
        <p:spPr>
          <a:xfrm>
            <a:off x="6762750" y="2657475"/>
            <a:ext cx="15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1.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6915150" y="2657475"/>
            <a:ext cx="4305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Encuentra .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6762750" y="3076575"/>
            <a:ext cx="15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2.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6915150" y="3076575"/>
            <a:ext cx="4305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Escribe los pares ordenados que pertenecen a .</a:t>
            </a:r>
            <a:endParaRPr/>
          </a:p>
        </p:txBody>
      </p:sp>
      <p:pic>
        <p:nvPicPr>
          <p:cNvPr id="145" name="Google Shape;145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209675" y="3171825"/>
            <a:ext cx="1736526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209675" y="3590925"/>
            <a:ext cx="1122759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6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203311" y="2843212"/>
            <a:ext cx="516433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6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0687050" y="3162300"/>
            <a:ext cx="133350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1676400"/>
            <a:ext cx="5324475" cy="460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676400"/>
            <a:ext cx="5324475" cy="460057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7"/>
          <p:cNvSpPr txBox="1"/>
          <p:nvPr/>
        </p:nvSpPr>
        <p:spPr>
          <a:xfrm>
            <a:off x="581025" y="581025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Ejercicio 3: Representación de Tableros</a:t>
            </a:r>
            <a:endParaRPr/>
          </a:p>
        </p:txBody>
      </p:sp>
      <p:sp>
        <p:nvSpPr>
          <p:cNvPr id="156" name="Google Shape;156;p17"/>
          <p:cNvSpPr/>
          <p:nvPr/>
        </p:nvSpPr>
        <p:spPr>
          <a:xfrm>
            <a:off x="581025" y="1266825"/>
            <a:ext cx="11029950" cy="28575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7" name="Google Shape;157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666750"/>
            <a:ext cx="314325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7"/>
          <p:cNvSpPr txBox="1"/>
          <p:nvPr/>
        </p:nvSpPr>
        <p:spPr>
          <a:xfrm>
            <a:off x="971550" y="2066925"/>
            <a:ext cx="4770596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Contexto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971550" y="2657475"/>
            <a:ext cx="45434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Un tablero de ajedrez de 3x3 se representa como un producto cartesiano: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6677025" y="2066925"/>
            <a:ext cx="4770596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19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Preguntas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1095375" y="340995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1209675" y="3409950"/>
            <a:ext cx="4305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(Filas).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1095375" y="382905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1209675" y="3829050"/>
            <a:ext cx="4305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(Columnas).</a:t>
            </a:r>
            <a:endParaRPr/>
          </a:p>
        </p:txBody>
      </p:sp>
      <p:pic>
        <p:nvPicPr>
          <p:cNvPr id="165" name="Google Shape;165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77025" y="2124075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7"/>
          <p:cNvSpPr txBox="1"/>
          <p:nvPr/>
        </p:nvSpPr>
        <p:spPr>
          <a:xfrm>
            <a:off x="6762750" y="2657475"/>
            <a:ext cx="15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1.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6915150" y="2657475"/>
            <a:ext cx="4305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Escribe todos los pares ordenados en .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6762750" y="3076575"/>
            <a:ext cx="15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2.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6915150" y="3076575"/>
            <a:ext cx="4305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Representa los pares en forma de matriz.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6762750" y="3495675"/>
            <a:ext cx="15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3.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6915150" y="3495675"/>
            <a:ext cx="43053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¿Cómo se representa un movimiento de una pieza desde la posición a otra casilla?</a:t>
            </a:r>
            <a:endParaRPr/>
          </a:p>
        </p:txBody>
      </p:sp>
      <p:pic>
        <p:nvPicPr>
          <p:cNvPr id="172" name="Google Shape;172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24075" y="3514725"/>
            <a:ext cx="1448692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380107" y="3951160"/>
            <a:ext cx="1382017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368331" y="2806255"/>
            <a:ext cx="516433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124033" y="3906393"/>
            <a:ext cx="768250" cy="20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1676400"/>
            <a:ext cx="5324475" cy="460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676400"/>
            <a:ext cx="5324475" cy="460057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8"/>
          <p:cNvSpPr txBox="1"/>
          <p:nvPr/>
        </p:nvSpPr>
        <p:spPr>
          <a:xfrm>
            <a:off x="581025" y="581025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Ejercicio 4: Producto Cartesiano en Bases de Datos</a:t>
            </a:r>
            <a:endParaRPr/>
          </a:p>
        </p:txBody>
      </p:sp>
      <p:sp>
        <p:nvSpPr>
          <p:cNvPr id="183" name="Google Shape;183;p18"/>
          <p:cNvSpPr/>
          <p:nvPr/>
        </p:nvSpPr>
        <p:spPr>
          <a:xfrm>
            <a:off x="581025" y="1266825"/>
            <a:ext cx="11029950" cy="28575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4" name="Google Shape;184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666750"/>
            <a:ext cx="314325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8"/>
          <p:cNvSpPr txBox="1"/>
          <p:nvPr/>
        </p:nvSpPr>
        <p:spPr>
          <a:xfrm>
            <a:off x="971550" y="2066925"/>
            <a:ext cx="4770596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Contexto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971550" y="2657475"/>
            <a:ext cx="4543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Una tienda en línea maneja los conjuntos:</a:t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6677025" y="2066925"/>
            <a:ext cx="4770596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19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Preguntas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1095375" y="310515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89" name="Google Shape;189;p18"/>
          <p:cNvSpPr txBox="1"/>
          <p:nvPr/>
        </p:nvSpPr>
        <p:spPr>
          <a:xfrm>
            <a:off x="1095375" y="352425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pic>
        <p:nvPicPr>
          <p:cNvPr id="190" name="Google Shape;190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77025" y="2124075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8"/>
          <p:cNvSpPr txBox="1"/>
          <p:nvPr/>
        </p:nvSpPr>
        <p:spPr>
          <a:xfrm>
            <a:off x="6762750" y="2657475"/>
            <a:ext cx="15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1.</a:t>
            </a:r>
            <a:endParaRPr/>
          </a:p>
        </p:txBody>
      </p:sp>
      <p:sp>
        <p:nvSpPr>
          <p:cNvPr id="192" name="Google Shape;192;p18"/>
          <p:cNvSpPr txBox="1"/>
          <p:nvPr/>
        </p:nvSpPr>
        <p:spPr>
          <a:xfrm>
            <a:off x="6915150" y="2657475"/>
            <a:ext cx="43053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Encuentra y escribe todos los pares ordenados.</a:t>
            </a:r>
            <a:endParaRPr/>
          </a:p>
        </p:txBody>
      </p:sp>
      <p:sp>
        <p:nvSpPr>
          <p:cNvPr id="193" name="Google Shape;193;p18"/>
          <p:cNvSpPr txBox="1"/>
          <p:nvPr/>
        </p:nvSpPr>
        <p:spPr>
          <a:xfrm>
            <a:off x="6762750" y="3381375"/>
            <a:ext cx="15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2.</a:t>
            </a:r>
            <a:endParaRPr/>
          </a:p>
        </p:txBody>
      </p:sp>
      <p:sp>
        <p:nvSpPr>
          <p:cNvPr id="194" name="Google Shape;194;p18"/>
          <p:cNvSpPr txBox="1"/>
          <p:nvPr/>
        </p:nvSpPr>
        <p:spPr>
          <a:xfrm>
            <a:off x="6915150" y="3381375"/>
            <a:ext cx="4305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¿Cuántos pares existen en ?</a:t>
            </a:r>
            <a:endParaRPr/>
          </a:p>
        </p:txBody>
      </p:sp>
      <p:pic>
        <p:nvPicPr>
          <p:cNvPr id="195" name="Google Shape;195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209675" y="3171825"/>
            <a:ext cx="33685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209675" y="3590925"/>
            <a:ext cx="4244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800975" y="2743200"/>
            <a:ext cx="516433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8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077325" y="3467100"/>
            <a:ext cx="516433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9"/>
          <p:cNvSpPr txBox="1"/>
          <p:nvPr/>
        </p:nvSpPr>
        <p:spPr>
          <a:xfrm>
            <a:off x="5105876" y="2321272"/>
            <a:ext cx="1980247" cy="809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Parte 2</a:t>
            </a:r>
            <a:endParaRPr/>
          </a:p>
        </p:txBody>
      </p:sp>
      <p:sp>
        <p:nvSpPr>
          <p:cNvPr id="204" name="Google Shape;204;p19"/>
          <p:cNvSpPr txBox="1"/>
          <p:nvPr/>
        </p:nvSpPr>
        <p:spPr>
          <a:xfrm>
            <a:off x="3119437" y="3321397"/>
            <a:ext cx="595312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Ejercicios sobre el Principio de Inclusión-Exclusión (PIE)</a:t>
            </a:r>
            <a:endParaRPr/>
          </a:p>
        </p:txBody>
      </p:sp>
      <p:sp>
        <p:nvSpPr>
          <p:cNvPr id="205" name="Google Shape;205;p19"/>
          <p:cNvSpPr/>
          <p:nvPr/>
        </p:nvSpPr>
        <p:spPr>
          <a:xfrm>
            <a:off x="5524499" y="4299745"/>
            <a:ext cx="1143000" cy="571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862012"/>
            <a:ext cx="3412331" cy="59102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74357" y="890587"/>
            <a:ext cx="7236618" cy="56388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0"/>
          <p:cNvSpPr txBox="1"/>
          <p:nvPr/>
        </p:nvSpPr>
        <p:spPr>
          <a:xfrm>
            <a:off x="581025" y="119063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00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Ejercicio 5: Encuesta de Preferencias de Streaming</a:t>
            </a:r>
            <a:endParaRPr/>
          </a:p>
        </p:txBody>
      </p:sp>
      <p:sp>
        <p:nvSpPr>
          <p:cNvPr id="213" name="Google Shape;213;p20"/>
          <p:cNvSpPr/>
          <p:nvPr/>
        </p:nvSpPr>
        <p:spPr>
          <a:xfrm>
            <a:off x="581025" y="804862"/>
            <a:ext cx="11029950" cy="28575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4" name="Google Shape;214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204788"/>
            <a:ext cx="45720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0"/>
          <p:cNvSpPr txBox="1"/>
          <p:nvPr/>
        </p:nvSpPr>
        <p:spPr>
          <a:xfrm>
            <a:off x="971550" y="1252537"/>
            <a:ext cx="2762845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Datos de la Encuesta</a:t>
            </a:r>
            <a:endParaRPr/>
          </a:p>
        </p:txBody>
      </p:sp>
      <p:sp>
        <p:nvSpPr>
          <p:cNvPr id="216" name="Google Shape;216;p20"/>
          <p:cNvSpPr txBox="1"/>
          <p:nvPr/>
        </p:nvSpPr>
        <p:spPr>
          <a:xfrm>
            <a:off x="4764881" y="1252537"/>
            <a:ext cx="677834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19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Preguntas</a:t>
            </a:r>
            <a:endParaRPr/>
          </a:p>
        </p:txBody>
      </p:sp>
      <p:sp>
        <p:nvSpPr>
          <p:cNvPr id="217" name="Google Shape;217;p20"/>
          <p:cNvSpPr txBox="1"/>
          <p:nvPr/>
        </p:nvSpPr>
        <p:spPr>
          <a:xfrm>
            <a:off x="1095375" y="224313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18" name="Google Shape;218;p20"/>
          <p:cNvSpPr txBox="1"/>
          <p:nvPr/>
        </p:nvSpPr>
        <p:spPr>
          <a:xfrm>
            <a:off x="1209675" y="2243137"/>
            <a:ext cx="2393156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200 personas usan Netflix.</a:t>
            </a:r>
            <a:endParaRPr/>
          </a:p>
        </p:txBody>
      </p:sp>
      <p:sp>
        <p:nvSpPr>
          <p:cNvPr id="219" name="Google Shape;219;p20"/>
          <p:cNvSpPr txBox="1"/>
          <p:nvPr/>
        </p:nvSpPr>
        <p:spPr>
          <a:xfrm>
            <a:off x="1095375" y="266223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20" name="Google Shape;220;p20"/>
          <p:cNvSpPr txBox="1"/>
          <p:nvPr/>
        </p:nvSpPr>
        <p:spPr>
          <a:xfrm>
            <a:off x="1209675" y="2662237"/>
            <a:ext cx="276284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150 personas usan Disney+.</a:t>
            </a:r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1095375" y="308133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22" name="Google Shape;222;p20"/>
          <p:cNvSpPr txBox="1"/>
          <p:nvPr/>
        </p:nvSpPr>
        <p:spPr>
          <a:xfrm>
            <a:off x="1209674" y="3081337"/>
            <a:ext cx="2667381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120 personas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usan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Amazon Prime.</a:t>
            </a:r>
            <a:endParaRPr dirty="0"/>
          </a:p>
        </p:txBody>
      </p:sp>
      <p:sp>
        <p:nvSpPr>
          <p:cNvPr id="223" name="Google Shape;223;p20"/>
          <p:cNvSpPr txBox="1"/>
          <p:nvPr/>
        </p:nvSpPr>
        <p:spPr>
          <a:xfrm>
            <a:off x="1095375" y="380523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24" name="Google Shape;224;p20"/>
          <p:cNvSpPr txBox="1"/>
          <p:nvPr/>
        </p:nvSpPr>
        <p:spPr>
          <a:xfrm>
            <a:off x="1209675" y="3805237"/>
            <a:ext cx="2393156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80 personas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usan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Netflix y Disney+.</a:t>
            </a:r>
            <a:endParaRPr dirty="0"/>
          </a:p>
        </p:txBody>
      </p:sp>
      <p:sp>
        <p:nvSpPr>
          <p:cNvPr id="225" name="Google Shape;225;p20"/>
          <p:cNvSpPr txBox="1"/>
          <p:nvPr/>
        </p:nvSpPr>
        <p:spPr>
          <a:xfrm>
            <a:off x="1095375" y="452913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26" name="Google Shape;226;p20"/>
          <p:cNvSpPr txBox="1"/>
          <p:nvPr/>
        </p:nvSpPr>
        <p:spPr>
          <a:xfrm>
            <a:off x="1209675" y="4529137"/>
            <a:ext cx="2393156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60 personas usan Netflix y Amazon Prime.</a:t>
            </a:r>
            <a:endParaRPr/>
          </a:p>
        </p:txBody>
      </p:sp>
      <p:sp>
        <p:nvSpPr>
          <p:cNvPr id="227" name="Google Shape;227;p20"/>
          <p:cNvSpPr txBox="1"/>
          <p:nvPr/>
        </p:nvSpPr>
        <p:spPr>
          <a:xfrm>
            <a:off x="1095375" y="525303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28" name="Google Shape;228;p20"/>
          <p:cNvSpPr txBox="1"/>
          <p:nvPr/>
        </p:nvSpPr>
        <p:spPr>
          <a:xfrm>
            <a:off x="1209675" y="5253037"/>
            <a:ext cx="2393156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50 personas usan Disney+ y Amazon Prime.</a:t>
            </a:r>
            <a:endParaRPr/>
          </a:p>
        </p:txBody>
      </p:sp>
      <p:sp>
        <p:nvSpPr>
          <p:cNvPr id="229" name="Google Shape;229;p20"/>
          <p:cNvSpPr txBox="1"/>
          <p:nvPr/>
        </p:nvSpPr>
        <p:spPr>
          <a:xfrm>
            <a:off x="1095375" y="597693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30" name="Google Shape;230;p20"/>
          <p:cNvSpPr txBox="1"/>
          <p:nvPr/>
        </p:nvSpPr>
        <p:spPr>
          <a:xfrm>
            <a:off x="1209675" y="5976937"/>
            <a:ext cx="2393156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30 personas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usan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las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tres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plataformas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pic>
        <p:nvPicPr>
          <p:cNvPr id="231" name="Google Shape;231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764881" y="1309687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0"/>
          <p:cNvSpPr txBox="1"/>
          <p:nvPr/>
        </p:nvSpPr>
        <p:spPr>
          <a:xfrm>
            <a:off x="4850606" y="1843087"/>
            <a:ext cx="15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1.</a:t>
            </a:r>
            <a:endParaRPr/>
          </a:p>
        </p:txBody>
      </p:sp>
      <p:sp>
        <p:nvSpPr>
          <p:cNvPr id="233" name="Google Shape;233;p20"/>
          <p:cNvSpPr txBox="1"/>
          <p:nvPr/>
        </p:nvSpPr>
        <p:spPr>
          <a:xfrm>
            <a:off x="5003006" y="1843087"/>
            <a:ext cx="6217443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¿Cuántas personas usan al menos una plataforma?</a:t>
            </a:r>
            <a:endParaRPr/>
          </a:p>
        </p:txBody>
      </p:sp>
      <p:sp>
        <p:nvSpPr>
          <p:cNvPr id="234" name="Google Shape;234;p20"/>
          <p:cNvSpPr txBox="1"/>
          <p:nvPr/>
        </p:nvSpPr>
        <p:spPr>
          <a:xfrm>
            <a:off x="4850606" y="2262187"/>
            <a:ext cx="15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2.</a:t>
            </a:r>
            <a:endParaRPr/>
          </a:p>
        </p:txBody>
      </p:sp>
      <p:sp>
        <p:nvSpPr>
          <p:cNvPr id="235" name="Google Shape;235;p20"/>
          <p:cNvSpPr txBox="1"/>
          <p:nvPr/>
        </p:nvSpPr>
        <p:spPr>
          <a:xfrm>
            <a:off x="5003006" y="2262187"/>
            <a:ext cx="6217443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¿Cuántas personas usan exactamente dos plataformas?</a:t>
            </a:r>
            <a:endParaRPr/>
          </a:p>
        </p:txBody>
      </p:sp>
      <p:sp>
        <p:nvSpPr>
          <p:cNvPr id="236" name="Google Shape;236;p20"/>
          <p:cNvSpPr txBox="1"/>
          <p:nvPr/>
        </p:nvSpPr>
        <p:spPr>
          <a:xfrm>
            <a:off x="4850606" y="2681287"/>
            <a:ext cx="15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3.</a:t>
            </a:r>
            <a:endParaRPr/>
          </a:p>
        </p:txBody>
      </p:sp>
      <p:sp>
        <p:nvSpPr>
          <p:cNvPr id="237" name="Google Shape;237;p20"/>
          <p:cNvSpPr txBox="1"/>
          <p:nvPr/>
        </p:nvSpPr>
        <p:spPr>
          <a:xfrm>
            <a:off x="5003006" y="2681287"/>
            <a:ext cx="6217443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¿Cuántas personas no usan ninguna plataforma si se encuestaron a 400 personas?</a:t>
            </a:r>
            <a:endParaRPr/>
          </a:p>
        </p:txBody>
      </p:sp>
      <p:pic>
        <p:nvPicPr>
          <p:cNvPr id="238" name="Google Shape;238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926806" y="3709987"/>
            <a:ext cx="6131718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1676400"/>
            <a:ext cx="5324475" cy="460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704975"/>
            <a:ext cx="5324475" cy="4600575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1"/>
          <p:cNvSpPr txBox="1"/>
          <p:nvPr/>
        </p:nvSpPr>
        <p:spPr>
          <a:xfrm>
            <a:off x="581025" y="581025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91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Ejercicio 6: Números Divisibles en un Rango</a:t>
            </a:r>
            <a:endParaRPr/>
          </a:p>
        </p:txBody>
      </p:sp>
      <p:sp>
        <p:nvSpPr>
          <p:cNvPr id="246" name="Google Shape;246;p21"/>
          <p:cNvSpPr/>
          <p:nvPr/>
        </p:nvSpPr>
        <p:spPr>
          <a:xfrm>
            <a:off x="581025" y="1266825"/>
            <a:ext cx="11029950" cy="28575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7" name="Google Shape;247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666750"/>
            <a:ext cx="276225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1"/>
          <p:cNvSpPr txBox="1"/>
          <p:nvPr/>
        </p:nvSpPr>
        <p:spPr>
          <a:xfrm>
            <a:off x="971550" y="2066925"/>
            <a:ext cx="4770596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Contexto</a:t>
            </a:r>
            <a:endParaRPr/>
          </a:p>
        </p:txBody>
      </p:sp>
      <p:sp>
        <p:nvSpPr>
          <p:cNvPr id="249" name="Google Shape;249;p21"/>
          <p:cNvSpPr txBox="1"/>
          <p:nvPr/>
        </p:nvSpPr>
        <p:spPr>
          <a:xfrm>
            <a:off x="971550" y="2657475"/>
            <a:ext cx="45434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Encuentra cuántos números entre 1 y 500 son divisibles por 4, 6 o 9.</a:t>
            </a:r>
            <a:endParaRPr/>
          </a:p>
        </p:txBody>
      </p:sp>
      <p:sp>
        <p:nvSpPr>
          <p:cNvPr id="250" name="Google Shape;250;p21"/>
          <p:cNvSpPr txBox="1"/>
          <p:nvPr/>
        </p:nvSpPr>
        <p:spPr>
          <a:xfrm>
            <a:off x="971550" y="3600450"/>
            <a:ext cx="4543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Define los conjuntos:</a:t>
            </a:r>
            <a:endParaRPr/>
          </a:p>
        </p:txBody>
      </p:sp>
      <p:sp>
        <p:nvSpPr>
          <p:cNvPr id="251" name="Google Shape;251;p21"/>
          <p:cNvSpPr txBox="1"/>
          <p:nvPr/>
        </p:nvSpPr>
        <p:spPr>
          <a:xfrm>
            <a:off x="6677025" y="2066925"/>
            <a:ext cx="4770596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19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Pasos</a:t>
            </a:r>
            <a:endParaRPr/>
          </a:p>
        </p:txBody>
      </p:sp>
      <p:sp>
        <p:nvSpPr>
          <p:cNvPr id="252" name="Google Shape;252;p21"/>
          <p:cNvSpPr txBox="1"/>
          <p:nvPr/>
        </p:nvSpPr>
        <p:spPr>
          <a:xfrm>
            <a:off x="838200" y="410527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dirty="0"/>
          </a:p>
        </p:txBody>
      </p:sp>
      <p:sp>
        <p:nvSpPr>
          <p:cNvPr id="253" name="Google Shape;253;p21"/>
          <p:cNvSpPr txBox="1"/>
          <p:nvPr/>
        </p:nvSpPr>
        <p:spPr>
          <a:xfrm>
            <a:off x="1209675" y="4048125"/>
            <a:ext cx="4305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= números divisibles por 4.</a:t>
            </a:r>
            <a:endParaRPr/>
          </a:p>
        </p:txBody>
      </p:sp>
      <p:sp>
        <p:nvSpPr>
          <p:cNvPr id="254" name="Google Shape;254;p21"/>
          <p:cNvSpPr txBox="1"/>
          <p:nvPr/>
        </p:nvSpPr>
        <p:spPr>
          <a:xfrm>
            <a:off x="857250" y="449580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55" name="Google Shape;255;p21"/>
          <p:cNvSpPr txBox="1"/>
          <p:nvPr/>
        </p:nvSpPr>
        <p:spPr>
          <a:xfrm>
            <a:off x="1209675" y="4467225"/>
            <a:ext cx="4305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= números divisibles por 6.</a:t>
            </a:r>
            <a:endParaRPr/>
          </a:p>
        </p:txBody>
      </p:sp>
      <p:sp>
        <p:nvSpPr>
          <p:cNvPr id="256" name="Google Shape;256;p21"/>
          <p:cNvSpPr txBox="1"/>
          <p:nvPr/>
        </p:nvSpPr>
        <p:spPr>
          <a:xfrm>
            <a:off x="857250" y="491490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57" name="Google Shape;257;p21"/>
          <p:cNvSpPr txBox="1"/>
          <p:nvPr/>
        </p:nvSpPr>
        <p:spPr>
          <a:xfrm>
            <a:off x="1209675" y="4886325"/>
            <a:ext cx="4305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= números divisibles por 9.</a:t>
            </a:r>
            <a:endParaRPr/>
          </a:p>
        </p:txBody>
      </p:sp>
      <p:pic>
        <p:nvPicPr>
          <p:cNvPr id="258" name="Google Shape;258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77025" y="2124075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1"/>
          <p:cNvSpPr txBox="1"/>
          <p:nvPr/>
        </p:nvSpPr>
        <p:spPr>
          <a:xfrm>
            <a:off x="6762750" y="2657475"/>
            <a:ext cx="15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1.</a:t>
            </a:r>
            <a:endParaRPr/>
          </a:p>
        </p:txBody>
      </p:sp>
      <p:sp>
        <p:nvSpPr>
          <p:cNvPr id="260" name="Google Shape;260;p21"/>
          <p:cNvSpPr txBox="1"/>
          <p:nvPr/>
        </p:nvSpPr>
        <p:spPr>
          <a:xfrm>
            <a:off x="6915150" y="2657475"/>
            <a:ext cx="43053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Usa la fórmula de PIE para contar los números en .</a:t>
            </a:r>
            <a:endParaRPr/>
          </a:p>
        </p:txBody>
      </p:sp>
      <p:sp>
        <p:nvSpPr>
          <p:cNvPr id="261" name="Google Shape;261;p21"/>
          <p:cNvSpPr txBox="1"/>
          <p:nvPr/>
        </p:nvSpPr>
        <p:spPr>
          <a:xfrm>
            <a:off x="6762750" y="3448050"/>
            <a:ext cx="15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2.</a:t>
            </a:r>
            <a:endParaRPr/>
          </a:p>
        </p:txBody>
      </p:sp>
      <p:sp>
        <p:nvSpPr>
          <p:cNvPr id="262" name="Google Shape;262;p21"/>
          <p:cNvSpPr txBox="1"/>
          <p:nvPr/>
        </p:nvSpPr>
        <p:spPr>
          <a:xfrm>
            <a:off x="6915150" y="3448050"/>
            <a:ext cx="4305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Calcula los números divisibles por múltiplos de estos valores:</a:t>
            </a:r>
            <a:endParaRPr/>
          </a:p>
        </p:txBody>
      </p:sp>
      <p:pic>
        <p:nvPicPr>
          <p:cNvPr id="263" name="Google Shape;263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71550" y="4162425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71550" y="4581525"/>
            <a:ext cx="13335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71550" y="5000625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1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915150" y="3038475"/>
            <a:ext cx="1360884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1"/>
          <p:cNvSpPr txBox="1"/>
          <p:nvPr/>
        </p:nvSpPr>
        <p:spPr>
          <a:xfrm>
            <a:off x="6514952" y="420052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○</a:t>
            </a:r>
            <a:endParaRPr/>
          </a:p>
        </p:txBody>
      </p:sp>
      <p:sp>
        <p:nvSpPr>
          <p:cNvPr id="268" name="Google Shape;268;p21"/>
          <p:cNvSpPr txBox="1"/>
          <p:nvPr/>
        </p:nvSpPr>
        <p:spPr>
          <a:xfrm>
            <a:off x="7153275" y="4114800"/>
            <a:ext cx="40671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= divisibles por 12.</a:t>
            </a:r>
            <a:endParaRPr/>
          </a:p>
        </p:txBody>
      </p:sp>
      <p:sp>
        <p:nvSpPr>
          <p:cNvPr id="269" name="Google Shape;269;p21"/>
          <p:cNvSpPr txBox="1"/>
          <p:nvPr/>
        </p:nvSpPr>
        <p:spPr>
          <a:xfrm>
            <a:off x="6514952" y="461962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○</a:t>
            </a:r>
            <a:endParaRPr/>
          </a:p>
        </p:txBody>
      </p:sp>
      <p:sp>
        <p:nvSpPr>
          <p:cNvPr id="270" name="Google Shape;270;p21"/>
          <p:cNvSpPr txBox="1"/>
          <p:nvPr/>
        </p:nvSpPr>
        <p:spPr>
          <a:xfrm>
            <a:off x="7153275" y="4533900"/>
            <a:ext cx="40671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= divisibles por 36.</a:t>
            </a:r>
            <a:endParaRPr/>
          </a:p>
        </p:txBody>
      </p:sp>
      <p:sp>
        <p:nvSpPr>
          <p:cNvPr id="271" name="Google Shape;271;p21"/>
          <p:cNvSpPr txBox="1"/>
          <p:nvPr/>
        </p:nvSpPr>
        <p:spPr>
          <a:xfrm>
            <a:off x="6514952" y="503872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○</a:t>
            </a:r>
            <a:endParaRPr/>
          </a:p>
        </p:txBody>
      </p:sp>
      <p:sp>
        <p:nvSpPr>
          <p:cNvPr id="272" name="Google Shape;272;p21"/>
          <p:cNvSpPr txBox="1"/>
          <p:nvPr/>
        </p:nvSpPr>
        <p:spPr>
          <a:xfrm>
            <a:off x="7153275" y="4953000"/>
            <a:ext cx="40671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= divisibles por 18.</a:t>
            </a:r>
            <a:endParaRPr/>
          </a:p>
        </p:txBody>
      </p:sp>
      <p:sp>
        <p:nvSpPr>
          <p:cNvPr id="273" name="Google Shape;273;p21"/>
          <p:cNvSpPr txBox="1"/>
          <p:nvPr/>
        </p:nvSpPr>
        <p:spPr>
          <a:xfrm>
            <a:off x="6514952" y="545782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○</a:t>
            </a:r>
            <a:endParaRPr/>
          </a:p>
        </p:txBody>
      </p:sp>
      <p:sp>
        <p:nvSpPr>
          <p:cNvPr id="274" name="Google Shape;274;p21"/>
          <p:cNvSpPr txBox="1"/>
          <p:nvPr/>
        </p:nvSpPr>
        <p:spPr>
          <a:xfrm>
            <a:off x="7608837" y="5353050"/>
            <a:ext cx="40671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=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divisibles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por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72.</a:t>
            </a:r>
            <a:endParaRPr dirty="0"/>
          </a:p>
        </p:txBody>
      </p:sp>
      <p:pic>
        <p:nvPicPr>
          <p:cNvPr id="275" name="Google Shape;275;p21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629252" y="4286250"/>
            <a:ext cx="543222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1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629252" y="4705350"/>
            <a:ext cx="552747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21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629252" y="5124450"/>
            <a:ext cx="543222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21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6642497" y="5514975"/>
            <a:ext cx="953095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2365</Words>
  <Application>Microsoft Office PowerPoint</Application>
  <PresentationFormat>Panorámica</PresentationFormat>
  <Paragraphs>256</Paragraphs>
  <Slides>28</Slides>
  <Notes>28</Notes>
  <HiddenSlides>0</HiddenSlides>
  <MMClips>0</MMClips>
  <ScaleCrop>false</ScaleCrop>
  <HeadingPairs>
    <vt:vector size="6" baseType="variant">
      <vt:variant>
        <vt:lpstr>Fuentes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28</vt:i4>
      </vt:variant>
    </vt:vector>
  </HeadingPairs>
  <TitlesOfParts>
    <vt:vector size="39" baseType="lpstr">
      <vt:lpstr>Calibri</vt:lpstr>
      <vt:lpstr>Arial</vt:lpstr>
      <vt:lpstr>Roboto Mono SemiBold</vt:lpstr>
      <vt:lpstr>Inter Medium</vt:lpstr>
      <vt:lpstr>Inter</vt:lpstr>
      <vt:lpstr>Lato</vt:lpstr>
      <vt:lpstr>Poppins SemiBold</vt:lpstr>
      <vt:lpstr>Inter SemiBold</vt:lpstr>
      <vt:lpstr>Roboto Mono</vt:lpstr>
      <vt:lpstr>Poppins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Sebastian Montoya Villada</cp:lastModifiedBy>
  <cp:revision>1</cp:revision>
  <dcterms:modified xsi:type="dcterms:W3CDTF">2026-03-26T14:56:48Z</dcterms:modified>
</cp:coreProperties>
</file>