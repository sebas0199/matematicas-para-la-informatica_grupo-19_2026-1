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Inter" panose="020B0604020202020204" charset="0"/>
      <p:regular r:id="rId23"/>
      <p:bold r:id="rId24"/>
      <p:italic r:id="rId25"/>
      <p:boldItalic r:id="rId26"/>
    </p:embeddedFont>
    <p:embeddedFont>
      <p:font typeface="Inter SemiBold" panose="020B0604020202020204" charset="0"/>
      <p:regular r:id="rId27"/>
      <p:bold r:id="rId28"/>
      <p:italic r:id="rId29"/>
      <p:bold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  <p:embeddedFont>
      <p:font typeface="Poppins SemiBold" panose="000007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857e0546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3d857e054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857e0546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g3d857e0546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857e0546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g3d857e0546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857e05468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g3d857e0546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8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27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6900" y="1898451"/>
            <a:ext cx="83820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12914" y="2850951"/>
            <a:ext cx="936617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Fundamentos de Combinatoria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3955851"/>
            <a:ext cx="9525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695575" y="4289226"/>
            <a:ext cx="6800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matemática discreta del conteo: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Articulando la teoría de Sucesiones con el Cálculo de Permutaciones.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5334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28750"/>
            <a:ext cx="5334000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 las Sucesiones a las Permutaciones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1771650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14400" y="2238375"/>
            <a:ext cx="488061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Sucesiones</a:t>
            </a:r>
            <a:r>
              <a:rPr lang="en-US" sz="19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La </a:t>
            </a:r>
            <a:r>
              <a:rPr lang="en-US" sz="1950" b="0" i="0" u="none" strike="noStrike" cap="none" dirty="0" err="1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Importancia</a:t>
            </a:r>
            <a:r>
              <a:rPr lang="en-US" sz="19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del Orden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914400" y="2707780"/>
            <a:ext cx="4648200" cy="1403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Acabamos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estudiar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sucesión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lista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elementos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donde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orden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ley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estricta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Matemáticamente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sucesión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                   es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diferente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               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4424957"/>
            <a:ext cx="46482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 las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sucesiones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nuestro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principal era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descubrir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cuál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término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enésimo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1771650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629400" y="2238375"/>
            <a:ext cx="488061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Permutaciones: Construyendo Sucesiones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29400" y="3124200"/>
            <a:ext cx="46482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Combinatoria cambia la pregunta. En lugar de buscar un término específico, nos preguntamos: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29400" y="3846016"/>
            <a:ext cx="46482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"Dado un conjunto finito de elementos, ¿cuántas sucesiones diferentes podemos construir con ellos?"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29400" y="4710707"/>
            <a:ext cx="464820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 </a:t>
            </a:r>
            <a:r>
              <a:rPr lang="en-US" sz="1425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permutación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esencia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creación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sucesión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finita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reemplazo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Es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función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biyectiva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del conjunto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sobre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sí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mismo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43859" y="3596566"/>
            <a:ext cx="773162" cy="10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04900" y="3905250"/>
            <a:ext cx="773162" cy="12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5743872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96372" y="1428750"/>
            <a:ext cx="4924127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Axioma 1: El Principio de la Suma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1771650"/>
            <a:ext cx="5058072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39272" y="1771650"/>
            <a:ext cx="4238327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039272" y="2238375"/>
            <a:ext cx="445024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Condición Lógica: El Operador "O"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039272" y="2752725"/>
            <a:ext cx="4238327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Este axioma se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aplica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cuando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estamos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425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alternativas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Significa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caminos son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paralelos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;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puedes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elegir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transitar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ruta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425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ruta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naturaleza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problema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impide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tomar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ambas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simultáneamente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882896-3AE1-D231-6B2C-58EA20E49A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553" y="2238375"/>
            <a:ext cx="5058072" cy="39298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11049000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Aplicación del Principio de Suma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962025" y="3281362"/>
            <a:ext cx="3288952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62025" y="4281487"/>
            <a:ext cx="328895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59E0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Opciones Totales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841527" y="2493912"/>
            <a:ext cx="670786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Menú Excluyente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841527" y="3008262"/>
            <a:ext cx="638844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Estás en un restaurante y las reglas dictan que solo puedes pedir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único postre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El menú te ofrece dos conjuntos disjuntos: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841527" y="4594770"/>
            <a:ext cx="638844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Dado que no existe una opción que sea "pastel y helado al mismo tiempo" (intersección nula), las opciones se suman: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 + 4 = 7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841527" y="3730079"/>
            <a:ext cx="6388447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Conjunto A: 3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tipos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pasteles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                )</a:t>
            </a:r>
            <a:endParaRPr dirty="0"/>
          </a:p>
        </p:txBody>
      </p:sp>
      <p:sp>
        <p:nvSpPr>
          <p:cNvPr id="144" name="Google Shape;144;p16"/>
          <p:cNvSpPr txBox="1"/>
          <p:nvPr/>
        </p:nvSpPr>
        <p:spPr>
          <a:xfrm>
            <a:off x="4841527" y="4162425"/>
            <a:ext cx="6388447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Conjunto B: 4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tipos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helados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                 )</a:t>
            </a:r>
            <a:endParaRPr dirty="0"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99052" y="3857625"/>
            <a:ext cx="660796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99052" y="4281487"/>
            <a:ext cx="65142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41527" y="3772941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1527" y="4205287"/>
            <a:ext cx="1619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5334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28750"/>
            <a:ext cx="5334000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Axioma 2: El Principio del Producto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9400" y="1771650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6629400" y="2238375"/>
            <a:ext cx="48806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Condición Lógica: El Operador "Y"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629400" y="2752725"/>
            <a:ext cx="464820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Este axioma se aplica a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secuencias obligatorias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Debes realizar la acción A </a:t>
            </a:r>
            <a:r>
              <a:rPr lang="en-US" sz="1425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 además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acción B. Cada opción de la primera etapa se ramifica en todas las opciones de la segunda etapa (diagrama de árbol).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9795F7C-1C8E-DCD9-93D7-C6822F3A33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19"/>
          <a:stretch>
            <a:fillRect/>
          </a:stretch>
        </p:blipFill>
        <p:spPr>
          <a:xfrm>
            <a:off x="660400" y="1587500"/>
            <a:ext cx="5245100" cy="4794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11049000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Aplicación del Principio del Producto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962025" y="3281362"/>
            <a:ext cx="3288952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962025" y="4281487"/>
            <a:ext cx="328895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Outfits (Pares Ordenados)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4841527" y="2349103"/>
            <a:ext cx="670786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Guardarropa Secuencial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4841527" y="2863453"/>
            <a:ext cx="638844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Para salir, necesitas construir una sucesión de prendas: un pantalón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una camisa.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4841527" y="4449960"/>
            <a:ext cx="6388447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Cada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pantalón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abre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4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ramas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decisión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diferentes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para las camisas. Al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formar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todos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pares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ordenados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pantalón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camisa),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calculamos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 × 4 = 12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combinaciones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82" name="Google Shape;182;p18"/>
          <p:cNvSpPr txBox="1"/>
          <p:nvPr/>
        </p:nvSpPr>
        <p:spPr>
          <a:xfrm>
            <a:off x="4841527" y="3585269"/>
            <a:ext cx="6388447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Etapa 1: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Elegir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entre 3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pantalones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              )</a:t>
            </a:r>
            <a:endParaRPr dirty="0"/>
          </a:p>
        </p:txBody>
      </p:sp>
      <p:sp>
        <p:nvSpPr>
          <p:cNvPr id="183" name="Google Shape;183;p18"/>
          <p:cNvSpPr txBox="1"/>
          <p:nvPr/>
        </p:nvSpPr>
        <p:spPr>
          <a:xfrm>
            <a:off x="4841527" y="4017615"/>
            <a:ext cx="6388447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Etapa 2: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Elegir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entre 4 camisas (              )</a:t>
            </a:r>
            <a:endParaRPr dirty="0"/>
          </a:p>
        </p:txBody>
      </p:sp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71184" y="3734494"/>
            <a:ext cx="411212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35750" y="4149724"/>
            <a:ext cx="363438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41527" y="3628132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1527" y="4060477"/>
            <a:ext cx="2286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5334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28750"/>
            <a:ext cx="5334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3954512"/>
            <a:ext cx="46482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Motor de la Combinatoria: El Factorial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1771650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914400" y="2238375"/>
            <a:ext cx="48806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Definición Recursiva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14400" y="2752725"/>
            <a:ext cx="4648200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factorial de 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entero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positivo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   es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producto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todos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enteros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desde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1 hasta     .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Matemáticamente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se define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manera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recursiva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pic>
        <p:nvPicPr>
          <p:cNvPr id="202" name="Google Shape;20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1771650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6629400" y="2238375"/>
            <a:ext cx="48806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¿Por qué ?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629400" y="2752725"/>
            <a:ext cx="464820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es un error, es una necesidad del "producto vacío". Si el factorial representa cuántas formas hay de ordenar objetos, ¿cuántas formas hay de ordenar cero objetos?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629400" y="4148732"/>
            <a:ext cx="46482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Existe exactamente 1 forma: el conjunto vacío.</a:t>
            </a:r>
            <a:endParaRPr/>
          </a:p>
        </p:txBody>
      </p:sp>
      <p:pic>
        <p:nvPicPr>
          <p:cNvPr id="206" name="Google Shape;20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30625" y="2905125"/>
            <a:ext cx="85725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687762" y="3269498"/>
            <a:ext cx="85725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87029" y="4145012"/>
            <a:ext cx="215041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96250" y="2333625"/>
            <a:ext cx="745033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343775" y="3445966"/>
            <a:ext cx="85725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5081438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33938" y="1428750"/>
            <a:ext cx="5586561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6838" y="3665041"/>
            <a:ext cx="4900761" cy="67002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Permutación Lineal Simple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76838" y="1771650"/>
            <a:ext cx="4900761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6376838" y="2238375"/>
            <a:ext cx="51457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Fórmula General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376838" y="2752725"/>
            <a:ext cx="4900761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resultado es la multiplicación decreciente directa, que es precisamente la definición del factorial.</a:t>
            </a:r>
            <a:endParaRPr/>
          </a:p>
        </p:txBody>
      </p:sp>
      <p:pic>
        <p:nvPicPr>
          <p:cNvPr id="235" name="Google Shape;23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10213" y="3855541"/>
            <a:ext cx="4281636" cy="28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1869878-6934-EB7E-72AB-CB843DD94D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550242"/>
            <a:ext cx="5364576" cy="49055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11049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1527" y="4873823"/>
            <a:ext cx="6388447" cy="40912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Práctico 1: Logística de Rutas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962025" y="3376612"/>
            <a:ext cx="3288952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40,320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962025" y="4186237"/>
            <a:ext cx="328895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Sucesiones de Rutas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4841527" y="2336899"/>
            <a:ext cx="670786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Optimización de Entregas (MercadoLibre)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4841527" y="2851249"/>
            <a:ext cx="6388447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conductor tiene su camión cargado y debe visitar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8 direcciones diferentes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 un día. Para encontrar la ruta más corta (Problema del Agente Viajero), el sistema informático debe evaluar todas las secuencias posibles.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4841527" y="4152007"/>
            <a:ext cx="638844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Como debe ordenar los 8 elementos en una fila única sin descartar ninguno:</a:t>
            </a:r>
            <a:endParaRPr/>
          </a:p>
        </p:txBody>
      </p:sp>
      <p:pic>
        <p:nvPicPr>
          <p:cNvPr id="249" name="Google Shape;24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0057" y="4969073"/>
            <a:ext cx="5199012" cy="218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5334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28750"/>
            <a:ext cx="5334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9400" y="3954512"/>
            <a:ext cx="4648200" cy="77807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Variaciones (Permutación de r en n)</a:t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6296025" y="3881437"/>
            <a:ext cx="531495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1771650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 txBox="1"/>
          <p:nvPr/>
        </p:nvSpPr>
        <p:spPr>
          <a:xfrm>
            <a:off x="6629400" y="2238375"/>
            <a:ext cx="48806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Fórmula Resultante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629400" y="2752725"/>
            <a:ext cx="464820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numerador representa todas las permutaciones posibles, y el denominador cancela la disposición de los objetos que quedaron fuera.</a:t>
            </a:r>
            <a:endParaRPr/>
          </a:p>
        </p:txBody>
      </p:sp>
      <p:pic>
        <p:nvPicPr>
          <p:cNvPr id="272" name="Google Shape;27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24477" y="4145012"/>
            <a:ext cx="2505670" cy="397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87607CF-7E4D-46A3-2AFB-F63764CFAB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987" y="1668617"/>
            <a:ext cx="5153025" cy="47131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11049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1527" y="4504464"/>
            <a:ext cx="6388447" cy="48101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Práctico 2: Ciberseguridad</a:t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962025" y="3376612"/>
            <a:ext cx="3288952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30,240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962025" y="4186237"/>
            <a:ext cx="328895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Pines Únicos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4841527" y="2806600"/>
            <a:ext cx="670786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Generación de Accesos Restringidos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4841527" y="3320950"/>
            <a:ext cx="6388447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bancario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exige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crear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 PIN maestro de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 </a:t>
            </a:r>
            <a:r>
              <a:rPr lang="en-US" sz="1425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dígitos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          ). Para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patrones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débiles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regla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servidor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dicta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se </a:t>
            </a:r>
            <a:r>
              <a:rPr lang="en-US" sz="1425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pueden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repetir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números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Hay 10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dígitos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disponibles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(0-9) (            ).</a:t>
            </a:r>
            <a:endParaRPr dirty="0"/>
          </a:p>
        </p:txBody>
      </p:sp>
      <p:pic>
        <p:nvPicPr>
          <p:cNvPr id="285" name="Google Shape;28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80153" y="3429000"/>
            <a:ext cx="334863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73827" y="4127450"/>
            <a:ext cx="449163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7922" y="4659296"/>
            <a:ext cx="5111055" cy="290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Permutaciones con Repetición</a:t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07A850E-B19B-491E-E9EF-A17B22A5D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18971"/>
            <a:ext cx="10883900" cy="49822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11049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1527" y="4550568"/>
            <a:ext cx="6388447" cy="47684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5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Práctico 3: Biología Computacional</a:t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 txBox="1"/>
          <p:nvPr/>
        </p:nvSpPr>
        <p:spPr>
          <a:xfrm>
            <a:off x="962025" y="3328987"/>
            <a:ext cx="328895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1,260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962025" y="4233862"/>
            <a:ext cx="328895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59E0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Secuencias Lógicas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4841527" y="2592585"/>
            <a:ext cx="670786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Reconstrucción Genética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4841527" y="3106935"/>
            <a:ext cx="6388447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biólogo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analiza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fragmento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ADN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desordenado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 bases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         ).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Identifica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inventario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4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Adeninas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3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Citosinas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2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Guaninas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322" name="Google Shape;322;p25"/>
          <p:cNvSpPr txBox="1"/>
          <p:nvPr/>
        </p:nvSpPr>
        <p:spPr>
          <a:xfrm>
            <a:off x="4841527" y="3828752"/>
            <a:ext cx="638844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Intercambiar una Adenina por otra no altera la sucesión genética, por tanto se descuentan esos arreglos internos:</a:t>
            </a:r>
            <a:endParaRPr/>
          </a:p>
        </p:txBody>
      </p:sp>
      <p:pic>
        <p:nvPicPr>
          <p:cNvPr id="323" name="Google Shape;32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1302" y="3249810"/>
            <a:ext cx="363438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19068" y="4645818"/>
            <a:ext cx="3880991" cy="286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428750"/>
            <a:ext cx="5334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9400" y="3954512"/>
            <a:ext cx="4648200" cy="68609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6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Permutaciones Circulares</a:t>
            </a:r>
            <a:endParaRPr/>
          </a:p>
        </p:txBody>
      </p:sp>
      <p:sp>
        <p:nvSpPr>
          <p:cNvPr id="333" name="Google Shape;333;p26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9400" y="1771650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6"/>
          <p:cNvSpPr txBox="1"/>
          <p:nvPr/>
        </p:nvSpPr>
        <p:spPr>
          <a:xfrm>
            <a:off x="6629400" y="2238375"/>
            <a:ext cx="48806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Fórmula General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6629400" y="2752725"/>
            <a:ext cx="4648200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práctica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equivale a "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fijar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 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objeto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punto de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referencia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universal y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permutar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linealmente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           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restantes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345" name="Google Shape;345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58025" y="3571974"/>
            <a:ext cx="6286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22815" y="4145012"/>
            <a:ext cx="2908994" cy="305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A1F90B7-7E66-8039-8113-495486C0CF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624" y="1328452"/>
            <a:ext cx="5525376" cy="50722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11049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1527" y="4657427"/>
            <a:ext cx="6388447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7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Práctico 4: Ingeniería de Redes</a:t>
            </a:r>
            <a:endParaRPr/>
          </a:p>
        </p:txBody>
      </p:sp>
      <p:sp>
        <p:nvSpPr>
          <p:cNvPr id="354" name="Google Shape;354;p27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7"/>
          <p:cNvSpPr txBox="1"/>
          <p:nvPr/>
        </p:nvSpPr>
        <p:spPr>
          <a:xfrm>
            <a:off x="962025" y="3233737"/>
            <a:ext cx="3288952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8B5CF6"/>
                </a:solidFill>
                <a:latin typeface="Poppins"/>
                <a:ea typeface="Poppins"/>
                <a:cs typeface="Poppins"/>
                <a:sym typeface="Poppins"/>
              </a:rPr>
              <a:t>120</a:t>
            </a:r>
            <a:endParaRPr/>
          </a:p>
        </p:txBody>
      </p:sp>
      <p:sp>
        <p:nvSpPr>
          <p:cNvPr id="356" name="Google Shape;356;p27"/>
          <p:cNvSpPr txBox="1"/>
          <p:nvPr/>
        </p:nvSpPr>
        <p:spPr>
          <a:xfrm>
            <a:off x="962025" y="4329112"/>
            <a:ext cx="328895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5C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Configuraciones</a:t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4841527" y="2409973"/>
            <a:ext cx="670786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Topología Token Ring</a:t>
            </a:r>
            <a:endParaRPr/>
          </a:p>
        </p:txBody>
      </p:sp>
      <p:sp>
        <p:nvSpPr>
          <p:cNvPr id="358" name="Google Shape;358;p27"/>
          <p:cNvSpPr txBox="1"/>
          <p:nvPr/>
        </p:nvSpPr>
        <p:spPr>
          <a:xfrm>
            <a:off x="4841527" y="2924323"/>
            <a:ext cx="6388447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 un Data Center, se deben interconectar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 servidores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críticos en una topología de "Anillo", donde la información fluye en un solo sentido constante.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4841527" y="3935610"/>
            <a:ext cx="638844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rotación física de los equipos no altera el flujo de datos; solo importa quién le transmite a quién. Se fija un servidor y se permutan los demás.</a:t>
            </a:r>
            <a:endParaRPr/>
          </a:p>
        </p:txBody>
      </p:sp>
      <p:pic>
        <p:nvPicPr>
          <p:cNvPr id="360" name="Google Shape;36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241" y="4800302"/>
            <a:ext cx="3594496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"/>
          <p:cNvSpPr txBox="1"/>
          <p:nvPr/>
        </p:nvSpPr>
        <p:spPr>
          <a:xfrm>
            <a:off x="532325" y="84525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Algoritmo Lógico de Solución (Árbol de Decisión)</a:t>
            </a:r>
            <a:endParaRPr/>
          </a:p>
        </p:txBody>
      </p:sp>
      <p:sp>
        <p:nvSpPr>
          <p:cNvPr id="366" name="Google Shape;366;p28"/>
          <p:cNvSpPr/>
          <p:nvPr/>
        </p:nvSpPr>
        <p:spPr>
          <a:xfrm>
            <a:off x="532325" y="722700"/>
            <a:ext cx="11049000" cy="28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/>
          <p:nvPr/>
        </p:nvSpPr>
        <p:spPr>
          <a:xfrm>
            <a:off x="532325" y="1037025"/>
            <a:ext cx="11049000" cy="131250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8"/>
          <p:cNvSpPr txBox="1"/>
          <p:nvPr/>
        </p:nvSpPr>
        <p:spPr>
          <a:xfrm>
            <a:off x="1151450" y="1227525"/>
            <a:ext cx="10191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Paso 1: ¿El orden importa?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 la sucesión A-B es equivalente a B-A, la respuesta es NO y utilizas </a:t>
            </a:r>
            <a:r>
              <a:rPr lang="en-US" sz="1425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Combinaciones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Si el orden define un resultado nuevo, es SÍ y avanzas a Permutaciones.</a:t>
            </a:r>
            <a:endParaRPr/>
          </a:p>
        </p:txBody>
      </p:sp>
      <p:sp>
        <p:nvSpPr>
          <p:cNvPr id="369" name="Google Shape;369;p28"/>
          <p:cNvSpPr/>
          <p:nvPr/>
        </p:nvSpPr>
        <p:spPr>
          <a:xfrm>
            <a:off x="532325" y="1037025"/>
            <a:ext cx="38100" cy="1312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8"/>
          <p:cNvSpPr/>
          <p:nvPr/>
        </p:nvSpPr>
        <p:spPr>
          <a:xfrm>
            <a:off x="532325" y="2539891"/>
            <a:ext cx="11049000" cy="131250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8"/>
          <p:cNvSpPr txBox="1"/>
          <p:nvPr/>
        </p:nvSpPr>
        <p:spPr>
          <a:xfrm>
            <a:off x="1151450" y="2730391"/>
            <a:ext cx="10191900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Paso 2: ¿La </a:t>
            </a:r>
            <a:r>
              <a:rPr lang="en-US" sz="1425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longitud</a:t>
            </a:r>
            <a:r>
              <a:rPr lang="en-US" sz="1425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de la </a:t>
            </a:r>
            <a:r>
              <a:rPr lang="en-US" sz="1425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sucesión</a:t>
            </a:r>
            <a:r>
              <a:rPr lang="en-US" sz="1425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usa</a:t>
            </a:r>
            <a:r>
              <a:rPr lang="en-US" sz="1425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todo</a:t>
            </a:r>
            <a:r>
              <a:rPr lang="en-US" sz="1425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conjunto?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seleccionas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subgrupo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        ),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aplicas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variaciones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. Si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utilizas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todos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elementos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disponibles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avanza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 paso 3.</a:t>
            </a:r>
            <a:endParaRPr dirty="0"/>
          </a:p>
        </p:txBody>
      </p:sp>
      <p:sp>
        <p:nvSpPr>
          <p:cNvPr id="372" name="Google Shape;372;p28"/>
          <p:cNvSpPr/>
          <p:nvPr/>
        </p:nvSpPr>
        <p:spPr>
          <a:xfrm>
            <a:off x="532325" y="2539891"/>
            <a:ext cx="38100" cy="1312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/>
          <p:nvPr/>
        </p:nvSpPr>
        <p:spPr>
          <a:xfrm>
            <a:off x="532325" y="4042757"/>
            <a:ext cx="11049000" cy="131250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 txBox="1"/>
          <p:nvPr/>
        </p:nvSpPr>
        <p:spPr>
          <a:xfrm>
            <a:off x="1151450" y="4233257"/>
            <a:ext cx="10191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Paso 3: ¿Existen elementos indistinguibles en el inventario?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 hay clases de equivalencia (elementos clonados), divides el factorial general entre las permutaciones internas: .</a:t>
            </a:r>
            <a:endParaRPr/>
          </a:p>
        </p:txBody>
      </p:sp>
      <p:sp>
        <p:nvSpPr>
          <p:cNvPr id="375" name="Google Shape;375;p28"/>
          <p:cNvSpPr/>
          <p:nvPr/>
        </p:nvSpPr>
        <p:spPr>
          <a:xfrm>
            <a:off x="532325" y="4042757"/>
            <a:ext cx="38100" cy="1312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532325" y="5545624"/>
            <a:ext cx="11049000" cy="1312500"/>
          </a:xfrm>
          <a:prstGeom prst="roundRect">
            <a:avLst>
              <a:gd name="adj" fmla="val 5806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8"/>
          <p:cNvSpPr txBox="1"/>
          <p:nvPr/>
        </p:nvSpPr>
        <p:spPr>
          <a:xfrm>
            <a:off x="1151450" y="5736124"/>
            <a:ext cx="10191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Paso 4: Geometría ¿Existen invariancias rotacionales?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 el problema se modela como un bucle cerrado sin extremos, neutraliza las rotaciones dividiendo por n, derivando en .</a:t>
            </a:r>
            <a:endParaRPr/>
          </a:p>
        </p:txBody>
      </p:sp>
      <p:sp>
        <p:nvSpPr>
          <p:cNvPr id="378" name="Google Shape;378;p28"/>
          <p:cNvSpPr/>
          <p:nvPr/>
        </p:nvSpPr>
        <p:spPr>
          <a:xfrm>
            <a:off x="532325" y="5545624"/>
            <a:ext cx="38100" cy="1312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7840" y="2860455"/>
            <a:ext cx="297507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3125" y="3196141"/>
            <a:ext cx="1133623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9550" y="4941828"/>
            <a:ext cx="1152673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89550" y="6444694"/>
            <a:ext cx="7810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0925" y="124181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0925" y="2744678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0925" y="424754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0925" y="5750411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6900" y="1898451"/>
            <a:ext cx="83820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9"/>
          <p:cNvSpPr txBox="1"/>
          <p:nvPr/>
        </p:nvSpPr>
        <p:spPr>
          <a:xfrm>
            <a:off x="1737955" y="2850951"/>
            <a:ext cx="87162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Taller Práctico Independiente</a:t>
            </a:r>
            <a:endParaRPr/>
          </a:p>
        </p:txBody>
      </p:sp>
      <p:sp>
        <p:nvSpPr>
          <p:cNvPr id="393" name="Google Shape;393;p29"/>
          <p:cNvSpPr/>
          <p:nvPr/>
        </p:nvSpPr>
        <p:spPr>
          <a:xfrm>
            <a:off x="5619750" y="3955851"/>
            <a:ext cx="952500" cy="47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9"/>
          <p:cNvSpPr txBox="1"/>
          <p:nvPr/>
        </p:nvSpPr>
        <p:spPr>
          <a:xfrm>
            <a:off x="3109912" y="4289226"/>
            <a:ext cx="5972100" cy="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Resolución de Problemas: Sucesiones Finitas y Combinatoria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Aplicaciones en Arquitectura IT, Redes y Algoritmia.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0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Nivel 1: Problemas de Lógica Base</a:t>
            </a:r>
            <a:endParaRPr/>
          </a:p>
        </p:txBody>
      </p:sp>
      <p:sp>
        <p:nvSpPr>
          <p:cNvPr id="402" name="Google Shape;402;p30"/>
          <p:cNvSpPr/>
          <p:nvPr/>
        </p:nvSpPr>
        <p:spPr>
          <a:xfrm>
            <a:off x="571500" y="1114425"/>
            <a:ext cx="11049000" cy="28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E29886-8291-A144-BBA2-1D7DDFB2A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38023"/>
            <a:ext cx="10947400" cy="494438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26244"/>
            <a:ext cx="5334000" cy="4557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26244"/>
            <a:ext cx="5334000" cy="4557862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1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Nivel 2: Problemas de Secuenciación</a:t>
            </a:r>
            <a:endParaRPr/>
          </a:p>
        </p:txBody>
      </p:sp>
      <p:sp>
        <p:nvSpPr>
          <p:cNvPr id="420" name="Google Shape;420;p31"/>
          <p:cNvSpPr/>
          <p:nvPr/>
        </p:nvSpPr>
        <p:spPr>
          <a:xfrm>
            <a:off x="571500" y="1114425"/>
            <a:ext cx="11049000" cy="28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" name="Google Shape;421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76775" y="1826269"/>
            <a:ext cx="10287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1969144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1"/>
          <p:cNvSpPr txBox="1"/>
          <p:nvPr/>
        </p:nvSpPr>
        <p:spPr>
          <a:xfrm>
            <a:off x="914400" y="2435869"/>
            <a:ext cx="488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Procesamiento por Lotes (CPU)</a:t>
            </a:r>
            <a:endParaRPr/>
          </a:p>
        </p:txBody>
      </p:sp>
      <p:sp>
        <p:nvSpPr>
          <p:cNvPr id="424" name="Google Shape;424;p31"/>
          <p:cNvSpPr txBox="1"/>
          <p:nvPr/>
        </p:nvSpPr>
        <p:spPr>
          <a:xfrm>
            <a:off x="914400" y="2950219"/>
            <a:ext cx="4648200" cy="16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planificador (scheduler) del sistema operativo de un servidor ha recibido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 hilos (threads)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ejecución de máxima prioridad. Todos son procesos de sistema vitales, diferentes entre sí, y la CPU cuenta con un solo núcleo que procesa secuencialmente.</a:t>
            </a:r>
            <a:endParaRPr/>
          </a:p>
        </p:txBody>
      </p:sp>
      <p:sp>
        <p:nvSpPr>
          <p:cNvPr id="425" name="Google Shape;425;p31"/>
          <p:cNvSpPr txBox="1"/>
          <p:nvPr/>
        </p:nvSpPr>
        <p:spPr>
          <a:xfrm>
            <a:off x="914400" y="4540448"/>
            <a:ext cx="4648200" cy="12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Considerando que el procesador debe ejecutar la totalidad de los hilos sin interrupción, ¿de cuántas formas distintas puede organizar la computadora esta secuencia temporal de ejecución?</a:t>
            </a:r>
            <a:endParaRPr/>
          </a:p>
        </p:txBody>
      </p:sp>
      <p:pic>
        <p:nvPicPr>
          <p:cNvPr id="426" name="Google Shape;426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82250" y="1826269"/>
            <a:ext cx="10382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1969144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1"/>
          <p:cNvSpPr txBox="1"/>
          <p:nvPr/>
        </p:nvSpPr>
        <p:spPr>
          <a:xfrm>
            <a:off x="6629400" y="2435869"/>
            <a:ext cx="488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Asignación de Puertos</a:t>
            </a:r>
            <a:endParaRPr/>
          </a:p>
        </p:txBody>
      </p:sp>
      <p:sp>
        <p:nvSpPr>
          <p:cNvPr id="429" name="Google Shape;429;p31"/>
          <p:cNvSpPr txBox="1"/>
          <p:nvPr/>
        </p:nvSpPr>
        <p:spPr>
          <a:xfrm>
            <a:off x="6629400" y="2950219"/>
            <a:ext cx="464820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administrador de red está configurando un switch virtual (vSwitch). Existen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12 puertos lógicos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disponibles (numerados del 1 al 12) que están libres.</a:t>
            </a:r>
            <a:endParaRPr/>
          </a:p>
        </p:txBody>
      </p:sp>
      <p:sp>
        <p:nvSpPr>
          <p:cNvPr id="430" name="Google Shape;430;p31"/>
          <p:cNvSpPr txBox="1"/>
          <p:nvPr/>
        </p:nvSpPr>
        <p:spPr>
          <a:xfrm>
            <a:off x="6629400" y="3961507"/>
            <a:ext cx="4648200" cy="19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administrador debe asignar puertos exclusivos a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 servicios específicos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HTTP, FTP, SSH y SMTP. Sabiendo que el orden de asignación es determinante para el mapeo de los registros, ¿cuántas permutaciones de configuración de red son matemáticamente posibles?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5334000" cy="525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28751"/>
            <a:ext cx="5334000" cy="5258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2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Nivel 3: Complejidad Avanzada</a:t>
            </a:r>
            <a:endParaRPr/>
          </a:p>
        </p:txBody>
      </p:sp>
      <p:sp>
        <p:nvSpPr>
          <p:cNvPr id="438" name="Google Shape;438;p32"/>
          <p:cNvSpPr/>
          <p:nvPr/>
        </p:nvSpPr>
        <p:spPr>
          <a:xfrm>
            <a:off x="571500" y="1114425"/>
            <a:ext cx="11049000" cy="28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9" name="Google Shape;439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76775" y="1628775"/>
            <a:ext cx="10287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1771650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2"/>
          <p:cNvSpPr txBox="1"/>
          <p:nvPr/>
        </p:nvSpPr>
        <p:spPr>
          <a:xfrm>
            <a:off x="914400" y="2238375"/>
            <a:ext cx="488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Análisis de Logs (Repetición)</a:t>
            </a:r>
            <a:endParaRPr/>
          </a:p>
        </p:txBody>
      </p:sp>
      <p:sp>
        <p:nvSpPr>
          <p:cNvPr id="442" name="Google Shape;442;p32"/>
          <p:cNvSpPr txBox="1"/>
          <p:nvPr/>
        </p:nvSpPr>
        <p:spPr>
          <a:xfrm>
            <a:off x="914400" y="2752725"/>
            <a:ext cx="4648200" cy="12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 herramienta de monitoreo ha capturado un historial de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 peticiones HTTP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consecutivas hacia un servidor. Al revisar los códigos de estado, el log muestra que hubo:</a:t>
            </a:r>
            <a:endParaRPr/>
          </a:p>
        </p:txBody>
      </p:sp>
      <p:sp>
        <p:nvSpPr>
          <p:cNvPr id="443" name="Google Shape;443;p32"/>
          <p:cNvSpPr txBox="1"/>
          <p:nvPr/>
        </p:nvSpPr>
        <p:spPr>
          <a:xfrm>
            <a:off x="914400" y="5541019"/>
            <a:ext cx="464820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Para modelar un sistema predictivo, ¿cuántas secuencias de estados distintas pueden existir en ese lapso de 9 peticiones?</a:t>
            </a:r>
            <a:endParaRPr/>
          </a:p>
        </p:txBody>
      </p:sp>
      <p:pic>
        <p:nvPicPr>
          <p:cNvPr id="444" name="Google Shape;444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91775" y="1628775"/>
            <a:ext cx="10287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1771650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2"/>
          <p:cNvSpPr txBox="1"/>
          <p:nvPr/>
        </p:nvSpPr>
        <p:spPr>
          <a:xfrm>
            <a:off x="6629400" y="2238375"/>
            <a:ext cx="488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Criptografía de Llaves en Anillo</a:t>
            </a:r>
            <a:endParaRPr/>
          </a:p>
        </p:txBody>
      </p:sp>
      <p:sp>
        <p:nvSpPr>
          <p:cNvPr id="447" name="Google Shape;447;p32"/>
          <p:cNvSpPr txBox="1"/>
          <p:nvPr/>
        </p:nvSpPr>
        <p:spPr>
          <a:xfrm>
            <a:off x="6629400" y="2752725"/>
            <a:ext cx="4648200" cy="16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 el diseño de un llavero virtual seguro (KeyRing Token), un ingeniero ha programado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7 llaves criptográficas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distintas que deben almacenarse estructuralmente en un ciclo de datos cerrado (un arreglo donde el último nodo apunta al primero).</a:t>
            </a:r>
            <a:endParaRPr/>
          </a:p>
        </p:txBody>
      </p:sp>
      <p:sp>
        <p:nvSpPr>
          <p:cNvPr id="448" name="Google Shape;448;p32"/>
          <p:cNvSpPr txBox="1"/>
          <p:nvPr/>
        </p:nvSpPr>
        <p:spPr>
          <a:xfrm>
            <a:off x="6629400" y="4342953"/>
            <a:ext cx="4648200" cy="12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 la disposición física de estas llaves dentro del bucle de memoria afecta el algoritmo de hashing final, ¿cuántas configuraciones topológicas relativas existen?</a:t>
            </a:r>
            <a:endParaRPr/>
          </a:p>
        </p:txBody>
      </p:sp>
      <p:sp>
        <p:nvSpPr>
          <p:cNvPr id="449" name="Google Shape;449;p32"/>
          <p:cNvSpPr txBox="1"/>
          <p:nvPr/>
        </p:nvSpPr>
        <p:spPr>
          <a:xfrm>
            <a:off x="1000125" y="4150637"/>
            <a:ext cx="1047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50" name="Google Shape;450;p32"/>
          <p:cNvSpPr txBox="1"/>
          <p:nvPr/>
        </p:nvSpPr>
        <p:spPr>
          <a:xfrm>
            <a:off x="1104900" y="4148732"/>
            <a:ext cx="44577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respuestas exitosas (Cod: 200)</a:t>
            </a:r>
            <a:endParaRPr/>
          </a:p>
        </p:txBody>
      </p:sp>
      <p:sp>
        <p:nvSpPr>
          <p:cNvPr id="451" name="Google Shape;451;p32"/>
          <p:cNvSpPr txBox="1"/>
          <p:nvPr/>
        </p:nvSpPr>
        <p:spPr>
          <a:xfrm>
            <a:off x="1000125" y="4582983"/>
            <a:ext cx="1047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52" name="Google Shape;452;p32"/>
          <p:cNvSpPr txBox="1"/>
          <p:nvPr/>
        </p:nvSpPr>
        <p:spPr>
          <a:xfrm>
            <a:off x="1104900" y="4581078"/>
            <a:ext cx="44577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tiempos de espera agotados (Cod: 408)</a:t>
            </a:r>
            <a:endParaRPr/>
          </a:p>
        </p:txBody>
      </p:sp>
      <p:sp>
        <p:nvSpPr>
          <p:cNvPr id="453" name="Google Shape;453;p32"/>
          <p:cNvSpPr txBox="1"/>
          <p:nvPr/>
        </p:nvSpPr>
        <p:spPr>
          <a:xfrm>
            <a:off x="1000125" y="5015329"/>
            <a:ext cx="1047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54" name="Google Shape;454;p32"/>
          <p:cNvSpPr txBox="1"/>
          <p:nvPr/>
        </p:nvSpPr>
        <p:spPr>
          <a:xfrm>
            <a:off x="1104900" y="5013424"/>
            <a:ext cx="44577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errores internos críticos (Cod: 500)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1338</Words>
  <Application>Microsoft Office PowerPoint</Application>
  <PresentationFormat>Panorámica</PresentationFormat>
  <Paragraphs>99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Poppins</vt:lpstr>
      <vt:lpstr>Arial</vt:lpstr>
      <vt:lpstr>Poppins SemiBold</vt:lpstr>
      <vt:lpstr>Calibri</vt:lpstr>
      <vt:lpstr>Inter SemiBold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2</cp:revision>
  <dcterms:modified xsi:type="dcterms:W3CDTF">2026-04-23T14:58:55Z</dcterms:modified>
</cp:coreProperties>
</file>