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embeddedFontLst>
    <p:embeddedFont>
      <p:font typeface="Cambria Math" panose="02040503050406030204" pitchFamily="18" charset="0"/>
      <p:regular r:id="rId29"/>
    </p:embeddedFont>
    <p:embeddedFont>
      <p:font typeface="Lato" panose="020F0502020204030203" pitchFamily="34" charset="0"/>
      <p:regular r:id="rId30"/>
      <p:bold r:id="rId31"/>
      <p:italic r:id="rId32"/>
      <p:boldItalic r:id="rId33"/>
    </p:embeddedFont>
    <p:embeddedFont>
      <p:font typeface="Poppins" panose="000005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47" name="Google Shape;14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2DB695FE-6269-3DF9-6FE3-439EDE8B6215}"/>
            </a:ext>
          </a:extLst>
        </p:cNvPr>
        <p:cNvGrpSpPr/>
        <p:nvPr/>
      </p:nvGrpSpPr>
      <p:grpSpPr>
        <a:xfrm>
          <a:off x="0" y="0"/>
          <a:ext cx="0" cy="0"/>
          <a:chOff x="0" y="0"/>
          <a:chExt cx="0" cy="0"/>
        </a:xfrm>
      </p:grpSpPr>
      <p:sp>
        <p:nvSpPr>
          <p:cNvPr id="185" name="Google Shape;185;p6:notes">
            <a:extLst>
              <a:ext uri="{FF2B5EF4-FFF2-40B4-BE49-F238E27FC236}">
                <a16:creationId xmlns:a16="http://schemas.microsoft.com/office/drawing/2014/main" id="{E308BF57-F8FF-9C0F-A30F-9E0BDC0122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6:notes">
            <a:extLst>
              <a:ext uri="{FF2B5EF4-FFF2-40B4-BE49-F238E27FC236}">
                <a16:creationId xmlns:a16="http://schemas.microsoft.com/office/drawing/2014/main" id="{19554755-4872-1BA1-E8DD-0E8EE0BD03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3596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2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6.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4.png"/></Relationships>
</file>

<file path=ppt/slides/_rels/slide8.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_rels/slide9.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1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6.png"/></Relationships>
</file>

<file path=ppt/slides/_rels/slide11.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9" Type="http://schemas.openxmlformats.org/officeDocument/2006/relationships/image" Target="../media/image83.png"/></Relationships>
</file>

<file path=ppt/slides/_rels/slide12.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4.png"/><Relationship Id="rId7" Type="http://schemas.openxmlformats.org/officeDocument/2006/relationships/image" Target="../media/image8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6.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s>
</file>

<file path=ppt/slides/_rels/slide13.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png"/><Relationship Id="rId3" Type="http://schemas.openxmlformats.org/officeDocument/2006/relationships/image" Target="../media/image91.png"/><Relationship Id="rId7" Type="http://schemas.openxmlformats.org/officeDocument/2006/relationships/image" Target="../media/image95.png"/><Relationship Id="rId12" Type="http://schemas.openxmlformats.org/officeDocument/2006/relationships/image" Target="../media/image100.png"/><Relationship Id="rId2" Type="http://schemas.openxmlformats.org/officeDocument/2006/relationships/notesSlide" Target="../notesSlides/notesSlide13.xml"/><Relationship Id="rId16" Type="http://schemas.openxmlformats.org/officeDocument/2006/relationships/image" Target="../media/image104.png"/><Relationship Id="rId1" Type="http://schemas.openxmlformats.org/officeDocument/2006/relationships/slideLayout" Target="../slideLayouts/slideLayout1.xml"/><Relationship Id="rId6" Type="http://schemas.openxmlformats.org/officeDocument/2006/relationships/image" Target="../media/image94.png"/><Relationship Id="rId11" Type="http://schemas.openxmlformats.org/officeDocument/2006/relationships/image" Target="../media/image99.png"/><Relationship Id="rId5" Type="http://schemas.openxmlformats.org/officeDocument/2006/relationships/image" Target="../media/image93.png"/><Relationship Id="rId15" Type="http://schemas.openxmlformats.org/officeDocument/2006/relationships/image" Target="../media/image103.png"/><Relationship Id="rId10" Type="http://schemas.openxmlformats.org/officeDocument/2006/relationships/image" Target="../media/image98.png"/><Relationship Id="rId4" Type="http://schemas.openxmlformats.org/officeDocument/2006/relationships/image" Target="../media/image92.png"/><Relationship Id="rId9" Type="http://schemas.openxmlformats.org/officeDocument/2006/relationships/image" Target="../media/image97.png"/><Relationship Id="rId14" Type="http://schemas.openxmlformats.org/officeDocument/2006/relationships/image" Target="../media/image102.png"/></Relationships>
</file>

<file path=ppt/slides/_rels/slide14.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3" Type="http://schemas.openxmlformats.org/officeDocument/2006/relationships/image" Target="../media/image105.png"/><Relationship Id="rId7" Type="http://schemas.openxmlformats.org/officeDocument/2006/relationships/image" Target="../media/image109.png"/><Relationship Id="rId12" Type="http://schemas.openxmlformats.org/officeDocument/2006/relationships/image" Target="../media/image114.png"/><Relationship Id="rId17" Type="http://schemas.openxmlformats.org/officeDocument/2006/relationships/image" Target="../media/image119.png"/><Relationship Id="rId2" Type="http://schemas.openxmlformats.org/officeDocument/2006/relationships/notesSlide" Target="../notesSlides/notesSlide14.xml"/><Relationship Id="rId16" Type="http://schemas.openxmlformats.org/officeDocument/2006/relationships/image" Target="../media/image118.png"/><Relationship Id="rId1" Type="http://schemas.openxmlformats.org/officeDocument/2006/relationships/slideLayout" Target="../slideLayouts/slideLayout1.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7.png"/><Relationship Id="rId15" Type="http://schemas.openxmlformats.org/officeDocument/2006/relationships/image" Target="../media/image117.png"/><Relationship Id="rId10" Type="http://schemas.openxmlformats.org/officeDocument/2006/relationships/image" Target="../media/image112.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s>
</file>

<file path=ppt/slides/_rels/slide15.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3" Type="http://schemas.openxmlformats.org/officeDocument/2006/relationships/image" Target="../media/image120.png"/><Relationship Id="rId7" Type="http://schemas.openxmlformats.org/officeDocument/2006/relationships/image" Target="../media/image124.png"/><Relationship Id="rId12" Type="http://schemas.openxmlformats.org/officeDocument/2006/relationships/image" Target="../media/image12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23.png"/><Relationship Id="rId11" Type="http://schemas.openxmlformats.org/officeDocument/2006/relationships/image" Target="../media/image128.png"/><Relationship Id="rId5" Type="http://schemas.openxmlformats.org/officeDocument/2006/relationships/image" Target="../media/image122.png"/><Relationship Id="rId10" Type="http://schemas.openxmlformats.org/officeDocument/2006/relationships/image" Target="../media/image127.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s>
</file>

<file path=ppt/slides/_rels/slide16.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png"/><Relationship Id="rId3" Type="http://schemas.openxmlformats.org/officeDocument/2006/relationships/image" Target="../media/image132.png"/><Relationship Id="rId7" Type="http://schemas.openxmlformats.org/officeDocument/2006/relationships/image" Target="../media/image136.png"/><Relationship Id="rId12" Type="http://schemas.openxmlformats.org/officeDocument/2006/relationships/image" Target="../media/image14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png"/><Relationship Id="rId14" Type="http://schemas.openxmlformats.org/officeDocument/2006/relationships/image" Target="../media/image143.png"/></Relationships>
</file>

<file path=ppt/slides/_rels/slide17.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54.png"/><Relationship Id="rId3" Type="http://schemas.openxmlformats.org/officeDocument/2006/relationships/image" Target="../media/image144.png"/><Relationship Id="rId7" Type="http://schemas.openxmlformats.org/officeDocument/2006/relationships/image" Target="../media/image148.png"/><Relationship Id="rId12" Type="http://schemas.openxmlformats.org/officeDocument/2006/relationships/image" Target="../media/image15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47.png"/><Relationship Id="rId11" Type="http://schemas.openxmlformats.org/officeDocument/2006/relationships/image" Target="../media/image152.png"/><Relationship Id="rId5" Type="http://schemas.openxmlformats.org/officeDocument/2006/relationships/image" Target="../media/image146.png"/><Relationship Id="rId15" Type="http://schemas.openxmlformats.org/officeDocument/2006/relationships/image" Target="../media/image156.png"/><Relationship Id="rId10" Type="http://schemas.openxmlformats.org/officeDocument/2006/relationships/image" Target="../media/image151.png"/><Relationship Id="rId4" Type="http://schemas.openxmlformats.org/officeDocument/2006/relationships/image" Target="../media/image145.png"/><Relationship Id="rId9" Type="http://schemas.openxmlformats.org/officeDocument/2006/relationships/image" Target="../media/image150.png"/><Relationship Id="rId14" Type="http://schemas.openxmlformats.org/officeDocument/2006/relationships/image" Target="../media/image155.png"/></Relationships>
</file>

<file path=ppt/slides/_rels/slide18.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60.png"/><Relationship Id="rId11" Type="http://schemas.openxmlformats.org/officeDocument/2006/relationships/image" Target="../media/image165.png"/><Relationship Id="rId5" Type="http://schemas.openxmlformats.org/officeDocument/2006/relationships/image" Target="../media/image159.png"/><Relationship Id="rId10" Type="http://schemas.openxmlformats.org/officeDocument/2006/relationships/image" Target="../media/image164.png"/><Relationship Id="rId4" Type="http://schemas.openxmlformats.org/officeDocument/2006/relationships/image" Target="../media/image158.png"/><Relationship Id="rId9" Type="http://schemas.openxmlformats.org/officeDocument/2006/relationships/image" Target="../media/image163.png"/></Relationships>
</file>

<file path=ppt/slides/_rels/slide19.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6.png"/><Relationship Id="rId3" Type="http://schemas.openxmlformats.org/officeDocument/2006/relationships/image" Target="../media/image166.png"/><Relationship Id="rId7" Type="http://schemas.openxmlformats.org/officeDocument/2006/relationships/image" Target="../media/image170.png"/><Relationship Id="rId12" Type="http://schemas.openxmlformats.org/officeDocument/2006/relationships/image" Target="../media/image17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0" Type="http://schemas.openxmlformats.org/officeDocument/2006/relationships/image" Target="../media/image173.png"/><Relationship Id="rId4" Type="http://schemas.openxmlformats.org/officeDocument/2006/relationships/image" Target="../media/image167.png"/><Relationship Id="rId9" Type="http://schemas.openxmlformats.org/officeDocument/2006/relationships/image" Target="../media/image172.png"/><Relationship Id="rId14" Type="http://schemas.openxmlformats.org/officeDocument/2006/relationships/image" Target="../media/image177.png"/></Relationships>
</file>

<file path=ppt/slides/_rels/slide20.xml.rels><?xml version="1.0" encoding="UTF-8" standalone="yes"?>
<Relationships xmlns="http://schemas.openxmlformats.org/package/2006/relationships"><Relationship Id="rId8" Type="http://schemas.openxmlformats.org/officeDocument/2006/relationships/image" Target="../media/image183.png"/><Relationship Id="rId3" Type="http://schemas.openxmlformats.org/officeDocument/2006/relationships/image" Target="../media/image178.png"/><Relationship Id="rId7" Type="http://schemas.openxmlformats.org/officeDocument/2006/relationships/image" Target="../media/image18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0" Type="http://schemas.openxmlformats.org/officeDocument/2006/relationships/image" Target="../media/image185.png"/><Relationship Id="rId4" Type="http://schemas.openxmlformats.org/officeDocument/2006/relationships/image" Target="../media/image179.png"/><Relationship Id="rId9" Type="http://schemas.openxmlformats.org/officeDocument/2006/relationships/image" Target="../media/image184.png"/></Relationships>
</file>

<file path=ppt/slides/_rels/slide21.xml.rels><?xml version="1.0" encoding="UTF-8" standalone="yes"?>
<Relationships xmlns="http://schemas.openxmlformats.org/package/2006/relationships"><Relationship Id="rId8" Type="http://schemas.openxmlformats.org/officeDocument/2006/relationships/image" Target="../media/image192.png"/><Relationship Id="rId13" Type="http://schemas.openxmlformats.org/officeDocument/2006/relationships/image" Target="../media/image197.png"/><Relationship Id="rId3" Type="http://schemas.openxmlformats.org/officeDocument/2006/relationships/image" Target="../media/image187.png"/><Relationship Id="rId7" Type="http://schemas.openxmlformats.org/officeDocument/2006/relationships/image" Target="../media/image191.png"/><Relationship Id="rId12" Type="http://schemas.openxmlformats.org/officeDocument/2006/relationships/image" Target="../media/image196.png"/><Relationship Id="rId17" Type="http://schemas.openxmlformats.org/officeDocument/2006/relationships/image" Target="../media/image201.png"/><Relationship Id="rId2" Type="http://schemas.openxmlformats.org/officeDocument/2006/relationships/notesSlide" Target="../notesSlides/notesSlide21.xml"/><Relationship Id="rId16" Type="http://schemas.openxmlformats.org/officeDocument/2006/relationships/image" Target="../media/image200.png"/><Relationship Id="rId1" Type="http://schemas.openxmlformats.org/officeDocument/2006/relationships/slideLayout" Target="../slideLayouts/slideLayout1.xml"/><Relationship Id="rId6" Type="http://schemas.openxmlformats.org/officeDocument/2006/relationships/image" Target="../media/image190.png"/><Relationship Id="rId11" Type="http://schemas.openxmlformats.org/officeDocument/2006/relationships/image" Target="../media/image195.png"/><Relationship Id="rId5" Type="http://schemas.openxmlformats.org/officeDocument/2006/relationships/image" Target="../media/image189.png"/><Relationship Id="rId15" Type="http://schemas.openxmlformats.org/officeDocument/2006/relationships/image" Target="../media/image199.png"/><Relationship Id="rId10" Type="http://schemas.openxmlformats.org/officeDocument/2006/relationships/image" Target="../media/image194.png"/><Relationship Id="rId4" Type="http://schemas.openxmlformats.org/officeDocument/2006/relationships/image" Target="../media/image188.png"/><Relationship Id="rId9" Type="http://schemas.openxmlformats.org/officeDocument/2006/relationships/image" Target="../media/image193.png"/><Relationship Id="rId14" Type="http://schemas.openxmlformats.org/officeDocument/2006/relationships/image" Target="../media/image198.png"/></Relationships>
</file>

<file path=ppt/slides/_rels/slide22.xml.rels><?xml version="1.0" encoding="UTF-8" standalone="yes"?>
<Relationships xmlns="http://schemas.openxmlformats.org/package/2006/relationships"><Relationship Id="rId8" Type="http://schemas.openxmlformats.org/officeDocument/2006/relationships/image" Target="../media/image206.png"/><Relationship Id="rId3" Type="http://schemas.openxmlformats.org/officeDocument/2006/relationships/image" Target="../media/image202.png"/><Relationship Id="rId7" Type="http://schemas.openxmlformats.org/officeDocument/2006/relationships/image" Target="../media/image20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04.png"/><Relationship Id="rId11" Type="http://schemas.openxmlformats.org/officeDocument/2006/relationships/image" Target="../media/image209.png"/><Relationship Id="rId5" Type="http://schemas.openxmlformats.org/officeDocument/2006/relationships/image" Target="../media/image203.png"/><Relationship Id="rId10" Type="http://schemas.openxmlformats.org/officeDocument/2006/relationships/image" Target="../media/image208.png"/><Relationship Id="rId4" Type="http://schemas.openxmlformats.org/officeDocument/2006/relationships/image" Target="../media/image180.png"/><Relationship Id="rId9" Type="http://schemas.openxmlformats.org/officeDocument/2006/relationships/image" Target="../media/image207.png"/></Relationships>
</file>

<file path=ppt/slides/_rels/slide23.xml.rels><?xml version="1.0" encoding="UTF-8" standalone="yes"?>
<Relationships xmlns="http://schemas.openxmlformats.org/package/2006/relationships"><Relationship Id="rId8" Type="http://schemas.openxmlformats.org/officeDocument/2006/relationships/image" Target="../media/image215.png"/><Relationship Id="rId3" Type="http://schemas.openxmlformats.org/officeDocument/2006/relationships/image" Target="../media/image210.png"/><Relationship Id="rId7" Type="http://schemas.openxmlformats.org/officeDocument/2006/relationships/image" Target="../media/image21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13.png"/><Relationship Id="rId11" Type="http://schemas.openxmlformats.org/officeDocument/2006/relationships/image" Target="../media/image218.png"/><Relationship Id="rId5" Type="http://schemas.openxmlformats.org/officeDocument/2006/relationships/image" Target="../media/image212.png"/><Relationship Id="rId10" Type="http://schemas.openxmlformats.org/officeDocument/2006/relationships/image" Target="../media/image217.png"/><Relationship Id="rId4" Type="http://schemas.openxmlformats.org/officeDocument/2006/relationships/image" Target="../media/image211.png"/><Relationship Id="rId9" Type="http://schemas.openxmlformats.org/officeDocument/2006/relationships/image" Target="../media/image216.png"/></Relationships>
</file>

<file path=ppt/slides/_rels/slide24.xml.rels><?xml version="1.0" encoding="UTF-8" standalone="yes"?>
<Relationships xmlns="http://schemas.openxmlformats.org/package/2006/relationships"><Relationship Id="rId8" Type="http://schemas.openxmlformats.org/officeDocument/2006/relationships/image" Target="../media/image224.png"/><Relationship Id="rId13" Type="http://schemas.openxmlformats.org/officeDocument/2006/relationships/image" Target="../media/image229.png"/><Relationship Id="rId3" Type="http://schemas.openxmlformats.org/officeDocument/2006/relationships/image" Target="../media/image219.png"/><Relationship Id="rId7" Type="http://schemas.openxmlformats.org/officeDocument/2006/relationships/image" Target="../media/image223.png"/><Relationship Id="rId12" Type="http://schemas.openxmlformats.org/officeDocument/2006/relationships/image" Target="../media/image22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22.png"/><Relationship Id="rId11" Type="http://schemas.openxmlformats.org/officeDocument/2006/relationships/image" Target="../media/image227.png"/><Relationship Id="rId5" Type="http://schemas.openxmlformats.org/officeDocument/2006/relationships/image" Target="../media/image221.png"/><Relationship Id="rId15" Type="http://schemas.openxmlformats.org/officeDocument/2006/relationships/image" Target="../media/image231.png"/><Relationship Id="rId10" Type="http://schemas.openxmlformats.org/officeDocument/2006/relationships/image" Target="../media/image226.png"/><Relationship Id="rId4" Type="http://schemas.openxmlformats.org/officeDocument/2006/relationships/image" Target="../media/image220.png"/><Relationship Id="rId9" Type="http://schemas.openxmlformats.org/officeDocument/2006/relationships/image" Target="../media/image225.png"/><Relationship Id="rId14" Type="http://schemas.openxmlformats.org/officeDocument/2006/relationships/image" Target="../media/image230.png"/></Relationships>
</file>

<file path=ppt/slides/_rels/slide25.xml.rels><?xml version="1.0" encoding="UTF-8" standalone="yes"?>
<Relationships xmlns="http://schemas.openxmlformats.org/package/2006/relationships"><Relationship Id="rId8" Type="http://schemas.openxmlformats.org/officeDocument/2006/relationships/image" Target="../media/image237.png"/><Relationship Id="rId13" Type="http://schemas.openxmlformats.org/officeDocument/2006/relationships/image" Target="../media/image242.png"/><Relationship Id="rId18" Type="http://schemas.openxmlformats.org/officeDocument/2006/relationships/image" Target="../media/image247.png"/><Relationship Id="rId3" Type="http://schemas.openxmlformats.org/officeDocument/2006/relationships/image" Target="../media/image232.png"/><Relationship Id="rId7" Type="http://schemas.openxmlformats.org/officeDocument/2006/relationships/image" Target="../media/image236.png"/><Relationship Id="rId12" Type="http://schemas.openxmlformats.org/officeDocument/2006/relationships/image" Target="../media/image241.png"/><Relationship Id="rId17" Type="http://schemas.openxmlformats.org/officeDocument/2006/relationships/image" Target="../media/image246.png"/><Relationship Id="rId2" Type="http://schemas.openxmlformats.org/officeDocument/2006/relationships/notesSlide" Target="../notesSlides/notesSlide25.xml"/><Relationship Id="rId16" Type="http://schemas.openxmlformats.org/officeDocument/2006/relationships/image" Target="../media/image245.png"/><Relationship Id="rId1" Type="http://schemas.openxmlformats.org/officeDocument/2006/relationships/slideLayout" Target="../slideLayouts/slideLayout1.xml"/><Relationship Id="rId6" Type="http://schemas.openxmlformats.org/officeDocument/2006/relationships/image" Target="../media/image235.png"/><Relationship Id="rId11" Type="http://schemas.openxmlformats.org/officeDocument/2006/relationships/image" Target="../media/image240.png"/><Relationship Id="rId5" Type="http://schemas.openxmlformats.org/officeDocument/2006/relationships/image" Target="../media/image234.png"/><Relationship Id="rId15" Type="http://schemas.openxmlformats.org/officeDocument/2006/relationships/image" Target="../media/image244.png"/><Relationship Id="rId10" Type="http://schemas.openxmlformats.org/officeDocument/2006/relationships/image" Target="../media/image239.png"/><Relationship Id="rId4" Type="http://schemas.openxmlformats.org/officeDocument/2006/relationships/image" Target="../media/image233.png"/><Relationship Id="rId9" Type="http://schemas.openxmlformats.org/officeDocument/2006/relationships/image" Target="../media/image238.png"/><Relationship Id="rId14" Type="http://schemas.openxmlformats.org/officeDocument/2006/relationships/image" Target="../media/image243.png"/></Relationships>
</file>

<file path=ppt/slides/_rels/slide26.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50.png"/><Relationship Id="rId5" Type="http://schemas.openxmlformats.org/officeDocument/2006/relationships/image" Target="../media/image249.png"/><Relationship Id="rId4" Type="http://schemas.openxmlformats.org/officeDocument/2006/relationships/image" Target="../media/image24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7467600" y="600075"/>
            <a:ext cx="428625" cy="428625"/>
          </a:xfrm>
          <a:prstGeom prst="rect">
            <a:avLst/>
          </a:prstGeom>
          <a:noFill/>
          <a:ln>
            <a:noFill/>
          </a:ln>
        </p:spPr>
      </p:pic>
      <p:sp>
        <p:nvSpPr>
          <p:cNvPr id="85" name="Google Shape;85;p13"/>
          <p:cNvSpPr txBox="1"/>
          <p:nvPr/>
        </p:nvSpPr>
        <p:spPr>
          <a:xfrm>
            <a:off x="8039100" y="571500"/>
            <a:ext cx="280035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01F5C"/>
                </a:solidFill>
                <a:latin typeface="Lato"/>
                <a:ea typeface="Lato"/>
                <a:cs typeface="Lato"/>
                <a:sym typeface="Lato"/>
              </a:rPr>
              <a:t>Institución Universitaria</a:t>
            </a:r>
            <a:r>
              <a:rPr lang="en-US" sz="1200" b="0" i="0" u="none" strike="noStrike" cap="none">
                <a:solidFill>
                  <a:srgbClr val="000000"/>
                </a:solidFill>
                <a:latin typeface="Lato"/>
                <a:ea typeface="Lato"/>
                <a:cs typeface="Lato"/>
                <a:sym typeface="Lato"/>
              </a:rPr>
              <a:t> </a:t>
            </a:r>
            <a:r>
              <a:rPr lang="en-US" sz="1200" b="0" i="0" u="none" strike="noStrike" cap="none">
                <a:solidFill>
                  <a:srgbClr val="003B80"/>
                </a:solidFill>
                <a:latin typeface="Lato"/>
                <a:ea typeface="Lato"/>
                <a:cs typeface="Lato"/>
                <a:sym typeface="Lato"/>
              </a:rPr>
              <a:t>Reacreditada en Alta Calidad</a:t>
            </a:r>
            <a:endParaRPr/>
          </a:p>
        </p:txBody>
      </p:sp>
      <p:sp>
        <p:nvSpPr>
          <p:cNvPr id="86" name="Google Shape;86;p13"/>
          <p:cNvSpPr txBox="1"/>
          <p:nvPr/>
        </p:nvSpPr>
        <p:spPr>
          <a:xfrm>
            <a:off x="11220450" y="576262"/>
            <a:ext cx="400050" cy="476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001F5C"/>
                </a:solidFill>
                <a:latin typeface="Lato"/>
                <a:ea typeface="Lato"/>
                <a:cs typeface="Lato"/>
                <a:sym typeface="Lato"/>
              </a:rPr>
              <a:t>80</a:t>
            </a:r>
            <a:r>
              <a:rPr lang="en-US" sz="1200" b="0" i="0" u="none" strike="noStrike" cap="none">
                <a:solidFill>
                  <a:srgbClr val="000000"/>
                </a:solidFill>
                <a:latin typeface="Lato"/>
                <a:ea typeface="Lato"/>
                <a:cs typeface="Lato"/>
                <a:sym typeface="Lato"/>
              </a:rPr>
              <a:t> </a:t>
            </a:r>
            <a:r>
              <a:rPr lang="en-US" sz="1200" b="0" i="0" u="none" strike="noStrike" cap="none">
                <a:solidFill>
                  <a:srgbClr val="001F5C"/>
                </a:solidFill>
                <a:latin typeface="Lato"/>
                <a:ea typeface="Lato"/>
                <a:cs typeface="Lato"/>
                <a:sym typeface="Lato"/>
              </a:rPr>
              <a:t>Años</a:t>
            </a:r>
            <a:endParaRPr/>
          </a:p>
        </p:txBody>
      </p:sp>
      <p:sp>
        <p:nvSpPr>
          <p:cNvPr id="87" name="Google Shape;87;p13"/>
          <p:cNvSpPr/>
          <p:nvPr/>
        </p:nvSpPr>
        <p:spPr>
          <a:xfrm>
            <a:off x="11077575" y="576262"/>
            <a:ext cx="19050" cy="476250"/>
          </a:xfrm>
          <a:prstGeom prst="rect">
            <a:avLst/>
          </a:prstGeom>
          <a:solidFill>
            <a:srgbClr val="001F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 name="Google Shape;88;p13"/>
          <p:cNvSpPr txBox="1"/>
          <p:nvPr/>
        </p:nvSpPr>
        <p:spPr>
          <a:xfrm>
            <a:off x="952500" y="2647950"/>
            <a:ext cx="4010501" cy="1076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5625" b="1" i="0" u="none" strike="noStrike" cap="none">
                <a:solidFill>
                  <a:srgbClr val="001F5C"/>
                </a:solidFill>
                <a:latin typeface="Poppins"/>
                <a:ea typeface="Poppins"/>
                <a:cs typeface="Poppins"/>
                <a:sym typeface="Poppins"/>
              </a:rPr>
              <a:t>Contenido</a:t>
            </a:r>
            <a:endParaRPr/>
          </a:p>
        </p:txBody>
      </p:sp>
      <p:sp>
        <p:nvSpPr>
          <p:cNvPr id="89" name="Google Shape;89;p13"/>
          <p:cNvSpPr/>
          <p:nvPr/>
        </p:nvSpPr>
        <p:spPr>
          <a:xfrm>
            <a:off x="952500" y="4010025"/>
            <a:ext cx="1143000" cy="57150"/>
          </a:xfrm>
          <a:prstGeom prst="rect">
            <a:avLst/>
          </a:prstGeom>
          <a:solidFill>
            <a:srgbClr val="001F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 name="Google Shape;90;p13"/>
          <p:cNvSpPr txBox="1"/>
          <p:nvPr/>
        </p:nvSpPr>
        <p:spPr>
          <a:xfrm>
            <a:off x="952500" y="4257675"/>
            <a:ext cx="40671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000" b="0" i="0" u="none" strike="noStrike" cap="none">
                <a:solidFill>
                  <a:srgbClr val="334155"/>
                </a:solidFill>
                <a:latin typeface="Lato"/>
                <a:ea typeface="Lato"/>
                <a:cs typeface="Lato"/>
                <a:sym typeface="Lato"/>
              </a:rPr>
              <a:t>Sucesiones Matemáticas</a:t>
            </a:r>
            <a:endParaRPr/>
          </a:p>
        </p:txBody>
      </p:sp>
      <p:sp>
        <p:nvSpPr>
          <p:cNvPr id="91" name="Google Shape;91;p13"/>
          <p:cNvSpPr/>
          <p:nvPr/>
        </p:nvSpPr>
        <p:spPr>
          <a:xfrm>
            <a:off x="7429500" y="2095500"/>
            <a:ext cx="5715000" cy="5715000"/>
          </a:xfrm>
          <a:prstGeom prst="roundRect">
            <a:avLst>
              <a:gd name="adj" fmla="val 50000"/>
            </a:avLst>
          </a:prstGeom>
          <a:solidFill>
            <a:srgbClr val="BFDB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2" name="Google Shape;92;p13"/>
          <p:cNvSpPr/>
          <p:nvPr/>
        </p:nvSpPr>
        <p:spPr>
          <a:xfrm>
            <a:off x="5048250" y="3524250"/>
            <a:ext cx="4762500" cy="4762500"/>
          </a:xfrm>
          <a:prstGeom prst="roundRect">
            <a:avLst>
              <a:gd name="adj" fmla="val 50000"/>
            </a:avLst>
          </a:prstGeom>
          <a:solidFill>
            <a:srgbClr val="93C5F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3"/>
          <p:cNvSpPr/>
          <p:nvPr/>
        </p:nvSpPr>
        <p:spPr>
          <a:xfrm>
            <a:off x="10287000" y="1619250"/>
            <a:ext cx="3810000" cy="3810000"/>
          </a:xfrm>
          <a:prstGeom prst="roundRect">
            <a:avLst>
              <a:gd name="adj" fmla="val 50000"/>
            </a:avLst>
          </a:prstGeom>
          <a:solidFill>
            <a:srgbClr val="E0F2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7"/>
        <p:cNvGrpSpPr/>
        <p:nvPr/>
      </p:nvGrpSpPr>
      <p:grpSpPr>
        <a:xfrm>
          <a:off x="0" y="0"/>
          <a:ext cx="0" cy="0"/>
          <a:chOff x="0" y="0"/>
          <a:chExt cx="0" cy="0"/>
        </a:xfrm>
      </p:grpSpPr>
      <p:pic>
        <p:nvPicPr>
          <p:cNvPr id="98" name="Google Shape;98;p14" descr="image.png"/>
          <p:cNvPicPr preferRelativeResize="0"/>
          <p:nvPr/>
        </p:nvPicPr>
        <p:blipFill rotWithShape="1">
          <a:blip r:embed="rId3">
            <a:alphaModFix/>
          </a:blip>
          <a:srcRect/>
          <a:stretch/>
        </p:blipFill>
        <p:spPr>
          <a:xfrm>
            <a:off x="571500" y="2417564"/>
            <a:ext cx="11049000" cy="4042320"/>
          </a:xfrm>
          <a:prstGeom prst="rect">
            <a:avLst/>
          </a:prstGeom>
          <a:noFill/>
          <a:ln>
            <a:noFill/>
          </a:ln>
        </p:spPr>
      </p:pic>
      <p:pic>
        <p:nvPicPr>
          <p:cNvPr id="99" name="Google Shape;99;p14" descr="image.png"/>
          <p:cNvPicPr preferRelativeResize="0"/>
          <p:nvPr/>
        </p:nvPicPr>
        <p:blipFill rotWithShape="1">
          <a:blip r:embed="rId4">
            <a:alphaModFix/>
          </a:blip>
          <a:srcRect/>
          <a:stretch/>
        </p:blipFill>
        <p:spPr>
          <a:xfrm>
            <a:off x="962025" y="4255889"/>
            <a:ext cx="10267950" cy="704850"/>
          </a:xfrm>
          <a:prstGeom prst="rect">
            <a:avLst/>
          </a:prstGeom>
          <a:noFill/>
          <a:ln>
            <a:noFill/>
          </a:ln>
        </p:spPr>
      </p:pic>
      <p:sp>
        <p:nvSpPr>
          <p:cNvPr id="100" name="Google Shape;100;p14"/>
          <p:cNvSpPr txBox="1"/>
          <p:nvPr/>
        </p:nvSpPr>
        <p:spPr>
          <a:xfrm>
            <a:off x="571500" y="398264"/>
            <a:ext cx="11601450" cy="628650"/>
          </a:xfrm>
          <a:prstGeom prst="rect">
            <a:avLst/>
          </a:prstGeom>
          <a:noFill/>
          <a:ln>
            <a:noFill/>
          </a:ln>
        </p:spPr>
        <p:txBody>
          <a:bodyPr spcFirstLastPara="1" wrap="square" lIns="542925" tIns="0" rIns="0" bIns="0" anchor="t" anchorCtr="0">
            <a:spAutoFit/>
          </a:bodyPr>
          <a:lstStyle/>
          <a:p>
            <a:pPr marL="0" marR="0" lvl="0" indent="0" algn="l" rtl="0">
              <a:spcBef>
                <a:spcPts val="0"/>
              </a:spcBef>
              <a:spcAft>
                <a:spcPts val="0"/>
              </a:spcAft>
              <a:buNone/>
            </a:pPr>
            <a:r>
              <a:rPr lang="en-US" sz="3150" b="1" i="0" u="none" strike="noStrike" cap="none">
                <a:solidFill>
                  <a:srgbClr val="002855"/>
                </a:solidFill>
                <a:latin typeface="Poppins"/>
                <a:ea typeface="Poppins"/>
                <a:cs typeface="Poppins"/>
                <a:sym typeface="Poppins"/>
              </a:rPr>
              <a:t>1. El Concepto de Sucesión</a:t>
            </a:r>
            <a:endParaRPr/>
          </a:p>
        </p:txBody>
      </p:sp>
      <p:sp>
        <p:nvSpPr>
          <p:cNvPr id="101" name="Google Shape;101;p14"/>
          <p:cNvSpPr/>
          <p:nvPr/>
        </p:nvSpPr>
        <p:spPr>
          <a:xfrm>
            <a:off x="571500" y="1093589"/>
            <a:ext cx="11049000" cy="28575"/>
          </a:xfrm>
          <a:prstGeom prst="rect">
            <a:avLst/>
          </a:prstGeom>
          <a:solidFill>
            <a:srgbClr val="BFDB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2" name="Google Shape;102;p14" descr="image.png"/>
          <p:cNvPicPr preferRelativeResize="0"/>
          <p:nvPr/>
        </p:nvPicPr>
        <p:blipFill rotWithShape="1">
          <a:blip r:embed="rId5">
            <a:alphaModFix/>
          </a:blip>
          <a:srcRect/>
          <a:stretch/>
        </p:blipFill>
        <p:spPr>
          <a:xfrm>
            <a:off x="571500" y="483989"/>
            <a:ext cx="400050" cy="400050"/>
          </a:xfrm>
          <a:prstGeom prst="rect">
            <a:avLst/>
          </a:prstGeom>
          <a:noFill/>
          <a:ln>
            <a:noFill/>
          </a:ln>
        </p:spPr>
      </p:pic>
      <p:sp>
        <p:nvSpPr>
          <p:cNvPr id="103" name="Google Shape;103;p14"/>
          <p:cNvSpPr txBox="1"/>
          <p:nvPr/>
        </p:nvSpPr>
        <p:spPr>
          <a:xfrm>
            <a:off x="571500" y="1360289"/>
            <a:ext cx="1104900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Lato"/>
                <a:ea typeface="Lato"/>
                <a:cs typeface="Lato"/>
                <a:sym typeface="Lato"/>
              </a:rPr>
              <a:t>Una sucesión es una </a:t>
            </a:r>
            <a:r>
              <a:rPr lang="en-US" sz="1650" b="1" i="0" u="none" strike="noStrike" cap="none">
                <a:solidFill>
                  <a:srgbClr val="334155"/>
                </a:solidFill>
                <a:latin typeface="Lato"/>
                <a:ea typeface="Lato"/>
                <a:cs typeface="Lato"/>
                <a:sym typeface="Lato"/>
              </a:rPr>
              <a:t>lista ordenada de elementos</a:t>
            </a:r>
            <a:r>
              <a:rPr lang="en-US" sz="1650" b="0" i="0" u="none" strike="noStrike" cap="none">
                <a:solidFill>
                  <a:srgbClr val="334155"/>
                </a:solidFill>
                <a:latin typeface="Lato"/>
                <a:ea typeface="Lato"/>
                <a:cs typeface="Lato"/>
                <a:sym typeface="Lato"/>
              </a:rPr>
              <a:t>, donde cada elemento se denomina "término". A diferencia de un conjunto tradicional, en una sucesión </a:t>
            </a:r>
            <a:r>
              <a:rPr lang="en-US" sz="1650" b="1" i="0" u="none" strike="noStrike" cap="none">
                <a:solidFill>
                  <a:srgbClr val="334155"/>
                </a:solidFill>
                <a:latin typeface="Lato"/>
                <a:ea typeface="Lato"/>
                <a:cs typeface="Lato"/>
                <a:sym typeface="Lato"/>
              </a:rPr>
              <a:t>el orden es fundamental</a:t>
            </a:r>
            <a:r>
              <a:rPr lang="en-US" sz="1650" b="0" i="0" u="none" strike="noStrike" cap="none">
                <a:solidFill>
                  <a:srgbClr val="334155"/>
                </a:solidFill>
                <a:latin typeface="Lato"/>
                <a:ea typeface="Lato"/>
                <a:cs typeface="Lato"/>
                <a:sym typeface="Lato"/>
              </a:rPr>
              <a:t> y los elementos pueden repetirse.</a:t>
            </a:r>
            <a:endParaRPr/>
          </a:p>
        </p:txBody>
      </p:sp>
      <p:sp>
        <p:nvSpPr>
          <p:cNvPr id="104" name="Google Shape;104;p14"/>
          <p:cNvSpPr txBox="1"/>
          <p:nvPr/>
        </p:nvSpPr>
        <p:spPr>
          <a:xfrm>
            <a:off x="962025" y="2808089"/>
            <a:ext cx="107813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1E40AF"/>
                </a:solidFill>
                <a:latin typeface="Poppins SemiBold"/>
                <a:ea typeface="Poppins SemiBold"/>
                <a:cs typeface="Poppins SemiBold"/>
                <a:sym typeface="Poppins SemiBold"/>
              </a:rPr>
              <a:t>Definición Formal como Función</a:t>
            </a:r>
            <a:endParaRPr/>
          </a:p>
        </p:txBody>
      </p:sp>
      <p:sp>
        <p:nvSpPr>
          <p:cNvPr id="105" name="Google Shape;105;p14"/>
          <p:cNvSpPr txBox="1"/>
          <p:nvPr/>
        </p:nvSpPr>
        <p:spPr>
          <a:xfrm>
            <a:off x="962025" y="3398639"/>
            <a:ext cx="1026795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334155"/>
                </a:solidFill>
                <a:latin typeface="Lato"/>
                <a:ea typeface="Lato"/>
                <a:cs typeface="Lato"/>
                <a:sym typeface="Lato"/>
              </a:rPr>
              <a:t>Formalmente, una sucesión es una función que mapea los números naturales (que representan la posición u orden) a un conjunto de valores (los términos, usualmente números reales).</a:t>
            </a:r>
            <a:endParaRPr/>
          </a:p>
        </p:txBody>
      </p:sp>
      <p:pic>
        <p:nvPicPr>
          <p:cNvPr id="106" name="Google Shape;106;p14" descr="image.png"/>
          <p:cNvPicPr preferRelativeResize="0"/>
          <p:nvPr/>
        </p:nvPicPr>
        <p:blipFill rotWithShape="1">
          <a:blip r:embed="rId6">
            <a:alphaModFix/>
          </a:blip>
          <a:srcRect/>
          <a:stretch/>
        </p:blipFill>
        <p:spPr>
          <a:xfrm>
            <a:off x="5488185" y="4503539"/>
            <a:ext cx="1206103" cy="250924"/>
          </a:xfrm>
          <a:prstGeom prst="rect">
            <a:avLst/>
          </a:prstGeom>
          <a:noFill/>
          <a:ln>
            <a:noFill/>
          </a:ln>
        </p:spPr>
      </p:pic>
      <p:sp>
        <p:nvSpPr>
          <p:cNvPr id="107" name="Google Shape;107;p14"/>
          <p:cNvSpPr txBox="1"/>
          <p:nvPr/>
        </p:nvSpPr>
        <p:spPr>
          <a:xfrm>
            <a:off x="962025" y="5275064"/>
            <a:ext cx="552450" cy="2095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Lato"/>
                <a:ea typeface="Lato"/>
                <a:cs typeface="Lato"/>
                <a:sym typeface="Lato"/>
              </a:rPr>
              <a:t>Donde:</a:t>
            </a:r>
            <a:endParaRPr/>
          </a:p>
        </p:txBody>
      </p:sp>
      <p:pic>
        <p:nvPicPr>
          <p:cNvPr id="108" name="Google Shape;108;p14" descr="image.png"/>
          <p:cNvPicPr preferRelativeResize="0"/>
          <p:nvPr/>
        </p:nvPicPr>
        <p:blipFill rotWithShape="1">
          <a:blip r:embed="rId7">
            <a:alphaModFix/>
          </a:blip>
          <a:srcRect/>
          <a:stretch/>
        </p:blipFill>
        <p:spPr>
          <a:xfrm>
            <a:off x="962025" y="5625554"/>
            <a:ext cx="104775" cy="95250"/>
          </a:xfrm>
          <a:prstGeom prst="rect">
            <a:avLst/>
          </a:prstGeom>
          <a:noFill/>
          <a:ln>
            <a:noFill/>
          </a:ln>
        </p:spPr>
      </p:pic>
      <p:pic>
        <p:nvPicPr>
          <p:cNvPr id="109" name="Google Shape;109;p14" descr="image.png"/>
          <p:cNvPicPr preferRelativeResize="0"/>
          <p:nvPr/>
        </p:nvPicPr>
        <p:blipFill rotWithShape="1">
          <a:blip r:embed="rId8">
            <a:alphaModFix/>
          </a:blip>
          <a:srcRect/>
          <a:stretch/>
        </p:blipFill>
        <p:spPr>
          <a:xfrm>
            <a:off x="962025" y="5899844"/>
            <a:ext cx="209550" cy="15001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
        <p:cNvGrpSpPr/>
        <p:nvPr/>
      </p:nvGrpSpPr>
      <p:grpSpPr>
        <a:xfrm>
          <a:off x="0" y="0"/>
          <a:ext cx="0" cy="0"/>
          <a:chOff x="0" y="0"/>
          <a:chExt cx="0" cy="0"/>
        </a:xfrm>
      </p:grpSpPr>
      <p:pic>
        <p:nvPicPr>
          <p:cNvPr id="114" name="Google Shape;114;p15" descr="image.png"/>
          <p:cNvPicPr preferRelativeResize="0"/>
          <p:nvPr/>
        </p:nvPicPr>
        <p:blipFill rotWithShape="1">
          <a:blip r:embed="rId3">
            <a:alphaModFix/>
          </a:blip>
          <a:srcRect/>
          <a:stretch/>
        </p:blipFill>
        <p:spPr>
          <a:xfrm>
            <a:off x="6286500" y="1075729"/>
            <a:ext cx="5334000" cy="5668714"/>
          </a:xfrm>
          <a:prstGeom prst="rect">
            <a:avLst/>
          </a:prstGeom>
          <a:noFill/>
          <a:ln>
            <a:noFill/>
          </a:ln>
        </p:spPr>
      </p:pic>
      <p:pic>
        <p:nvPicPr>
          <p:cNvPr id="115" name="Google Shape;115;p15" descr="image.png"/>
          <p:cNvPicPr preferRelativeResize="0"/>
          <p:nvPr/>
        </p:nvPicPr>
        <p:blipFill rotWithShape="1">
          <a:blip r:embed="rId4">
            <a:alphaModFix/>
          </a:blip>
          <a:srcRect/>
          <a:stretch/>
        </p:blipFill>
        <p:spPr>
          <a:xfrm>
            <a:off x="6629400" y="2356842"/>
            <a:ext cx="4648200" cy="704850"/>
          </a:xfrm>
          <a:prstGeom prst="rect">
            <a:avLst/>
          </a:prstGeom>
          <a:noFill/>
          <a:ln>
            <a:noFill/>
          </a:ln>
        </p:spPr>
      </p:pic>
      <p:pic>
        <p:nvPicPr>
          <p:cNvPr id="116" name="Google Shape;116;p15" descr="image.png"/>
          <p:cNvPicPr preferRelativeResize="0"/>
          <p:nvPr/>
        </p:nvPicPr>
        <p:blipFill rotWithShape="1">
          <a:blip r:embed="rId5">
            <a:alphaModFix/>
          </a:blip>
          <a:srcRect/>
          <a:stretch/>
        </p:blipFill>
        <p:spPr>
          <a:xfrm>
            <a:off x="6629400" y="5566767"/>
            <a:ext cx="4648200" cy="691901"/>
          </a:xfrm>
          <a:prstGeom prst="rect">
            <a:avLst/>
          </a:prstGeom>
          <a:noFill/>
          <a:ln>
            <a:noFill/>
          </a:ln>
        </p:spPr>
      </p:pic>
      <p:pic>
        <p:nvPicPr>
          <p:cNvPr id="117" name="Google Shape;117;p15" descr="image.png"/>
          <p:cNvPicPr preferRelativeResize="0"/>
          <p:nvPr/>
        </p:nvPicPr>
        <p:blipFill rotWithShape="1">
          <a:blip r:embed="rId6">
            <a:alphaModFix/>
          </a:blip>
          <a:srcRect/>
          <a:stretch/>
        </p:blipFill>
        <p:spPr>
          <a:xfrm>
            <a:off x="571500" y="4342804"/>
            <a:ext cx="2571750" cy="666750"/>
          </a:xfrm>
          <a:prstGeom prst="rect">
            <a:avLst/>
          </a:prstGeom>
          <a:noFill/>
          <a:ln>
            <a:noFill/>
          </a:ln>
        </p:spPr>
      </p:pic>
      <p:pic>
        <p:nvPicPr>
          <p:cNvPr id="118" name="Google Shape;118;p15" descr="image.png"/>
          <p:cNvPicPr preferRelativeResize="0"/>
          <p:nvPr/>
        </p:nvPicPr>
        <p:blipFill rotWithShape="1">
          <a:blip r:embed="rId7">
            <a:alphaModFix/>
          </a:blip>
          <a:srcRect/>
          <a:stretch/>
        </p:blipFill>
        <p:spPr>
          <a:xfrm>
            <a:off x="3333750" y="4342804"/>
            <a:ext cx="2571750" cy="666750"/>
          </a:xfrm>
          <a:prstGeom prst="rect">
            <a:avLst/>
          </a:prstGeom>
          <a:noFill/>
          <a:ln>
            <a:noFill/>
          </a:ln>
        </p:spPr>
      </p:pic>
      <p:sp>
        <p:nvSpPr>
          <p:cNvPr id="119" name="Google Shape;119;p15"/>
          <p:cNvSpPr txBox="1"/>
          <p:nvPr/>
        </p:nvSpPr>
        <p:spPr>
          <a:xfrm>
            <a:off x="571500" y="113704"/>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855"/>
                </a:solidFill>
                <a:latin typeface="Poppins"/>
                <a:ea typeface="Poppins"/>
                <a:cs typeface="Poppins"/>
                <a:sym typeface="Poppins"/>
              </a:rPr>
              <a:t>Sucesiones y Series</a:t>
            </a:r>
            <a:endParaRPr/>
          </a:p>
        </p:txBody>
      </p:sp>
      <p:sp>
        <p:nvSpPr>
          <p:cNvPr id="120" name="Google Shape;120;p15"/>
          <p:cNvSpPr/>
          <p:nvPr/>
        </p:nvSpPr>
        <p:spPr>
          <a:xfrm>
            <a:off x="571500" y="809029"/>
            <a:ext cx="11049000" cy="28575"/>
          </a:xfrm>
          <a:prstGeom prst="rect">
            <a:avLst/>
          </a:prstGeom>
          <a:solidFill>
            <a:srgbClr val="BFDB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1" name="Google Shape;121;p15"/>
          <p:cNvSpPr txBox="1"/>
          <p:nvPr/>
        </p:nvSpPr>
        <p:spPr>
          <a:xfrm>
            <a:off x="571500" y="1075729"/>
            <a:ext cx="560070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D4ED8"/>
                </a:solidFill>
                <a:latin typeface="Poppins SemiBold"/>
                <a:ea typeface="Poppins SemiBold"/>
                <a:cs typeface="Poppins SemiBold"/>
                <a:sym typeface="Poppins SemiBold"/>
              </a:rPr>
              <a:t>¿Qué es una Sucesión?</a:t>
            </a:r>
            <a:endParaRPr/>
          </a:p>
        </p:txBody>
      </p:sp>
      <p:sp>
        <p:nvSpPr>
          <p:cNvPr id="122" name="Google Shape;122;p15"/>
          <p:cNvSpPr txBox="1"/>
          <p:nvPr/>
        </p:nvSpPr>
        <p:spPr>
          <a:xfrm>
            <a:off x="571500" y="1523404"/>
            <a:ext cx="533400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Como vimos, es una lista ordenada. Las sucesiones se pueden describir enumerando sus primeros términos o mediante una fórmula matemática llamada </a:t>
            </a:r>
            <a:r>
              <a:rPr lang="en-US" sz="1425" b="1" i="0" u="none" strike="noStrike" cap="none">
                <a:solidFill>
                  <a:srgbClr val="334155"/>
                </a:solidFill>
                <a:latin typeface="Lato"/>
                <a:ea typeface="Lato"/>
                <a:cs typeface="Lato"/>
                <a:sym typeface="Lato"/>
              </a:rPr>
              <a:t>término general</a:t>
            </a:r>
            <a:r>
              <a:rPr lang="en-US" sz="1425" b="0" i="0" u="none" strike="noStrike" cap="none">
                <a:solidFill>
                  <a:srgbClr val="334155"/>
                </a:solidFill>
                <a:latin typeface="Lato"/>
                <a:ea typeface="Lato"/>
                <a:cs typeface="Lato"/>
                <a:sym typeface="Lato"/>
              </a:rPr>
              <a:t> .</a:t>
            </a:r>
            <a:endParaRPr/>
          </a:p>
        </p:txBody>
      </p:sp>
      <p:sp>
        <p:nvSpPr>
          <p:cNvPr id="123" name="Google Shape;123;p15"/>
          <p:cNvSpPr txBox="1"/>
          <p:nvPr/>
        </p:nvSpPr>
        <p:spPr>
          <a:xfrm>
            <a:off x="571500" y="2623542"/>
            <a:ext cx="560070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DC2626"/>
                </a:solidFill>
                <a:latin typeface="Poppins SemiBold"/>
                <a:ea typeface="Poppins SemiBold"/>
                <a:cs typeface="Poppins SemiBold"/>
                <a:sym typeface="Poppins SemiBold"/>
              </a:rPr>
              <a:t>Sucesión vs. Serie</a:t>
            </a:r>
            <a:endParaRPr/>
          </a:p>
        </p:txBody>
      </p:sp>
      <p:sp>
        <p:nvSpPr>
          <p:cNvPr id="124" name="Google Shape;124;p15"/>
          <p:cNvSpPr txBox="1"/>
          <p:nvPr/>
        </p:nvSpPr>
        <p:spPr>
          <a:xfrm>
            <a:off x="571500" y="3071217"/>
            <a:ext cx="5334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Es crucial no confundir ambos conceptos matemáticos:</a:t>
            </a:r>
            <a:endParaRPr/>
          </a:p>
        </p:txBody>
      </p:sp>
      <p:sp>
        <p:nvSpPr>
          <p:cNvPr id="125" name="Google Shape;125;p15"/>
          <p:cNvSpPr txBox="1"/>
          <p:nvPr/>
        </p:nvSpPr>
        <p:spPr>
          <a:xfrm>
            <a:off x="6513195" y="1418629"/>
            <a:ext cx="4880610"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1D4ED8"/>
                </a:solidFill>
                <a:latin typeface="Poppins SemiBold"/>
                <a:ea typeface="Poppins SemiBold"/>
                <a:cs typeface="Poppins SemiBold"/>
                <a:sym typeface="Poppins SemiBold"/>
              </a:rPr>
              <a:t>Analizando el Ejemplo</a:t>
            </a:r>
            <a:endParaRPr/>
          </a:p>
        </p:txBody>
      </p:sp>
      <p:sp>
        <p:nvSpPr>
          <p:cNvPr id="126" name="Google Shape;126;p15"/>
          <p:cNvSpPr txBox="1"/>
          <p:nvPr/>
        </p:nvSpPr>
        <p:spPr>
          <a:xfrm>
            <a:off x="6629400" y="1942504"/>
            <a:ext cx="4648200" cy="271462"/>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Consideremos la siguiente sucesión:</a:t>
            </a:r>
            <a:endParaRPr/>
          </a:p>
        </p:txBody>
      </p:sp>
      <p:sp>
        <p:nvSpPr>
          <p:cNvPr id="127" name="Google Shape;127;p15"/>
          <p:cNvSpPr txBox="1"/>
          <p:nvPr/>
        </p:nvSpPr>
        <p:spPr>
          <a:xfrm>
            <a:off x="6629400" y="3204567"/>
            <a:ext cx="46482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Para encontrar su regla, observamos el patrón posicional:</a:t>
            </a:r>
            <a:endParaRPr/>
          </a:p>
        </p:txBody>
      </p:sp>
      <p:sp>
        <p:nvSpPr>
          <p:cNvPr id="128" name="Google Shape;128;p15"/>
          <p:cNvSpPr txBox="1"/>
          <p:nvPr/>
        </p:nvSpPr>
        <p:spPr>
          <a:xfrm>
            <a:off x="6629400" y="4880967"/>
            <a:ext cx="46482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El patrón es claro: cada término es el cuadrado de su posición. Fórmula general:</a:t>
            </a:r>
            <a:endParaRPr/>
          </a:p>
        </p:txBody>
      </p:sp>
      <p:pic>
        <p:nvPicPr>
          <p:cNvPr id="129" name="Google Shape;129;p15" descr="image.png"/>
          <p:cNvPicPr preferRelativeResize="0"/>
          <p:nvPr/>
        </p:nvPicPr>
        <p:blipFill rotWithShape="1">
          <a:blip r:embed="rId8">
            <a:alphaModFix/>
          </a:blip>
          <a:srcRect/>
          <a:stretch/>
        </p:blipFill>
        <p:spPr>
          <a:xfrm>
            <a:off x="4248150" y="2104429"/>
            <a:ext cx="619720" cy="219223"/>
          </a:xfrm>
          <a:prstGeom prst="rect">
            <a:avLst/>
          </a:prstGeom>
          <a:noFill/>
          <a:ln>
            <a:noFill/>
          </a:ln>
        </p:spPr>
      </p:pic>
      <p:sp>
        <p:nvSpPr>
          <p:cNvPr id="130" name="Google Shape;130;p15"/>
          <p:cNvSpPr txBox="1"/>
          <p:nvPr/>
        </p:nvSpPr>
        <p:spPr>
          <a:xfrm>
            <a:off x="1190625" y="3495079"/>
            <a:ext cx="471487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0F172A"/>
                </a:solidFill>
                <a:latin typeface="Lato"/>
                <a:ea typeface="Lato"/>
                <a:cs typeface="Lato"/>
                <a:sym typeface="Lato"/>
              </a:rPr>
              <a:t>Sucesión:</a:t>
            </a:r>
            <a:r>
              <a:rPr lang="en-US" sz="1425" b="0" i="0" u="none" strike="noStrike" cap="none">
                <a:solidFill>
                  <a:srgbClr val="334155"/>
                </a:solidFill>
                <a:latin typeface="Lato"/>
                <a:ea typeface="Lato"/>
                <a:cs typeface="Lato"/>
                <a:sym typeface="Lato"/>
              </a:rPr>
              <a:t> Es la lista de términos separados por comas.</a:t>
            </a:r>
            <a:endParaRPr/>
          </a:p>
        </p:txBody>
      </p:sp>
      <p:sp>
        <p:nvSpPr>
          <p:cNvPr id="131" name="Google Shape;131;p15"/>
          <p:cNvSpPr txBox="1"/>
          <p:nvPr/>
        </p:nvSpPr>
        <p:spPr>
          <a:xfrm>
            <a:off x="1190625" y="3880842"/>
            <a:ext cx="471487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0F172A"/>
                </a:solidFill>
                <a:latin typeface="Lato"/>
                <a:ea typeface="Lato"/>
                <a:cs typeface="Lato"/>
                <a:sym typeface="Lato"/>
              </a:rPr>
              <a:t>Serie:</a:t>
            </a:r>
            <a:r>
              <a:rPr lang="en-US" sz="1425" b="0" i="0" u="none" strike="noStrike" cap="none">
                <a:solidFill>
                  <a:srgbClr val="334155"/>
                </a:solidFill>
                <a:latin typeface="Lato"/>
                <a:ea typeface="Lato"/>
                <a:cs typeface="Lato"/>
                <a:sym typeface="Lato"/>
              </a:rPr>
              <a:t> Es la </a:t>
            </a:r>
            <a:r>
              <a:rPr lang="en-US" sz="1425" b="1" i="0" u="none" strike="noStrike" cap="none">
                <a:solidFill>
                  <a:srgbClr val="0F172A"/>
                </a:solidFill>
                <a:latin typeface="Lato"/>
                <a:ea typeface="Lato"/>
                <a:cs typeface="Lato"/>
                <a:sym typeface="Lato"/>
              </a:rPr>
              <a:t>suma</a:t>
            </a:r>
            <a:r>
              <a:rPr lang="en-US" sz="1425" b="0" i="0" u="none" strike="noStrike" cap="none">
                <a:solidFill>
                  <a:srgbClr val="334155"/>
                </a:solidFill>
                <a:latin typeface="Lato"/>
                <a:ea typeface="Lato"/>
                <a:cs typeface="Lato"/>
                <a:sym typeface="Lato"/>
              </a:rPr>
              <a:t> de esos términos.</a:t>
            </a:r>
            <a:endParaRPr/>
          </a:p>
        </p:txBody>
      </p:sp>
      <p:pic>
        <p:nvPicPr>
          <p:cNvPr id="132" name="Google Shape;132;p15" descr="image.png"/>
          <p:cNvPicPr preferRelativeResize="0"/>
          <p:nvPr/>
        </p:nvPicPr>
        <p:blipFill rotWithShape="1">
          <a:blip r:embed="rId9">
            <a:alphaModFix/>
          </a:blip>
          <a:srcRect/>
          <a:stretch/>
        </p:blipFill>
        <p:spPr>
          <a:xfrm>
            <a:off x="7005042" y="2585442"/>
            <a:ext cx="3935015" cy="269974"/>
          </a:xfrm>
          <a:prstGeom prst="rect">
            <a:avLst/>
          </a:prstGeom>
          <a:noFill/>
          <a:ln>
            <a:noFill/>
          </a:ln>
        </p:spPr>
      </p:pic>
      <p:sp>
        <p:nvSpPr>
          <p:cNvPr id="133" name="Google Shape;133;p15"/>
          <p:cNvSpPr txBox="1"/>
          <p:nvPr/>
        </p:nvSpPr>
        <p:spPr>
          <a:xfrm>
            <a:off x="7248525" y="3647479"/>
            <a:ext cx="402907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Término 0 (n=0): 0 ➔</a:t>
            </a:r>
            <a:endParaRPr/>
          </a:p>
        </p:txBody>
      </p:sp>
      <p:sp>
        <p:nvSpPr>
          <p:cNvPr id="134" name="Google Shape;134;p15"/>
          <p:cNvSpPr txBox="1"/>
          <p:nvPr/>
        </p:nvSpPr>
        <p:spPr>
          <a:xfrm>
            <a:off x="7248525" y="4033242"/>
            <a:ext cx="402907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Término 1 (n=1): 1 ➔</a:t>
            </a:r>
            <a:endParaRPr/>
          </a:p>
        </p:txBody>
      </p:sp>
      <p:sp>
        <p:nvSpPr>
          <p:cNvPr id="135" name="Google Shape;135;p15"/>
          <p:cNvSpPr txBox="1"/>
          <p:nvPr/>
        </p:nvSpPr>
        <p:spPr>
          <a:xfrm>
            <a:off x="7248525" y="4419004"/>
            <a:ext cx="402907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Término 2 (n=2): 4 ➔</a:t>
            </a:r>
            <a:endParaRPr/>
          </a:p>
        </p:txBody>
      </p:sp>
      <p:pic>
        <p:nvPicPr>
          <p:cNvPr id="136" name="Google Shape;136;p15" descr="image.png"/>
          <p:cNvPicPr preferRelativeResize="0"/>
          <p:nvPr/>
        </p:nvPicPr>
        <p:blipFill rotWithShape="1">
          <a:blip r:embed="rId10">
            <a:alphaModFix/>
          </a:blip>
          <a:srcRect/>
          <a:stretch/>
        </p:blipFill>
        <p:spPr>
          <a:xfrm>
            <a:off x="7693372" y="5766792"/>
            <a:ext cx="2510730" cy="290066"/>
          </a:xfrm>
          <a:prstGeom prst="rect">
            <a:avLst/>
          </a:prstGeom>
          <a:noFill/>
          <a:ln>
            <a:noFill/>
          </a:ln>
        </p:spPr>
      </p:pic>
      <p:sp>
        <p:nvSpPr>
          <p:cNvPr id="137" name="Google Shape;137;p15"/>
          <p:cNvSpPr txBox="1"/>
          <p:nvPr/>
        </p:nvSpPr>
        <p:spPr>
          <a:xfrm>
            <a:off x="952500" y="3418879"/>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38" name="Google Shape;138;p15"/>
          <p:cNvSpPr txBox="1"/>
          <p:nvPr/>
        </p:nvSpPr>
        <p:spPr>
          <a:xfrm>
            <a:off x="952500" y="3804642"/>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39" name="Google Shape;139;p15"/>
          <p:cNvSpPr txBox="1"/>
          <p:nvPr/>
        </p:nvSpPr>
        <p:spPr>
          <a:xfrm>
            <a:off x="7010400" y="3571279"/>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pic>
        <p:nvPicPr>
          <p:cNvPr id="140" name="Google Shape;140;p15" descr="image.png"/>
          <p:cNvPicPr preferRelativeResize="0"/>
          <p:nvPr/>
        </p:nvPicPr>
        <p:blipFill rotWithShape="1">
          <a:blip r:embed="rId11">
            <a:alphaModFix/>
          </a:blip>
          <a:srcRect/>
          <a:stretch/>
        </p:blipFill>
        <p:spPr>
          <a:xfrm>
            <a:off x="8953500" y="3656558"/>
            <a:ext cx="209550" cy="200471"/>
          </a:xfrm>
          <a:prstGeom prst="rect">
            <a:avLst/>
          </a:prstGeom>
          <a:noFill/>
          <a:ln>
            <a:noFill/>
          </a:ln>
        </p:spPr>
      </p:pic>
      <p:sp>
        <p:nvSpPr>
          <p:cNvPr id="141" name="Google Shape;141;p15"/>
          <p:cNvSpPr txBox="1"/>
          <p:nvPr/>
        </p:nvSpPr>
        <p:spPr>
          <a:xfrm>
            <a:off x="7010400" y="3957042"/>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pic>
        <p:nvPicPr>
          <p:cNvPr id="142" name="Google Shape;142;p15" descr="image.png"/>
          <p:cNvPicPr preferRelativeResize="0"/>
          <p:nvPr/>
        </p:nvPicPr>
        <p:blipFill rotWithShape="1">
          <a:blip r:embed="rId12">
            <a:alphaModFix/>
          </a:blip>
          <a:srcRect/>
          <a:stretch/>
        </p:blipFill>
        <p:spPr>
          <a:xfrm>
            <a:off x="8953500" y="4042320"/>
            <a:ext cx="209550" cy="190946"/>
          </a:xfrm>
          <a:prstGeom prst="rect">
            <a:avLst/>
          </a:prstGeom>
          <a:noFill/>
          <a:ln>
            <a:noFill/>
          </a:ln>
        </p:spPr>
      </p:pic>
      <p:sp>
        <p:nvSpPr>
          <p:cNvPr id="143" name="Google Shape;143;p15"/>
          <p:cNvSpPr txBox="1"/>
          <p:nvPr/>
        </p:nvSpPr>
        <p:spPr>
          <a:xfrm>
            <a:off x="7010400" y="4342804"/>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pic>
        <p:nvPicPr>
          <p:cNvPr id="144" name="Google Shape;144;p15" descr="image.png"/>
          <p:cNvPicPr preferRelativeResize="0"/>
          <p:nvPr/>
        </p:nvPicPr>
        <p:blipFill rotWithShape="1">
          <a:blip r:embed="rId13">
            <a:alphaModFix/>
          </a:blip>
          <a:srcRect/>
          <a:stretch/>
        </p:blipFill>
        <p:spPr>
          <a:xfrm>
            <a:off x="8953500" y="4428083"/>
            <a:ext cx="209550" cy="19094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8"/>
        <p:cNvGrpSpPr/>
        <p:nvPr/>
      </p:nvGrpSpPr>
      <p:grpSpPr>
        <a:xfrm>
          <a:off x="0" y="0"/>
          <a:ext cx="0" cy="0"/>
          <a:chOff x="0" y="0"/>
          <a:chExt cx="0" cy="0"/>
        </a:xfrm>
      </p:grpSpPr>
      <p:pic>
        <p:nvPicPr>
          <p:cNvPr id="149" name="Google Shape;149;p16" descr="image.png"/>
          <p:cNvPicPr preferRelativeResize="0"/>
          <p:nvPr/>
        </p:nvPicPr>
        <p:blipFill rotWithShape="1">
          <a:blip r:embed="rId3">
            <a:alphaModFix/>
          </a:blip>
          <a:srcRect/>
          <a:stretch/>
        </p:blipFill>
        <p:spPr>
          <a:xfrm>
            <a:off x="6286500" y="1048791"/>
            <a:ext cx="5334000" cy="5722441"/>
          </a:xfrm>
          <a:prstGeom prst="rect">
            <a:avLst/>
          </a:prstGeom>
          <a:noFill/>
          <a:ln>
            <a:noFill/>
          </a:ln>
        </p:spPr>
      </p:pic>
      <p:pic>
        <p:nvPicPr>
          <p:cNvPr id="150" name="Google Shape;150;p16" descr="image.png"/>
          <p:cNvPicPr preferRelativeResize="0"/>
          <p:nvPr/>
        </p:nvPicPr>
        <p:blipFill rotWithShape="1">
          <a:blip r:embed="rId4">
            <a:alphaModFix/>
          </a:blip>
          <a:srcRect/>
          <a:stretch/>
        </p:blipFill>
        <p:spPr>
          <a:xfrm>
            <a:off x="571500" y="3553866"/>
            <a:ext cx="5334000" cy="3019425"/>
          </a:xfrm>
          <a:prstGeom prst="rect">
            <a:avLst/>
          </a:prstGeom>
          <a:noFill/>
          <a:ln>
            <a:noFill/>
          </a:ln>
        </p:spPr>
      </p:pic>
      <p:pic>
        <p:nvPicPr>
          <p:cNvPr id="151" name="Google Shape;151;p16" descr="image.png"/>
          <p:cNvPicPr preferRelativeResize="0"/>
          <p:nvPr/>
        </p:nvPicPr>
        <p:blipFill rotWithShape="1">
          <a:blip r:embed="rId5">
            <a:alphaModFix/>
          </a:blip>
          <a:srcRect/>
          <a:stretch/>
        </p:blipFill>
        <p:spPr>
          <a:xfrm>
            <a:off x="6629400" y="2391816"/>
            <a:ext cx="4648200" cy="552450"/>
          </a:xfrm>
          <a:prstGeom prst="rect">
            <a:avLst/>
          </a:prstGeom>
          <a:noFill/>
          <a:ln>
            <a:noFill/>
          </a:ln>
        </p:spPr>
      </p:pic>
      <p:pic>
        <p:nvPicPr>
          <p:cNvPr id="152" name="Google Shape;152;p16" descr="image.png"/>
          <p:cNvPicPr preferRelativeResize="0"/>
          <p:nvPr/>
        </p:nvPicPr>
        <p:blipFill rotWithShape="1">
          <a:blip r:embed="rId6">
            <a:alphaModFix/>
          </a:blip>
          <a:srcRect/>
          <a:stretch/>
        </p:blipFill>
        <p:spPr>
          <a:xfrm>
            <a:off x="6629400" y="4558754"/>
            <a:ext cx="4648200" cy="536078"/>
          </a:xfrm>
          <a:prstGeom prst="rect">
            <a:avLst/>
          </a:prstGeom>
          <a:noFill/>
          <a:ln>
            <a:noFill/>
          </a:ln>
        </p:spPr>
      </p:pic>
      <p:pic>
        <p:nvPicPr>
          <p:cNvPr id="153" name="Google Shape;153;p16" descr="image.png"/>
          <p:cNvPicPr preferRelativeResize="0"/>
          <p:nvPr/>
        </p:nvPicPr>
        <p:blipFill rotWithShape="1">
          <a:blip r:embed="rId7">
            <a:alphaModFix/>
          </a:blip>
          <a:srcRect/>
          <a:stretch/>
        </p:blipFill>
        <p:spPr>
          <a:xfrm>
            <a:off x="819150" y="4230141"/>
            <a:ext cx="4838700" cy="704850"/>
          </a:xfrm>
          <a:prstGeom prst="rect">
            <a:avLst/>
          </a:prstGeom>
          <a:noFill/>
          <a:ln>
            <a:noFill/>
          </a:ln>
        </p:spPr>
      </p:pic>
      <p:sp>
        <p:nvSpPr>
          <p:cNvPr id="154" name="Google Shape;154;p16"/>
          <p:cNvSpPr txBox="1"/>
          <p:nvPr/>
        </p:nvSpPr>
        <p:spPr>
          <a:xfrm>
            <a:off x="571500" y="86766"/>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855"/>
                </a:solidFill>
                <a:latin typeface="Poppins"/>
                <a:ea typeface="Poppins"/>
                <a:cs typeface="Poppins"/>
                <a:sym typeface="Poppins"/>
              </a:rPr>
              <a:t>Sucesiones Aritméticas y Aplicaciones</a:t>
            </a:r>
            <a:endParaRPr/>
          </a:p>
        </p:txBody>
      </p:sp>
      <p:sp>
        <p:nvSpPr>
          <p:cNvPr id="155" name="Google Shape;155;p16"/>
          <p:cNvSpPr/>
          <p:nvPr/>
        </p:nvSpPr>
        <p:spPr>
          <a:xfrm>
            <a:off x="571500" y="782091"/>
            <a:ext cx="11049000" cy="28575"/>
          </a:xfrm>
          <a:prstGeom prst="rect">
            <a:avLst/>
          </a:prstGeom>
          <a:solidFill>
            <a:srgbClr val="BFDB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6"/>
          <p:cNvSpPr txBox="1"/>
          <p:nvPr/>
        </p:nvSpPr>
        <p:spPr>
          <a:xfrm>
            <a:off x="571500" y="1048791"/>
            <a:ext cx="560070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2563EB"/>
                </a:solidFill>
                <a:latin typeface="Poppins SemiBold"/>
                <a:ea typeface="Poppins SemiBold"/>
                <a:cs typeface="Poppins SemiBold"/>
                <a:sym typeface="Poppins SemiBold"/>
              </a:rPr>
              <a:t>Sucesión Aritmética</a:t>
            </a:r>
            <a:endParaRPr/>
          </a:p>
        </p:txBody>
      </p:sp>
      <p:sp>
        <p:nvSpPr>
          <p:cNvPr id="157" name="Google Shape;157;p16"/>
          <p:cNvSpPr txBox="1"/>
          <p:nvPr/>
        </p:nvSpPr>
        <p:spPr>
          <a:xfrm>
            <a:off x="571500" y="1496466"/>
            <a:ext cx="5334000" cy="108585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Es una sucesión numérica donde la diferencia entre un término y el anterior es siempre la misma. Analógicamente, es como </a:t>
            </a:r>
            <a:r>
              <a:rPr lang="en-US" sz="1425" b="1" i="0" u="none" strike="noStrike" cap="none">
                <a:solidFill>
                  <a:srgbClr val="334155"/>
                </a:solidFill>
                <a:latin typeface="Lato"/>
                <a:ea typeface="Lato"/>
                <a:cs typeface="Lato"/>
                <a:sym typeface="Lato"/>
              </a:rPr>
              <a:t>subir una escalera</a:t>
            </a:r>
            <a:r>
              <a:rPr lang="en-US" sz="1425" b="0" i="0" u="none" strike="noStrike" cap="none">
                <a:solidFill>
                  <a:srgbClr val="334155"/>
                </a:solidFill>
                <a:latin typeface="Lato"/>
                <a:ea typeface="Lato"/>
                <a:cs typeface="Lato"/>
                <a:sym typeface="Lato"/>
              </a:rPr>
              <a:t> donde todos los escalones tienen exactamente la misma altura.</a:t>
            </a:r>
            <a:endParaRPr/>
          </a:p>
        </p:txBody>
      </p:sp>
      <p:sp>
        <p:nvSpPr>
          <p:cNvPr id="158" name="Google Shape;158;p16"/>
          <p:cNvSpPr txBox="1"/>
          <p:nvPr/>
        </p:nvSpPr>
        <p:spPr>
          <a:xfrm>
            <a:off x="571500" y="2725191"/>
            <a:ext cx="53340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Esta diferencia constante se llama </a:t>
            </a:r>
            <a:r>
              <a:rPr lang="en-US" sz="1425" b="1" i="0" u="none" strike="noStrike" cap="none">
                <a:solidFill>
                  <a:srgbClr val="334155"/>
                </a:solidFill>
                <a:latin typeface="Lato"/>
                <a:ea typeface="Lato"/>
                <a:cs typeface="Lato"/>
                <a:sym typeface="Lato"/>
              </a:rPr>
              <a:t>razón aritmética</a:t>
            </a:r>
            <a:r>
              <a:rPr lang="en-US" sz="1425" b="0" i="0" u="none" strike="noStrike" cap="none">
                <a:solidFill>
                  <a:srgbClr val="334155"/>
                </a:solidFill>
                <a:latin typeface="Lato"/>
                <a:ea typeface="Lato"/>
                <a:cs typeface="Lato"/>
                <a:sym typeface="Lato"/>
              </a:rPr>
              <a:t> o </a:t>
            </a:r>
            <a:r>
              <a:rPr lang="en-US" sz="1425" b="1" i="0" u="none" strike="noStrike" cap="none">
                <a:solidFill>
                  <a:srgbClr val="334155"/>
                </a:solidFill>
                <a:latin typeface="Lato"/>
                <a:ea typeface="Lato"/>
                <a:cs typeface="Lato"/>
                <a:sym typeface="Lato"/>
              </a:rPr>
              <a:t>diferencia común (d)</a:t>
            </a:r>
            <a:r>
              <a:rPr lang="en-US" sz="1425" b="0" i="0" u="none" strike="noStrike" cap="none">
                <a:solidFill>
                  <a:srgbClr val="334155"/>
                </a:solidFill>
                <a:latin typeface="Lato"/>
                <a:ea typeface="Lato"/>
                <a:cs typeface="Lato"/>
                <a:sym typeface="Lato"/>
              </a:rPr>
              <a:t>.</a:t>
            </a:r>
            <a:endParaRPr/>
          </a:p>
        </p:txBody>
      </p:sp>
      <p:sp>
        <p:nvSpPr>
          <p:cNvPr id="159" name="Google Shape;159;p16"/>
          <p:cNvSpPr txBox="1"/>
          <p:nvPr/>
        </p:nvSpPr>
        <p:spPr>
          <a:xfrm>
            <a:off x="6513195" y="1391691"/>
            <a:ext cx="4880610"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2563EB"/>
                </a:solidFill>
                <a:latin typeface="Poppins SemiBold"/>
                <a:ea typeface="Poppins SemiBold"/>
                <a:cs typeface="Poppins SemiBold"/>
                <a:sym typeface="Poppins SemiBold"/>
              </a:rPr>
              <a:t>Ejemplos Prácticos</a:t>
            </a:r>
            <a:endParaRPr/>
          </a:p>
        </p:txBody>
      </p:sp>
      <p:sp>
        <p:nvSpPr>
          <p:cNvPr id="160" name="Google Shape;160;p16"/>
          <p:cNvSpPr txBox="1"/>
          <p:nvPr/>
        </p:nvSpPr>
        <p:spPr>
          <a:xfrm>
            <a:off x="6629400" y="1963191"/>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002855"/>
                </a:solidFill>
                <a:latin typeface="Poppins SemiBold"/>
                <a:ea typeface="Poppins SemiBold"/>
                <a:cs typeface="Poppins SemiBold"/>
                <a:sym typeface="Poppins SemiBold"/>
              </a:rPr>
              <a:t>1. Sucesión de Números Pares</a:t>
            </a:r>
            <a:endParaRPr/>
          </a:p>
        </p:txBody>
      </p:sp>
      <p:sp>
        <p:nvSpPr>
          <p:cNvPr id="161" name="Google Shape;161;p16"/>
          <p:cNvSpPr txBox="1"/>
          <p:nvPr/>
        </p:nvSpPr>
        <p:spPr>
          <a:xfrm>
            <a:off x="6629400" y="3087141"/>
            <a:ext cx="4648200" cy="242887"/>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334155"/>
                </a:solidFill>
                <a:latin typeface="Lato"/>
                <a:ea typeface="Lato"/>
                <a:cs typeface="Lato"/>
                <a:sym typeface="Lato"/>
              </a:rPr>
              <a:t>Aquí, el primer término </a:t>
            </a:r>
            <a:r>
              <a:rPr lang="en-US" sz="1275" b="1" i="0" u="none" strike="noStrike" cap="none">
                <a:solidFill>
                  <a:srgbClr val="334155"/>
                </a:solidFill>
                <a:latin typeface="Lato"/>
                <a:ea typeface="Lato"/>
                <a:cs typeface="Lato"/>
                <a:sym typeface="Lato"/>
              </a:rPr>
              <a:t>a₁ = 2</a:t>
            </a:r>
            <a:r>
              <a:rPr lang="en-US" sz="1275" b="0" i="0" u="none" strike="noStrike" cap="none">
                <a:solidFill>
                  <a:srgbClr val="334155"/>
                </a:solidFill>
                <a:latin typeface="Lato"/>
                <a:ea typeface="Lato"/>
                <a:cs typeface="Lato"/>
                <a:sym typeface="Lato"/>
              </a:rPr>
              <a:t> y la diferencia común </a:t>
            </a:r>
            <a:r>
              <a:rPr lang="en-US" sz="1275" b="1" i="0" u="none" strike="noStrike" cap="none">
                <a:solidFill>
                  <a:srgbClr val="334155"/>
                </a:solidFill>
                <a:latin typeface="Lato"/>
                <a:ea typeface="Lato"/>
                <a:cs typeface="Lato"/>
                <a:sym typeface="Lato"/>
              </a:rPr>
              <a:t>d = 2</a:t>
            </a:r>
            <a:r>
              <a:rPr lang="en-US" sz="1275" b="0" i="0" u="none" strike="noStrike" cap="none">
                <a:solidFill>
                  <a:srgbClr val="334155"/>
                </a:solidFill>
                <a:latin typeface="Lato"/>
                <a:ea typeface="Lato"/>
                <a:cs typeface="Lato"/>
                <a:sym typeface="Lato"/>
              </a:rPr>
              <a:t>.</a:t>
            </a:r>
            <a:endParaRPr/>
          </a:p>
        </p:txBody>
      </p:sp>
      <p:sp>
        <p:nvSpPr>
          <p:cNvPr id="162" name="Google Shape;162;p16"/>
          <p:cNvSpPr txBox="1"/>
          <p:nvPr/>
        </p:nvSpPr>
        <p:spPr>
          <a:xfrm>
            <a:off x="6629400" y="3568154"/>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002855"/>
                </a:solidFill>
                <a:latin typeface="Poppins SemiBold"/>
                <a:ea typeface="Poppins SemiBold"/>
                <a:cs typeface="Poppins SemiBold"/>
                <a:sym typeface="Poppins SemiBold"/>
              </a:rPr>
              <a:t>2. Aplicación: Tarifas de Taxi</a:t>
            </a:r>
            <a:endParaRPr/>
          </a:p>
        </p:txBody>
      </p:sp>
      <p:sp>
        <p:nvSpPr>
          <p:cNvPr id="163" name="Google Shape;163;p16"/>
          <p:cNvSpPr txBox="1"/>
          <p:nvPr/>
        </p:nvSpPr>
        <p:spPr>
          <a:xfrm>
            <a:off x="6629400" y="3930104"/>
            <a:ext cx="46482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334155"/>
                </a:solidFill>
                <a:latin typeface="Lato"/>
                <a:ea typeface="Lato"/>
                <a:cs typeface="Lato"/>
                <a:sym typeface="Lato"/>
              </a:rPr>
              <a:t>Una compañía cobra $1.00 por la primera milla y $0.50 por cada milla adicional. El costo para 'n' millas es un modelo aritmético:</a:t>
            </a:r>
            <a:endParaRPr/>
          </a:p>
        </p:txBody>
      </p:sp>
      <p:sp>
        <p:nvSpPr>
          <p:cNvPr id="164" name="Google Shape;164;p16"/>
          <p:cNvSpPr txBox="1"/>
          <p:nvPr/>
        </p:nvSpPr>
        <p:spPr>
          <a:xfrm>
            <a:off x="6629400" y="5237708"/>
            <a:ext cx="464820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334155"/>
                </a:solidFill>
                <a:latin typeface="Lato"/>
                <a:ea typeface="Lato"/>
                <a:cs typeface="Lato"/>
                <a:sym typeface="Lato"/>
              </a:rPr>
              <a:t>Cálculos de ejemplo:</a:t>
            </a:r>
            <a:endParaRPr/>
          </a:p>
        </p:txBody>
      </p:sp>
      <p:sp>
        <p:nvSpPr>
          <p:cNvPr id="165" name="Google Shape;165;p16"/>
          <p:cNvSpPr txBox="1"/>
          <p:nvPr/>
        </p:nvSpPr>
        <p:spPr>
          <a:xfrm>
            <a:off x="819150" y="3801516"/>
            <a:ext cx="508063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002855"/>
                </a:solidFill>
                <a:latin typeface="Poppins SemiBold"/>
                <a:ea typeface="Poppins SemiBold"/>
                <a:cs typeface="Poppins SemiBold"/>
                <a:sym typeface="Poppins SemiBold"/>
              </a:rPr>
              <a:t>Fórmula General</a:t>
            </a:r>
            <a:endParaRPr/>
          </a:p>
        </p:txBody>
      </p:sp>
      <p:pic>
        <p:nvPicPr>
          <p:cNvPr id="166" name="Google Shape;166;p16" descr="image.png"/>
          <p:cNvPicPr preferRelativeResize="0"/>
          <p:nvPr/>
        </p:nvPicPr>
        <p:blipFill rotWithShape="1">
          <a:blip r:embed="rId8">
            <a:alphaModFix/>
          </a:blip>
          <a:srcRect/>
          <a:stretch/>
        </p:blipFill>
        <p:spPr>
          <a:xfrm>
            <a:off x="7749778" y="2572791"/>
            <a:ext cx="2445543" cy="200025"/>
          </a:xfrm>
          <a:prstGeom prst="rect">
            <a:avLst/>
          </a:prstGeom>
          <a:noFill/>
          <a:ln>
            <a:noFill/>
          </a:ln>
        </p:spPr>
      </p:pic>
      <p:pic>
        <p:nvPicPr>
          <p:cNvPr id="168" name="Google Shape;168;p16" descr="image.png"/>
          <p:cNvPicPr preferRelativeResize="0"/>
          <p:nvPr/>
        </p:nvPicPr>
        <p:blipFill rotWithShape="1">
          <a:blip r:embed="rId9">
            <a:alphaModFix/>
          </a:blip>
          <a:srcRect/>
          <a:stretch/>
        </p:blipFill>
        <p:spPr>
          <a:xfrm>
            <a:off x="7497365" y="4720679"/>
            <a:ext cx="2912268" cy="231278"/>
          </a:xfrm>
          <a:prstGeom prst="rect">
            <a:avLst/>
          </a:prstGeom>
          <a:noFill/>
          <a:ln>
            <a:noFill/>
          </a:ln>
        </p:spPr>
      </p:pic>
      <p:sp>
        <p:nvSpPr>
          <p:cNvPr id="169" name="Google Shape;169;p16"/>
          <p:cNvSpPr txBox="1"/>
          <p:nvPr/>
        </p:nvSpPr>
        <p:spPr>
          <a:xfrm>
            <a:off x="7248525" y="5618708"/>
            <a:ext cx="402907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1 milla: C₁ = 1 + (0)·0.5 = $1.00</a:t>
            </a:r>
            <a:endParaRPr/>
          </a:p>
        </p:txBody>
      </p:sp>
      <p:sp>
        <p:nvSpPr>
          <p:cNvPr id="170" name="Google Shape;170;p16"/>
          <p:cNvSpPr txBox="1"/>
          <p:nvPr/>
        </p:nvSpPr>
        <p:spPr>
          <a:xfrm>
            <a:off x="7248525" y="6004470"/>
            <a:ext cx="402907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5 millas: C₅ = 1 + (4)·0.5 = $3.00</a:t>
            </a:r>
            <a:endParaRPr/>
          </a:p>
        </p:txBody>
      </p:sp>
      <p:pic>
        <p:nvPicPr>
          <p:cNvPr id="171" name="Google Shape;171;p16" descr="image.png"/>
          <p:cNvPicPr preferRelativeResize="0"/>
          <p:nvPr/>
        </p:nvPicPr>
        <p:blipFill rotWithShape="1">
          <a:blip r:embed="rId10">
            <a:alphaModFix/>
          </a:blip>
          <a:srcRect/>
          <a:stretch/>
        </p:blipFill>
        <p:spPr>
          <a:xfrm>
            <a:off x="2010370" y="4458741"/>
            <a:ext cx="2494359" cy="269974"/>
          </a:xfrm>
          <a:prstGeom prst="rect">
            <a:avLst/>
          </a:prstGeom>
          <a:noFill/>
          <a:ln>
            <a:noFill/>
          </a:ln>
        </p:spPr>
      </p:pic>
      <p:sp>
        <p:nvSpPr>
          <p:cNvPr id="172" name="Google Shape;172;p16"/>
          <p:cNvSpPr txBox="1"/>
          <p:nvPr/>
        </p:nvSpPr>
        <p:spPr>
          <a:xfrm>
            <a:off x="819150" y="5087391"/>
            <a:ext cx="48387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 Término en la posición 'n'.</a:t>
            </a:r>
            <a:endParaRPr/>
          </a:p>
        </p:txBody>
      </p:sp>
      <p:sp>
        <p:nvSpPr>
          <p:cNvPr id="173" name="Google Shape;173;p16"/>
          <p:cNvSpPr txBox="1"/>
          <p:nvPr/>
        </p:nvSpPr>
        <p:spPr>
          <a:xfrm>
            <a:off x="819150" y="5358854"/>
            <a:ext cx="48387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dirty="0">
                <a:solidFill>
                  <a:srgbClr val="334155"/>
                </a:solidFill>
                <a:latin typeface="Lato"/>
                <a:ea typeface="Lato"/>
                <a:cs typeface="Lato"/>
                <a:sym typeface="Lato"/>
              </a:rPr>
              <a:t>: Primer </a:t>
            </a:r>
            <a:r>
              <a:rPr lang="en-US" sz="1425" b="0" i="0" u="none" strike="noStrike" cap="none" dirty="0" err="1">
                <a:solidFill>
                  <a:srgbClr val="334155"/>
                </a:solidFill>
                <a:latin typeface="Lato"/>
                <a:ea typeface="Lato"/>
                <a:cs typeface="Lato"/>
                <a:sym typeface="Lato"/>
              </a:rPr>
              <a:t>término</a:t>
            </a:r>
            <a:r>
              <a:rPr lang="en-US" sz="1425" b="0" i="0" u="none" strike="noStrike" cap="none" dirty="0">
                <a:solidFill>
                  <a:srgbClr val="334155"/>
                </a:solidFill>
                <a:latin typeface="Lato"/>
                <a:ea typeface="Lato"/>
                <a:cs typeface="Lato"/>
                <a:sym typeface="Lato"/>
              </a:rPr>
              <a:t> de la </a:t>
            </a:r>
            <a:r>
              <a:rPr lang="en-US" sz="1425" b="0" i="0" u="none" strike="noStrike" cap="none" dirty="0" err="1">
                <a:solidFill>
                  <a:srgbClr val="334155"/>
                </a:solidFill>
                <a:latin typeface="Lato"/>
                <a:ea typeface="Lato"/>
                <a:cs typeface="Lato"/>
                <a:sym typeface="Lato"/>
              </a:rPr>
              <a:t>sucesión</a:t>
            </a:r>
            <a:r>
              <a:rPr lang="en-US" sz="1425" b="0" i="0" u="none" strike="noStrike" cap="none" dirty="0">
                <a:solidFill>
                  <a:srgbClr val="334155"/>
                </a:solidFill>
                <a:latin typeface="Lato"/>
                <a:ea typeface="Lato"/>
                <a:cs typeface="Lato"/>
                <a:sym typeface="Lato"/>
              </a:rPr>
              <a:t>.</a:t>
            </a:r>
            <a:endParaRPr dirty="0"/>
          </a:p>
        </p:txBody>
      </p:sp>
      <p:sp>
        <p:nvSpPr>
          <p:cNvPr id="174" name="Google Shape;174;p16"/>
          <p:cNvSpPr txBox="1"/>
          <p:nvPr/>
        </p:nvSpPr>
        <p:spPr>
          <a:xfrm>
            <a:off x="819150" y="5630316"/>
            <a:ext cx="48387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d</a:t>
            </a:r>
            <a:r>
              <a:rPr lang="en-US" sz="1425" b="0" i="0" u="none" strike="noStrike" cap="none">
                <a:solidFill>
                  <a:srgbClr val="334155"/>
                </a:solidFill>
                <a:latin typeface="Lato"/>
                <a:ea typeface="Lato"/>
                <a:cs typeface="Lato"/>
                <a:sym typeface="Lato"/>
              </a:rPr>
              <a:t>: Diferencia común.</a:t>
            </a:r>
            <a:endParaRPr/>
          </a:p>
        </p:txBody>
      </p:sp>
      <p:sp>
        <p:nvSpPr>
          <p:cNvPr id="175" name="Google Shape;175;p16"/>
          <p:cNvSpPr txBox="1"/>
          <p:nvPr/>
        </p:nvSpPr>
        <p:spPr>
          <a:xfrm>
            <a:off x="819150" y="5901779"/>
            <a:ext cx="48387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n</a:t>
            </a:r>
            <a:r>
              <a:rPr lang="en-US" sz="1425" b="0" i="0" u="none" strike="noStrike" cap="none">
                <a:solidFill>
                  <a:srgbClr val="334155"/>
                </a:solidFill>
                <a:latin typeface="Lato"/>
                <a:ea typeface="Lato"/>
                <a:cs typeface="Lato"/>
                <a:sym typeface="Lato"/>
              </a:rPr>
              <a:t>: Número o posición del término.</a:t>
            </a:r>
            <a:endParaRPr/>
          </a:p>
        </p:txBody>
      </p:sp>
      <p:sp>
        <p:nvSpPr>
          <p:cNvPr id="176" name="Google Shape;176;p16"/>
          <p:cNvSpPr txBox="1"/>
          <p:nvPr/>
        </p:nvSpPr>
        <p:spPr>
          <a:xfrm>
            <a:off x="7010400" y="5542508"/>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77" name="Google Shape;177;p16"/>
          <p:cNvSpPr txBox="1"/>
          <p:nvPr/>
        </p:nvSpPr>
        <p:spPr>
          <a:xfrm>
            <a:off x="7010400" y="5928270"/>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pic>
        <p:nvPicPr>
          <p:cNvPr id="178" name="Google Shape;178;p16" descr="image.png"/>
          <p:cNvPicPr preferRelativeResize="0"/>
          <p:nvPr/>
        </p:nvPicPr>
        <p:blipFill rotWithShape="1">
          <a:blip r:embed="rId11">
            <a:alphaModFix/>
          </a:blip>
          <a:srcRect/>
          <a:stretch/>
        </p:blipFill>
        <p:spPr>
          <a:xfrm>
            <a:off x="571500" y="5196780"/>
            <a:ext cx="209550" cy="162073"/>
          </a:xfrm>
          <a:prstGeom prst="rect">
            <a:avLst/>
          </a:prstGeom>
          <a:noFill/>
          <a:ln>
            <a:noFill/>
          </a:ln>
        </p:spPr>
      </p:pic>
      <p:pic>
        <p:nvPicPr>
          <p:cNvPr id="179" name="Google Shape;179;p16" descr="image.png"/>
          <p:cNvPicPr preferRelativeResize="0"/>
          <p:nvPr/>
        </p:nvPicPr>
        <p:blipFill rotWithShape="1">
          <a:blip r:embed="rId12">
            <a:alphaModFix/>
          </a:blip>
          <a:srcRect/>
          <a:stretch/>
        </p:blipFill>
        <p:spPr>
          <a:xfrm>
            <a:off x="571500" y="5468243"/>
            <a:ext cx="209550" cy="1620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3"/>
        <p:cNvGrpSpPr/>
        <p:nvPr/>
      </p:nvGrpSpPr>
      <p:grpSpPr>
        <a:xfrm>
          <a:off x="0" y="0"/>
          <a:ext cx="0" cy="0"/>
          <a:chOff x="0" y="0"/>
          <a:chExt cx="0" cy="0"/>
        </a:xfrm>
      </p:grpSpPr>
      <p:pic>
        <p:nvPicPr>
          <p:cNvPr id="184" name="Google Shape;184;p17" descr="image.png"/>
          <p:cNvPicPr preferRelativeResize="0"/>
          <p:nvPr/>
        </p:nvPicPr>
        <p:blipFill rotWithShape="1">
          <a:blip r:embed="rId3">
            <a:alphaModFix/>
          </a:blip>
          <a:srcRect/>
          <a:stretch/>
        </p:blipFill>
        <p:spPr>
          <a:xfrm>
            <a:off x="6286500" y="926008"/>
            <a:ext cx="5334000" cy="5817692"/>
          </a:xfrm>
          <a:prstGeom prst="rect">
            <a:avLst/>
          </a:prstGeom>
          <a:noFill/>
          <a:ln>
            <a:noFill/>
          </a:ln>
        </p:spPr>
      </p:pic>
      <p:pic>
        <p:nvPicPr>
          <p:cNvPr id="185" name="Google Shape;185;p17" descr="image.png"/>
          <p:cNvPicPr preferRelativeResize="0"/>
          <p:nvPr/>
        </p:nvPicPr>
        <p:blipFill rotWithShape="1">
          <a:blip r:embed="rId4">
            <a:alphaModFix/>
          </a:blip>
          <a:srcRect/>
          <a:stretch/>
        </p:blipFill>
        <p:spPr>
          <a:xfrm>
            <a:off x="571500" y="3159621"/>
            <a:ext cx="5334000" cy="3026122"/>
          </a:xfrm>
          <a:prstGeom prst="rect">
            <a:avLst/>
          </a:prstGeom>
          <a:noFill/>
          <a:ln>
            <a:noFill/>
          </a:ln>
        </p:spPr>
      </p:pic>
      <p:pic>
        <p:nvPicPr>
          <p:cNvPr id="186" name="Google Shape;186;p17" descr="image.png"/>
          <p:cNvPicPr preferRelativeResize="0"/>
          <p:nvPr/>
        </p:nvPicPr>
        <p:blipFill rotWithShape="1">
          <a:blip r:embed="rId5">
            <a:alphaModFix/>
          </a:blip>
          <a:srcRect/>
          <a:stretch/>
        </p:blipFill>
        <p:spPr>
          <a:xfrm>
            <a:off x="6629400" y="2269033"/>
            <a:ext cx="4648200" cy="552450"/>
          </a:xfrm>
          <a:prstGeom prst="rect">
            <a:avLst/>
          </a:prstGeom>
          <a:noFill/>
          <a:ln>
            <a:noFill/>
          </a:ln>
        </p:spPr>
      </p:pic>
      <p:pic>
        <p:nvPicPr>
          <p:cNvPr id="187" name="Google Shape;187;p17" descr="image.png"/>
          <p:cNvPicPr preferRelativeResize="0"/>
          <p:nvPr/>
        </p:nvPicPr>
        <p:blipFill rotWithShape="1">
          <a:blip r:embed="rId6">
            <a:alphaModFix/>
          </a:blip>
          <a:srcRect/>
          <a:stretch/>
        </p:blipFill>
        <p:spPr>
          <a:xfrm>
            <a:off x="6629400" y="4678858"/>
            <a:ext cx="4648200" cy="538906"/>
          </a:xfrm>
          <a:prstGeom prst="rect">
            <a:avLst/>
          </a:prstGeom>
          <a:noFill/>
          <a:ln>
            <a:noFill/>
          </a:ln>
        </p:spPr>
      </p:pic>
      <p:pic>
        <p:nvPicPr>
          <p:cNvPr id="188" name="Google Shape;188;p17" descr="image.png"/>
          <p:cNvPicPr preferRelativeResize="0"/>
          <p:nvPr/>
        </p:nvPicPr>
        <p:blipFill rotWithShape="1">
          <a:blip r:embed="rId7">
            <a:alphaModFix/>
          </a:blip>
          <a:srcRect/>
          <a:stretch/>
        </p:blipFill>
        <p:spPr>
          <a:xfrm>
            <a:off x="819150" y="3835896"/>
            <a:ext cx="4838700" cy="711547"/>
          </a:xfrm>
          <a:prstGeom prst="rect">
            <a:avLst/>
          </a:prstGeom>
          <a:noFill/>
          <a:ln>
            <a:noFill/>
          </a:ln>
        </p:spPr>
      </p:pic>
      <p:sp>
        <p:nvSpPr>
          <p:cNvPr id="189" name="Google Shape;189;p17"/>
          <p:cNvSpPr txBox="1"/>
          <p:nvPr/>
        </p:nvSpPr>
        <p:spPr>
          <a:xfrm>
            <a:off x="571500" y="-36016"/>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2855"/>
                </a:solidFill>
                <a:latin typeface="Poppins"/>
                <a:ea typeface="Poppins"/>
                <a:cs typeface="Poppins"/>
                <a:sym typeface="Poppins"/>
              </a:rPr>
              <a:t>Sucesiones Geométricas y Aplicaciones</a:t>
            </a:r>
            <a:endParaRPr/>
          </a:p>
        </p:txBody>
      </p:sp>
      <p:sp>
        <p:nvSpPr>
          <p:cNvPr id="190" name="Google Shape;190;p17"/>
          <p:cNvSpPr/>
          <p:nvPr/>
        </p:nvSpPr>
        <p:spPr>
          <a:xfrm>
            <a:off x="571500" y="659308"/>
            <a:ext cx="11049000" cy="28575"/>
          </a:xfrm>
          <a:prstGeom prst="rect">
            <a:avLst/>
          </a:prstGeom>
          <a:solidFill>
            <a:srgbClr val="BFDB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7"/>
          <p:cNvSpPr txBox="1"/>
          <p:nvPr/>
        </p:nvSpPr>
        <p:spPr>
          <a:xfrm>
            <a:off x="571500" y="926008"/>
            <a:ext cx="560070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9333EA"/>
                </a:solidFill>
                <a:latin typeface="Poppins SemiBold"/>
                <a:ea typeface="Poppins SemiBold"/>
                <a:cs typeface="Poppins SemiBold"/>
                <a:sym typeface="Poppins SemiBold"/>
              </a:rPr>
              <a:t>Sucesión Geométrica</a:t>
            </a:r>
            <a:endParaRPr/>
          </a:p>
        </p:txBody>
      </p:sp>
      <p:sp>
        <p:nvSpPr>
          <p:cNvPr id="192" name="Google Shape;192;p17"/>
          <p:cNvSpPr txBox="1"/>
          <p:nvPr/>
        </p:nvSpPr>
        <p:spPr>
          <a:xfrm>
            <a:off x="571500" y="1373683"/>
            <a:ext cx="5334000" cy="108585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Es una sucesión numérica donde cada término se obtiene </a:t>
            </a:r>
            <a:r>
              <a:rPr lang="en-US" sz="1425" b="1" i="0" u="none" strike="noStrike" cap="none">
                <a:solidFill>
                  <a:srgbClr val="334155"/>
                </a:solidFill>
                <a:latin typeface="Lato"/>
                <a:ea typeface="Lato"/>
                <a:cs typeface="Lato"/>
                <a:sym typeface="Lato"/>
              </a:rPr>
              <a:t>multiplicando</a:t>
            </a:r>
            <a:r>
              <a:rPr lang="en-US" sz="1425" b="0" i="0" u="none" strike="noStrike" cap="none">
                <a:solidFill>
                  <a:srgbClr val="334155"/>
                </a:solidFill>
                <a:latin typeface="Lato"/>
                <a:ea typeface="Lato"/>
                <a:cs typeface="Lato"/>
                <a:sym typeface="Lato"/>
              </a:rPr>
              <a:t> el término anterior por una cantidad fija. A diferencia de las aritméticas que crecen de forma lineal, estas crecen de forma </a:t>
            </a:r>
            <a:r>
              <a:rPr lang="en-US" sz="1425" b="1" i="0" u="none" strike="noStrike" cap="none">
                <a:solidFill>
                  <a:srgbClr val="334155"/>
                </a:solidFill>
                <a:latin typeface="Lato"/>
                <a:ea typeface="Lato"/>
                <a:cs typeface="Lato"/>
                <a:sym typeface="Lato"/>
              </a:rPr>
              <a:t>exponencial</a:t>
            </a:r>
            <a:r>
              <a:rPr lang="en-US" sz="1425" b="0" i="0" u="none" strike="noStrike" cap="none">
                <a:solidFill>
                  <a:srgbClr val="334155"/>
                </a:solidFill>
                <a:latin typeface="Lato"/>
                <a:ea typeface="Lato"/>
                <a:cs typeface="Lato"/>
                <a:sym typeface="Lato"/>
              </a:rPr>
              <a:t>.</a:t>
            </a:r>
            <a:endParaRPr/>
          </a:p>
        </p:txBody>
      </p:sp>
      <p:sp>
        <p:nvSpPr>
          <p:cNvPr id="193" name="Google Shape;193;p17"/>
          <p:cNvSpPr txBox="1"/>
          <p:nvPr/>
        </p:nvSpPr>
        <p:spPr>
          <a:xfrm>
            <a:off x="571500" y="2602408"/>
            <a:ext cx="53340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Esta cantidad multiplicativa se llama </a:t>
            </a:r>
            <a:r>
              <a:rPr lang="en-US" sz="1425" b="1" i="0" u="none" strike="noStrike" cap="none">
                <a:solidFill>
                  <a:srgbClr val="334155"/>
                </a:solidFill>
                <a:latin typeface="Lato"/>
                <a:ea typeface="Lato"/>
                <a:cs typeface="Lato"/>
                <a:sym typeface="Lato"/>
              </a:rPr>
              <a:t>razón común (r)</a:t>
            </a:r>
            <a:r>
              <a:rPr lang="en-US" sz="1425" b="0" i="0" u="none" strike="noStrike" cap="none">
                <a:solidFill>
                  <a:srgbClr val="334155"/>
                </a:solidFill>
                <a:latin typeface="Lato"/>
                <a:ea typeface="Lato"/>
                <a:cs typeface="Lato"/>
                <a:sym typeface="Lato"/>
              </a:rPr>
              <a:t>.</a:t>
            </a:r>
            <a:endParaRPr/>
          </a:p>
        </p:txBody>
      </p:sp>
      <p:sp>
        <p:nvSpPr>
          <p:cNvPr id="194" name="Google Shape;194;p17"/>
          <p:cNvSpPr txBox="1"/>
          <p:nvPr/>
        </p:nvSpPr>
        <p:spPr>
          <a:xfrm>
            <a:off x="6513195" y="1268908"/>
            <a:ext cx="4880610"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9333EA"/>
                </a:solidFill>
                <a:latin typeface="Poppins SemiBold"/>
                <a:ea typeface="Poppins SemiBold"/>
                <a:cs typeface="Poppins SemiBold"/>
                <a:sym typeface="Poppins SemiBold"/>
              </a:rPr>
              <a:t>Ejemplos Prácticos</a:t>
            </a:r>
            <a:endParaRPr/>
          </a:p>
        </p:txBody>
      </p:sp>
      <p:sp>
        <p:nvSpPr>
          <p:cNvPr id="195" name="Google Shape;195;p17"/>
          <p:cNvSpPr txBox="1"/>
          <p:nvPr/>
        </p:nvSpPr>
        <p:spPr>
          <a:xfrm>
            <a:off x="6629400" y="1840408"/>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002855"/>
                </a:solidFill>
                <a:latin typeface="Poppins SemiBold"/>
                <a:ea typeface="Poppins SemiBold"/>
                <a:cs typeface="Poppins SemiBold"/>
                <a:sym typeface="Poppins SemiBold"/>
              </a:rPr>
              <a:t>1. Sucesión de Crecimiento Exponencial</a:t>
            </a:r>
            <a:endParaRPr/>
          </a:p>
        </p:txBody>
      </p:sp>
      <p:sp>
        <p:nvSpPr>
          <p:cNvPr id="196" name="Google Shape;196;p17"/>
          <p:cNvSpPr txBox="1"/>
          <p:nvPr/>
        </p:nvSpPr>
        <p:spPr>
          <a:xfrm>
            <a:off x="6629400" y="2964358"/>
            <a:ext cx="4648200" cy="242887"/>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334155"/>
                </a:solidFill>
                <a:latin typeface="Lato"/>
                <a:ea typeface="Lato"/>
                <a:cs typeface="Lato"/>
                <a:sym typeface="Lato"/>
              </a:rPr>
              <a:t>Aquí, el primer término </a:t>
            </a:r>
            <a:r>
              <a:rPr lang="en-US" sz="1275" b="1" i="0" u="none" strike="noStrike" cap="none">
                <a:solidFill>
                  <a:srgbClr val="334155"/>
                </a:solidFill>
                <a:latin typeface="Lato"/>
                <a:ea typeface="Lato"/>
                <a:cs typeface="Lato"/>
                <a:sym typeface="Lato"/>
              </a:rPr>
              <a:t>a₁ = 3</a:t>
            </a:r>
            <a:r>
              <a:rPr lang="en-US" sz="1275" b="0" i="0" u="none" strike="noStrike" cap="none">
                <a:solidFill>
                  <a:srgbClr val="334155"/>
                </a:solidFill>
                <a:latin typeface="Lato"/>
                <a:ea typeface="Lato"/>
                <a:cs typeface="Lato"/>
                <a:sym typeface="Lato"/>
              </a:rPr>
              <a:t> y la razón común </a:t>
            </a:r>
            <a:r>
              <a:rPr lang="en-US" sz="1275" b="1" i="0" u="none" strike="noStrike" cap="none">
                <a:solidFill>
                  <a:srgbClr val="334155"/>
                </a:solidFill>
                <a:latin typeface="Lato"/>
                <a:ea typeface="Lato"/>
                <a:cs typeface="Lato"/>
                <a:sym typeface="Lato"/>
              </a:rPr>
              <a:t>r = 2</a:t>
            </a:r>
            <a:r>
              <a:rPr lang="en-US" sz="1275" b="0" i="0" u="none" strike="noStrike" cap="none">
                <a:solidFill>
                  <a:srgbClr val="334155"/>
                </a:solidFill>
                <a:latin typeface="Lato"/>
                <a:ea typeface="Lato"/>
                <a:cs typeface="Lato"/>
                <a:sym typeface="Lato"/>
              </a:rPr>
              <a:t> (se duplica).</a:t>
            </a:r>
            <a:endParaRPr/>
          </a:p>
        </p:txBody>
      </p:sp>
      <p:sp>
        <p:nvSpPr>
          <p:cNvPr id="197" name="Google Shape;197;p17"/>
          <p:cNvSpPr txBox="1"/>
          <p:nvPr/>
        </p:nvSpPr>
        <p:spPr>
          <a:xfrm>
            <a:off x="6629400" y="3445371"/>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002855"/>
                </a:solidFill>
                <a:latin typeface="Poppins SemiBold"/>
                <a:ea typeface="Poppins SemiBold"/>
                <a:cs typeface="Poppins SemiBold"/>
                <a:sym typeface="Poppins SemiBold"/>
              </a:rPr>
              <a:t>2. Aplicación: Crecimiento Bacteriano</a:t>
            </a:r>
            <a:endParaRPr/>
          </a:p>
        </p:txBody>
      </p:sp>
      <p:sp>
        <p:nvSpPr>
          <p:cNvPr id="198" name="Google Shape;198;p17"/>
          <p:cNvSpPr txBox="1"/>
          <p:nvPr/>
        </p:nvSpPr>
        <p:spPr>
          <a:xfrm>
            <a:off x="6629400" y="3807321"/>
            <a:ext cx="4648200" cy="728662"/>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334155"/>
                </a:solidFill>
                <a:latin typeface="Lato"/>
                <a:ea typeface="Lato"/>
                <a:cs typeface="Lato"/>
                <a:sym typeface="Lato"/>
              </a:rPr>
              <a:t>Una población de bacterias se duplica cada hora. Si empezamos con 1 bacteria, la población P después de 'n' horas sigue el modelo geométrico:</a:t>
            </a:r>
            <a:endParaRPr/>
          </a:p>
        </p:txBody>
      </p:sp>
      <p:sp>
        <p:nvSpPr>
          <p:cNvPr id="199" name="Google Shape;199;p17"/>
          <p:cNvSpPr txBox="1"/>
          <p:nvPr/>
        </p:nvSpPr>
        <p:spPr>
          <a:xfrm>
            <a:off x="6629400" y="5360640"/>
            <a:ext cx="464820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334155"/>
                </a:solidFill>
                <a:latin typeface="Lato"/>
                <a:ea typeface="Lato"/>
                <a:cs typeface="Lato"/>
                <a:sym typeface="Lato"/>
              </a:rPr>
              <a:t>Cálculos de ejemplo:</a:t>
            </a:r>
            <a:endParaRPr/>
          </a:p>
        </p:txBody>
      </p:sp>
      <p:sp>
        <p:nvSpPr>
          <p:cNvPr id="200" name="Google Shape;200;p17"/>
          <p:cNvSpPr txBox="1"/>
          <p:nvPr/>
        </p:nvSpPr>
        <p:spPr>
          <a:xfrm>
            <a:off x="819150" y="3407271"/>
            <a:ext cx="508063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002855"/>
                </a:solidFill>
                <a:latin typeface="Poppins SemiBold"/>
                <a:ea typeface="Poppins SemiBold"/>
                <a:cs typeface="Poppins SemiBold"/>
                <a:sym typeface="Poppins SemiBold"/>
              </a:rPr>
              <a:t>Fórmula General</a:t>
            </a:r>
            <a:endParaRPr/>
          </a:p>
        </p:txBody>
      </p:sp>
      <p:pic>
        <p:nvPicPr>
          <p:cNvPr id="201" name="Google Shape;201;p17" descr="image.png"/>
          <p:cNvPicPr preferRelativeResize="0"/>
          <p:nvPr/>
        </p:nvPicPr>
        <p:blipFill rotWithShape="1">
          <a:blip r:embed="rId8">
            <a:alphaModFix/>
          </a:blip>
          <a:srcRect/>
          <a:stretch/>
        </p:blipFill>
        <p:spPr>
          <a:xfrm>
            <a:off x="7635478" y="2450008"/>
            <a:ext cx="2674143" cy="200025"/>
          </a:xfrm>
          <a:prstGeom prst="rect">
            <a:avLst/>
          </a:prstGeom>
          <a:noFill/>
          <a:ln>
            <a:noFill/>
          </a:ln>
        </p:spPr>
      </p:pic>
      <p:pic>
        <p:nvPicPr>
          <p:cNvPr id="202" name="Google Shape;202;p17" descr="image.png"/>
          <p:cNvPicPr preferRelativeResize="0"/>
          <p:nvPr/>
        </p:nvPicPr>
        <p:blipFill rotWithShape="1">
          <a:blip r:embed="rId9">
            <a:alphaModFix/>
          </a:blip>
          <a:srcRect/>
          <a:stretch/>
        </p:blipFill>
        <p:spPr>
          <a:xfrm>
            <a:off x="8315622" y="4821733"/>
            <a:ext cx="1275754" cy="246310"/>
          </a:xfrm>
          <a:prstGeom prst="rect">
            <a:avLst/>
          </a:prstGeom>
          <a:noFill/>
          <a:ln>
            <a:noFill/>
          </a:ln>
        </p:spPr>
      </p:pic>
      <p:sp>
        <p:nvSpPr>
          <p:cNvPr id="203" name="Google Shape;203;p17"/>
          <p:cNvSpPr txBox="1"/>
          <p:nvPr/>
        </p:nvSpPr>
        <p:spPr>
          <a:xfrm>
            <a:off x="7248525" y="5741640"/>
            <a:ext cx="402907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Tras 1 hora: P₁ = 1 · 2⁰ = 1 bacteria</a:t>
            </a:r>
            <a:endParaRPr/>
          </a:p>
        </p:txBody>
      </p:sp>
      <p:sp>
        <p:nvSpPr>
          <p:cNvPr id="204" name="Google Shape;204;p17"/>
          <p:cNvSpPr txBox="1"/>
          <p:nvPr/>
        </p:nvSpPr>
        <p:spPr>
          <a:xfrm>
            <a:off x="7248525" y="6127402"/>
            <a:ext cx="402907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Tras 4 horas: P₄ = 1 · 2³ = 8 bacterias</a:t>
            </a:r>
            <a:endParaRPr/>
          </a:p>
        </p:txBody>
      </p:sp>
      <p:pic>
        <p:nvPicPr>
          <p:cNvPr id="205" name="Google Shape;205;p17" descr="image.png"/>
          <p:cNvPicPr preferRelativeResize="0"/>
          <p:nvPr/>
        </p:nvPicPr>
        <p:blipFill rotWithShape="1">
          <a:blip r:embed="rId10">
            <a:alphaModFix/>
          </a:blip>
          <a:srcRect/>
          <a:stretch/>
        </p:blipFill>
        <p:spPr>
          <a:xfrm>
            <a:off x="2457152" y="4035921"/>
            <a:ext cx="1600795" cy="305246"/>
          </a:xfrm>
          <a:prstGeom prst="rect">
            <a:avLst/>
          </a:prstGeom>
          <a:noFill/>
          <a:ln>
            <a:noFill/>
          </a:ln>
        </p:spPr>
      </p:pic>
      <p:sp>
        <p:nvSpPr>
          <p:cNvPr id="206" name="Google Shape;206;p17"/>
          <p:cNvSpPr txBox="1"/>
          <p:nvPr/>
        </p:nvSpPr>
        <p:spPr>
          <a:xfrm>
            <a:off x="819150" y="4699843"/>
            <a:ext cx="48387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 Término en la posición 'n'.</a:t>
            </a:r>
            <a:endParaRPr/>
          </a:p>
        </p:txBody>
      </p:sp>
      <p:sp>
        <p:nvSpPr>
          <p:cNvPr id="207" name="Google Shape;207;p17"/>
          <p:cNvSpPr txBox="1"/>
          <p:nvPr/>
        </p:nvSpPr>
        <p:spPr>
          <a:xfrm>
            <a:off x="819150" y="4971305"/>
            <a:ext cx="48387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 Primer término de la sucesión.</a:t>
            </a:r>
            <a:endParaRPr/>
          </a:p>
        </p:txBody>
      </p:sp>
      <p:sp>
        <p:nvSpPr>
          <p:cNvPr id="208" name="Google Shape;208;p17"/>
          <p:cNvSpPr txBox="1"/>
          <p:nvPr/>
        </p:nvSpPr>
        <p:spPr>
          <a:xfrm>
            <a:off x="819150" y="5242768"/>
            <a:ext cx="48387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r</a:t>
            </a:r>
            <a:r>
              <a:rPr lang="en-US" sz="1425" b="0" i="0" u="none" strike="noStrike" cap="none">
                <a:solidFill>
                  <a:srgbClr val="334155"/>
                </a:solidFill>
                <a:latin typeface="Lato"/>
                <a:ea typeface="Lato"/>
                <a:cs typeface="Lato"/>
                <a:sym typeface="Lato"/>
              </a:rPr>
              <a:t>: Razón común (multiplicador).</a:t>
            </a:r>
            <a:endParaRPr/>
          </a:p>
        </p:txBody>
      </p:sp>
      <p:sp>
        <p:nvSpPr>
          <p:cNvPr id="209" name="Google Shape;209;p17"/>
          <p:cNvSpPr txBox="1"/>
          <p:nvPr/>
        </p:nvSpPr>
        <p:spPr>
          <a:xfrm>
            <a:off x="819150" y="5514230"/>
            <a:ext cx="48387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n</a:t>
            </a:r>
            <a:r>
              <a:rPr lang="en-US" sz="1425" b="0" i="0" u="none" strike="noStrike" cap="none">
                <a:solidFill>
                  <a:srgbClr val="334155"/>
                </a:solidFill>
                <a:latin typeface="Lato"/>
                <a:ea typeface="Lato"/>
                <a:cs typeface="Lato"/>
                <a:sym typeface="Lato"/>
              </a:rPr>
              <a:t>: Número o posición del término.</a:t>
            </a:r>
            <a:endParaRPr/>
          </a:p>
        </p:txBody>
      </p:sp>
      <p:sp>
        <p:nvSpPr>
          <p:cNvPr id="210" name="Google Shape;210;p17"/>
          <p:cNvSpPr txBox="1"/>
          <p:nvPr/>
        </p:nvSpPr>
        <p:spPr>
          <a:xfrm>
            <a:off x="7010400" y="5665440"/>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1" name="Google Shape;211;p17"/>
          <p:cNvSpPr txBox="1"/>
          <p:nvPr/>
        </p:nvSpPr>
        <p:spPr>
          <a:xfrm>
            <a:off x="7010400" y="6051202"/>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pic>
        <p:nvPicPr>
          <p:cNvPr id="212" name="Google Shape;212;p17" descr="image.png"/>
          <p:cNvPicPr preferRelativeResize="0"/>
          <p:nvPr/>
        </p:nvPicPr>
        <p:blipFill rotWithShape="1">
          <a:blip r:embed="rId11">
            <a:alphaModFix/>
          </a:blip>
          <a:srcRect/>
          <a:stretch/>
        </p:blipFill>
        <p:spPr>
          <a:xfrm>
            <a:off x="571500" y="4796581"/>
            <a:ext cx="209550" cy="162073"/>
          </a:xfrm>
          <a:prstGeom prst="rect">
            <a:avLst/>
          </a:prstGeom>
          <a:noFill/>
          <a:ln>
            <a:noFill/>
          </a:ln>
        </p:spPr>
      </p:pic>
      <p:pic>
        <p:nvPicPr>
          <p:cNvPr id="213" name="Google Shape;213;p17" descr="image.png"/>
          <p:cNvPicPr preferRelativeResize="0"/>
          <p:nvPr/>
        </p:nvPicPr>
        <p:blipFill rotWithShape="1">
          <a:blip r:embed="rId12">
            <a:alphaModFix/>
          </a:blip>
          <a:srcRect/>
          <a:stretch/>
        </p:blipFill>
        <p:spPr>
          <a:xfrm>
            <a:off x="571500" y="5068043"/>
            <a:ext cx="209550" cy="1620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7"/>
        <p:cNvGrpSpPr/>
        <p:nvPr/>
      </p:nvGrpSpPr>
      <p:grpSpPr>
        <a:xfrm>
          <a:off x="0" y="0"/>
          <a:ext cx="0" cy="0"/>
          <a:chOff x="0" y="0"/>
          <a:chExt cx="0" cy="0"/>
        </a:xfrm>
      </p:grpSpPr>
      <p:pic>
        <p:nvPicPr>
          <p:cNvPr id="218" name="Google Shape;218;p18" descr="image.png"/>
          <p:cNvPicPr preferRelativeResize="0"/>
          <p:nvPr/>
        </p:nvPicPr>
        <p:blipFill rotWithShape="1">
          <a:blip r:embed="rId3">
            <a:alphaModFix/>
          </a:blip>
          <a:srcRect/>
          <a:stretch/>
        </p:blipFill>
        <p:spPr>
          <a:xfrm>
            <a:off x="571500" y="4714875"/>
            <a:ext cx="11049000" cy="685800"/>
          </a:xfrm>
          <a:prstGeom prst="rect">
            <a:avLst/>
          </a:prstGeom>
          <a:noFill/>
          <a:ln>
            <a:noFill/>
          </a:ln>
        </p:spPr>
      </p:pic>
      <p:pic>
        <p:nvPicPr>
          <p:cNvPr id="219" name="Google Shape;219;p18" descr="image.png"/>
          <p:cNvPicPr preferRelativeResize="0"/>
          <p:nvPr/>
        </p:nvPicPr>
        <p:blipFill rotWithShape="1">
          <a:blip r:embed="rId4">
            <a:alphaModFix/>
          </a:blip>
          <a:srcRect/>
          <a:stretch/>
        </p:blipFill>
        <p:spPr>
          <a:xfrm>
            <a:off x="571500" y="1409700"/>
            <a:ext cx="3492549" cy="3019425"/>
          </a:xfrm>
          <a:prstGeom prst="rect">
            <a:avLst/>
          </a:prstGeom>
          <a:noFill/>
          <a:ln>
            <a:noFill/>
          </a:ln>
        </p:spPr>
      </p:pic>
      <p:pic>
        <p:nvPicPr>
          <p:cNvPr id="220" name="Google Shape;220;p18" descr="image.png"/>
          <p:cNvPicPr preferRelativeResize="0"/>
          <p:nvPr/>
        </p:nvPicPr>
        <p:blipFill rotWithShape="1">
          <a:blip r:embed="rId5">
            <a:alphaModFix/>
          </a:blip>
          <a:srcRect/>
          <a:stretch/>
        </p:blipFill>
        <p:spPr>
          <a:xfrm>
            <a:off x="4349799" y="1409700"/>
            <a:ext cx="3492549" cy="3019425"/>
          </a:xfrm>
          <a:prstGeom prst="rect">
            <a:avLst/>
          </a:prstGeom>
          <a:noFill/>
          <a:ln>
            <a:noFill/>
          </a:ln>
        </p:spPr>
      </p:pic>
      <p:pic>
        <p:nvPicPr>
          <p:cNvPr id="221" name="Google Shape;221;p18" descr="image.png"/>
          <p:cNvPicPr preferRelativeResize="0"/>
          <p:nvPr/>
        </p:nvPicPr>
        <p:blipFill rotWithShape="1">
          <a:blip r:embed="rId6">
            <a:alphaModFix/>
          </a:blip>
          <a:srcRect/>
          <a:stretch/>
        </p:blipFill>
        <p:spPr>
          <a:xfrm>
            <a:off x="8128099" y="1409700"/>
            <a:ext cx="3492549" cy="3019425"/>
          </a:xfrm>
          <a:prstGeom prst="rect">
            <a:avLst/>
          </a:prstGeom>
          <a:noFill/>
          <a:ln>
            <a:noFill/>
          </a:ln>
        </p:spPr>
      </p:pic>
      <p:sp>
        <p:nvSpPr>
          <p:cNvPr id="222" name="Google Shape;222;p18"/>
          <p:cNvSpPr txBox="1"/>
          <p:nvPr/>
        </p:nvSpPr>
        <p:spPr>
          <a:xfrm>
            <a:off x="295275" y="476250"/>
            <a:ext cx="11601450" cy="600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1" i="0" u="none" strike="noStrike" cap="none">
                <a:solidFill>
                  <a:srgbClr val="002855"/>
                </a:solidFill>
                <a:latin typeface="Poppins"/>
                <a:ea typeface="Poppins"/>
                <a:cs typeface="Poppins"/>
                <a:sym typeface="Poppins"/>
              </a:rPr>
              <a:t>Clasificación General de Sucesiones</a:t>
            </a:r>
            <a:endParaRPr/>
          </a:p>
        </p:txBody>
      </p:sp>
      <p:sp>
        <p:nvSpPr>
          <p:cNvPr id="223" name="Google Shape;223;p18"/>
          <p:cNvSpPr txBox="1"/>
          <p:nvPr/>
        </p:nvSpPr>
        <p:spPr>
          <a:xfrm>
            <a:off x="771525" y="4914900"/>
            <a:ext cx="10648950"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1E40AF"/>
                </a:solidFill>
                <a:latin typeface="Lato"/>
                <a:ea typeface="Lato"/>
                <a:cs typeface="Lato"/>
                <a:sym typeface="Lato"/>
              </a:rPr>
              <a:t>Un ejemplo famoso de definición </a:t>
            </a:r>
            <a:r>
              <a:rPr lang="en-US" sz="1500" b="1" i="0" u="none" strike="noStrike" cap="none">
                <a:solidFill>
                  <a:srgbClr val="1E40AF"/>
                </a:solidFill>
                <a:latin typeface="Lato"/>
                <a:ea typeface="Lato"/>
                <a:cs typeface="Lato"/>
                <a:sym typeface="Lato"/>
              </a:rPr>
              <a:t>recursiva</a:t>
            </a:r>
            <a:r>
              <a:rPr lang="en-US" sz="1500" b="0" i="0" u="none" strike="noStrike" cap="none">
                <a:solidFill>
                  <a:srgbClr val="1E40AF"/>
                </a:solidFill>
                <a:latin typeface="Lato"/>
                <a:ea typeface="Lato"/>
                <a:cs typeface="Lato"/>
                <a:sym typeface="Lato"/>
              </a:rPr>
              <a:t> es la Sucesión de Fibonacci:</a:t>
            </a:r>
            <a:endParaRPr/>
          </a:p>
        </p:txBody>
      </p:sp>
      <p:pic>
        <p:nvPicPr>
          <p:cNvPr id="224" name="Google Shape;224;p18" descr="image.png"/>
          <p:cNvPicPr preferRelativeResize="0"/>
          <p:nvPr/>
        </p:nvPicPr>
        <p:blipFill rotWithShape="1">
          <a:blip r:embed="rId7">
            <a:alphaModFix/>
          </a:blip>
          <a:srcRect/>
          <a:stretch/>
        </p:blipFill>
        <p:spPr>
          <a:xfrm>
            <a:off x="819150" y="1752600"/>
            <a:ext cx="2997249" cy="276225"/>
          </a:xfrm>
          <a:prstGeom prst="rect">
            <a:avLst/>
          </a:prstGeom>
          <a:noFill/>
          <a:ln>
            <a:noFill/>
          </a:ln>
        </p:spPr>
      </p:pic>
      <p:sp>
        <p:nvSpPr>
          <p:cNvPr id="225" name="Google Shape;225;p18"/>
          <p:cNvSpPr txBox="1"/>
          <p:nvPr/>
        </p:nvSpPr>
        <p:spPr>
          <a:xfrm>
            <a:off x="819150" y="2171700"/>
            <a:ext cx="2997249"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Finita:</a:t>
            </a:r>
            <a:r>
              <a:rPr lang="en-US" sz="1425" b="0" i="0" u="none" strike="noStrike" cap="none">
                <a:solidFill>
                  <a:srgbClr val="334155"/>
                </a:solidFill>
                <a:latin typeface="Lato"/>
                <a:ea typeface="Lato"/>
                <a:cs typeface="Lato"/>
                <a:sym typeface="Lato"/>
              </a:rPr>
              <a:t> Tiene un número limitado de términos. Empieza y termina.</a:t>
            </a:r>
            <a:endParaRPr/>
          </a:p>
        </p:txBody>
      </p:sp>
      <p:sp>
        <p:nvSpPr>
          <p:cNvPr id="226" name="Google Shape;226;p18"/>
          <p:cNvSpPr txBox="1"/>
          <p:nvPr/>
        </p:nvSpPr>
        <p:spPr>
          <a:xfrm>
            <a:off x="819150" y="2857500"/>
            <a:ext cx="2997249"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Infinita:</a:t>
            </a:r>
            <a:r>
              <a:rPr lang="en-US" sz="1425" b="0" i="0" u="none" strike="noStrike" cap="none">
                <a:solidFill>
                  <a:srgbClr val="334155"/>
                </a:solidFill>
                <a:latin typeface="Lato"/>
                <a:ea typeface="Lato"/>
                <a:cs typeface="Lato"/>
                <a:sym typeface="Lato"/>
              </a:rPr>
              <a:t> Se extiende indefinidamente sin un final determinado.</a:t>
            </a:r>
            <a:endParaRPr/>
          </a:p>
        </p:txBody>
      </p:sp>
      <p:pic>
        <p:nvPicPr>
          <p:cNvPr id="227" name="Google Shape;227;p18" descr="image.png"/>
          <p:cNvPicPr preferRelativeResize="0"/>
          <p:nvPr/>
        </p:nvPicPr>
        <p:blipFill rotWithShape="1">
          <a:blip r:embed="rId8">
            <a:alphaModFix/>
          </a:blip>
          <a:srcRect/>
          <a:stretch/>
        </p:blipFill>
        <p:spPr>
          <a:xfrm>
            <a:off x="4597449" y="1752600"/>
            <a:ext cx="2997249" cy="276225"/>
          </a:xfrm>
          <a:prstGeom prst="rect">
            <a:avLst/>
          </a:prstGeom>
          <a:noFill/>
          <a:ln>
            <a:noFill/>
          </a:ln>
        </p:spPr>
      </p:pic>
      <p:sp>
        <p:nvSpPr>
          <p:cNvPr id="228" name="Google Shape;228;p18"/>
          <p:cNvSpPr txBox="1"/>
          <p:nvPr/>
        </p:nvSpPr>
        <p:spPr>
          <a:xfrm>
            <a:off x="4597449" y="2171700"/>
            <a:ext cx="2997249"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Creciente:</a:t>
            </a:r>
            <a:endParaRPr/>
          </a:p>
        </p:txBody>
      </p:sp>
      <p:sp>
        <p:nvSpPr>
          <p:cNvPr id="229" name="Google Shape;229;p18"/>
          <p:cNvSpPr txBox="1"/>
          <p:nvPr/>
        </p:nvSpPr>
        <p:spPr>
          <a:xfrm>
            <a:off x="4597449" y="2586037"/>
            <a:ext cx="2997249"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Decreciente:</a:t>
            </a:r>
            <a:endParaRPr/>
          </a:p>
        </p:txBody>
      </p:sp>
      <p:sp>
        <p:nvSpPr>
          <p:cNvPr id="230" name="Google Shape;230;p18"/>
          <p:cNvSpPr txBox="1"/>
          <p:nvPr/>
        </p:nvSpPr>
        <p:spPr>
          <a:xfrm>
            <a:off x="4597449" y="3000375"/>
            <a:ext cx="2997249"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Monótona:</a:t>
            </a:r>
            <a:r>
              <a:rPr lang="en-US" sz="1425" b="0" i="0" u="none" strike="noStrike" cap="none">
                <a:solidFill>
                  <a:srgbClr val="334155"/>
                </a:solidFill>
                <a:latin typeface="Lato"/>
                <a:ea typeface="Lato"/>
                <a:cs typeface="Lato"/>
                <a:sym typeface="Lato"/>
              </a:rPr>
              <a:t> Si es estrictamente creciente o decreciente en toda su extensión.</a:t>
            </a:r>
            <a:endParaRPr/>
          </a:p>
        </p:txBody>
      </p:sp>
      <p:pic>
        <p:nvPicPr>
          <p:cNvPr id="231" name="Google Shape;231;p18" descr="image.png"/>
          <p:cNvPicPr preferRelativeResize="0"/>
          <p:nvPr/>
        </p:nvPicPr>
        <p:blipFill rotWithShape="1">
          <a:blip r:embed="rId9">
            <a:alphaModFix/>
          </a:blip>
          <a:srcRect/>
          <a:stretch/>
        </p:blipFill>
        <p:spPr>
          <a:xfrm>
            <a:off x="8375749" y="1752600"/>
            <a:ext cx="2997249" cy="276225"/>
          </a:xfrm>
          <a:prstGeom prst="rect">
            <a:avLst/>
          </a:prstGeom>
          <a:noFill/>
          <a:ln>
            <a:noFill/>
          </a:ln>
        </p:spPr>
      </p:pic>
      <p:sp>
        <p:nvSpPr>
          <p:cNvPr id="232" name="Google Shape;232;p18"/>
          <p:cNvSpPr txBox="1"/>
          <p:nvPr/>
        </p:nvSpPr>
        <p:spPr>
          <a:xfrm>
            <a:off x="8375749" y="2171700"/>
            <a:ext cx="2997249"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Explícita:</a:t>
            </a:r>
            <a:r>
              <a:rPr lang="en-US" sz="1425" b="0" i="0" u="none" strike="noStrike" cap="none">
                <a:solidFill>
                  <a:srgbClr val="334155"/>
                </a:solidFill>
                <a:latin typeface="Lato"/>
                <a:ea typeface="Lato"/>
                <a:cs typeface="Lato"/>
                <a:sym typeface="Lato"/>
              </a:rPr>
              <a:t> Se calcula directamente con una fórmula dependiente de 'n' (ej. ).</a:t>
            </a:r>
            <a:endParaRPr/>
          </a:p>
        </p:txBody>
      </p:sp>
      <p:sp>
        <p:nvSpPr>
          <p:cNvPr id="233" name="Google Shape;233;p18"/>
          <p:cNvSpPr txBox="1"/>
          <p:nvPr/>
        </p:nvSpPr>
        <p:spPr>
          <a:xfrm>
            <a:off x="8375749" y="3128962"/>
            <a:ext cx="2997249"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Recursiva:</a:t>
            </a:r>
            <a:r>
              <a:rPr lang="en-US" sz="1425" b="0" i="0" u="none" strike="noStrike" cap="none">
                <a:solidFill>
                  <a:srgbClr val="334155"/>
                </a:solidFill>
                <a:latin typeface="Lato"/>
                <a:ea typeface="Lato"/>
                <a:cs typeface="Lato"/>
                <a:sym typeface="Lato"/>
              </a:rPr>
              <a:t> Cada término se basa en el cálculo de los términos inmediatamente anteriores.</a:t>
            </a:r>
            <a:endParaRPr/>
          </a:p>
        </p:txBody>
      </p:sp>
      <p:pic>
        <p:nvPicPr>
          <p:cNvPr id="234" name="Google Shape;234;p18" descr="image.png"/>
          <p:cNvPicPr preferRelativeResize="0"/>
          <p:nvPr/>
        </p:nvPicPr>
        <p:blipFill rotWithShape="1">
          <a:blip r:embed="rId10">
            <a:alphaModFix/>
          </a:blip>
          <a:srcRect/>
          <a:stretch/>
        </p:blipFill>
        <p:spPr>
          <a:xfrm>
            <a:off x="8176319" y="4981575"/>
            <a:ext cx="1735335" cy="207764"/>
          </a:xfrm>
          <a:prstGeom prst="rect">
            <a:avLst/>
          </a:prstGeom>
          <a:noFill/>
          <a:ln>
            <a:noFill/>
          </a:ln>
        </p:spPr>
      </p:pic>
      <p:pic>
        <p:nvPicPr>
          <p:cNvPr id="235" name="Google Shape;235;p18" descr="image.png"/>
          <p:cNvPicPr preferRelativeResize="0"/>
          <p:nvPr/>
        </p:nvPicPr>
        <p:blipFill rotWithShape="1">
          <a:blip r:embed="rId11">
            <a:alphaModFix/>
          </a:blip>
          <a:srcRect/>
          <a:stretch/>
        </p:blipFill>
        <p:spPr>
          <a:xfrm>
            <a:off x="5473749" y="2257425"/>
            <a:ext cx="891182" cy="171598"/>
          </a:xfrm>
          <a:prstGeom prst="rect">
            <a:avLst/>
          </a:prstGeom>
          <a:noFill/>
          <a:ln>
            <a:noFill/>
          </a:ln>
        </p:spPr>
      </p:pic>
      <p:pic>
        <p:nvPicPr>
          <p:cNvPr id="236" name="Google Shape;236;p18" descr="image.png"/>
          <p:cNvPicPr preferRelativeResize="0"/>
          <p:nvPr/>
        </p:nvPicPr>
        <p:blipFill rotWithShape="1">
          <a:blip r:embed="rId12">
            <a:alphaModFix/>
          </a:blip>
          <a:srcRect/>
          <a:stretch/>
        </p:blipFill>
        <p:spPr>
          <a:xfrm>
            <a:off x="5664249" y="2671762"/>
            <a:ext cx="891182" cy="171598"/>
          </a:xfrm>
          <a:prstGeom prst="rect">
            <a:avLst/>
          </a:prstGeom>
          <a:noFill/>
          <a:ln>
            <a:noFill/>
          </a:ln>
        </p:spPr>
      </p:pic>
      <p:pic>
        <p:nvPicPr>
          <p:cNvPr id="237" name="Google Shape;237;p18" descr="image.png"/>
          <p:cNvPicPr preferRelativeResize="0"/>
          <p:nvPr/>
        </p:nvPicPr>
        <p:blipFill rotWithShape="1">
          <a:blip r:embed="rId13">
            <a:alphaModFix/>
          </a:blip>
          <a:srcRect/>
          <a:stretch/>
        </p:blipFill>
        <p:spPr>
          <a:xfrm>
            <a:off x="8651974" y="2781300"/>
            <a:ext cx="624185" cy="1906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1"/>
        <p:cNvGrpSpPr/>
        <p:nvPr/>
      </p:nvGrpSpPr>
      <p:grpSpPr>
        <a:xfrm>
          <a:off x="0" y="0"/>
          <a:ext cx="0" cy="0"/>
          <a:chOff x="0" y="0"/>
          <a:chExt cx="0" cy="0"/>
        </a:xfrm>
      </p:grpSpPr>
      <p:pic>
        <p:nvPicPr>
          <p:cNvPr id="242" name="Google Shape;242;p19" descr="image.png"/>
          <p:cNvPicPr preferRelativeResize="0"/>
          <p:nvPr/>
        </p:nvPicPr>
        <p:blipFill rotWithShape="1">
          <a:blip r:embed="rId3">
            <a:alphaModFix/>
          </a:blip>
          <a:srcRect/>
          <a:stretch/>
        </p:blipFill>
        <p:spPr>
          <a:xfrm>
            <a:off x="1676400" y="1710928"/>
            <a:ext cx="8839200" cy="4922192"/>
          </a:xfrm>
          <a:prstGeom prst="rect">
            <a:avLst/>
          </a:prstGeom>
          <a:noFill/>
          <a:ln>
            <a:noFill/>
          </a:ln>
        </p:spPr>
      </p:pic>
      <p:pic>
        <p:nvPicPr>
          <p:cNvPr id="243" name="Google Shape;243;p19" descr="image.png"/>
          <p:cNvPicPr preferRelativeResize="0"/>
          <p:nvPr/>
        </p:nvPicPr>
        <p:blipFill rotWithShape="1">
          <a:blip r:embed="rId4">
            <a:alphaModFix/>
          </a:blip>
          <a:srcRect/>
          <a:stretch/>
        </p:blipFill>
        <p:spPr>
          <a:xfrm>
            <a:off x="2066925" y="3053953"/>
            <a:ext cx="8058150" cy="816917"/>
          </a:xfrm>
          <a:prstGeom prst="rect">
            <a:avLst/>
          </a:prstGeom>
          <a:noFill/>
          <a:ln>
            <a:noFill/>
          </a:ln>
        </p:spPr>
      </p:pic>
      <p:pic>
        <p:nvPicPr>
          <p:cNvPr id="244" name="Google Shape;244;p19" descr="image.png"/>
          <p:cNvPicPr preferRelativeResize="0"/>
          <p:nvPr/>
        </p:nvPicPr>
        <p:blipFill rotWithShape="1">
          <a:blip r:embed="rId5">
            <a:alphaModFix/>
          </a:blip>
          <a:srcRect/>
          <a:stretch/>
        </p:blipFill>
        <p:spPr>
          <a:xfrm>
            <a:off x="2066925" y="4613820"/>
            <a:ext cx="8058150" cy="895350"/>
          </a:xfrm>
          <a:prstGeom prst="rect">
            <a:avLst/>
          </a:prstGeom>
          <a:noFill/>
          <a:ln>
            <a:noFill/>
          </a:ln>
        </p:spPr>
      </p:pic>
      <p:pic>
        <p:nvPicPr>
          <p:cNvPr id="245" name="Google Shape;245;p19" descr="image.png"/>
          <p:cNvPicPr preferRelativeResize="0"/>
          <p:nvPr/>
        </p:nvPicPr>
        <p:blipFill rotWithShape="1">
          <a:blip r:embed="rId6">
            <a:alphaModFix/>
          </a:blip>
          <a:srcRect/>
          <a:stretch/>
        </p:blipFill>
        <p:spPr>
          <a:xfrm>
            <a:off x="2066925" y="5699670"/>
            <a:ext cx="8058150" cy="542925"/>
          </a:xfrm>
          <a:prstGeom prst="rect">
            <a:avLst/>
          </a:prstGeom>
          <a:noFill/>
          <a:ln>
            <a:noFill/>
          </a:ln>
        </p:spPr>
      </p:pic>
      <p:sp>
        <p:nvSpPr>
          <p:cNvPr id="246" name="Google Shape;246;p19"/>
          <p:cNvSpPr txBox="1"/>
          <p:nvPr/>
        </p:nvSpPr>
        <p:spPr>
          <a:xfrm>
            <a:off x="295275" y="225028"/>
            <a:ext cx="11601450" cy="600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1" i="0" u="none" strike="noStrike" cap="none">
                <a:solidFill>
                  <a:srgbClr val="002855"/>
                </a:solidFill>
                <a:latin typeface="Poppins"/>
                <a:ea typeface="Poppins"/>
                <a:cs typeface="Poppins"/>
                <a:sym typeface="Poppins"/>
              </a:rPr>
              <a:t>Sucesiones Finitas</a:t>
            </a:r>
            <a:endParaRPr/>
          </a:p>
        </p:txBody>
      </p:sp>
      <p:sp>
        <p:nvSpPr>
          <p:cNvPr id="247" name="Google Shape;247;p19"/>
          <p:cNvSpPr txBox="1"/>
          <p:nvPr/>
        </p:nvSpPr>
        <p:spPr>
          <a:xfrm>
            <a:off x="571500" y="1158478"/>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Una sucesión finita es aquella que tiene un número </a:t>
            </a:r>
            <a:r>
              <a:rPr lang="en-US" sz="1650" b="1" i="0" u="none" strike="noStrike" cap="none">
                <a:solidFill>
                  <a:srgbClr val="475569"/>
                </a:solidFill>
                <a:latin typeface="Lato"/>
                <a:ea typeface="Lato"/>
                <a:cs typeface="Lato"/>
                <a:sym typeface="Lato"/>
              </a:rPr>
              <a:t>limitado</a:t>
            </a:r>
            <a:r>
              <a:rPr lang="en-US" sz="1650" b="0" i="0" u="none" strike="noStrike" cap="none">
                <a:solidFill>
                  <a:srgbClr val="475569"/>
                </a:solidFill>
                <a:latin typeface="Lato"/>
                <a:ea typeface="Lato"/>
                <a:cs typeface="Lato"/>
                <a:sym typeface="Lato"/>
              </a:rPr>
              <a:t> de términos.</a:t>
            </a:r>
            <a:endParaRPr/>
          </a:p>
        </p:txBody>
      </p:sp>
      <p:sp>
        <p:nvSpPr>
          <p:cNvPr id="248" name="Google Shape;248;p19"/>
          <p:cNvSpPr txBox="1"/>
          <p:nvPr/>
        </p:nvSpPr>
        <p:spPr>
          <a:xfrm>
            <a:off x="2066925" y="2101453"/>
            <a:ext cx="846105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0F766E"/>
                </a:solidFill>
                <a:latin typeface="Poppins SemiBold"/>
                <a:ea typeface="Poppins SemiBold"/>
                <a:cs typeface="Poppins SemiBold"/>
                <a:sym typeface="Poppins SemiBold"/>
              </a:rPr>
              <a:t>Ejemplo: Sucesión de los primeros 5 cuadrados perfectos</a:t>
            </a:r>
            <a:endParaRPr/>
          </a:p>
        </p:txBody>
      </p:sp>
      <p:sp>
        <p:nvSpPr>
          <p:cNvPr id="249" name="Google Shape;249;p19"/>
          <p:cNvSpPr txBox="1"/>
          <p:nvPr/>
        </p:nvSpPr>
        <p:spPr>
          <a:xfrm>
            <a:off x="2066925" y="2625328"/>
            <a:ext cx="805815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334155"/>
                </a:solidFill>
                <a:latin typeface="Lato"/>
                <a:ea typeface="Lato"/>
                <a:cs typeface="Lato"/>
                <a:sym typeface="Lato"/>
              </a:rPr>
              <a:t>La regla de generación explícita está acotada por un dominio específico:</a:t>
            </a:r>
            <a:endParaRPr/>
          </a:p>
        </p:txBody>
      </p:sp>
      <p:sp>
        <p:nvSpPr>
          <p:cNvPr id="250" name="Google Shape;250;p19"/>
          <p:cNvSpPr txBox="1"/>
          <p:nvPr/>
        </p:nvSpPr>
        <p:spPr>
          <a:xfrm>
            <a:off x="2066925" y="4156620"/>
            <a:ext cx="8461057"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02855"/>
                </a:solidFill>
                <a:latin typeface="Poppins SemiBold"/>
                <a:ea typeface="Poppins SemiBold"/>
                <a:cs typeface="Poppins SemiBold"/>
                <a:sym typeface="Poppins SemiBold"/>
              </a:rPr>
              <a:t>Términos de la sucesión:</a:t>
            </a:r>
            <a:endParaRPr/>
          </a:p>
        </p:txBody>
      </p:sp>
      <p:pic>
        <p:nvPicPr>
          <p:cNvPr id="251" name="Google Shape;251;p19" descr="image.png"/>
          <p:cNvPicPr preferRelativeResize="0"/>
          <p:nvPr/>
        </p:nvPicPr>
        <p:blipFill rotWithShape="1">
          <a:blip r:embed="rId7">
            <a:alphaModFix/>
          </a:blip>
          <a:srcRect/>
          <a:stretch/>
        </p:blipFill>
        <p:spPr>
          <a:xfrm>
            <a:off x="4334321" y="3292078"/>
            <a:ext cx="3523357" cy="339476"/>
          </a:xfrm>
          <a:prstGeom prst="rect">
            <a:avLst/>
          </a:prstGeom>
          <a:noFill/>
          <a:ln>
            <a:noFill/>
          </a:ln>
        </p:spPr>
      </p:pic>
      <p:pic>
        <p:nvPicPr>
          <p:cNvPr id="252" name="Google Shape;252;p19" descr="image.png"/>
          <p:cNvPicPr preferRelativeResize="0"/>
          <p:nvPr/>
        </p:nvPicPr>
        <p:blipFill rotWithShape="1">
          <a:blip r:embed="rId8">
            <a:alphaModFix/>
          </a:blip>
          <a:srcRect/>
          <a:stretch/>
        </p:blipFill>
        <p:spPr>
          <a:xfrm>
            <a:off x="4431506" y="4909095"/>
            <a:ext cx="3367087" cy="323850"/>
          </a:xfrm>
          <a:prstGeom prst="rect">
            <a:avLst/>
          </a:prstGeom>
          <a:noFill/>
          <a:ln>
            <a:noFill/>
          </a:ln>
        </p:spPr>
      </p:pic>
      <p:sp>
        <p:nvSpPr>
          <p:cNvPr id="253" name="Google Shape;253;p19"/>
          <p:cNvSpPr txBox="1"/>
          <p:nvPr/>
        </p:nvSpPr>
        <p:spPr>
          <a:xfrm>
            <a:off x="2209800" y="5842545"/>
            <a:ext cx="777240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Esta sucesión termina abruptamente en y no se extiende indefinidamente.</a:t>
            </a:r>
            <a:endParaRPr/>
          </a:p>
        </p:txBody>
      </p:sp>
      <p:pic>
        <p:nvPicPr>
          <p:cNvPr id="254" name="Google Shape;254;p19" descr="image.png"/>
          <p:cNvPicPr preferRelativeResize="0"/>
          <p:nvPr/>
        </p:nvPicPr>
        <p:blipFill rotWithShape="1">
          <a:blip r:embed="rId9">
            <a:alphaModFix/>
          </a:blip>
          <a:srcRect/>
          <a:stretch/>
        </p:blipFill>
        <p:spPr>
          <a:xfrm>
            <a:off x="2209800" y="5920878"/>
            <a:ext cx="704454" cy="2502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59" name="Google Shape;259;p20" descr="image.png"/>
          <p:cNvPicPr preferRelativeResize="0"/>
          <p:nvPr/>
        </p:nvPicPr>
        <p:blipFill rotWithShape="1">
          <a:blip r:embed="rId3">
            <a:alphaModFix/>
          </a:blip>
          <a:srcRect/>
          <a:stretch/>
        </p:blipFill>
        <p:spPr>
          <a:xfrm>
            <a:off x="571500" y="1748581"/>
            <a:ext cx="5334000" cy="4846885"/>
          </a:xfrm>
          <a:prstGeom prst="rect">
            <a:avLst/>
          </a:prstGeom>
          <a:noFill/>
          <a:ln>
            <a:noFill/>
          </a:ln>
        </p:spPr>
      </p:pic>
      <p:pic>
        <p:nvPicPr>
          <p:cNvPr id="260" name="Google Shape;260;p20" descr="image.png"/>
          <p:cNvPicPr preferRelativeResize="0"/>
          <p:nvPr/>
        </p:nvPicPr>
        <p:blipFill rotWithShape="1">
          <a:blip r:embed="rId4">
            <a:alphaModFix/>
          </a:blip>
          <a:srcRect/>
          <a:stretch/>
        </p:blipFill>
        <p:spPr>
          <a:xfrm>
            <a:off x="6286500" y="1748581"/>
            <a:ext cx="5334000" cy="4846885"/>
          </a:xfrm>
          <a:prstGeom prst="rect">
            <a:avLst/>
          </a:prstGeom>
          <a:noFill/>
          <a:ln>
            <a:noFill/>
          </a:ln>
        </p:spPr>
      </p:pic>
      <p:pic>
        <p:nvPicPr>
          <p:cNvPr id="261" name="Google Shape;261;p20" descr="image.png"/>
          <p:cNvPicPr preferRelativeResize="0"/>
          <p:nvPr/>
        </p:nvPicPr>
        <p:blipFill rotWithShape="1">
          <a:blip r:embed="rId5">
            <a:alphaModFix/>
          </a:blip>
          <a:srcRect/>
          <a:stretch/>
        </p:blipFill>
        <p:spPr>
          <a:xfrm>
            <a:off x="914400" y="3429744"/>
            <a:ext cx="4648200" cy="551110"/>
          </a:xfrm>
          <a:prstGeom prst="rect">
            <a:avLst/>
          </a:prstGeom>
          <a:noFill/>
          <a:ln>
            <a:noFill/>
          </a:ln>
        </p:spPr>
      </p:pic>
      <p:pic>
        <p:nvPicPr>
          <p:cNvPr id="262" name="Google Shape;262;p20" descr="image.png"/>
          <p:cNvPicPr preferRelativeResize="0"/>
          <p:nvPr/>
        </p:nvPicPr>
        <p:blipFill rotWithShape="1">
          <a:blip r:embed="rId6">
            <a:alphaModFix/>
          </a:blip>
          <a:srcRect/>
          <a:stretch/>
        </p:blipFill>
        <p:spPr>
          <a:xfrm>
            <a:off x="914400" y="4680942"/>
            <a:ext cx="4648200" cy="685800"/>
          </a:xfrm>
          <a:prstGeom prst="rect">
            <a:avLst/>
          </a:prstGeom>
          <a:noFill/>
          <a:ln>
            <a:noFill/>
          </a:ln>
        </p:spPr>
      </p:pic>
      <p:pic>
        <p:nvPicPr>
          <p:cNvPr id="263" name="Google Shape;263;p20" descr="image.png"/>
          <p:cNvPicPr preferRelativeResize="0"/>
          <p:nvPr/>
        </p:nvPicPr>
        <p:blipFill rotWithShape="1">
          <a:blip r:embed="rId7">
            <a:alphaModFix/>
          </a:blip>
          <a:srcRect/>
          <a:stretch/>
        </p:blipFill>
        <p:spPr>
          <a:xfrm>
            <a:off x="6629400" y="3096369"/>
            <a:ext cx="4648200" cy="536078"/>
          </a:xfrm>
          <a:prstGeom prst="rect">
            <a:avLst/>
          </a:prstGeom>
          <a:noFill/>
          <a:ln>
            <a:noFill/>
          </a:ln>
        </p:spPr>
      </p:pic>
      <p:pic>
        <p:nvPicPr>
          <p:cNvPr id="264" name="Google Shape;264;p20" descr="image.png"/>
          <p:cNvPicPr preferRelativeResize="0"/>
          <p:nvPr/>
        </p:nvPicPr>
        <p:blipFill rotWithShape="1">
          <a:blip r:embed="rId8">
            <a:alphaModFix/>
          </a:blip>
          <a:srcRect/>
          <a:stretch/>
        </p:blipFill>
        <p:spPr>
          <a:xfrm>
            <a:off x="6629400" y="4332535"/>
            <a:ext cx="4648200" cy="691008"/>
          </a:xfrm>
          <a:prstGeom prst="rect">
            <a:avLst/>
          </a:prstGeom>
          <a:noFill/>
          <a:ln>
            <a:noFill/>
          </a:ln>
        </p:spPr>
      </p:pic>
      <p:sp>
        <p:nvSpPr>
          <p:cNvPr id="265" name="Google Shape;265;p20"/>
          <p:cNvSpPr txBox="1"/>
          <p:nvPr/>
        </p:nvSpPr>
        <p:spPr>
          <a:xfrm>
            <a:off x="295275" y="262681"/>
            <a:ext cx="11601450" cy="600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1" i="0" u="none" strike="noStrike" cap="none">
                <a:solidFill>
                  <a:srgbClr val="002855"/>
                </a:solidFill>
                <a:latin typeface="Poppins"/>
                <a:ea typeface="Poppins"/>
                <a:cs typeface="Poppins"/>
                <a:sym typeface="Poppins"/>
              </a:rPr>
              <a:t>Sucesiones Infinitas</a:t>
            </a:r>
            <a:endParaRPr/>
          </a:p>
        </p:txBody>
      </p:sp>
      <p:sp>
        <p:nvSpPr>
          <p:cNvPr id="266" name="Google Shape;266;p20"/>
          <p:cNvSpPr txBox="1"/>
          <p:nvPr/>
        </p:nvSpPr>
        <p:spPr>
          <a:xfrm>
            <a:off x="571500" y="1196131"/>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Una sucesión infinita no tiene fin y sus valores continúan desarrollándose indefinidamente.</a:t>
            </a:r>
            <a:endParaRPr/>
          </a:p>
        </p:txBody>
      </p:sp>
      <p:sp>
        <p:nvSpPr>
          <p:cNvPr id="267" name="Google Shape;267;p20"/>
          <p:cNvSpPr txBox="1"/>
          <p:nvPr/>
        </p:nvSpPr>
        <p:spPr>
          <a:xfrm>
            <a:off x="914400" y="2091481"/>
            <a:ext cx="4880610"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7E22CE"/>
                </a:solidFill>
                <a:latin typeface="Poppins SemiBold"/>
                <a:ea typeface="Poppins SemiBold"/>
                <a:cs typeface="Poppins SemiBold"/>
                <a:sym typeface="Poppins SemiBold"/>
              </a:rPr>
              <a:t>Ejemplo 1: Crecimiento sin Límite (Divergente)</a:t>
            </a:r>
            <a:endParaRPr/>
          </a:p>
        </p:txBody>
      </p:sp>
      <p:sp>
        <p:nvSpPr>
          <p:cNvPr id="268" name="Google Shape;268;p20"/>
          <p:cNvSpPr txBox="1"/>
          <p:nvPr/>
        </p:nvSpPr>
        <p:spPr>
          <a:xfrm>
            <a:off x="914400" y="2872531"/>
            <a:ext cx="46482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La sucesión está definida por la fórmula polinómica:</a:t>
            </a:r>
            <a:endParaRPr/>
          </a:p>
        </p:txBody>
      </p:sp>
      <p:sp>
        <p:nvSpPr>
          <p:cNvPr id="269" name="Google Shape;269;p20"/>
          <p:cNvSpPr txBox="1"/>
          <p:nvPr/>
        </p:nvSpPr>
        <p:spPr>
          <a:xfrm>
            <a:off x="914400" y="4123729"/>
            <a:ext cx="46482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Sus términos iterativos son:</a:t>
            </a:r>
            <a:endParaRPr/>
          </a:p>
        </p:txBody>
      </p:sp>
      <p:sp>
        <p:nvSpPr>
          <p:cNvPr id="270" name="Google Shape;270;p20"/>
          <p:cNvSpPr txBox="1"/>
          <p:nvPr/>
        </p:nvSpPr>
        <p:spPr>
          <a:xfrm>
            <a:off x="914400" y="5652492"/>
            <a:ext cx="464820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Los valores crecen hacia el infinito y no tienen un límite superior definido.</a:t>
            </a:r>
            <a:endParaRPr/>
          </a:p>
        </p:txBody>
      </p:sp>
      <p:sp>
        <p:nvSpPr>
          <p:cNvPr id="271" name="Google Shape;271;p20"/>
          <p:cNvSpPr txBox="1"/>
          <p:nvPr/>
        </p:nvSpPr>
        <p:spPr>
          <a:xfrm>
            <a:off x="6629400" y="2091481"/>
            <a:ext cx="488061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7E22CE"/>
                </a:solidFill>
                <a:latin typeface="Poppins SemiBold"/>
                <a:ea typeface="Poppins SemiBold"/>
                <a:cs typeface="Poppins SemiBold"/>
                <a:sym typeface="Poppins SemiBold"/>
              </a:rPr>
              <a:t>Ejemplo 2: Convergencia a Cero</a:t>
            </a:r>
            <a:endParaRPr/>
          </a:p>
        </p:txBody>
      </p:sp>
      <p:sp>
        <p:nvSpPr>
          <p:cNvPr id="272" name="Google Shape;272;p20"/>
          <p:cNvSpPr txBox="1"/>
          <p:nvPr/>
        </p:nvSpPr>
        <p:spPr>
          <a:xfrm>
            <a:off x="6629400" y="2539156"/>
            <a:ext cx="46482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La sucesión está definida por la fórmula fraccionaria:</a:t>
            </a:r>
            <a:endParaRPr/>
          </a:p>
        </p:txBody>
      </p:sp>
      <p:sp>
        <p:nvSpPr>
          <p:cNvPr id="273" name="Google Shape;273;p20"/>
          <p:cNvSpPr txBox="1"/>
          <p:nvPr/>
        </p:nvSpPr>
        <p:spPr>
          <a:xfrm>
            <a:off x="6629400" y="3775323"/>
            <a:ext cx="46482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Sus términos iterativos son:</a:t>
            </a:r>
            <a:endParaRPr/>
          </a:p>
        </p:txBody>
      </p:sp>
      <p:sp>
        <p:nvSpPr>
          <p:cNvPr id="274" name="Google Shape;274;p20"/>
          <p:cNvSpPr txBox="1"/>
          <p:nvPr/>
        </p:nvSpPr>
        <p:spPr>
          <a:xfrm>
            <a:off x="6629400" y="5309294"/>
            <a:ext cx="464820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Los valores se acercan cada vez más a cero a medida que 'n' crece, pero </a:t>
            </a:r>
            <a:r>
              <a:rPr lang="en-US" sz="1200" b="1" i="0" u="none" strike="noStrike" cap="none">
                <a:solidFill>
                  <a:srgbClr val="334155"/>
                </a:solidFill>
                <a:latin typeface="Lato"/>
                <a:ea typeface="Lato"/>
                <a:cs typeface="Lato"/>
                <a:sym typeface="Lato"/>
              </a:rPr>
              <a:t>nunca lo alcanzan</a:t>
            </a:r>
            <a:r>
              <a:rPr lang="en-US" sz="1200" b="0" i="0" u="none" strike="noStrike" cap="none">
                <a:solidFill>
                  <a:srgbClr val="334155"/>
                </a:solidFill>
                <a:latin typeface="Lato"/>
                <a:ea typeface="Lato"/>
                <a:cs typeface="Lato"/>
                <a:sym typeface="Lato"/>
              </a:rPr>
              <a:t>.</a:t>
            </a:r>
            <a:endParaRPr/>
          </a:p>
        </p:txBody>
      </p:sp>
      <p:pic>
        <p:nvPicPr>
          <p:cNvPr id="275" name="Google Shape;275;p20" descr="image.png"/>
          <p:cNvPicPr preferRelativeResize="0"/>
          <p:nvPr/>
        </p:nvPicPr>
        <p:blipFill rotWithShape="1">
          <a:blip r:embed="rId9">
            <a:alphaModFix/>
          </a:blip>
          <a:srcRect/>
          <a:stretch/>
        </p:blipFill>
        <p:spPr>
          <a:xfrm>
            <a:off x="1918245" y="3572619"/>
            <a:ext cx="2640359" cy="265360"/>
          </a:xfrm>
          <a:prstGeom prst="rect">
            <a:avLst/>
          </a:prstGeom>
          <a:noFill/>
          <a:ln>
            <a:noFill/>
          </a:ln>
        </p:spPr>
      </p:pic>
      <p:pic>
        <p:nvPicPr>
          <p:cNvPr id="276" name="Google Shape;276;p20" descr="image.png"/>
          <p:cNvPicPr preferRelativeResize="0"/>
          <p:nvPr/>
        </p:nvPicPr>
        <p:blipFill rotWithShape="1">
          <a:blip r:embed="rId10">
            <a:alphaModFix/>
          </a:blip>
          <a:srcRect/>
          <a:stretch/>
        </p:blipFill>
        <p:spPr>
          <a:xfrm>
            <a:off x="1667767" y="4900017"/>
            <a:ext cx="3141464" cy="247650"/>
          </a:xfrm>
          <a:prstGeom prst="rect">
            <a:avLst/>
          </a:prstGeom>
          <a:noFill/>
          <a:ln>
            <a:noFill/>
          </a:ln>
        </p:spPr>
      </p:pic>
      <p:pic>
        <p:nvPicPr>
          <p:cNvPr id="277" name="Google Shape;277;p20" descr="image.png"/>
          <p:cNvPicPr preferRelativeResize="0"/>
          <p:nvPr/>
        </p:nvPicPr>
        <p:blipFill rotWithShape="1">
          <a:blip r:embed="rId11">
            <a:alphaModFix/>
          </a:blip>
          <a:srcRect/>
          <a:stretch/>
        </p:blipFill>
        <p:spPr>
          <a:xfrm>
            <a:off x="7867054" y="3277046"/>
            <a:ext cx="2172741" cy="212526"/>
          </a:xfrm>
          <a:prstGeom prst="rect">
            <a:avLst/>
          </a:prstGeom>
          <a:noFill/>
          <a:ln>
            <a:noFill/>
          </a:ln>
        </p:spPr>
      </p:pic>
      <p:pic>
        <p:nvPicPr>
          <p:cNvPr id="278" name="Google Shape;278;p20" descr="image.png"/>
          <p:cNvPicPr preferRelativeResize="0"/>
          <p:nvPr/>
        </p:nvPicPr>
        <p:blipFill rotWithShape="1">
          <a:blip r:embed="rId12">
            <a:alphaModFix/>
          </a:blip>
          <a:srcRect/>
          <a:stretch/>
        </p:blipFill>
        <p:spPr>
          <a:xfrm>
            <a:off x="7804844" y="4551610"/>
            <a:ext cx="2297310" cy="28143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2"/>
        <p:cNvGrpSpPr/>
        <p:nvPr/>
      </p:nvGrpSpPr>
      <p:grpSpPr>
        <a:xfrm>
          <a:off x="0" y="0"/>
          <a:ext cx="0" cy="0"/>
          <a:chOff x="0" y="0"/>
          <a:chExt cx="0" cy="0"/>
        </a:xfrm>
      </p:grpSpPr>
      <p:pic>
        <p:nvPicPr>
          <p:cNvPr id="283" name="Google Shape;283;p21" descr="image.png"/>
          <p:cNvPicPr preferRelativeResize="0"/>
          <p:nvPr/>
        </p:nvPicPr>
        <p:blipFill rotWithShape="1">
          <a:blip r:embed="rId3">
            <a:alphaModFix/>
          </a:blip>
          <a:srcRect/>
          <a:stretch/>
        </p:blipFill>
        <p:spPr>
          <a:xfrm>
            <a:off x="571500" y="1132582"/>
            <a:ext cx="5334000" cy="5526285"/>
          </a:xfrm>
          <a:prstGeom prst="rect">
            <a:avLst/>
          </a:prstGeom>
          <a:noFill/>
          <a:ln>
            <a:noFill/>
          </a:ln>
        </p:spPr>
      </p:pic>
      <p:pic>
        <p:nvPicPr>
          <p:cNvPr id="284" name="Google Shape;284;p21" descr="image.png"/>
          <p:cNvPicPr preferRelativeResize="0"/>
          <p:nvPr/>
        </p:nvPicPr>
        <p:blipFill rotWithShape="1">
          <a:blip r:embed="rId4">
            <a:alphaModFix/>
          </a:blip>
          <a:srcRect/>
          <a:stretch/>
        </p:blipFill>
        <p:spPr>
          <a:xfrm>
            <a:off x="6286500" y="1132582"/>
            <a:ext cx="5334000" cy="5526285"/>
          </a:xfrm>
          <a:prstGeom prst="rect">
            <a:avLst/>
          </a:prstGeom>
          <a:noFill/>
          <a:ln>
            <a:noFill/>
          </a:ln>
        </p:spPr>
      </p:pic>
      <p:pic>
        <p:nvPicPr>
          <p:cNvPr id="285" name="Google Shape;285;p21" descr="image.png"/>
          <p:cNvPicPr preferRelativeResize="0"/>
          <p:nvPr/>
        </p:nvPicPr>
        <p:blipFill rotWithShape="1">
          <a:blip r:embed="rId5">
            <a:alphaModFix/>
          </a:blip>
          <a:srcRect/>
          <a:stretch/>
        </p:blipFill>
        <p:spPr>
          <a:xfrm>
            <a:off x="914400" y="2942332"/>
            <a:ext cx="4648200" cy="440828"/>
          </a:xfrm>
          <a:prstGeom prst="rect">
            <a:avLst/>
          </a:prstGeom>
          <a:noFill/>
          <a:ln>
            <a:noFill/>
          </a:ln>
        </p:spPr>
      </p:pic>
      <p:pic>
        <p:nvPicPr>
          <p:cNvPr id="286" name="Google Shape;286;p21" descr="image.png"/>
          <p:cNvPicPr preferRelativeResize="0"/>
          <p:nvPr/>
        </p:nvPicPr>
        <p:blipFill rotWithShape="1">
          <a:blip r:embed="rId6">
            <a:alphaModFix/>
          </a:blip>
          <a:srcRect/>
          <a:stretch/>
        </p:blipFill>
        <p:spPr>
          <a:xfrm>
            <a:off x="914400" y="4592835"/>
            <a:ext cx="4648200" cy="440828"/>
          </a:xfrm>
          <a:prstGeom prst="rect">
            <a:avLst/>
          </a:prstGeom>
          <a:noFill/>
          <a:ln>
            <a:noFill/>
          </a:ln>
        </p:spPr>
      </p:pic>
      <p:pic>
        <p:nvPicPr>
          <p:cNvPr id="287" name="Google Shape;287;p21" descr="image.png"/>
          <p:cNvPicPr preferRelativeResize="0"/>
          <p:nvPr/>
        </p:nvPicPr>
        <p:blipFill rotWithShape="1">
          <a:blip r:embed="rId7">
            <a:alphaModFix/>
          </a:blip>
          <a:srcRect/>
          <a:stretch/>
        </p:blipFill>
        <p:spPr>
          <a:xfrm>
            <a:off x="6629400" y="3275707"/>
            <a:ext cx="4648200" cy="563760"/>
          </a:xfrm>
          <a:prstGeom prst="rect">
            <a:avLst/>
          </a:prstGeom>
          <a:noFill/>
          <a:ln>
            <a:noFill/>
          </a:ln>
        </p:spPr>
      </p:pic>
      <p:pic>
        <p:nvPicPr>
          <p:cNvPr id="288" name="Google Shape;288;p21" descr="image.png"/>
          <p:cNvPicPr preferRelativeResize="0"/>
          <p:nvPr/>
        </p:nvPicPr>
        <p:blipFill rotWithShape="1">
          <a:blip r:embed="rId8">
            <a:alphaModFix/>
          </a:blip>
          <a:srcRect/>
          <a:stretch/>
        </p:blipFill>
        <p:spPr>
          <a:xfrm>
            <a:off x="6629400" y="4539555"/>
            <a:ext cx="4648200" cy="704850"/>
          </a:xfrm>
          <a:prstGeom prst="rect">
            <a:avLst/>
          </a:prstGeom>
          <a:noFill/>
          <a:ln>
            <a:noFill/>
          </a:ln>
        </p:spPr>
      </p:pic>
      <p:sp>
        <p:nvSpPr>
          <p:cNvPr id="289" name="Google Shape;289;p21"/>
          <p:cNvSpPr txBox="1"/>
          <p:nvPr/>
        </p:nvSpPr>
        <p:spPr>
          <a:xfrm>
            <a:off x="295275" y="199132"/>
            <a:ext cx="11601450" cy="600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1" i="0" u="none" strike="noStrike" cap="none">
                <a:solidFill>
                  <a:srgbClr val="002855"/>
                </a:solidFill>
                <a:latin typeface="Poppins"/>
                <a:ea typeface="Poppins"/>
                <a:cs typeface="Poppins"/>
                <a:sym typeface="Poppins"/>
              </a:rPr>
              <a:t>Comportamiento y Casos Especiales</a:t>
            </a:r>
            <a:endParaRPr/>
          </a:p>
        </p:txBody>
      </p:sp>
      <p:sp>
        <p:nvSpPr>
          <p:cNvPr id="290" name="Google Shape;290;p21"/>
          <p:cNvSpPr txBox="1"/>
          <p:nvPr/>
        </p:nvSpPr>
        <p:spPr>
          <a:xfrm>
            <a:off x="914400" y="1475482"/>
            <a:ext cx="488061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0F172A"/>
                </a:solidFill>
                <a:latin typeface="Poppins SemiBold"/>
                <a:ea typeface="Poppins SemiBold"/>
                <a:cs typeface="Poppins SemiBold"/>
                <a:sym typeface="Poppins SemiBold"/>
              </a:rPr>
              <a:t>Comportamiento de una Sucesión</a:t>
            </a:r>
            <a:endParaRPr/>
          </a:p>
        </p:txBody>
      </p:sp>
      <p:sp>
        <p:nvSpPr>
          <p:cNvPr id="291" name="Google Shape;291;p21"/>
          <p:cNvSpPr txBox="1"/>
          <p:nvPr/>
        </p:nvSpPr>
        <p:spPr>
          <a:xfrm>
            <a:off x="914400" y="2113657"/>
            <a:ext cx="46482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Creciente:</a:t>
            </a:r>
            <a:r>
              <a:rPr lang="en-US" sz="1425" b="0" i="0" u="none" strike="noStrike" cap="none">
                <a:solidFill>
                  <a:srgbClr val="334155"/>
                </a:solidFill>
                <a:latin typeface="Lato"/>
                <a:ea typeface="Lato"/>
                <a:cs typeface="Lato"/>
                <a:sym typeface="Lato"/>
              </a:rPr>
              <a:t> Cada término es mayor o igual que el término anterior que le precede.</a:t>
            </a:r>
            <a:endParaRPr/>
          </a:p>
        </p:txBody>
      </p:sp>
      <p:sp>
        <p:nvSpPr>
          <p:cNvPr id="292" name="Google Shape;292;p21"/>
          <p:cNvSpPr txBox="1"/>
          <p:nvPr/>
        </p:nvSpPr>
        <p:spPr>
          <a:xfrm>
            <a:off x="914400" y="3764160"/>
            <a:ext cx="46482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Lato"/>
                <a:ea typeface="Lato"/>
                <a:cs typeface="Lato"/>
                <a:sym typeface="Lato"/>
              </a:rPr>
              <a:t>Decreciente:</a:t>
            </a:r>
            <a:r>
              <a:rPr lang="en-US" sz="1425" b="0" i="0" u="none" strike="noStrike" cap="none">
                <a:solidFill>
                  <a:srgbClr val="334155"/>
                </a:solidFill>
                <a:latin typeface="Lato"/>
                <a:ea typeface="Lato"/>
                <a:cs typeface="Lato"/>
                <a:sym typeface="Lato"/>
              </a:rPr>
              <a:t> Cada término es menor o igual que el término anterior que le precede.</a:t>
            </a:r>
            <a:endParaRPr/>
          </a:p>
        </p:txBody>
      </p:sp>
      <p:sp>
        <p:nvSpPr>
          <p:cNvPr id="293" name="Google Shape;293;p21"/>
          <p:cNvSpPr txBox="1"/>
          <p:nvPr/>
        </p:nvSpPr>
        <p:spPr>
          <a:xfrm>
            <a:off x="6629400" y="1475482"/>
            <a:ext cx="4880610"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B91C1C"/>
                </a:solidFill>
                <a:latin typeface="Poppins SemiBold"/>
                <a:ea typeface="Poppins SemiBold"/>
                <a:cs typeface="Poppins SemiBold"/>
                <a:sym typeface="Poppins SemiBold"/>
              </a:rPr>
              <a:t>Caso Especial: Sucesión Alternante (con Repetición)</a:t>
            </a:r>
            <a:endParaRPr/>
          </a:p>
        </p:txBody>
      </p:sp>
      <p:sp>
        <p:nvSpPr>
          <p:cNvPr id="294" name="Google Shape;294;p21"/>
          <p:cNvSpPr txBox="1"/>
          <p:nvPr/>
        </p:nvSpPr>
        <p:spPr>
          <a:xfrm>
            <a:off x="6629400" y="2447032"/>
            <a:ext cx="46482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Una sucesión puede repetir valores de forma rítmica u ordenada. Considere la fórmula con potencia n-ésima:</a:t>
            </a:r>
            <a:endParaRPr/>
          </a:p>
        </p:txBody>
      </p:sp>
      <p:sp>
        <p:nvSpPr>
          <p:cNvPr id="295" name="Google Shape;295;p21"/>
          <p:cNvSpPr txBox="1"/>
          <p:nvPr/>
        </p:nvSpPr>
        <p:spPr>
          <a:xfrm>
            <a:off x="6629400" y="3982342"/>
            <a:ext cx="46482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Lato"/>
                <a:ea typeface="Lato"/>
                <a:cs typeface="Lato"/>
                <a:sym typeface="Lato"/>
              </a:rPr>
              <a:t>Genera una secuencia infinita y alternante:</a:t>
            </a:r>
            <a:endParaRPr/>
          </a:p>
        </p:txBody>
      </p:sp>
      <p:sp>
        <p:nvSpPr>
          <p:cNvPr id="296" name="Google Shape;296;p21"/>
          <p:cNvSpPr txBox="1"/>
          <p:nvPr/>
        </p:nvSpPr>
        <p:spPr>
          <a:xfrm>
            <a:off x="6629400" y="5530155"/>
            <a:ext cx="4648200" cy="642937"/>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1" i="0" u="none" strike="noStrike" cap="none">
                <a:solidFill>
                  <a:srgbClr val="475569"/>
                </a:solidFill>
                <a:latin typeface="Lato"/>
                <a:ea typeface="Lato"/>
                <a:cs typeface="Lato"/>
                <a:sym typeface="Lato"/>
              </a:rPr>
              <a:t>Importante:</a:t>
            </a:r>
            <a:r>
              <a:rPr lang="en-US" sz="1125" b="0" i="0" u="none" strike="noStrike" cap="none">
                <a:solidFill>
                  <a:srgbClr val="475569"/>
                </a:solidFill>
                <a:latin typeface="Lato"/>
                <a:ea typeface="Lato"/>
                <a:cs typeface="Lato"/>
                <a:sym typeface="Lato"/>
              </a:rPr>
              <a:t> Esto no es simplemente el conjunto {1, -1}, sino una secuencia donde el </a:t>
            </a:r>
            <a:r>
              <a:rPr lang="en-US" sz="1125" b="1" i="0" u="none" strike="noStrike" cap="none">
                <a:solidFill>
                  <a:srgbClr val="475569"/>
                </a:solidFill>
                <a:latin typeface="Lato"/>
                <a:ea typeface="Lato"/>
                <a:cs typeface="Lato"/>
                <a:sym typeface="Lato"/>
              </a:rPr>
              <a:t>orden</a:t>
            </a:r>
            <a:r>
              <a:rPr lang="en-US" sz="1125" b="0" i="0" u="none" strike="noStrike" cap="none">
                <a:solidFill>
                  <a:srgbClr val="475569"/>
                </a:solidFill>
                <a:latin typeface="Lato"/>
                <a:ea typeface="Lato"/>
                <a:cs typeface="Lato"/>
                <a:sym typeface="Lato"/>
              </a:rPr>
              <a:t> posicional y la repetición de cada término son cruciales para definirla.</a:t>
            </a:r>
            <a:endParaRPr/>
          </a:p>
        </p:txBody>
      </p:sp>
      <p:pic>
        <p:nvPicPr>
          <p:cNvPr id="297" name="Google Shape;297;p21" descr="image.png"/>
          <p:cNvPicPr preferRelativeResize="0"/>
          <p:nvPr/>
        </p:nvPicPr>
        <p:blipFill rotWithShape="1">
          <a:blip r:embed="rId9">
            <a:alphaModFix/>
          </a:blip>
          <a:srcRect/>
          <a:stretch/>
        </p:blipFill>
        <p:spPr>
          <a:xfrm>
            <a:off x="2745581" y="3113782"/>
            <a:ext cx="985688" cy="174128"/>
          </a:xfrm>
          <a:prstGeom prst="rect">
            <a:avLst/>
          </a:prstGeom>
          <a:noFill/>
          <a:ln>
            <a:noFill/>
          </a:ln>
        </p:spPr>
      </p:pic>
      <p:pic>
        <p:nvPicPr>
          <p:cNvPr id="298" name="Google Shape;298;p21" descr="image.png"/>
          <p:cNvPicPr preferRelativeResize="0"/>
          <p:nvPr/>
        </p:nvPicPr>
        <p:blipFill rotWithShape="1">
          <a:blip r:embed="rId10">
            <a:alphaModFix/>
          </a:blip>
          <a:srcRect/>
          <a:stretch/>
        </p:blipFill>
        <p:spPr>
          <a:xfrm>
            <a:off x="2745581" y="4764285"/>
            <a:ext cx="985688" cy="174128"/>
          </a:xfrm>
          <a:prstGeom prst="rect">
            <a:avLst/>
          </a:prstGeom>
          <a:noFill/>
          <a:ln>
            <a:noFill/>
          </a:ln>
        </p:spPr>
      </p:pic>
      <p:pic>
        <p:nvPicPr>
          <p:cNvPr id="299" name="Google Shape;299;p21" descr="image.png"/>
          <p:cNvPicPr preferRelativeResize="0"/>
          <p:nvPr/>
        </p:nvPicPr>
        <p:blipFill rotWithShape="1">
          <a:blip r:embed="rId11">
            <a:alphaModFix/>
          </a:blip>
          <a:srcRect/>
          <a:stretch/>
        </p:blipFill>
        <p:spPr>
          <a:xfrm>
            <a:off x="7348239" y="3418582"/>
            <a:ext cx="3210520" cy="276225"/>
          </a:xfrm>
          <a:prstGeom prst="rect">
            <a:avLst/>
          </a:prstGeom>
          <a:noFill/>
          <a:ln>
            <a:noFill/>
          </a:ln>
        </p:spPr>
      </p:pic>
      <p:pic>
        <p:nvPicPr>
          <p:cNvPr id="300" name="Google Shape;300;p21" descr="image.png"/>
          <p:cNvPicPr preferRelativeResize="0"/>
          <p:nvPr/>
        </p:nvPicPr>
        <p:blipFill rotWithShape="1">
          <a:blip r:embed="rId12">
            <a:alphaModFix/>
          </a:blip>
          <a:srcRect/>
          <a:stretch/>
        </p:blipFill>
        <p:spPr>
          <a:xfrm>
            <a:off x="6977955" y="4768155"/>
            <a:ext cx="3951089" cy="266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1123950" y="1557337"/>
            <a:ext cx="9944100" cy="238125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1123950" y="4224337"/>
            <a:ext cx="9944100" cy="2295525"/>
          </a:xfrm>
          <a:prstGeom prst="rect">
            <a:avLst/>
          </a:prstGeom>
          <a:noFill/>
          <a:ln>
            <a:noFill/>
          </a:ln>
        </p:spPr>
      </p:pic>
      <p:sp>
        <p:nvSpPr>
          <p:cNvPr id="86" name="Google Shape;86;p13"/>
          <p:cNvSpPr txBox="1"/>
          <p:nvPr/>
        </p:nvSpPr>
        <p:spPr>
          <a:xfrm>
            <a:off x="1185386" y="338137"/>
            <a:ext cx="9821227" cy="571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750" b="1" i="0" u="none" strike="noStrike" cap="none">
                <a:solidFill>
                  <a:srgbClr val="1E293B"/>
                </a:solidFill>
                <a:latin typeface="Poppins"/>
                <a:ea typeface="Poppins"/>
                <a:cs typeface="Poppins"/>
                <a:sym typeface="Poppins"/>
              </a:rPr>
              <a:t>¿Qué es una Ecuación de Recurrencia?</a:t>
            </a:r>
            <a:endParaRPr/>
          </a:p>
        </p:txBody>
      </p:sp>
      <p:sp>
        <p:nvSpPr>
          <p:cNvPr id="87" name="Google Shape;87;p13"/>
          <p:cNvSpPr txBox="1"/>
          <p:nvPr/>
        </p:nvSpPr>
        <p:spPr>
          <a:xfrm>
            <a:off x="571500" y="1004887"/>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También conocida como relación de recurrencia.</a:t>
            </a:r>
            <a:endParaRPr/>
          </a:p>
        </p:txBody>
      </p:sp>
      <p:sp>
        <p:nvSpPr>
          <p:cNvPr id="88" name="Google Shape;88;p13"/>
          <p:cNvSpPr txBox="1"/>
          <p:nvPr/>
        </p:nvSpPr>
        <p:spPr>
          <a:xfrm>
            <a:off x="1514475" y="1947862"/>
            <a:ext cx="962120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1D4ED8"/>
                </a:solidFill>
                <a:latin typeface="Poppins SemiBold"/>
                <a:ea typeface="Poppins SemiBold"/>
                <a:cs typeface="Poppins SemiBold"/>
                <a:sym typeface="Poppins SemiBold"/>
              </a:rPr>
              <a:t>Definición Formal</a:t>
            </a:r>
            <a:endParaRPr/>
          </a:p>
        </p:txBody>
      </p:sp>
      <p:sp>
        <p:nvSpPr>
          <p:cNvPr id="89" name="Google Shape;89;p13"/>
          <p:cNvSpPr txBox="1"/>
          <p:nvPr/>
        </p:nvSpPr>
        <p:spPr>
          <a:xfrm>
            <a:off x="1514475" y="2490787"/>
            <a:ext cx="91630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Es una fórmula que define cada término de una sucesión utilizando los términos anteriores. En lugar de una regla explícita para encontrar cualquier término, proporciona un método para encontrar el siguiente término a partir de los que ya conoces.</a:t>
            </a:r>
            <a:endParaRPr/>
          </a:p>
        </p:txBody>
      </p:sp>
      <p:sp>
        <p:nvSpPr>
          <p:cNvPr id="90" name="Google Shape;90;p13"/>
          <p:cNvSpPr txBox="1"/>
          <p:nvPr/>
        </p:nvSpPr>
        <p:spPr>
          <a:xfrm>
            <a:off x="1504950" y="4605337"/>
            <a:ext cx="964120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E40AF"/>
                </a:solidFill>
                <a:latin typeface="Poppins SemiBold"/>
                <a:ea typeface="Poppins SemiBold"/>
                <a:cs typeface="Poppins SemiBold"/>
                <a:sym typeface="Poppins SemiBold"/>
              </a:rPr>
              <a:t>En otras palabras:</a:t>
            </a:r>
            <a:endParaRPr/>
          </a:p>
        </p:txBody>
      </p:sp>
      <p:sp>
        <p:nvSpPr>
          <p:cNvPr id="91" name="Google Shape;91;p13"/>
          <p:cNvSpPr txBox="1"/>
          <p:nvPr/>
        </p:nvSpPr>
        <p:spPr>
          <a:xfrm>
            <a:off x="1504950" y="5081587"/>
            <a:ext cx="9182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1E40AF"/>
                </a:solidFill>
                <a:latin typeface="Lato"/>
                <a:ea typeface="Lato"/>
                <a:cs typeface="Lato"/>
                <a:sym typeface="Lato"/>
              </a:rPr>
              <a:t>"Hasta ahora hemos visto sucesiones donde podemos calcular directamente el valor de cualquier término. Pero a veces, una sucesión se define de otra manera. En su lugar, te dicen: 'para saber el siguiente valor, usa los anteriores'. A eso se le llama ecuación de recurrencia."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14" descr="image.png"/>
          <p:cNvPicPr preferRelativeResize="0"/>
          <p:nvPr/>
        </p:nvPicPr>
        <p:blipFill rotWithShape="1">
          <a:blip r:embed="rId3">
            <a:alphaModFix/>
          </a:blip>
          <a:srcRect/>
          <a:stretch/>
        </p:blipFill>
        <p:spPr>
          <a:xfrm>
            <a:off x="571500" y="4847183"/>
            <a:ext cx="11049000" cy="1533525"/>
          </a:xfrm>
          <a:prstGeom prst="rect">
            <a:avLst/>
          </a:prstGeom>
          <a:noFill/>
          <a:ln>
            <a:noFill/>
          </a:ln>
        </p:spPr>
      </p:pic>
      <p:pic>
        <p:nvPicPr>
          <p:cNvPr id="97" name="Google Shape;97;p14" descr="image.png"/>
          <p:cNvPicPr preferRelativeResize="0"/>
          <p:nvPr/>
        </p:nvPicPr>
        <p:blipFill rotWithShape="1">
          <a:blip r:embed="rId4">
            <a:alphaModFix/>
          </a:blip>
          <a:srcRect/>
          <a:stretch/>
        </p:blipFill>
        <p:spPr>
          <a:xfrm>
            <a:off x="571500" y="1695450"/>
            <a:ext cx="5334000" cy="2723108"/>
          </a:xfrm>
          <a:prstGeom prst="rect">
            <a:avLst/>
          </a:prstGeom>
          <a:noFill/>
          <a:ln>
            <a:noFill/>
          </a:ln>
        </p:spPr>
      </p:pic>
      <p:pic>
        <p:nvPicPr>
          <p:cNvPr id="98" name="Google Shape;98;p14" descr="image.png"/>
          <p:cNvPicPr preferRelativeResize="0"/>
          <p:nvPr/>
        </p:nvPicPr>
        <p:blipFill rotWithShape="1">
          <a:blip r:embed="rId5">
            <a:alphaModFix/>
          </a:blip>
          <a:srcRect/>
          <a:stretch/>
        </p:blipFill>
        <p:spPr>
          <a:xfrm>
            <a:off x="6286500" y="1695450"/>
            <a:ext cx="5334000" cy="2723108"/>
          </a:xfrm>
          <a:prstGeom prst="rect">
            <a:avLst/>
          </a:prstGeom>
          <a:noFill/>
          <a:ln>
            <a:noFill/>
          </a:ln>
        </p:spPr>
      </p:pic>
      <p:pic>
        <p:nvPicPr>
          <p:cNvPr id="99" name="Google Shape;99;p14" descr="image.png"/>
          <p:cNvPicPr preferRelativeResize="0"/>
          <p:nvPr/>
        </p:nvPicPr>
        <p:blipFill rotWithShape="1">
          <a:blip r:embed="rId6">
            <a:alphaModFix/>
          </a:blip>
          <a:srcRect/>
          <a:stretch/>
        </p:blipFill>
        <p:spPr>
          <a:xfrm>
            <a:off x="866775" y="3467100"/>
            <a:ext cx="4743450" cy="513308"/>
          </a:xfrm>
          <a:prstGeom prst="rect">
            <a:avLst/>
          </a:prstGeom>
          <a:noFill/>
          <a:ln>
            <a:noFill/>
          </a:ln>
        </p:spPr>
      </p:pic>
      <p:pic>
        <p:nvPicPr>
          <p:cNvPr id="100" name="Google Shape;100;p14" descr="image.png"/>
          <p:cNvPicPr preferRelativeResize="0"/>
          <p:nvPr/>
        </p:nvPicPr>
        <p:blipFill rotWithShape="1">
          <a:blip r:embed="rId7">
            <a:alphaModFix/>
          </a:blip>
          <a:srcRect/>
          <a:stretch/>
        </p:blipFill>
        <p:spPr>
          <a:xfrm>
            <a:off x="6581775" y="3469630"/>
            <a:ext cx="4743450" cy="510778"/>
          </a:xfrm>
          <a:prstGeom prst="rect">
            <a:avLst/>
          </a:prstGeom>
          <a:noFill/>
          <a:ln>
            <a:noFill/>
          </a:ln>
        </p:spPr>
      </p:pic>
      <p:sp>
        <p:nvSpPr>
          <p:cNvPr id="101" name="Google Shape;101;p14"/>
          <p:cNvSpPr txBox="1"/>
          <p:nvPr/>
        </p:nvSpPr>
        <p:spPr>
          <a:xfrm>
            <a:off x="1990486" y="476250"/>
            <a:ext cx="8211026" cy="571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750" b="1" i="0" u="none" strike="noStrike" cap="none">
                <a:solidFill>
                  <a:srgbClr val="1E293B"/>
                </a:solidFill>
                <a:latin typeface="Poppins"/>
                <a:ea typeface="Poppins"/>
                <a:cs typeface="Poppins"/>
                <a:sym typeface="Poppins"/>
              </a:rPr>
              <a:t>Dos Caras de la Misma Sucesión</a:t>
            </a:r>
            <a:endParaRPr/>
          </a:p>
        </p:txBody>
      </p:sp>
      <p:sp>
        <p:nvSpPr>
          <p:cNvPr id="102" name="Google Shape;102;p14"/>
          <p:cNvSpPr txBox="1"/>
          <p:nvPr/>
        </p:nvSpPr>
        <p:spPr>
          <a:xfrm>
            <a:off x="571500" y="1143000"/>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Fórmula Explícita vs. Ecuación de Recurrencia</a:t>
            </a:r>
            <a:endParaRPr/>
          </a:p>
        </p:txBody>
      </p:sp>
      <p:sp>
        <p:nvSpPr>
          <p:cNvPr id="103" name="Google Shape;103;p14"/>
          <p:cNvSpPr txBox="1"/>
          <p:nvPr/>
        </p:nvSpPr>
        <p:spPr>
          <a:xfrm>
            <a:off x="654129" y="5142458"/>
            <a:ext cx="10931366"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854D0E"/>
                </a:solidFill>
                <a:latin typeface="Poppins SemiBold"/>
                <a:ea typeface="Poppins SemiBold"/>
                <a:cs typeface="Poppins SemiBold"/>
                <a:sym typeface="Poppins SemiBold"/>
              </a:rPr>
              <a:t>El Propósito de la Verificación</a:t>
            </a:r>
            <a:endParaRPr/>
          </a:p>
        </p:txBody>
      </p:sp>
      <p:sp>
        <p:nvSpPr>
          <p:cNvPr id="104" name="Google Shape;104;p14"/>
          <p:cNvSpPr txBox="1"/>
          <p:nvPr/>
        </p:nvSpPr>
        <p:spPr>
          <a:xfrm>
            <a:off x="914400" y="5571083"/>
            <a:ext cx="10410825" cy="5143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713F12"/>
                </a:solidFill>
                <a:latin typeface="Lato"/>
                <a:ea typeface="Lato"/>
                <a:cs typeface="Lato"/>
                <a:sym typeface="Lato"/>
              </a:rPr>
              <a:t>Es simplemente </a:t>
            </a:r>
            <a:r>
              <a:rPr lang="en-US" sz="1350" b="1" i="0" u="none" strike="noStrike" cap="none">
                <a:solidFill>
                  <a:srgbClr val="713F12"/>
                </a:solidFill>
                <a:latin typeface="Lato"/>
                <a:ea typeface="Lato"/>
                <a:cs typeface="Lato"/>
                <a:sym typeface="Lato"/>
              </a:rPr>
              <a:t>probar que ambas fórmulas</a:t>
            </a:r>
            <a:r>
              <a:rPr lang="en-US" sz="1350" b="0" i="0" u="none" strike="noStrike" cap="none">
                <a:solidFill>
                  <a:srgbClr val="713F12"/>
                </a:solidFill>
                <a:latin typeface="Lato"/>
                <a:ea typeface="Lato"/>
                <a:cs typeface="Lato"/>
                <a:sym typeface="Lato"/>
              </a:rPr>
              <a:t>, aunque luzcan diferentes, </a:t>
            </a:r>
            <a:r>
              <a:rPr lang="en-US" sz="1350" b="1" i="0" u="none" strike="noStrike" cap="none">
                <a:solidFill>
                  <a:srgbClr val="713F12"/>
                </a:solidFill>
                <a:latin typeface="Lato"/>
                <a:ea typeface="Lato"/>
                <a:cs typeface="Lato"/>
                <a:sym typeface="Lato"/>
              </a:rPr>
              <a:t>producen la misma secuencia de números</a:t>
            </a:r>
            <a:r>
              <a:rPr lang="en-US" sz="1350" b="0" i="0" u="none" strike="noStrike" cap="none">
                <a:solidFill>
                  <a:srgbClr val="713F12"/>
                </a:solidFill>
                <a:latin typeface="Lato"/>
                <a:ea typeface="Lato"/>
                <a:cs typeface="Lato"/>
                <a:sym typeface="Lato"/>
              </a:rPr>
              <a:t>. Al hacerlo, demostramos que son dos lenguajes distintos para describir el mismo patrón.</a:t>
            </a:r>
            <a:endParaRPr/>
          </a:p>
        </p:txBody>
      </p:sp>
      <p:sp>
        <p:nvSpPr>
          <p:cNvPr id="105" name="Google Shape;105;p14"/>
          <p:cNvSpPr txBox="1"/>
          <p:nvPr/>
        </p:nvSpPr>
        <p:spPr>
          <a:xfrm>
            <a:off x="748188" y="2028825"/>
            <a:ext cx="4980622" cy="3143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1D4ED8"/>
                </a:solidFill>
                <a:latin typeface="Poppins SemiBold"/>
                <a:ea typeface="Poppins SemiBold"/>
                <a:cs typeface="Poppins SemiBold"/>
                <a:sym typeface="Poppins SemiBold"/>
              </a:rPr>
              <a:t>Fórmula Explícita (El GPS)</a:t>
            </a:r>
            <a:endParaRPr/>
          </a:p>
        </p:txBody>
      </p:sp>
      <p:sp>
        <p:nvSpPr>
          <p:cNvPr id="106" name="Google Shape;106;p14"/>
          <p:cNvSpPr txBox="1"/>
          <p:nvPr/>
        </p:nvSpPr>
        <p:spPr>
          <a:xfrm>
            <a:off x="866775" y="2552700"/>
            <a:ext cx="4743450"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Calcula cualquier término directamente. Su poder es que nos da un atajo para llegar a cualquier punto de la secuencia, sin importar lo lejos que esté.</a:t>
            </a:r>
            <a:endParaRPr/>
          </a:p>
        </p:txBody>
      </p:sp>
      <p:sp>
        <p:nvSpPr>
          <p:cNvPr id="107" name="Google Shape;107;p14"/>
          <p:cNvSpPr txBox="1"/>
          <p:nvPr/>
        </p:nvSpPr>
        <p:spPr>
          <a:xfrm>
            <a:off x="6463188" y="2028825"/>
            <a:ext cx="4980622" cy="3143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15803D"/>
                </a:solidFill>
                <a:latin typeface="Poppins SemiBold"/>
                <a:ea typeface="Poppins SemiBold"/>
                <a:cs typeface="Poppins SemiBold"/>
                <a:sym typeface="Poppins SemiBold"/>
              </a:rPr>
              <a:t>Ecuación de Recurrencia (La Receta)</a:t>
            </a:r>
            <a:endParaRPr/>
          </a:p>
        </p:txBody>
      </p:sp>
      <p:sp>
        <p:nvSpPr>
          <p:cNvPr id="108" name="Google Shape;108;p14"/>
          <p:cNvSpPr txBox="1"/>
          <p:nvPr/>
        </p:nvSpPr>
        <p:spPr>
          <a:xfrm>
            <a:off x="6581775" y="2552700"/>
            <a:ext cx="4743450"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Usa los términos anteriores para encontrar el siguiente. Modela de forma natural procesos que evolucionan paso a paso, donde el futuro depende del presente.</a:t>
            </a:r>
            <a:endParaRPr/>
          </a:p>
        </p:txBody>
      </p:sp>
      <p:pic>
        <p:nvPicPr>
          <p:cNvPr id="109" name="Google Shape;109;p14" descr="image.png"/>
          <p:cNvPicPr preferRelativeResize="0"/>
          <p:nvPr/>
        </p:nvPicPr>
        <p:blipFill rotWithShape="1">
          <a:blip r:embed="rId8">
            <a:alphaModFix/>
          </a:blip>
          <a:srcRect/>
          <a:stretch/>
        </p:blipFill>
        <p:spPr>
          <a:xfrm>
            <a:off x="2376487" y="3619500"/>
            <a:ext cx="1724025" cy="208508"/>
          </a:xfrm>
          <a:prstGeom prst="rect">
            <a:avLst/>
          </a:prstGeom>
          <a:noFill/>
          <a:ln>
            <a:noFill/>
          </a:ln>
        </p:spPr>
      </p:pic>
      <p:pic>
        <p:nvPicPr>
          <p:cNvPr id="110" name="Google Shape;110;p14" descr="image.png"/>
          <p:cNvPicPr preferRelativeResize="0"/>
          <p:nvPr/>
        </p:nvPicPr>
        <p:blipFill rotWithShape="1">
          <a:blip r:embed="rId9">
            <a:alphaModFix/>
          </a:blip>
          <a:srcRect/>
          <a:stretch/>
        </p:blipFill>
        <p:spPr>
          <a:xfrm>
            <a:off x="7942361" y="3641080"/>
            <a:ext cx="2022276" cy="18692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15" descr="image.png"/>
          <p:cNvPicPr preferRelativeResize="0"/>
          <p:nvPr/>
        </p:nvPicPr>
        <p:blipFill rotWithShape="1">
          <a:blip r:embed="rId3">
            <a:alphaModFix/>
          </a:blip>
          <a:srcRect/>
          <a:stretch/>
        </p:blipFill>
        <p:spPr>
          <a:xfrm>
            <a:off x="571500" y="1362075"/>
            <a:ext cx="5334000" cy="4101703"/>
          </a:xfrm>
          <a:prstGeom prst="rect">
            <a:avLst/>
          </a:prstGeom>
          <a:noFill/>
          <a:ln>
            <a:noFill/>
          </a:ln>
        </p:spPr>
      </p:pic>
      <p:pic>
        <p:nvPicPr>
          <p:cNvPr id="116" name="Google Shape;116;p15" descr="image.png"/>
          <p:cNvPicPr preferRelativeResize="0"/>
          <p:nvPr/>
        </p:nvPicPr>
        <p:blipFill rotWithShape="1">
          <a:blip r:embed="rId4">
            <a:alphaModFix/>
          </a:blip>
          <a:srcRect/>
          <a:stretch/>
        </p:blipFill>
        <p:spPr>
          <a:xfrm>
            <a:off x="6286500" y="1362075"/>
            <a:ext cx="5334000" cy="4101703"/>
          </a:xfrm>
          <a:prstGeom prst="rect">
            <a:avLst/>
          </a:prstGeom>
          <a:noFill/>
          <a:ln>
            <a:noFill/>
          </a:ln>
        </p:spPr>
      </p:pic>
      <p:pic>
        <p:nvPicPr>
          <p:cNvPr id="117" name="Google Shape;117;p15" descr="image.png"/>
          <p:cNvPicPr preferRelativeResize="0"/>
          <p:nvPr/>
        </p:nvPicPr>
        <p:blipFill rotWithShape="1">
          <a:blip r:embed="rId5">
            <a:alphaModFix/>
          </a:blip>
          <a:srcRect/>
          <a:stretch/>
        </p:blipFill>
        <p:spPr>
          <a:xfrm>
            <a:off x="866775" y="2886075"/>
            <a:ext cx="4743450" cy="513308"/>
          </a:xfrm>
          <a:prstGeom prst="rect">
            <a:avLst/>
          </a:prstGeom>
          <a:noFill/>
          <a:ln>
            <a:noFill/>
          </a:ln>
        </p:spPr>
      </p:pic>
      <p:pic>
        <p:nvPicPr>
          <p:cNvPr id="118" name="Google Shape;118;p15" descr="image.png"/>
          <p:cNvPicPr preferRelativeResize="0"/>
          <p:nvPr/>
        </p:nvPicPr>
        <p:blipFill rotWithShape="1">
          <a:blip r:embed="rId6">
            <a:alphaModFix/>
          </a:blip>
          <a:srcRect/>
          <a:stretch/>
        </p:blipFill>
        <p:spPr>
          <a:xfrm>
            <a:off x="6581775" y="2628900"/>
            <a:ext cx="4743450" cy="510778"/>
          </a:xfrm>
          <a:prstGeom prst="rect">
            <a:avLst/>
          </a:prstGeom>
          <a:noFill/>
          <a:ln>
            <a:noFill/>
          </a:ln>
        </p:spPr>
      </p:pic>
      <p:sp>
        <p:nvSpPr>
          <p:cNvPr id="119" name="Google Shape;119;p15"/>
          <p:cNvSpPr txBox="1"/>
          <p:nvPr/>
        </p:nvSpPr>
        <p:spPr>
          <a:xfrm>
            <a:off x="571500" y="476250"/>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Poppins"/>
                <a:ea typeface="Poppins"/>
                <a:cs typeface="Poppins"/>
                <a:sym typeface="Poppins"/>
              </a:rPr>
              <a:t>Verificación de Recurrencia - Parte 1: Planteamiento</a:t>
            </a:r>
            <a:endParaRPr/>
          </a:p>
        </p:txBody>
      </p:sp>
      <p:sp>
        <p:nvSpPr>
          <p:cNvPr id="120" name="Google Shape;120;p15"/>
          <p:cNvSpPr/>
          <p:nvPr/>
        </p:nvSpPr>
        <p:spPr>
          <a:xfrm>
            <a:off x="571500" y="1143000"/>
            <a:ext cx="11049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1" name="Google Shape;121;p15"/>
          <p:cNvSpPr txBox="1"/>
          <p:nvPr/>
        </p:nvSpPr>
        <p:spPr>
          <a:xfrm>
            <a:off x="866775" y="1657350"/>
            <a:ext cx="498062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1E40AF"/>
                </a:solidFill>
                <a:latin typeface="Poppins SemiBold"/>
                <a:ea typeface="Poppins SemiBold"/>
                <a:cs typeface="Poppins SemiBold"/>
                <a:sym typeface="Poppins SemiBold"/>
              </a:rPr>
              <a:t>1. La Sucesión Explícita</a:t>
            </a:r>
            <a:endParaRPr/>
          </a:p>
        </p:txBody>
      </p:sp>
      <p:sp>
        <p:nvSpPr>
          <p:cNvPr id="122" name="Google Shape;122;p15"/>
          <p:cNvSpPr txBox="1"/>
          <p:nvPr/>
        </p:nvSpPr>
        <p:spPr>
          <a:xfrm>
            <a:off x="866775" y="2085975"/>
            <a:ext cx="47434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Tenemos una sucesión definida por la siguiente fórmula explícita:</a:t>
            </a:r>
            <a:endParaRPr/>
          </a:p>
        </p:txBody>
      </p:sp>
      <p:sp>
        <p:nvSpPr>
          <p:cNvPr id="123" name="Google Shape;123;p15"/>
          <p:cNvSpPr txBox="1"/>
          <p:nvPr/>
        </p:nvSpPr>
        <p:spPr>
          <a:xfrm>
            <a:off x="866775" y="3542258"/>
            <a:ext cx="47434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Con esta fórmula podemos calcular cualquier término directamente. Por ejemplo:</a:t>
            </a:r>
            <a:endParaRPr/>
          </a:p>
        </p:txBody>
      </p:sp>
      <p:sp>
        <p:nvSpPr>
          <p:cNvPr id="124" name="Google Shape;124;p15"/>
          <p:cNvSpPr txBox="1"/>
          <p:nvPr/>
        </p:nvSpPr>
        <p:spPr>
          <a:xfrm>
            <a:off x="6581775" y="1657350"/>
            <a:ext cx="498062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F172A"/>
                </a:solidFill>
                <a:latin typeface="Poppins SemiBold"/>
                <a:ea typeface="Poppins SemiBold"/>
                <a:cs typeface="Poppins SemiBold"/>
                <a:sym typeface="Poppins SemiBold"/>
              </a:rPr>
              <a:t>2. La Ecuación de Recurrencia</a:t>
            </a:r>
            <a:endParaRPr/>
          </a:p>
        </p:txBody>
      </p:sp>
      <p:sp>
        <p:nvSpPr>
          <p:cNvPr id="125" name="Google Shape;125;p15"/>
          <p:cNvSpPr txBox="1"/>
          <p:nvPr/>
        </p:nvSpPr>
        <p:spPr>
          <a:xfrm>
            <a:off x="6581775" y="2085975"/>
            <a:ext cx="47434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Ahora, se nos presenta una ecuación de recurrencia:</a:t>
            </a:r>
            <a:endParaRPr/>
          </a:p>
        </p:txBody>
      </p:sp>
      <p:sp>
        <p:nvSpPr>
          <p:cNvPr id="126" name="Google Shape;126;p15"/>
          <p:cNvSpPr txBox="1"/>
          <p:nvPr/>
        </p:nvSpPr>
        <p:spPr>
          <a:xfrm>
            <a:off x="6581775" y="3568303"/>
            <a:ext cx="498062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F172A"/>
                </a:solidFill>
                <a:latin typeface="Poppins SemiBold"/>
                <a:ea typeface="Poppins SemiBold"/>
                <a:cs typeface="Poppins SemiBold"/>
                <a:sym typeface="Poppins SemiBold"/>
              </a:rPr>
              <a:t>El Objetivo</a:t>
            </a:r>
            <a:endParaRPr/>
          </a:p>
        </p:txBody>
      </p:sp>
      <p:sp>
        <p:nvSpPr>
          <p:cNvPr id="127" name="Google Shape;127;p15"/>
          <p:cNvSpPr txBox="1"/>
          <p:nvPr/>
        </p:nvSpPr>
        <p:spPr>
          <a:xfrm>
            <a:off x="6581775" y="3996928"/>
            <a:ext cx="4743450" cy="1028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Nuestro objetivo es </a:t>
            </a:r>
            <a:r>
              <a:rPr lang="en-US" sz="1350" b="1" i="0" u="none" strike="noStrike" cap="none">
                <a:solidFill>
                  <a:srgbClr val="334155"/>
                </a:solidFill>
                <a:latin typeface="Lato"/>
                <a:ea typeface="Lato"/>
                <a:cs typeface="Lato"/>
                <a:sym typeface="Lato"/>
              </a:rPr>
              <a:t>demostrar</a:t>
            </a:r>
            <a:r>
              <a:rPr lang="en-US" sz="1350" b="0" i="0" u="none" strike="noStrike" cap="none">
                <a:solidFill>
                  <a:srgbClr val="334155"/>
                </a:solidFill>
                <a:latin typeface="Lato"/>
                <a:ea typeface="Lato"/>
                <a:cs typeface="Lato"/>
                <a:sym typeface="Lato"/>
              </a:rPr>
              <a:t> que la fórmula explícita del paso 1 es una solución válida para esta ecuación de recurrencia. En otras palabras, debemos probar que ambas definiciones generan exactamente la misma sucesión.</a:t>
            </a:r>
            <a:endParaRPr/>
          </a:p>
        </p:txBody>
      </p:sp>
      <p:pic>
        <p:nvPicPr>
          <p:cNvPr id="128" name="Google Shape;128;p15" descr="image.png"/>
          <p:cNvPicPr preferRelativeResize="0"/>
          <p:nvPr/>
        </p:nvPicPr>
        <p:blipFill rotWithShape="1">
          <a:blip r:embed="rId7">
            <a:alphaModFix/>
          </a:blip>
          <a:srcRect/>
          <a:stretch/>
        </p:blipFill>
        <p:spPr>
          <a:xfrm>
            <a:off x="1901874" y="3038475"/>
            <a:ext cx="2673101" cy="208508"/>
          </a:xfrm>
          <a:prstGeom prst="rect">
            <a:avLst/>
          </a:prstGeom>
          <a:noFill/>
          <a:ln>
            <a:noFill/>
          </a:ln>
        </p:spPr>
      </p:pic>
      <p:pic>
        <p:nvPicPr>
          <p:cNvPr id="129" name="Google Shape;129;p15" descr="image.png"/>
          <p:cNvPicPr preferRelativeResize="0"/>
          <p:nvPr/>
        </p:nvPicPr>
        <p:blipFill rotWithShape="1">
          <a:blip r:embed="rId8">
            <a:alphaModFix/>
          </a:blip>
          <a:srcRect/>
          <a:stretch/>
        </p:blipFill>
        <p:spPr>
          <a:xfrm>
            <a:off x="866775" y="4199483"/>
            <a:ext cx="2219325" cy="237083"/>
          </a:xfrm>
          <a:prstGeom prst="rect">
            <a:avLst/>
          </a:prstGeom>
          <a:noFill/>
          <a:ln>
            <a:noFill/>
          </a:ln>
        </p:spPr>
      </p:pic>
      <p:pic>
        <p:nvPicPr>
          <p:cNvPr id="130" name="Google Shape;130;p15" descr="image.png"/>
          <p:cNvPicPr preferRelativeResize="0"/>
          <p:nvPr/>
        </p:nvPicPr>
        <p:blipFill rotWithShape="1">
          <a:blip r:embed="rId9">
            <a:alphaModFix/>
          </a:blip>
          <a:srcRect/>
          <a:stretch/>
        </p:blipFill>
        <p:spPr>
          <a:xfrm>
            <a:off x="866775" y="4531816"/>
            <a:ext cx="2428875" cy="227558"/>
          </a:xfrm>
          <a:prstGeom prst="rect">
            <a:avLst/>
          </a:prstGeom>
          <a:noFill/>
          <a:ln>
            <a:noFill/>
          </a:ln>
        </p:spPr>
      </p:pic>
      <p:pic>
        <p:nvPicPr>
          <p:cNvPr id="131" name="Google Shape;131;p15" descr="image.png"/>
          <p:cNvPicPr preferRelativeResize="0"/>
          <p:nvPr/>
        </p:nvPicPr>
        <p:blipFill rotWithShape="1">
          <a:blip r:embed="rId10">
            <a:alphaModFix/>
          </a:blip>
          <a:srcRect/>
          <a:stretch/>
        </p:blipFill>
        <p:spPr>
          <a:xfrm>
            <a:off x="8151911" y="2809875"/>
            <a:ext cx="1603176" cy="1774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16" descr="image.png"/>
          <p:cNvPicPr preferRelativeResize="0"/>
          <p:nvPr/>
        </p:nvPicPr>
        <p:blipFill rotWithShape="1">
          <a:blip r:embed="rId3">
            <a:alphaModFix/>
          </a:blip>
          <a:srcRect/>
          <a:stretch/>
        </p:blipFill>
        <p:spPr>
          <a:xfrm>
            <a:off x="571500" y="1418927"/>
            <a:ext cx="11049000" cy="4505920"/>
          </a:xfrm>
          <a:prstGeom prst="rect">
            <a:avLst/>
          </a:prstGeom>
          <a:noFill/>
          <a:ln>
            <a:noFill/>
          </a:ln>
        </p:spPr>
      </p:pic>
      <p:pic>
        <p:nvPicPr>
          <p:cNvPr id="137" name="Google Shape;137;p16" descr="image.png"/>
          <p:cNvPicPr preferRelativeResize="0"/>
          <p:nvPr/>
        </p:nvPicPr>
        <p:blipFill rotWithShape="1">
          <a:blip r:embed="rId4">
            <a:alphaModFix/>
          </a:blip>
          <a:srcRect/>
          <a:stretch/>
        </p:blipFill>
        <p:spPr>
          <a:xfrm>
            <a:off x="571500" y="6067722"/>
            <a:ext cx="11049000" cy="657225"/>
          </a:xfrm>
          <a:prstGeom prst="rect">
            <a:avLst/>
          </a:prstGeom>
          <a:noFill/>
          <a:ln>
            <a:noFill/>
          </a:ln>
        </p:spPr>
      </p:pic>
      <p:pic>
        <p:nvPicPr>
          <p:cNvPr id="138" name="Google Shape;138;p16" descr="image.png"/>
          <p:cNvPicPr preferRelativeResize="0"/>
          <p:nvPr/>
        </p:nvPicPr>
        <p:blipFill rotWithShape="1">
          <a:blip r:embed="rId5">
            <a:alphaModFix/>
          </a:blip>
          <a:srcRect/>
          <a:stretch/>
        </p:blipFill>
        <p:spPr>
          <a:xfrm>
            <a:off x="771525" y="1618952"/>
            <a:ext cx="10648950" cy="840730"/>
          </a:xfrm>
          <a:prstGeom prst="rect">
            <a:avLst/>
          </a:prstGeom>
          <a:noFill/>
          <a:ln>
            <a:noFill/>
          </a:ln>
        </p:spPr>
      </p:pic>
      <p:pic>
        <p:nvPicPr>
          <p:cNvPr id="139" name="Google Shape;139;p16" descr="image.png"/>
          <p:cNvPicPr preferRelativeResize="0"/>
          <p:nvPr/>
        </p:nvPicPr>
        <p:blipFill rotWithShape="1">
          <a:blip r:embed="rId6">
            <a:alphaModFix/>
          </a:blip>
          <a:srcRect/>
          <a:stretch/>
        </p:blipFill>
        <p:spPr>
          <a:xfrm>
            <a:off x="771525" y="2669232"/>
            <a:ext cx="10648950" cy="840730"/>
          </a:xfrm>
          <a:prstGeom prst="rect">
            <a:avLst/>
          </a:prstGeom>
          <a:noFill/>
          <a:ln>
            <a:noFill/>
          </a:ln>
        </p:spPr>
      </p:pic>
      <p:pic>
        <p:nvPicPr>
          <p:cNvPr id="140" name="Google Shape;140;p16" descr="image.png"/>
          <p:cNvPicPr preferRelativeResize="0"/>
          <p:nvPr/>
        </p:nvPicPr>
        <p:blipFill rotWithShape="1">
          <a:blip r:embed="rId7">
            <a:alphaModFix/>
          </a:blip>
          <a:srcRect/>
          <a:stretch/>
        </p:blipFill>
        <p:spPr>
          <a:xfrm>
            <a:off x="771525" y="3719512"/>
            <a:ext cx="10648950" cy="840730"/>
          </a:xfrm>
          <a:prstGeom prst="rect">
            <a:avLst/>
          </a:prstGeom>
          <a:noFill/>
          <a:ln>
            <a:noFill/>
          </a:ln>
        </p:spPr>
      </p:pic>
      <p:pic>
        <p:nvPicPr>
          <p:cNvPr id="141" name="Google Shape;141;p16" descr="image.png"/>
          <p:cNvPicPr preferRelativeResize="0"/>
          <p:nvPr/>
        </p:nvPicPr>
        <p:blipFill rotWithShape="1">
          <a:blip r:embed="rId8">
            <a:alphaModFix/>
          </a:blip>
          <a:srcRect/>
          <a:stretch/>
        </p:blipFill>
        <p:spPr>
          <a:xfrm>
            <a:off x="771525" y="4769792"/>
            <a:ext cx="10648950" cy="840730"/>
          </a:xfrm>
          <a:prstGeom prst="rect">
            <a:avLst/>
          </a:prstGeom>
          <a:noFill/>
          <a:ln>
            <a:noFill/>
          </a:ln>
        </p:spPr>
      </p:pic>
      <p:sp>
        <p:nvSpPr>
          <p:cNvPr id="142" name="Google Shape;142;p16"/>
          <p:cNvSpPr txBox="1"/>
          <p:nvPr/>
        </p:nvSpPr>
        <p:spPr>
          <a:xfrm>
            <a:off x="571500" y="133052"/>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Poppins"/>
                <a:ea typeface="Poppins"/>
                <a:cs typeface="Poppins"/>
                <a:sym typeface="Poppins"/>
              </a:rPr>
              <a:t>Verificación - Parte 2: Desarrollo Algebraico</a:t>
            </a:r>
            <a:endParaRPr/>
          </a:p>
        </p:txBody>
      </p:sp>
      <p:sp>
        <p:nvSpPr>
          <p:cNvPr id="143" name="Google Shape;143;p16"/>
          <p:cNvSpPr/>
          <p:nvPr/>
        </p:nvSpPr>
        <p:spPr>
          <a:xfrm>
            <a:off x="571500" y="799802"/>
            <a:ext cx="11049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4" name="Google Shape;144;p16"/>
          <p:cNvSpPr txBox="1"/>
          <p:nvPr/>
        </p:nvSpPr>
        <p:spPr>
          <a:xfrm>
            <a:off x="571500" y="1018877"/>
            <a:ext cx="7958137"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Tomamos el lado derecho de la ecuación de recurrencia y sustituimos la fórmula explícita para y .</a:t>
            </a:r>
            <a:endParaRPr/>
          </a:p>
        </p:txBody>
      </p:sp>
      <p:pic>
        <p:nvPicPr>
          <p:cNvPr id="145" name="Google Shape;145;p16" descr="image.png"/>
          <p:cNvPicPr preferRelativeResize="0"/>
          <p:nvPr/>
        </p:nvPicPr>
        <p:blipFill rotWithShape="1">
          <a:blip r:embed="rId9">
            <a:alphaModFix/>
          </a:blip>
          <a:srcRect/>
          <a:stretch/>
        </p:blipFill>
        <p:spPr>
          <a:xfrm>
            <a:off x="7439025" y="1104602"/>
            <a:ext cx="454818" cy="163859"/>
          </a:xfrm>
          <a:prstGeom prst="rect">
            <a:avLst/>
          </a:prstGeom>
          <a:noFill/>
          <a:ln>
            <a:noFill/>
          </a:ln>
        </p:spPr>
      </p:pic>
      <p:pic>
        <p:nvPicPr>
          <p:cNvPr id="146" name="Google Shape;146;p16" descr="image.png"/>
          <p:cNvPicPr preferRelativeResize="0"/>
          <p:nvPr/>
        </p:nvPicPr>
        <p:blipFill rotWithShape="1">
          <a:blip r:embed="rId10">
            <a:alphaModFix/>
          </a:blip>
          <a:srcRect/>
          <a:stretch/>
        </p:blipFill>
        <p:spPr>
          <a:xfrm>
            <a:off x="8036718" y="1104602"/>
            <a:ext cx="454818" cy="163859"/>
          </a:xfrm>
          <a:prstGeom prst="rect">
            <a:avLst/>
          </a:prstGeom>
          <a:noFill/>
          <a:ln>
            <a:noFill/>
          </a:ln>
        </p:spPr>
      </p:pic>
      <p:sp>
        <p:nvSpPr>
          <p:cNvPr id="147" name="Google Shape;147;p16"/>
          <p:cNvSpPr txBox="1"/>
          <p:nvPr/>
        </p:nvSpPr>
        <p:spPr>
          <a:xfrm>
            <a:off x="771525" y="6267747"/>
            <a:ext cx="10648950" cy="3116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dirty="0">
                <a:solidFill>
                  <a:srgbClr val="166534"/>
                </a:solidFill>
                <a:latin typeface="Lato"/>
                <a:ea typeface="Lato"/>
                <a:cs typeface="Lato"/>
                <a:sym typeface="Lato"/>
              </a:rPr>
              <a:t>El </a:t>
            </a:r>
            <a:r>
              <a:rPr lang="en-US" sz="1350" b="0" i="0" u="none" strike="noStrike" cap="none" dirty="0" err="1">
                <a:solidFill>
                  <a:srgbClr val="166534"/>
                </a:solidFill>
                <a:latin typeface="Lato"/>
                <a:ea typeface="Lato"/>
                <a:cs typeface="Lato"/>
                <a:sym typeface="Lato"/>
              </a:rPr>
              <a:t>resultado</a:t>
            </a:r>
            <a:r>
              <a:rPr lang="en-US" sz="1350" b="0" i="0" u="none" strike="noStrike" cap="none" dirty="0">
                <a:solidFill>
                  <a:srgbClr val="166534"/>
                </a:solidFill>
                <a:latin typeface="Lato"/>
                <a:ea typeface="Lato"/>
                <a:cs typeface="Lato"/>
                <a:sym typeface="Lato"/>
              </a:rPr>
              <a:t> es </a:t>
            </a:r>
            <a:r>
              <a:rPr lang="en-US" sz="1350" b="0" i="0" u="none" strike="noStrike" cap="none" dirty="0" err="1">
                <a:solidFill>
                  <a:srgbClr val="166534"/>
                </a:solidFill>
                <a:latin typeface="Lato"/>
                <a:ea typeface="Lato"/>
                <a:cs typeface="Lato"/>
                <a:sym typeface="Lato"/>
              </a:rPr>
              <a:t>exactamente</a:t>
            </a:r>
            <a:r>
              <a:rPr lang="en-US" sz="1350" b="0" i="0" u="none" strike="noStrike" cap="none" dirty="0">
                <a:solidFill>
                  <a:srgbClr val="166534"/>
                </a:solidFill>
                <a:latin typeface="Lato"/>
                <a:ea typeface="Lato"/>
                <a:cs typeface="Lato"/>
                <a:sym typeface="Lato"/>
              </a:rPr>
              <a:t> .      Se ha </a:t>
            </a:r>
            <a:r>
              <a:rPr lang="en-US" sz="1350" b="0" i="0" u="none" strike="noStrike" cap="none" dirty="0" err="1">
                <a:solidFill>
                  <a:srgbClr val="166534"/>
                </a:solidFill>
                <a:latin typeface="Lato"/>
                <a:ea typeface="Lato"/>
                <a:cs typeface="Lato"/>
                <a:sym typeface="Lato"/>
              </a:rPr>
              <a:t>demostrado</a:t>
            </a:r>
            <a:r>
              <a:rPr lang="en-US" sz="1350" b="0" i="0" u="none" strike="noStrike" cap="none" dirty="0">
                <a:solidFill>
                  <a:srgbClr val="166534"/>
                </a:solidFill>
                <a:latin typeface="Lato"/>
                <a:ea typeface="Lato"/>
                <a:cs typeface="Lato"/>
                <a:sym typeface="Lato"/>
              </a:rPr>
              <a:t> </a:t>
            </a:r>
            <a:r>
              <a:rPr lang="en-US" sz="1350" b="0" i="0" u="none" strike="noStrike" cap="none" dirty="0" err="1">
                <a:solidFill>
                  <a:srgbClr val="166534"/>
                </a:solidFill>
                <a:latin typeface="Lato"/>
                <a:ea typeface="Lato"/>
                <a:cs typeface="Lato"/>
                <a:sym typeface="Lato"/>
              </a:rPr>
              <a:t>que</a:t>
            </a:r>
            <a:r>
              <a:rPr lang="en-US" sz="1350" b="0" i="0" u="none" strike="noStrike" cap="none" dirty="0">
                <a:solidFill>
                  <a:srgbClr val="166534"/>
                </a:solidFill>
                <a:latin typeface="Lato"/>
                <a:ea typeface="Lato"/>
                <a:cs typeface="Lato"/>
                <a:sym typeface="Lato"/>
              </a:rPr>
              <a:t> la </a:t>
            </a:r>
            <a:r>
              <a:rPr lang="en-US" sz="1350" b="0" i="0" u="none" strike="noStrike" cap="none" dirty="0" err="1">
                <a:solidFill>
                  <a:srgbClr val="166534"/>
                </a:solidFill>
                <a:latin typeface="Lato"/>
                <a:ea typeface="Lato"/>
                <a:cs typeface="Lato"/>
                <a:sym typeface="Lato"/>
              </a:rPr>
              <a:t>fórmula</a:t>
            </a:r>
            <a:r>
              <a:rPr lang="en-US" sz="1350" b="0" i="0" u="none" strike="noStrike" cap="none" dirty="0">
                <a:solidFill>
                  <a:srgbClr val="166534"/>
                </a:solidFill>
                <a:latin typeface="Lato"/>
                <a:ea typeface="Lato"/>
                <a:cs typeface="Lato"/>
                <a:sym typeface="Lato"/>
              </a:rPr>
              <a:t> </a:t>
            </a:r>
            <a:r>
              <a:rPr lang="en-US" sz="1350" b="0" i="0" u="none" strike="noStrike" cap="none" dirty="0" err="1">
                <a:solidFill>
                  <a:srgbClr val="166534"/>
                </a:solidFill>
                <a:latin typeface="Lato"/>
                <a:ea typeface="Lato"/>
                <a:cs typeface="Lato"/>
                <a:sym typeface="Lato"/>
              </a:rPr>
              <a:t>explícita</a:t>
            </a:r>
            <a:r>
              <a:rPr lang="en-US" sz="1350" b="0" i="0" u="none" strike="noStrike" cap="none" dirty="0">
                <a:solidFill>
                  <a:srgbClr val="166534"/>
                </a:solidFill>
                <a:latin typeface="Lato"/>
                <a:ea typeface="Lato"/>
                <a:cs typeface="Lato"/>
                <a:sym typeface="Lato"/>
              </a:rPr>
              <a:t> </a:t>
            </a:r>
            <a:r>
              <a:rPr lang="en-US" sz="1350" b="0" i="0" u="none" strike="noStrike" cap="none" dirty="0" err="1">
                <a:solidFill>
                  <a:srgbClr val="166534"/>
                </a:solidFill>
                <a:latin typeface="Lato"/>
                <a:ea typeface="Lato"/>
                <a:cs typeface="Lato"/>
                <a:sym typeface="Lato"/>
              </a:rPr>
              <a:t>satisface</a:t>
            </a:r>
            <a:r>
              <a:rPr lang="en-US" sz="1350" b="0" i="0" u="none" strike="noStrike" cap="none" dirty="0">
                <a:solidFill>
                  <a:srgbClr val="166534"/>
                </a:solidFill>
                <a:latin typeface="Lato"/>
                <a:ea typeface="Lato"/>
                <a:cs typeface="Lato"/>
                <a:sym typeface="Lato"/>
              </a:rPr>
              <a:t> la </a:t>
            </a:r>
            <a:r>
              <a:rPr lang="en-US" sz="1350" b="0" i="0" u="none" strike="noStrike" cap="none" dirty="0" err="1">
                <a:solidFill>
                  <a:srgbClr val="166534"/>
                </a:solidFill>
                <a:latin typeface="Lato"/>
                <a:ea typeface="Lato"/>
                <a:cs typeface="Lato"/>
                <a:sym typeface="Lato"/>
              </a:rPr>
              <a:t>ecuación</a:t>
            </a:r>
            <a:r>
              <a:rPr lang="en-US" sz="1350" b="0" i="0" u="none" strike="noStrike" cap="none" dirty="0">
                <a:solidFill>
                  <a:srgbClr val="166534"/>
                </a:solidFill>
                <a:latin typeface="Lato"/>
                <a:ea typeface="Lato"/>
                <a:cs typeface="Lato"/>
                <a:sym typeface="Lato"/>
              </a:rPr>
              <a:t> de </a:t>
            </a:r>
            <a:r>
              <a:rPr lang="en-US" sz="1350" b="0" i="0" u="none" strike="noStrike" cap="none" dirty="0" err="1">
                <a:solidFill>
                  <a:srgbClr val="166534"/>
                </a:solidFill>
                <a:latin typeface="Lato"/>
                <a:ea typeface="Lato"/>
                <a:cs typeface="Lato"/>
                <a:sym typeface="Lato"/>
              </a:rPr>
              <a:t>recurrencia</a:t>
            </a:r>
            <a:r>
              <a:rPr lang="en-US" sz="1350" b="0" i="0" u="none" strike="noStrike" cap="none" dirty="0">
                <a:solidFill>
                  <a:srgbClr val="166534"/>
                </a:solidFill>
                <a:latin typeface="Lato"/>
                <a:ea typeface="Lato"/>
                <a:cs typeface="Lato"/>
                <a:sym typeface="Lato"/>
              </a:rPr>
              <a:t>.</a:t>
            </a:r>
            <a:endParaRPr dirty="0"/>
          </a:p>
        </p:txBody>
      </p:sp>
      <p:sp>
        <p:nvSpPr>
          <p:cNvPr id="148" name="Google Shape;148;p16"/>
          <p:cNvSpPr txBox="1"/>
          <p:nvPr/>
        </p:nvSpPr>
        <p:spPr>
          <a:xfrm>
            <a:off x="971550" y="1771352"/>
            <a:ext cx="10761345"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Poppins SemiBold"/>
                <a:ea typeface="Poppins SemiBold"/>
                <a:cs typeface="Poppins SemiBold"/>
                <a:sym typeface="Poppins SemiBold"/>
              </a:rPr>
              <a:t>Paso A: Sustitución Inicial</a:t>
            </a:r>
            <a:endParaRPr/>
          </a:p>
        </p:txBody>
      </p:sp>
      <p:sp>
        <p:nvSpPr>
          <p:cNvPr id="149" name="Google Shape;149;p16"/>
          <p:cNvSpPr txBox="1"/>
          <p:nvPr/>
        </p:nvSpPr>
        <p:spPr>
          <a:xfrm>
            <a:off x="971550" y="2821632"/>
            <a:ext cx="10761345"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Poppins SemiBold"/>
                <a:ea typeface="Poppins SemiBold"/>
                <a:cs typeface="Poppins SemiBold"/>
                <a:sym typeface="Poppins SemiBold"/>
              </a:rPr>
              <a:t>Paso B: Distribuir y Agrupar por bases (2 y 3)</a:t>
            </a:r>
            <a:endParaRPr/>
          </a:p>
        </p:txBody>
      </p:sp>
      <p:sp>
        <p:nvSpPr>
          <p:cNvPr id="150" name="Google Shape;150;p16"/>
          <p:cNvSpPr txBox="1"/>
          <p:nvPr/>
        </p:nvSpPr>
        <p:spPr>
          <a:xfrm>
            <a:off x="971550" y="3871912"/>
            <a:ext cx="10761345"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Poppins SemiBold"/>
                <a:ea typeface="Poppins SemiBold"/>
                <a:cs typeface="Poppins SemiBold"/>
                <a:sym typeface="Poppins SemiBold"/>
              </a:rPr>
              <a:t>Paso C: Convertir a exponente común (n-2) y Factorizar</a:t>
            </a:r>
            <a:endParaRPr/>
          </a:p>
        </p:txBody>
      </p:sp>
      <p:sp>
        <p:nvSpPr>
          <p:cNvPr id="151" name="Google Shape;151;p16"/>
          <p:cNvSpPr txBox="1"/>
          <p:nvPr/>
        </p:nvSpPr>
        <p:spPr>
          <a:xfrm>
            <a:off x="971550" y="4922192"/>
            <a:ext cx="10761345"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Poppins SemiBold"/>
                <a:ea typeface="Poppins SemiBold"/>
                <a:cs typeface="Poppins SemiBold"/>
                <a:sym typeface="Poppins SemiBold"/>
              </a:rPr>
              <a:t>Paso D: Recomponer a la fórmula original</a:t>
            </a:r>
            <a:endParaRPr/>
          </a:p>
        </p:txBody>
      </p:sp>
      <p:pic>
        <p:nvPicPr>
          <p:cNvPr id="152" name="Google Shape;152;p16" descr="image.png"/>
          <p:cNvPicPr preferRelativeResize="0"/>
          <p:nvPr/>
        </p:nvPicPr>
        <p:blipFill rotWithShape="1">
          <a:blip r:embed="rId11">
            <a:alphaModFix/>
          </a:blip>
          <a:srcRect/>
          <a:stretch/>
        </p:blipFill>
        <p:spPr>
          <a:xfrm>
            <a:off x="4104513" y="6375999"/>
            <a:ext cx="228600" cy="154334"/>
          </a:xfrm>
          <a:prstGeom prst="rect">
            <a:avLst/>
          </a:prstGeom>
          <a:noFill/>
          <a:ln>
            <a:noFill/>
          </a:ln>
        </p:spPr>
      </p:pic>
      <p:pic>
        <p:nvPicPr>
          <p:cNvPr id="153" name="Google Shape;153;p16" descr="image.png"/>
          <p:cNvPicPr preferRelativeResize="0"/>
          <p:nvPr/>
        </p:nvPicPr>
        <p:blipFill rotWithShape="1">
          <a:blip r:embed="rId12">
            <a:alphaModFix/>
          </a:blip>
          <a:srcRect/>
          <a:stretch/>
        </p:blipFill>
        <p:spPr>
          <a:xfrm>
            <a:off x="971550" y="2104727"/>
            <a:ext cx="3806428" cy="202555"/>
          </a:xfrm>
          <a:prstGeom prst="rect">
            <a:avLst/>
          </a:prstGeom>
          <a:noFill/>
          <a:ln>
            <a:noFill/>
          </a:ln>
        </p:spPr>
      </p:pic>
      <p:pic>
        <p:nvPicPr>
          <p:cNvPr id="154" name="Google Shape;154;p16" descr="image.png"/>
          <p:cNvPicPr preferRelativeResize="0"/>
          <p:nvPr/>
        </p:nvPicPr>
        <p:blipFill rotWithShape="1">
          <a:blip r:embed="rId13">
            <a:alphaModFix/>
          </a:blip>
          <a:srcRect/>
          <a:stretch/>
        </p:blipFill>
        <p:spPr>
          <a:xfrm>
            <a:off x="971550" y="3155007"/>
            <a:ext cx="4416028" cy="202555"/>
          </a:xfrm>
          <a:prstGeom prst="rect">
            <a:avLst/>
          </a:prstGeom>
          <a:noFill/>
          <a:ln>
            <a:noFill/>
          </a:ln>
        </p:spPr>
      </p:pic>
      <p:pic>
        <p:nvPicPr>
          <p:cNvPr id="155" name="Google Shape;155;p16" descr="image.png"/>
          <p:cNvPicPr preferRelativeResize="0"/>
          <p:nvPr/>
        </p:nvPicPr>
        <p:blipFill rotWithShape="1">
          <a:blip r:embed="rId14">
            <a:alphaModFix/>
          </a:blip>
          <a:srcRect/>
          <a:stretch/>
        </p:blipFill>
        <p:spPr>
          <a:xfrm>
            <a:off x="971550" y="4205287"/>
            <a:ext cx="4520803" cy="202555"/>
          </a:xfrm>
          <a:prstGeom prst="rect">
            <a:avLst/>
          </a:prstGeom>
          <a:noFill/>
          <a:ln>
            <a:noFill/>
          </a:ln>
        </p:spPr>
      </p:pic>
      <p:pic>
        <p:nvPicPr>
          <p:cNvPr id="156" name="Google Shape;156;p16" descr="image.png"/>
          <p:cNvPicPr preferRelativeResize="0"/>
          <p:nvPr/>
        </p:nvPicPr>
        <p:blipFill rotWithShape="1">
          <a:blip r:embed="rId15">
            <a:alphaModFix/>
          </a:blip>
          <a:srcRect/>
          <a:stretch/>
        </p:blipFill>
        <p:spPr>
          <a:xfrm>
            <a:off x="5520928" y="4205287"/>
            <a:ext cx="2170807" cy="183505"/>
          </a:xfrm>
          <a:prstGeom prst="rect">
            <a:avLst/>
          </a:prstGeom>
          <a:noFill/>
          <a:ln>
            <a:noFill/>
          </a:ln>
        </p:spPr>
      </p:pic>
      <p:pic>
        <p:nvPicPr>
          <p:cNvPr id="157" name="Google Shape;157;p16" descr="image.png"/>
          <p:cNvPicPr preferRelativeResize="0"/>
          <p:nvPr/>
        </p:nvPicPr>
        <p:blipFill rotWithShape="1">
          <a:blip r:embed="rId16">
            <a:alphaModFix/>
          </a:blip>
          <a:srcRect/>
          <a:stretch/>
        </p:blipFill>
        <p:spPr>
          <a:xfrm>
            <a:off x="971550" y="5255567"/>
            <a:ext cx="3666232" cy="18350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17" descr="image.png"/>
          <p:cNvPicPr preferRelativeResize="0"/>
          <p:nvPr/>
        </p:nvPicPr>
        <p:blipFill rotWithShape="1">
          <a:blip r:embed="rId3">
            <a:alphaModFix/>
          </a:blip>
          <a:srcRect/>
          <a:stretch/>
        </p:blipFill>
        <p:spPr>
          <a:xfrm>
            <a:off x="571499" y="1282154"/>
            <a:ext cx="5568315" cy="2494508"/>
          </a:xfrm>
          <a:prstGeom prst="rect">
            <a:avLst/>
          </a:prstGeom>
          <a:noFill/>
          <a:ln>
            <a:noFill/>
          </a:ln>
        </p:spPr>
      </p:pic>
      <p:pic>
        <p:nvPicPr>
          <p:cNvPr id="163" name="Google Shape;163;p17" descr="image.png"/>
          <p:cNvPicPr preferRelativeResize="0"/>
          <p:nvPr/>
        </p:nvPicPr>
        <p:blipFill rotWithShape="1">
          <a:blip r:embed="rId4">
            <a:alphaModFix/>
          </a:blip>
          <a:srcRect/>
          <a:stretch/>
        </p:blipFill>
        <p:spPr>
          <a:xfrm>
            <a:off x="6191250" y="1282154"/>
            <a:ext cx="5429250" cy="2494508"/>
          </a:xfrm>
          <a:prstGeom prst="rect">
            <a:avLst/>
          </a:prstGeom>
          <a:noFill/>
          <a:ln>
            <a:noFill/>
          </a:ln>
        </p:spPr>
      </p:pic>
      <p:pic>
        <p:nvPicPr>
          <p:cNvPr id="164" name="Google Shape;164;p17" descr="image.png"/>
          <p:cNvPicPr preferRelativeResize="0"/>
          <p:nvPr/>
        </p:nvPicPr>
        <p:blipFill rotWithShape="1">
          <a:blip r:embed="rId5">
            <a:alphaModFix/>
          </a:blip>
          <a:srcRect/>
          <a:stretch/>
        </p:blipFill>
        <p:spPr>
          <a:xfrm>
            <a:off x="571500" y="3967162"/>
            <a:ext cx="5429250" cy="2494508"/>
          </a:xfrm>
          <a:prstGeom prst="rect">
            <a:avLst/>
          </a:prstGeom>
          <a:noFill/>
          <a:ln>
            <a:noFill/>
          </a:ln>
        </p:spPr>
      </p:pic>
      <p:pic>
        <p:nvPicPr>
          <p:cNvPr id="165" name="Google Shape;165;p17" descr="image.png"/>
          <p:cNvPicPr preferRelativeResize="0"/>
          <p:nvPr/>
        </p:nvPicPr>
        <p:blipFill rotWithShape="1">
          <a:blip r:embed="rId6">
            <a:alphaModFix/>
          </a:blip>
          <a:srcRect/>
          <a:stretch/>
        </p:blipFill>
        <p:spPr>
          <a:xfrm>
            <a:off x="6191250" y="3967162"/>
            <a:ext cx="5429250" cy="2494508"/>
          </a:xfrm>
          <a:prstGeom prst="rect">
            <a:avLst/>
          </a:prstGeom>
          <a:noFill/>
          <a:ln>
            <a:noFill/>
          </a:ln>
        </p:spPr>
      </p:pic>
      <p:pic>
        <p:nvPicPr>
          <p:cNvPr id="166" name="Google Shape;166;p17" descr="image.png"/>
          <p:cNvPicPr preferRelativeResize="0"/>
          <p:nvPr/>
        </p:nvPicPr>
        <p:blipFill rotWithShape="1">
          <a:blip r:embed="rId7">
            <a:alphaModFix/>
          </a:blip>
          <a:srcRect/>
          <a:stretch/>
        </p:blipFill>
        <p:spPr>
          <a:xfrm>
            <a:off x="771525" y="1818084"/>
            <a:ext cx="1539626" cy="276225"/>
          </a:xfrm>
          <a:prstGeom prst="rect">
            <a:avLst/>
          </a:prstGeom>
          <a:noFill/>
          <a:ln>
            <a:noFill/>
          </a:ln>
        </p:spPr>
      </p:pic>
      <p:pic>
        <p:nvPicPr>
          <p:cNvPr id="167" name="Google Shape;167;p17" descr="image.png"/>
          <p:cNvPicPr preferRelativeResize="0"/>
          <p:nvPr/>
        </p:nvPicPr>
        <p:blipFill rotWithShape="1">
          <a:blip r:embed="rId8">
            <a:alphaModFix/>
          </a:blip>
          <a:srcRect/>
          <a:stretch/>
        </p:blipFill>
        <p:spPr>
          <a:xfrm>
            <a:off x="6391275" y="1796504"/>
            <a:ext cx="1749176" cy="276225"/>
          </a:xfrm>
          <a:prstGeom prst="rect">
            <a:avLst/>
          </a:prstGeom>
          <a:noFill/>
          <a:ln>
            <a:noFill/>
          </a:ln>
        </p:spPr>
      </p:pic>
      <p:pic>
        <p:nvPicPr>
          <p:cNvPr id="168" name="Google Shape;168;p17" descr="image.png"/>
          <p:cNvPicPr preferRelativeResize="0"/>
          <p:nvPr/>
        </p:nvPicPr>
        <p:blipFill rotWithShape="1">
          <a:blip r:embed="rId9">
            <a:alphaModFix/>
          </a:blip>
          <a:srcRect/>
          <a:stretch/>
        </p:blipFill>
        <p:spPr>
          <a:xfrm>
            <a:off x="771525" y="4494609"/>
            <a:ext cx="2139701" cy="276225"/>
          </a:xfrm>
          <a:prstGeom prst="rect">
            <a:avLst/>
          </a:prstGeom>
          <a:noFill/>
          <a:ln>
            <a:noFill/>
          </a:ln>
        </p:spPr>
      </p:pic>
      <p:pic>
        <p:nvPicPr>
          <p:cNvPr id="169" name="Google Shape;169;p17" descr="image.png"/>
          <p:cNvPicPr preferRelativeResize="0"/>
          <p:nvPr/>
        </p:nvPicPr>
        <p:blipFill rotWithShape="1">
          <a:blip r:embed="rId10">
            <a:alphaModFix/>
          </a:blip>
          <a:srcRect/>
          <a:stretch/>
        </p:blipFill>
        <p:spPr>
          <a:xfrm>
            <a:off x="6391275" y="4481512"/>
            <a:ext cx="809625" cy="276225"/>
          </a:xfrm>
          <a:prstGeom prst="rect">
            <a:avLst/>
          </a:prstGeom>
          <a:noFill/>
          <a:ln>
            <a:noFill/>
          </a:ln>
        </p:spPr>
      </p:pic>
      <p:sp>
        <p:nvSpPr>
          <p:cNvPr id="170" name="Google Shape;170;p17"/>
          <p:cNvSpPr txBox="1"/>
          <p:nvPr/>
        </p:nvSpPr>
        <p:spPr>
          <a:xfrm>
            <a:off x="571500" y="396329"/>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Poppins"/>
                <a:ea typeface="Poppins"/>
                <a:cs typeface="Poppins"/>
                <a:sym typeface="Poppins"/>
              </a:rPr>
              <a:t>Análisis del Comportamiento de Sucesiones</a:t>
            </a:r>
            <a:endParaRPr/>
          </a:p>
        </p:txBody>
      </p:sp>
      <p:sp>
        <p:nvSpPr>
          <p:cNvPr id="171" name="Google Shape;171;p17"/>
          <p:cNvSpPr/>
          <p:nvPr/>
        </p:nvSpPr>
        <p:spPr>
          <a:xfrm>
            <a:off x="571500" y="1063079"/>
            <a:ext cx="11049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17"/>
          <p:cNvSpPr txBox="1"/>
          <p:nvPr/>
        </p:nvSpPr>
        <p:spPr>
          <a:xfrm>
            <a:off x="771525" y="1510754"/>
            <a:ext cx="528066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D4ED8"/>
                </a:solidFill>
                <a:latin typeface="Poppins SemiBold"/>
                <a:ea typeface="Poppins SemiBold"/>
                <a:cs typeface="Poppins SemiBold"/>
                <a:sym typeface="Poppins SemiBold"/>
              </a:rPr>
              <a:t>Creciente y No Decreciente</a:t>
            </a:r>
            <a:endParaRPr/>
          </a:p>
        </p:txBody>
      </p:sp>
      <p:sp>
        <p:nvSpPr>
          <p:cNvPr id="173" name="Google Shape;173;p17"/>
          <p:cNvSpPr txBox="1"/>
          <p:nvPr/>
        </p:nvSpPr>
        <p:spPr>
          <a:xfrm>
            <a:off x="771525" y="2071687"/>
            <a:ext cx="5029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64748B"/>
                </a:solidFill>
                <a:latin typeface="Lato"/>
                <a:ea typeface="Lato"/>
                <a:cs typeface="Lato"/>
                <a:sym typeface="Lato"/>
              </a:rPr>
              <a:t>Secuencia: {1, 4, 9, 16, 25...}</a:t>
            </a:r>
            <a:endParaRPr/>
          </a:p>
        </p:txBody>
      </p:sp>
      <p:sp>
        <p:nvSpPr>
          <p:cNvPr id="174" name="Google Shape;174;p17"/>
          <p:cNvSpPr txBox="1"/>
          <p:nvPr/>
        </p:nvSpPr>
        <p:spPr>
          <a:xfrm>
            <a:off x="6391275" y="1510754"/>
            <a:ext cx="528066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5803D"/>
                </a:solidFill>
                <a:latin typeface="Poppins SemiBold"/>
                <a:ea typeface="Poppins SemiBold"/>
                <a:cs typeface="Poppins SemiBold"/>
                <a:sym typeface="Poppins SemiBold"/>
              </a:rPr>
              <a:t>Decreciente y No Creciente</a:t>
            </a:r>
            <a:endParaRPr/>
          </a:p>
        </p:txBody>
      </p:sp>
      <p:sp>
        <p:nvSpPr>
          <p:cNvPr id="175" name="Google Shape;175;p17"/>
          <p:cNvSpPr txBox="1"/>
          <p:nvPr/>
        </p:nvSpPr>
        <p:spPr>
          <a:xfrm>
            <a:off x="6391275" y="2050107"/>
            <a:ext cx="5029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64748B"/>
                </a:solidFill>
                <a:latin typeface="Lato"/>
                <a:ea typeface="Lato"/>
                <a:cs typeface="Lato"/>
                <a:sym typeface="Lato"/>
              </a:rPr>
              <a:t>Secuencia: {1, 1/2, 1/3, 1/4...}</a:t>
            </a:r>
            <a:endParaRPr/>
          </a:p>
        </p:txBody>
      </p:sp>
      <p:sp>
        <p:nvSpPr>
          <p:cNvPr id="176" name="Google Shape;176;p17"/>
          <p:cNvSpPr txBox="1"/>
          <p:nvPr/>
        </p:nvSpPr>
        <p:spPr>
          <a:xfrm>
            <a:off x="771525" y="4195762"/>
            <a:ext cx="528066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7E22CE"/>
                </a:solidFill>
                <a:latin typeface="Poppins SemiBold"/>
                <a:ea typeface="Poppins SemiBold"/>
                <a:cs typeface="Poppins SemiBold"/>
                <a:sym typeface="Poppins SemiBold"/>
              </a:rPr>
              <a:t>No Creciente y No Decreciente</a:t>
            </a:r>
            <a:endParaRPr/>
          </a:p>
        </p:txBody>
      </p:sp>
      <p:sp>
        <p:nvSpPr>
          <p:cNvPr id="177" name="Google Shape;177;p17"/>
          <p:cNvSpPr txBox="1"/>
          <p:nvPr/>
        </p:nvSpPr>
        <p:spPr>
          <a:xfrm>
            <a:off x="771525" y="4748212"/>
            <a:ext cx="5029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64748B"/>
                </a:solidFill>
                <a:latin typeface="Lato"/>
                <a:ea typeface="Lato"/>
                <a:cs typeface="Lato"/>
                <a:sym typeface="Lato"/>
              </a:rPr>
              <a:t>Secuencia: {-1, 1, -1, 1, -1...}</a:t>
            </a:r>
            <a:endParaRPr/>
          </a:p>
        </p:txBody>
      </p:sp>
      <p:sp>
        <p:nvSpPr>
          <p:cNvPr id="178" name="Google Shape;178;p17"/>
          <p:cNvSpPr txBox="1"/>
          <p:nvPr/>
        </p:nvSpPr>
        <p:spPr>
          <a:xfrm>
            <a:off x="6391275" y="4195762"/>
            <a:ext cx="528066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2410C"/>
                </a:solidFill>
                <a:latin typeface="Poppins SemiBold"/>
                <a:ea typeface="Poppins SemiBold"/>
                <a:cs typeface="Poppins SemiBold"/>
                <a:sym typeface="Poppins SemiBold"/>
              </a:rPr>
              <a:t>Constante</a:t>
            </a:r>
            <a:endParaRPr/>
          </a:p>
        </p:txBody>
      </p:sp>
      <p:sp>
        <p:nvSpPr>
          <p:cNvPr id="179" name="Google Shape;179;p17"/>
          <p:cNvSpPr txBox="1"/>
          <p:nvPr/>
        </p:nvSpPr>
        <p:spPr>
          <a:xfrm>
            <a:off x="6391275" y="4735115"/>
            <a:ext cx="5029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64748B"/>
                </a:solidFill>
                <a:latin typeface="Lato"/>
                <a:ea typeface="Lato"/>
                <a:cs typeface="Lato"/>
                <a:sym typeface="Lato"/>
              </a:rPr>
              <a:t>Secuencia: {100, 100, 100...}</a:t>
            </a:r>
            <a:endParaRPr/>
          </a:p>
        </p:txBody>
      </p:sp>
      <p:pic>
        <p:nvPicPr>
          <p:cNvPr id="180" name="Google Shape;180;p17" descr="image.png"/>
          <p:cNvPicPr preferRelativeResize="0"/>
          <p:nvPr/>
        </p:nvPicPr>
        <p:blipFill rotWithShape="1">
          <a:blip r:embed="rId11">
            <a:alphaModFix/>
          </a:blip>
          <a:srcRect/>
          <a:stretch/>
        </p:blipFill>
        <p:spPr>
          <a:xfrm>
            <a:off x="819150" y="1844129"/>
            <a:ext cx="1444376" cy="227558"/>
          </a:xfrm>
          <a:prstGeom prst="rect">
            <a:avLst/>
          </a:prstGeom>
          <a:noFill/>
          <a:ln>
            <a:noFill/>
          </a:ln>
        </p:spPr>
      </p:pic>
      <p:sp>
        <p:nvSpPr>
          <p:cNvPr id="181" name="Google Shape;181;p17"/>
          <p:cNvSpPr txBox="1"/>
          <p:nvPr/>
        </p:nvSpPr>
        <p:spPr>
          <a:xfrm>
            <a:off x="866775" y="2414587"/>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Lato"/>
                <a:ea typeface="Lato"/>
                <a:cs typeface="Lato"/>
                <a:sym typeface="Lato"/>
              </a:rPr>
              <a:t>•</a:t>
            </a:r>
            <a:endParaRPr/>
          </a:p>
        </p:txBody>
      </p:sp>
      <p:sp>
        <p:nvSpPr>
          <p:cNvPr id="182" name="Google Shape;182;p17"/>
          <p:cNvSpPr txBox="1"/>
          <p:nvPr/>
        </p:nvSpPr>
        <p:spPr>
          <a:xfrm>
            <a:off x="962024" y="2414587"/>
            <a:ext cx="5280659" cy="311624"/>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dirty="0" err="1">
                <a:solidFill>
                  <a:srgbClr val="334155"/>
                </a:solidFill>
                <a:latin typeface="Lato"/>
                <a:ea typeface="Lato"/>
                <a:cs typeface="Lato"/>
                <a:sym typeface="Lato"/>
              </a:rPr>
              <a:t>Creciente</a:t>
            </a:r>
            <a:r>
              <a:rPr lang="en-US" sz="1350" b="1" i="0" u="none" strike="noStrike" cap="none" dirty="0">
                <a:solidFill>
                  <a:srgbClr val="334155"/>
                </a:solidFill>
                <a:latin typeface="Lato"/>
                <a:ea typeface="Lato"/>
                <a:cs typeface="Lato"/>
                <a:sym typeface="Lato"/>
              </a:rPr>
              <a:t>:</a:t>
            </a:r>
            <a:r>
              <a:rPr lang="en-US" sz="1350" b="0" i="0" u="none" strike="noStrike" cap="none" dirty="0">
                <a:solidFill>
                  <a:srgbClr val="334155"/>
                </a:solidFill>
                <a:latin typeface="Lato"/>
                <a:ea typeface="Lato"/>
                <a:cs typeface="Lato"/>
                <a:sym typeface="Lato"/>
              </a:rPr>
              <a:t> Cada </a:t>
            </a:r>
            <a:r>
              <a:rPr lang="en-US" sz="1350" b="0" i="0" u="none" strike="noStrike" cap="none" dirty="0" err="1">
                <a:solidFill>
                  <a:srgbClr val="334155"/>
                </a:solidFill>
                <a:latin typeface="Lato"/>
                <a:ea typeface="Lato"/>
                <a:cs typeface="Lato"/>
                <a:sym typeface="Lato"/>
              </a:rPr>
              <a:t>término</a:t>
            </a:r>
            <a:r>
              <a:rPr lang="en-US" sz="1350" b="0" i="0" u="none" strike="noStrike" cap="none" dirty="0">
                <a:solidFill>
                  <a:srgbClr val="334155"/>
                </a:solidFill>
                <a:latin typeface="Lato"/>
                <a:ea typeface="Lato"/>
                <a:cs typeface="Lato"/>
                <a:sym typeface="Lato"/>
              </a:rPr>
              <a:t> es </a:t>
            </a:r>
            <a:r>
              <a:rPr lang="en-US" sz="1350" b="0" i="0" u="none" strike="noStrike" cap="none" dirty="0" err="1">
                <a:solidFill>
                  <a:srgbClr val="334155"/>
                </a:solidFill>
                <a:latin typeface="Lato"/>
                <a:ea typeface="Lato"/>
                <a:cs typeface="Lato"/>
                <a:sym typeface="Lato"/>
              </a:rPr>
              <a:t>estrictamente</a:t>
            </a:r>
            <a:r>
              <a:rPr lang="en-US" sz="1350" b="0" i="0" u="none" strike="noStrike" cap="none" dirty="0">
                <a:solidFill>
                  <a:srgbClr val="334155"/>
                </a:solidFill>
                <a:latin typeface="Lato"/>
                <a:ea typeface="Lato"/>
                <a:cs typeface="Lato"/>
                <a:sym typeface="Lato"/>
              </a:rPr>
              <a:t> mayor </a:t>
            </a:r>
            <a:r>
              <a:rPr lang="en-US" sz="1350" b="0" i="0" u="none" strike="noStrike" cap="none" dirty="0" err="1">
                <a:solidFill>
                  <a:srgbClr val="334155"/>
                </a:solidFill>
                <a:latin typeface="Lato"/>
                <a:ea typeface="Lato"/>
                <a:cs typeface="Lato"/>
                <a:sym typeface="Lato"/>
              </a:rPr>
              <a:t>que</a:t>
            </a:r>
            <a:r>
              <a:rPr lang="en-US" sz="1350" b="0" i="0" u="none" strike="noStrike" cap="none" dirty="0">
                <a:solidFill>
                  <a:srgbClr val="334155"/>
                </a:solidFill>
                <a:latin typeface="Lato"/>
                <a:ea typeface="Lato"/>
                <a:cs typeface="Lato"/>
                <a:sym typeface="Lato"/>
              </a:rPr>
              <a:t> </a:t>
            </a:r>
            <a:r>
              <a:rPr lang="en-US" sz="1350" b="0" i="0" u="none" strike="noStrike" cap="none" dirty="0" err="1">
                <a:solidFill>
                  <a:srgbClr val="334155"/>
                </a:solidFill>
                <a:latin typeface="Lato"/>
                <a:ea typeface="Lato"/>
                <a:cs typeface="Lato"/>
                <a:sym typeface="Lato"/>
              </a:rPr>
              <a:t>el</a:t>
            </a:r>
            <a:r>
              <a:rPr lang="en-US" sz="1350" b="0" i="0" u="none" strike="noStrike" cap="none" dirty="0">
                <a:solidFill>
                  <a:srgbClr val="334155"/>
                </a:solidFill>
                <a:latin typeface="Lato"/>
                <a:ea typeface="Lato"/>
                <a:cs typeface="Lato"/>
                <a:sym typeface="Lato"/>
              </a:rPr>
              <a:t> anterior.</a:t>
            </a:r>
            <a:endParaRPr dirty="0"/>
          </a:p>
        </p:txBody>
      </p:sp>
      <p:sp>
        <p:nvSpPr>
          <p:cNvPr id="183" name="Google Shape;183;p17"/>
          <p:cNvSpPr txBox="1"/>
          <p:nvPr/>
        </p:nvSpPr>
        <p:spPr>
          <a:xfrm>
            <a:off x="866775" y="2928937"/>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Lato"/>
                <a:ea typeface="Lato"/>
                <a:cs typeface="Lato"/>
                <a:sym typeface="Lato"/>
              </a:rPr>
              <a:t>•</a:t>
            </a:r>
            <a:endParaRPr/>
          </a:p>
        </p:txBody>
      </p:sp>
      <p:sp>
        <p:nvSpPr>
          <p:cNvPr id="184" name="Google Shape;184;p17"/>
          <p:cNvSpPr txBox="1"/>
          <p:nvPr/>
        </p:nvSpPr>
        <p:spPr>
          <a:xfrm>
            <a:off x="962025" y="2928937"/>
            <a:ext cx="4838700" cy="51435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4155"/>
                </a:solidFill>
                <a:latin typeface="Lato"/>
                <a:ea typeface="Lato"/>
                <a:cs typeface="Lato"/>
                <a:sym typeface="Lato"/>
              </a:rPr>
              <a:t>No Decreciente:</a:t>
            </a:r>
            <a:r>
              <a:rPr lang="en-US" sz="1350" b="0" i="0" u="none" strike="noStrike" cap="none">
                <a:solidFill>
                  <a:srgbClr val="334155"/>
                </a:solidFill>
                <a:latin typeface="Lato"/>
                <a:ea typeface="Lato"/>
                <a:cs typeface="Lato"/>
                <a:sym typeface="Lato"/>
              </a:rPr>
              <a:t> Cada término es mayor o igual que el anterior. Nunca disminuye.</a:t>
            </a:r>
            <a:endParaRPr/>
          </a:p>
        </p:txBody>
      </p:sp>
      <p:pic>
        <p:nvPicPr>
          <p:cNvPr id="185" name="Google Shape;185;p17" descr="image.png"/>
          <p:cNvPicPr preferRelativeResize="0"/>
          <p:nvPr/>
        </p:nvPicPr>
        <p:blipFill rotWithShape="1">
          <a:blip r:embed="rId12">
            <a:alphaModFix/>
          </a:blip>
          <a:srcRect/>
          <a:stretch/>
        </p:blipFill>
        <p:spPr>
          <a:xfrm>
            <a:off x="6438900" y="1853654"/>
            <a:ext cx="1653926" cy="196453"/>
          </a:xfrm>
          <a:prstGeom prst="rect">
            <a:avLst/>
          </a:prstGeom>
          <a:noFill/>
          <a:ln>
            <a:noFill/>
          </a:ln>
        </p:spPr>
      </p:pic>
      <p:sp>
        <p:nvSpPr>
          <p:cNvPr id="186" name="Google Shape;186;p17"/>
          <p:cNvSpPr txBox="1"/>
          <p:nvPr/>
        </p:nvSpPr>
        <p:spPr>
          <a:xfrm>
            <a:off x="6486525" y="2393007"/>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Lato"/>
                <a:ea typeface="Lato"/>
                <a:cs typeface="Lato"/>
                <a:sym typeface="Lato"/>
              </a:rPr>
              <a:t>•</a:t>
            </a:r>
            <a:endParaRPr/>
          </a:p>
        </p:txBody>
      </p:sp>
      <p:sp>
        <p:nvSpPr>
          <p:cNvPr id="187" name="Google Shape;187;p17"/>
          <p:cNvSpPr txBox="1"/>
          <p:nvPr/>
        </p:nvSpPr>
        <p:spPr>
          <a:xfrm>
            <a:off x="6581775" y="2393007"/>
            <a:ext cx="4838700" cy="51435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4155"/>
                </a:solidFill>
                <a:latin typeface="Lato"/>
                <a:ea typeface="Lato"/>
                <a:cs typeface="Lato"/>
                <a:sym typeface="Lato"/>
              </a:rPr>
              <a:t>Decreciente:</a:t>
            </a:r>
            <a:r>
              <a:rPr lang="en-US" sz="1350" b="0" i="0" u="none" strike="noStrike" cap="none">
                <a:solidFill>
                  <a:srgbClr val="334155"/>
                </a:solidFill>
                <a:latin typeface="Lato"/>
                <a:ea typeface="Lato"/>
                <a:cs typeface="Lato"/>
                <a:sym typeface="Lato"/>
              </a:rPr>
              <a:t> Cada término es estrictamente menor que el anterior ( ).</a:t>
            </a:r>
            <a:endParaRPr/>
          </a:p>
        </p:txBody>
      </p:sp>
      <p:sp>
        <p:nvSpPr>
          <p:cNvPr id="188" name="Google Shape;188;p17"/>
          <p:cNvSpPr txBox="1"/>
          <p:nvPr/>
        </p:nvSpPr>
        <p:spPr>
          <a:xfrm>
            <a:off x="6486525" y="2907357"/>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Lato"/>
                <a:ea typeface="Lato"/>
                <a:cs typeface="Lato"/>
                <a:sym typeface="Lato"/>
              </a:rPr>
              <a:t>•</a:t>
            </a:r>
            <a:endParaRPr/>
          </a:p>
        </p:txBody>
      </p:sp>
      <p:sp>
        <p:nvSpPr>
          <p:cNvPr id="189" name="Google Shape;189;p17"/>
          <p:cNvSpPr txBox="1"/>
          <p:nvPr/>
        </p:nvSpPr>
        <p:spPr>
          <a:xfrm>
            <a:off x="6581775" y="2907357"/>
            <a:ext cx="4838700" cy="51435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4155"/>
                </a:solidFill>
                <a:latin typeface="Lato"/>
                <a:ea typeface="Lato"/>
                <a:cs typeface="Lato"/>
                <a:sym typeface="Lato"/>
              </a:rPr>
              <a:t>No Creciente:</a:t>
            </a:r>
            <a:r>
              <a:rPr lang="en-US" sz="1350" b="0" i="0" u="none" strike="noStrike" cap="none">
                <a:solidFill>
                  <a:srgbClr val="334155"/>
                </a:solidFill>
                <a:latin typeface="Lato"/>
                <a:ea typeface="Lato"/>
                <a:cs typeface="Lato"/>
                <a:sym typeface="Lato"/>
              </a:rPr>
              <a:t> Cada término es menor o igual que el anterior. Nunca aumenta.</a:t>
            </a:r>
            <a:endParaRPr/>
          </a:p>
        </p:txBody>
      </p:sp>
      <p:pic>
        <p:nvPicPr>
          <p:cNvPr id="190" name="Google Shape;190;p17" descr="image.png"/>
          <p:cNvPicPr preferRelativeResize="0"/>
          <p:nvPr/>
        </p:nvPicPr>
        <p:blipFill rotWithShape="1">
          <a:blip r:embed="rId13">
            <a:alphaModFix/>
          </a:blip>
          <a:srcRect/>
          <a:stretch/>
        </p:blipFill>
        <p:spPr>
          <a:xfrm>
            <a:off x="819150" y="4529137"/>
            <a:ext cx="2044451" cy="219075"/>
          </a:xfrm>
          <a:prstGeom prst="rect">
            <a:avLst/>
          </a:prstGeom>
          <a:noFill/>
          <a:ln>
            <a:noFill/>
          </a:ln>
        </p:spPr>
      </p:pic>
      <p:sp>
        <p:nvSpPr>
          <p:cNvPr id="191" name="Google Shape;191;p17"/>
          <p:cNvSpPr txBox="1"/>
          <p:nvPr/>
        </p:nvSpPr>
        <p:spPr>
          <a:xfrm>
            <a:off x="866775" y="5091112"/>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Lato"/>
                <a:ea typeface="Lato"/>
                <a:cs typeface="Lato"/>
                <a:sym typeface="Lato"/>
              </a:rPr>
              <a:t>•</a:t>
            </a:r>
            <a:endParaRPr/>
          </a:p>
        </p:txBody>
      </p:sp>
      <p:sp>
        <p:nvSpPr>
          <p:cNvPr id="192" name="Google Shape;192;p17"/>
          <p:cNvSpPr txBox="1"/>
          <p:nvPr/>
        </p:nvSpPr>
        <p:spPr>
          <a:xfrm>
            <a:off x="962025" y="5091112"/>
            <a:ext cx="4838700" cy="51435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No es Creciente porque los términos alternan entre aumentar y disminuir.</a:t>
            </a:r>
            <a:endParaRPr/>
          </a:p>
        </p:txBody>
      </p:sp>
      <p:sp>
        <p:nvSpPr>
          <p:cNvPr id="193" name="Google Shape;193;p17"/>
          <p:cNvSpPr txBox="1"/>
          <p:nvPr/>
        </p:nvSpPr>
        <p:spPr>
          <a:xfrm>
            <a:off x="866775" y="5605462"/>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Lato"/>
                <a:ea typeface="Lato"/>
                <a:cs typeface="Lato"/>
                <a:sym typeface="Lato"/>
              </a:rPr>
              <a:t>•</a:t>
            </a:r>
            <a:endParaRPr/>
          </a:p>
        </p:txBody>
      </p:sp>
      <p:sp>
        <p:nvSpPr>
          <p:cNvPr id="194" name="Google Shape;194;p17"/>
          <p:cNvSpPr txBox="1"/>
          <p:nvPr/>
        </p:nvSpPr>
        <p:spPr>
          <a:xfrm>
            <a:off x="962025" y="5605462"/>
            <a:ext cx="4838700" cy="51435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No es Decreciente por la misma razón. Se clasifica como </a:t>
            </a:r>
            <a:r>
              <a:rPr lang="en-US" sz="1350" b="1" i="0" u="none" strike="noStrike" cap="none">
                <a:solidFill>
                  <a:srgbClr val="334155"/>
                </a:solidFill>
                <a:latin typeface="Lato"/>
                <a:ea typeface="Lato"/>
                <a:cs typeface="Lato"/>
                <a:sym typeface="Lato"/>
              </a:rPr>
              <a:t>Sucesión Alternante</a:t>
            </a:r>
            <a:r>
              <a:rPr lang="en-US" sz="1350" b="0" i="0" u="none" strike="noStrike" cap="none">
                <a:solidFill>
                  <a:srgbClr val="334155"/>
                </a:solidFill>
                <a:latin typeface="Lato"/>
                <a:ea typeface="Lato"/>
                <a:cs typeface="Lato"/>
                <a:sym typeface="Lato"/>
              </a:rPr>
              <a:t> y no es Monótona.</a:t>
            </a:r>
            <a:endParaRPr/>
          </a:p>
        </p:txBody>
      </p:sp>
      <p:pic>
        <p:nvPicPr>
          <p:cNvPr id="195" name="Google Shape;195;p17" descr="image.png"/>
          <p:cNvPicPr preferRelativeResize="0"/>
          <p:nvPr/>
        </p:nvPicPr>
        <p:blipFill rotWithShape="1">
          <a:blip r:embed="rId14">
            <a:alphaModFix/>
          </a:blip>
          <a:srcRect/>
          <a:stretch/>
        </p:blipFill>
        <p:spPr>
          <a:xfrm>
            <a:off x="6438900" y="4557712"/>
            <a:ext cx="714375" cy="177403"/>
          </a:xfrm>
          <a:prstGeom prst="rect">
            <a:avLst/>
          </a:prstGeom>
          <a:noFill/>
          <a:ln>
            <a:noFill/>
          </a:ln>
        </p:spPr>
      </p:pic>
      <p:sp>
        <p:nvSpPr>
          <p:cNvPr id="196" name="Google Shape;196;p17"/>
          <p:cNvSpPr txBox="1"/>
          <p:nvPr/>
        </p:nvSpPr>
        <p:spPr>
          <a:xfrm>
            <a:off x="6486525" y="5078015"/>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Lato"/>
                <a:ea typeface="Lato"/>
                <a:cs typeface="Lato"/>
                <a:sym typeface="Lato"/>
              </a:rPr>
              <a:t>•</a:t>
            </a:r>
            <a:endParaRPr/>
          </a:p>
        </p:txBody>
      </p:sp>
      <p:sp>
        <p:nvSpPr>
          <p:cNvPr id="197" name="Google Shape;197;p17"/>
          <p:cNvSpPr txBox="1"/>
          <p:nvPr/>
        </p:nvSpPr>
        <p:spPr>
          <a:xfrm>
            <a:off x="6581775" y="5078015"/>
            <a:ext cx="4838700"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Es No Creciente y No Decreciente al mismo tiempo.</a:t>
            </a:r>
            <a:endParaRPr/>
          </a:p>
        </p:txBody>
      </p:sp>
      <p:sp>
        <p:nvSpPr>
          <p:cNvPr id="198" name="Google Shape;198;p17"/>
          <p:cNvSpPr txBox="1"/>
          <p:nvPr/>
        </p:nvSpPr>
        <p:spPr>
          <a:xfrm>
            <a:off x="6486525" y="5335190"/>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Lato"/>
                <a:ea typeface="Lato"/>
                <a:cs typeface="Lato"/>
                <a:sym typeface="Lato"/>
              </a:rPr>
              <a:t>•</a:t>
            </a:r>
            <a:endParaRPr/>
          </a:p>
        </p:txBody>
      </p:sp>
      <p:sp>
        <p:nvSpPr>
          <p:cNvPr id="199" name="Google Shape;199;p17"/>
          <p:cNvSpPr txBox="1"/>
          <p:nvPr/>
        </p:nvSpPr>
        <p:spPr>
          <a:xfrm>
            <a:off x="6581775" y="5335190"/>
            <a:ext cx="4838700"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Todos sus términos son idénticos ( ).</a:t>
            </a:r>
            <a:endParaRPr/>
          </a:p>
        </p:txBody>
      </p:sp>
      <p:pic>
        <p:nvPicPr>
          <p:cNvPr id="200" name="Google Shape;200;p17" descr="image.png"/>
          <p:cNvPicPr preferRelativeResize="0"/>
          <p:nvPr/>
        </p:nvPicPr>
        <p:blipFill rotWithShape="1">
          <a:blip r:embed="rId15">
            <a:alphaModFix/>
          </a:blip>
          <a:srcRect/>
          <a:stretch/>
        </p:blipFill>
        <p:spPr>
          <a:xfrm>
            <a:off x="962025" y="2747962"/>
            <a:ext cx="903386" cy="173384"/>
          </a:xfrm>
          <a:prstGeom prst="rect">
            <a:avLst/>
          </a:prstGeom>
          <a:noFill/>
          <a:ln>
            <a:noFill/>
          </a:ln>
        </p:spPr>
      </p:pic>
      <p:pic>
        <p:nvPicPr>
          <p:cNvPr id="201" name="Google Shape;201;p17" descr="image.png"/>
          <p:cNvPicPr preferRelativeResize="0"/>
          <p:nvPr/>
        </p:nvPicPr>
        <p:blipFill rotWithShape="1">
          <a:blip r:embed="rId16">
            <a:alphaModFix/>
          </a:blip>
          <a:srcRect/>
          <a:stretch/>
        </p:blipFill>
        <p:spPr>
          <a:xfrm>
            <a:off x="7296150" y="2726382"/>
            <a:ext cx="903386" cy="173384"/>
          </a:xfrm>
          <a:prstGeom prst="rect">
            <a:avLst/>
          </a:prstGeom>
          <a:noFill/>
          <a:ln>
            <a:noFill/>
          </a:ln>
        </p:spPr>
      </p:pic>
      <p:pic>
        <p:nvPicPr>
          <p:cNvPr id="202" name="Google Shape;202;p17" descr="image.png"/>
          <p:cNvPicPr preferRelativeResize="0"/>
          <p:nvPr/>
        </p:nvPicPr>
        <p:blipFill rotWithShape="1">
          <a:blip r:embed="rId17">
            <a:alphaModFix/>
          </a:blip>
          <a:srcRect/>
          <a:stretch/>
        </p:blipFill>
        <p:spPr>
          <a:xfrm>
            <a:off x="9124950" y="5420915"/>
            <a:ext cx="903386" cy="16385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18" descr="image.png"/>
          <p:cNvPicPr preferRelativeResize="0"/>
          <p:nvPr/>
        </p:nvPicPr>
        <p:blipFill rotWithShape="1">
          <a:blip r:embed="rId3">
            <a:alphaModFix/>
          </a:blip>
          <a:srcRect/>
          <a:stretch/>
        </p:blipFill>
        <p:spPr>
          <a:xfrm>
            <a:off x="571500" y="1541115"/>
            <a:ext cx="5334000" cy="5185469"/>
          </a:xfrm>
          <a:prstGeom prst="rect">
            <a:avLst/>
          </a:prstGeom>
          <a:noFill/>
          <a:ln>
            <a:noFill/>
          </a:ln>
        </p:spPr>
      </p:pic>
      <p:pic>
        <p:nvPicPr>
          <p:cNvPr id="208" name="Google Shape;208;p18" descr="image.png"/>
          <p:cNvPicPr preferRelativeResize="0"/>
          <p:nvPr/>
        </p:nvPicPr>
        <p:blipFill rotWithShape="1">
          <a:blip r:embed="rId4">
            <a:alphaModFix/>
          </a:blip>
          <a:srcRect/>
          <a:stretch/>
        </p:blipFill>
        <p:spPr>
          <a:xfrm>
            <a:off x="6286500" y="1541115"/>
            <a:ext cx="5334000" cy="5185469"/>
          </a:xfrm>
          <a:prstGeom prst="rect">
            <a:avLst/>
          </a:prstGeom>
          <a:noFill/>
          <a:ln>
            <a:noFill/>
          </a:ln>
        </p:spPr>
      </p:pic>
      <p:pic>
        <p:nvPicPr>
          <p:cNvPr id="209" name="Google Shape;209;p18" descr="image.png"/>
          <p:cNvPicPr preferRelativeResize="0"/>
          <p:nvPr/>
        </p:nvPicPr>
        <p:blipFill rotWithShape="1">
          <a:blip r:embed="rId5">
            <a:alphaModFix/>
          </a:blip>
          <a:srcRect/>
          <a:stretch/>
        </p:blipFill>
        <p:spPr>
          <a:xfrm>
            <a:off x="866775" y="2779365"/>
            <a:ext cx="4743450" cy="400050"/>
          </a:xfrm>
          <a:prstGeom prst="rect">
            <a:avLst/>
          </a:prstGeom>
          <a:noFill/>
          <a:ln>
            <a:noFill/>
          </a:ln>
        </p:spPr>
      </p:pic>
      <p:pic>
        <p:nvPicPr>
          <p:cNvPr id="210" name="Google Shape;210;p18" descr="image.png"/>
          <p:cNvPicPr preferRelativeResize="0"/>
          <p:nvPr/>
        </p:nvPicPr>
        <p:blipFill rotWithShape="1">
          <a:blip r:embed="rId6">
            <a:alphaModFix/>
          </a:blip>
          <a:srcRect/>
          <a:stretch/>
        </p:blipFill>
        <p:spPr>
          <a:xfrm>
            <a:off x="866775" y="4027140"/>
            <a:ext cx="4743450" cy="400050"/>
          </a:xfrm>
          <a:prstGeom prst="rect">
            <a:avLst/>
          </a:prstGeom>
          <a:noFill/>
          <a:ln>
            <a:noFill/>
          </a:ln>
        </p:spPr>
      </p:pic>
      <p:pic>
        <p:nvPicPr>
          <p:cNvPr id="211" name="Google Shape;211;p18" descr="image.png"/>
          <p:cNvPicPr preferRelativeResize="0"/>
          <p:nvPr/>
        </p:nvPicPr>
        <p:blipFill rotWithShape="1">
          <a:blip r:embed="rId7">
            <a:alphaModFix/>
          </a:blip>
          <a:srcRect/>
          <a:stretch/>
        </p:blipFill>
        <p:spPr>
          <a:xfrm>
            <a:off x="6581775" y="3035647"/>
            <a:ext cx="4743450" cy="573137"/>
          </a:xfrm>
          <a:prstGeom prst="rect">
            <a:avLst/>
          </a:prstGeom>
          <a:noFill/>
          <a:ln>
            <a:noFill/>
          </a:ln>
        </p:spPr>
      </p:pic>
      <p:sp>
        <p:nvSpPr>
          <p:cNvPr id="212" name="Google Shape;212;p18"/>
          <p:cNvSpPr txBox="1"/>
          <p:nvPr/>
        </p:nvSpPr>
        <p:spPr>
          <a:xfrm>
            <a:off x="295275" y="131415"/>
            <a:ext cx="11601450"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1" i="0" u="none" strike="noStrike" cap="none">
                <a:solidFill>
                  <a:srgbClr val="0F172A"/>
                </a:solidFill>
                <a:latin typeface="Poppins"/>
                <a:ea typeface="Poppins"/>
                <a:cs typeface="Poppins"/>
                <a:sym typeface="Poppins"/>
              </a:rPr>
              <a:t>Subsecuencias</a:t>
            </a:r>
            <a:endParaRPr/>
          </a:p>
        </p:txBody>
      </p:sp>
      <p:sp>
        <p:nvSpPr>
          <p:cNvPr id="213" name="Google Shape;213;p18"/>
          <p:cNvSpPr txBox="1"/>
          <p:nvPr/>
        </p:nvSpPr>
        <p:spPr>
          <a:xfrm>
            <a:off x="571500" y="988665"/>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Es una nueva sucesión formada al seleccionar ciertos términos de la sucesión original, </a:t>
            </a:r>
            <a:r>
              <a:rPr lang="en-US" sz="1650" b="1" i="0" u="none" strike="noStrike" cap="none">
                <a:solidFill>
                  <a:srgbClr val="475569"/>
                </a:solidFill>
                <a:latin typeface="Lato"/>
                <a:ea typeface="Lato"/>
                <a:cs typeface="Lato"/>
                <a:sym typeface="Lato"/>
              </a:rPr>
              <a:t>manteniendo siempre el orden</a:t>
            </a:r>
            <a:r>
              <a:rPr lang="en-US" sz="1650" b="0" i="0" u="none" strike="noStrike" cap="none">
                <a:solidFill>
                  <a:srgbClr val="475569"/>
                </a:solidFill>
                <a:latin typeface="Lato"/>
                <a:ea typeface="Lato"/>
                <a:cs typeface="Lato"/>
                <a:sym typeface="Lato"/>
              </a:rPr>
              <a:t>.</a:t>
            </a:r>
            <a:endParaRPr/>
          </a:p>
        </p:txBody>
      </p:sp>
      <p:sp>
        <p:nvSpPr>
          <p:cNvPr id="214" name="Google Shape;214;p18"/>
          <p:cNvSpPr txBox="1"/>
          <p:nvPr/>
        </p:nvSpPr>
        <p:spPr>
          <a:xfrm>
            <a:off x="866775" y="1836390"/>
            <a:ext cx="498062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F172A"/>
                </a:solidFill>
                <a:latin typeface="Poppins SemiBold"/>
                <a:ea typeface="Poppins SemiBold"/>
                <a:cs typeface="Poppins SemiBold"/>
                <a:sym typeface="Poppins SemiBold"/>
              </a:rPr>
              <a:t>Ejemplo de Creación</a:t>
            </a:r>
            <a:endParaRPr/>
          </a:p>
        </p:txBody>
      </p:sp>
      <p:sp>
        <p:nvSpPr>
          <p:cNvPr id="215" name="Google Shape;215;p18"/>
          <p:cNvSpPr txBox="1"/>
          <p:nvPr/>
        </p:nvSpPr>
        <p:spPr>
          <a:xfrm>
            <a:off x="866775" y="2265015"/>
            <a:ext cx="474345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Sucesión Original (Números pares):</a:t>
            </a:r>
            <a:endParaRPr/>
          </a:p>
        </p:txBody>
      </p:sp>
      <p:sp>
        <p:nvSpPr>
          <p:cNvPr id="216" name="Google Shape;216;p18"/>
          <p:cNvSpPr txBox="1"/>
          <p:nvPr/>
        </p:nvSpPr>
        <p:spPr>
          <a:xfrm>
            <a:off x="866775" y="3512790"/>
            <a:ext cx="474345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Subsecuencia Generada:</a:t>
            </a:r>
            <a:endParaRPr/>
          </a:p>
        </p:txBody>
      </p:sp>
      <p:sp>
        <p:nvSpPr>
          <p:cNvPr id="217" name="Google Shape;217;p18"/>
          <p:cNvSpPr txBox="1"/>
          <p:nvPr/>
        </p:nvSpPr>
        <p:spPr>
          <a:xfrm>
            <a:off x="866775" y="4760565"/>
            <a:ext cx="474345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¿Cómo se obtiene?</a:t>
            </a:r>
            <a:endParaRPr/>
          </a:p>
        </p:txBody>
      </p:sp>
      <p:sp>
        <p:nvSpPr>
          <p:cNvPr id="218" name="Google Shape;218;p18"/>
          <p:cNvSpPr txBox="1"/>
          <p:nvPr/>
        </p:nvSpPr>
        <p:spPr>
          <a:xfrm>
            <a:off x="6581775" y="1836390"/>
            <a:ext cx="498062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F172A"/>
                </a:solidFill>
                <a:latin typeface="Poppins SemiBold"/>
                <a:ea typeface="Poppins SemiBold"/>
                <a:cs typeface="Poppins SemiBold"/>
                <a:sym typeface="Poppins SemiBold"/>
              </a:rPr>
              <a:t>Fórmula de la Subsecuencia</a:t>
            </a:r>
            <a:endParaRPr/>
          </a:p>
        </p:txBody>
      </p:sp>
      <p:sp>
        <p:nvSpPr>
          <p:cNvPr id="219" name="Google Shape;219;p18"/>
          <p:cNvSpPr txBox="1"/>
          <p:nvPr/>
        </p:nvSpPr>
        <p:spPr>
          <a:xfrm>
            <a:off x="6581775" y="2265015"/>
            <a:ext cx="4743450"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a:solidFill>
                  <a:srgbClr val="334155"/>
                </a:solidFill>
                <a:latin typeface="Lato"/>
                <a:ea typeface="Lato"/>
                <a:cs typeface="Lato"/>
                <a:sym typeface="Lato"/>
              </a:rPr>
              <a:t>Si la </a:t>
            </a:r>
            <a:r>
              <a:rPr lang="en-US" sz="1200" b="0" i="0" u="none" strike="noStrike" cap="none" dirty="0" err="1">
                <a:solidFill>
                  <a:srgbClr val="334155"/>
                </a:solidFill>
                <a:latin typeface="Lato"/>
                <a:ea typeface="Lato"/>
                <a:cs typeface="Lato"/>
                <a:sym typeface="Lato"/>
              </a:rPr>
              <a:t>sucesión</a:t>
            </a:r>
            <a:r>
              <a:rPr lang="en-US" sz="1200" b="0" i="0" u="none" strike="noStrike" cap="none" dirty="0">
                <a:solidFill>
                  <a:srgbClr val="334155"/>
                </a:solidFill>
                <a:latin typeface="Lato"/>
                <a:ea typeface="Lato"/>
                <a:cs typeface="Lato"/>
                <a:sym typeface="Lato"/>
              </a:rPr>
              <a:t> original es                    ,  </a:t>
            </a:r>
            <a:r>
              <a:rPr lang="en-US" sz="1200" b="0" i="0" u="none" strike="noStrike" cap="none" dirty="0" err="1">
                <a:solidFill>
                  <a:srgbClr val="334155"/>
                </a:solidFill>
                <a:latin typeface="Lato"/>
                <a:ea typeface="Lato"/>
                <a:cs typeface="Lato"/>
                <a:sym typeface="Lato"/>
              </a:rPr>
              <a:t>entonces</a:t>
            </a:r>
            <a:r>
              <a:rPr lang="en-US" sz="1200" b="0" i="0" u="none" strike="noStrike" cap="none" dirty="0">
                <a:solidFill>
                  <a:srgbClr val="334155"/>
                </a:solidFill>
                <a:latin typeface="Lato"/>
                <a:ea typeface="Lato"/>
                <a:cs typeface="Lato"/>
                <a:sym typeface="Lato"/>
              </a:rPr>
              <a:t> la </a:t>
            </a:r>
            <a:r>
              <a:rPr lang="en-US" sz="1200" b="0" i="0" u="none" strike="noStrike" cap="none" dirty="0" err="1">
                <a:solidFill>
                  <a:srgbClr val="334155"/>
                </a:solidFill>
                <a:latin typeface="Lato"/>
                <a:ea typeface="Lato"/>
                <a:cs typeface="Lato"/>
                <a:sym typeface="Lato"/>
              </a:rPr>
              <a:t>subsecuencia</a:t>
            </a:r>
            <a:r>
              <a:rPr lang="en-US" sz="1200" b="0" i="0" u="none" strike="noStrike" cap="none" dirty="0">
                <a:solidFill>
                  <a:srgbClr val="334155"/>
                </a:solidFill>
                <a:latin typeface="Lato"/>
                <a:ea typeface="Lato"/>
                <a:cs typeface="Lato"/>
                <a:sym typeface="Lato"/>
              </a:rPr>
              <a:t> (         ) </a:t>
            </a:r>
            <a:r>
              <a:rPr lang="en-US" sz="1200" b="0" i="0" u="none" strike="noStrike" cap="none" dirty="0" err="1">
                <a:solidFill>
                  <a:srgbClr val="334155"/>
                </a:solidFill>
                <a:latin typeface="Lato"/>
                <a:ea typeface="Lato"/>
                <a:cs typeface="Lato"/>
                <a:sym typeface="Lato"/>
              </a:rPr>
              <a:t>sigue</a:t>
            </a:r>
            <a:r>
              <a:rPr lang="en-US" sz="1200" b="0" i="0" u="none" strike="noStrike" cap="none" dirty="0">
                <a:solidFill>
                  <a:srgbClr val="334155"/>
                </a:solidFill>
                <a:latin typeface="Lato"/>
                <a:ea typeface="Lato"/>
                <a:cs typeface="Lato"/>
                <a:sym typeface="Lato"/>
              </a:rPr>
              <a:t> la </a:t>
            </a:r>
            <a:r>
              <a:rPr lang="en-US" sz="1200" b="0" i="0" u="none" strike="noStrike" cap="none" dirty="0" err="1">
                <a:solidFill>
                  <a:srgbClr val="334155"/>
                </a:solidFill>
                <a:latin typeface="Lato"/>
                <a:ea typeface="Lato"/>
                <a:cs typeface="Lato"/>
                <a:sym typeface="Lato"/>
              </a:rPr>
              <a:t>ecuación</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sustituyendo</a:t>
            </a:r>
            <a:r>
              <a:rPr lang="en-US" sz="1200" b="0" i="0" u="none" strike="noStrike" cap="none" dirty="0">
                <a:solidFill>
                  <a:srgbClr val="334155"/>
                </a:solidFill>
                <a:latin typeface="Lato"/>
                <a:ea typeface="Lato"/>
                <a:cs typeface="Lato"/>
                <a:sym typeface="Lato"/>
              </a:rPr>
              <a:t> 'n' </a:t>
            </a:r>
            <a:r>
              <a:rPr lang="en-US" sz="1200" b="0" i="0" u="none" strike="noStrike" cap="none" dirty="0" err="1">
                <a:solidFill>
                  <a:srgbClr val="334155"/>
                </a:solidFill>
                <a:latin typeface="Lato"/>
                <a:ea typeface="Lato"/>
                <a:cs typeface="Lato"/>
                <a:sym typeface="Lato"/>
              </a:rPr>
              <a:t>por</a:t>
            </a:r>
            <a:r>
              <a:rPr lang="en-US" sz="1200" b="0" i="0" u="none" strike="noStrike" cap="none" dirty="0">
                <a:solidFill>
                  <a:srgbClr val="334155"/>
                </a:solidFill>
                <a:latin typeface="Lato"/>
                <a:ea typeface="Lato"/>
                <a:cs typeface="Lato"/>
                <a:sym typeface="Lato"/>
              </a:rPr>
              <a:t> la </a:t>
            </a:r>
            <a:r>
              <a:rPr lang="en-US" sz="1200" b="0" i="0" u="none" strike="noStrike" cap="none" dirty="0" err="1">
                <a:solidFill>
                  <a:srgbClr val="334155"/>
                </a:solidFill>
                <a:latin typeface="Lato"/>
                <a:ea typeface="Lato"/>
                <a:cs typeface="Lato"/>
                <a:sym typeface="Lato"/>
              </a:rPr>
              <a:t>regla</a:t>
            </a:r>
            <a:r>
              <a:rPr lang="en-US" sz="1200" b="0" i="0" u="none" strike="noStrike" cap="none" dirty="0">
                <a:solidFill>
                  <a:srgbClr val="334155"/>
                </a:solidFill>
                <a:latin typeface="Lato"/>
                <a:ea typeface="Lato"/>
                <a:cs typeface="Lato"/>
                <a:sym typeface="Lato"/>
              </a:rPr>
              <a:t> de </a:t>
            </a:r>
            <a:r>
              <a:rPr lang="en-US" sz="1200" b="0" i="0" u="none" strike="noStrike" cap="none" dirty="0" err="1">
                <a:solidFill>
                  <a:srgbClr val="334155"/>
                </a:solidFill>
                <a:latin typeface="Lato"/>
                <a:ea typeface="Lato"/>
                <a:cs typeface="Lato"/>
                <a:sym typeface="Lato"/>
              </a:rPr>
              <a:t>posiciones</a:t>
            </a:r>
            <a:r>
              <a:rPr lang="en-US" sz="1200" b="0" i="0" u="none" strike="noStrike" cap="none" dirty="0">
                <a:solidFill>
                  <a:srgbClr val="334155"/>
                </a:solidFill>
                <a:latin typeface="Lato"/>
                <a:ea typeface="Lato"/>
                <a:cs typeface="Lato"/>
                <a:sym typeface="Lato"/>
              </a:rPr>
              <a:t>:</a:t>
            </a:r>
            <a:endParaRPr dirty="0"/>
          </a:p>
        </p:txBody>
      </p:sp>
      <p:sp>
        <p:nvSpPr>
          <p:cNvPr id="220" name="Google Shape;220;p18"/>
          <p:cNvSpPr txBox="1"/>
          <p:nvPr/>
        </p:nvSpPr>
        <p:spPr>
          <a:xfrm>
            <a:off x="6581775" y="4037409"/>
            <a:ext cx="498062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F172A"/>
                </a:solidFill>
                <a:latin typeface="Poppins SemiBold"/>
                <a:ea typeface="Poppins SemiBold"/>
                <a:cs typeface="Poppins SemiBold"/>
                <a:sym typeface="Poppins SemiBold"/>
              </a:rPr>
              <a:t>Operaciones Importantes</a:t>
            </a:r>
            <a:endParaRPr/>
          </a:p>
        </p:txBody>
      </p:sp>
      <p:sp>
        <p:nvSpPr>
          <p:cNvPr id="221" name="Google Shape;221;p18"/>
          <p:cNvSpPr txBox="1"/>
          <p:nvPr/>
        </p:nvSpPr>
        <p:spPr>
          <a:xfrm>
            <a:off x="6581775" y="4466034"/>
            <a:ext cx="474345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Con las sucesiones numéricas se pueden realizar operaciones término a término, como:</a:t>
            </a:r>
            <a:endParaRPr/>
          </a:p>
        </p:txBody>
      </p:sp>
      <p:pic>
        <p:nvPicPr>
          <p:cNvPr id="222" name="Google Shape;222;p18" descr="image.png"/>
          <p:cNvPicPr preferRelativeResize="0"/>
          <p:nvPr/>
        </p:nvPicPr>
        <p:blipFill rotWithShape="1">
          <a:blip r:embed="rId8">
            <a:alphaModFix/>
          </a:blip>
          <a:srcRect/>
          <a:stretch/>
        </p:blipFill>
        <p:spPr>
          <a:xfrm>
            <a:off x="1509712" y="2893665"/>
            <a:ext cx="3457575" cy="180975"/>
          </a:xfrm>
          <a:prstGeom prst="rect">
            <a:avLst/>
          </a:prstGeom>
          <a:noFill/>
          <a:ln>
            <a:noFill/>
          </a:ln>
        </p:spPr>
      </p:pic>
      <p:pic>
        <p:nvPicPr>
          <p:cNvPr id="223" name="Google Shape;223;p18" descr="image.png"/>
          <p:cNvPicPr preferRelativeResize="0"/>
          <p:nvPr/>
        </p:nvPicPr>
        <p:blipFill rotWithShape="1">
          <a:blip r:embed="rId9">
            <a:alphaModFix/>
          </a:blip>
          <a:srcRect/>
          <a:stretch/>
        </p:blipFill>
        <p:spPr>
          <a:xfrm>
            <a:off x="2276475" y="4141440"/>
            <a:ext cx="1924050" cy="180975"/>
          </a:xfrm>
          <a:prstGeom prst="rect">
            <a:avLst/>
          </a:prstGeom>
          <a:noFill/>
          <a:ln>
            <a:noFill/>
          </a:ln>
        </p:spPr>
      </p:pic>
      <p:sp>
        <p:nvSpPr>
          <p:cNvPr id="224" name="Google Shape;224;p18"/>
          <p:cNvSpPr txBox="1"/>
          <p:nvPr/>
        </p:nvSpPr>
        <p:spPr>
          <a:xfrm>
            <a:off x="1485900" y="5274915"/>
            <a:ext cx="41243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Se eligen términos en posiciones específicas: 1ª, 2ª, 4ª, 8ª...</a:t>
            </a:r>
            <a:endParaRPr/>
          </a:p>
        </p:txBody>
      </p:sp>
      <p:sp>
        <p:nvSpPr>
          <p:cNvPr id="225" name="Google Shape;225;p18"/>
          <p:cNvSpPr txBox="1"/>
          <p:nvPr/>
        </p:nvSpPr>
        <p:spPr>
          <a:xfrm>
            <a:off x="1485900" y="5903565"/>
            <a:ext cx="41243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dirty="0" err="1">
                <a:solidFill>
                  <a:srgbClr val="334155"/>
                </a:solidFill>
                <a:latin typeface="Lato"/>
                <a:ea typeface="Lato"/>
                <a:cs typeface="Lato"/>
                <a:sym typeface="Lato"/>
              </a:rPr>
              <a:t>Estas</a:t>
            </a:r>
            <a:r>
              <a:rPr lang="en-US" sz="1350" b="0" i="0" u="none" strike="noStrike" cap="none" dirty="0">
                <a:solidFill>
                  <a:srgbClr val="334155"/>
                </a:solidFill>
                <a:latin typeface="Lato"/>
                <a:ea typeface="Lato"/>
                <a:cs typeface="Lato"/>
                <a:sym typeface="Lato"/>
              </a:rPr>
              <a:t> </a:t>
            </a:r>
            <a:r>
              <a:rPr lang="en-US" sz="1350" b="0" i="0" u="none" strike="noStrike" cap="none" dirty="0" err="1">
                <a:solidFill>
                  <a:srgbClr val="334155"/>
                </a:solidFill>
                <a:latin typeface="Lato"/>
                <a:ea typeface="Lato"/>
                <a:cs typeface="Lato"/>
                <a:sym typeface="Lato"/>
              </a:rPr>
              <a:t>posiciones</a:t>
            </a:r>
            <a:r>
              <a:rPr lang="en-US" sz="1350" b="0" i="0" u="none" strike="noStrike" cap="none" dirty="0">
                <a:solidFill>
                  <a:srgbClr val="334155"/>
                </a:solidFill>
                <a:latin typeface="Lato"/>
                <a:ea typeface="Lato"/>
                <a:cs typeface="Lato"/>
                <a:sym typeface="Lato"/>
              </a:rPr>
              <a:t> (     ) se </a:t>
            </a:r>
            <a:r>
              <a:rPr lang="en-US" sz="1350" b="0" i="0" u="none" strike="noStrike" cap="none" dirty="0" err="1">
                <a:solidFill>
                  <a:srgbClr val="334155"/>
                </a:solidFill>
                <a:latin typeface="Lato"/>
                <a:ea typeface="Lato"/>
                <a:cs typeface="Lato"/>
                <a:sym typeface="Lato"/>
              </a:rPr>
              <a:t>definen</a:t>
            </a:r>
            <a:r>
              <a:rPr lang="en-US" sz="1350" b="0" i="0" u="none" strike="noStrike" cap="none" dirty="0">
                <a:solidFill>
                  <a:srgbClr val="334155"/>
                </a:solidFill>
                <a:latin typeface="Lato"/>
                <a:ea typeface="Lato"/>
                <a:cs typeface="Lato"/>
                <a:sym typeface="Lato"/>
              </a:rPr>
              <a:t> </a:t>
            </a:r>
            <a:r>
              <a:rPr lang="en-US" sz="1350" b="0" i="0" u="none" strike="noStrike" cap="none" dirty="0" err="1">
                <a:solidFill>
                  <a:srgbClr val="334155"/>
                </a:solidFill>
                <a:latin typeface="Lato"/>
                <a:ea typeface="Lato"/>
                <a:cs typeface="Lato"/>
                <a:sym typeface="Lato"/>
              </a:rPr>
              <a:t>como</a:t>
            </a:r>
            <a:r>
              <a:rPr lang="en-US" sz="1350" b="0" i="0" u="none" strike="noStrike" cap="none" dirty="0">
                <a:solidFill>
                  <a:srgbClr val="334155"/>
                </a:solidFill>
                <a:latin typeface="Lato"/>
                <a:ea typeface="Lato"/>
                <a:cs typeface="Lato"/>
                <a:sym typeface="Lato"/>
              </a:rPr>
              <a:t> .</a:t>
            </a:r>
            <a:endParaRPr dirty="0"/>
          </a:p>
        </p:txBody>
      </p:sp>
      <p:pic>
        <p:nvPicPr>
          <p:cNvPr id="226" name="Google Shape;226;p18" descr="image.png"/>
          <p:cNvPicPr preferRelativeResize="0"/>
          <p:nvPr/>
        </p:nvPicPr>
        <p:blipFill rotWithShape="1">
          <a:blip r:embed="rId10">
            <a:alphaModFix/>
          </a:blip>
          <a:srcRect/>
          <a:stretch/>
        </p:blipFill>
        <p:spPr>
          <a:xfrm>
            <a:off x="8277225" y="2324408"/>
            <a:ext cx="609600" cy="177403"/>
          </a:xfrm>
          <a:prstGeom prst="rect">
            <a:avLst/>
          </a:prstGeom>
          <a:noFill/>
          <a:ln>
            <a:noFill/>
          </a:ln>
        </p:spPr>
      </p:pic>
      <p:pic>
        <p:nvPicPr>
          <p:cNvPr id="227" name="Google Shape;227;p18" descr="image.png"/>
          <p:cNvPicPr preferRelativeResize="0"/>
          <p:nvPr/>
        </p:nvPicPr>
        <p:blipFill rotWithShape="1">
          <a:blip r:embed="rId11">
            <a:alphaModFix/>
          </a:blip>
          <a:srcRect/>
          <a:stretch/>
        </p:blipFill>
        <p:spPr>
          <a:xfrm>
            <a:off x="10957179" y="2341304"/>
            <a:ext cx="266700" cy="180082"/>
          </a:xfrm>
          <a:prstGeom prst="rect">
            <a:avLst/>
          </a:prstGeom>
          <a:noFill/>
          <a:ln>
            <a:noFill/>
          </a:ln>
        </p:spPr>
      </p:pic>
      <p:pic>
        <p:nvPicPr>
          <p:cNvPr id="228" name="Google Shape;228;p18" descr="image.png"/>
          <p:cNvPicPr preferRelativeResize="0"/>
          <p:nvPr/>
        </p:nvPicPr>
        <p:blipFill rotWithShape="1">
          <a:blip r:embed="rId12">
            <a:alphaModFix/>
          </a:blip>
          <a:srcRect/>
          <a:stretch/>
        </p:blipFill>
        <p:spPr>
          <a:xfrm>
            <a:off x="7416850" y="3179415"/>
            <a:ext cx="3073300" cy="268337"/>
          </a:xfrm>
          <a:prstGeom prst="rect">
            <a:avLst/>
          </a:prstGeom>
          <a:noFill/>
          <a:ln>
            <a:noFill/>
          </a:ln>
        </p:spPr>
      </p:pic>
      <p:sp>
        <p:nvSpPr>
          <p:cNvPr id="229" name="Google Shape;229;p18"/>
          <p:cNvSpPr txBox="1"/>
          <p:nvPr/>
        </p:nvSpPr>
        <p:spPr>
          <a:xfrm>
            <a:off x="7200900" y="5218509"/>
            <a:ext cx="41243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0F172A"/>
                </a:solidFill>
                <a:latin typeface="Lato"/>
                <a:ea typeface="Lato"/>
                <a:cs typeface="Lato"/>
                <a:sym typeface="Lato"/>
              </a:rPr>
              <a:t>Suma de términos</a:t>
            </a:r>
            <a:endParaRPr/>
          </a:p>
        </p:txBody>
      </p:sp>
      <p:sp>
        <p:nvSpPr>
          <p:cNvPr id="230" name="Google Shape;230;p18"/>
          <p:cNvSpPr txBox="1"/>
          <p:nvPr/>
        </p:nvSpPr>
        <p:spPr>
          <a:xfrm>
            <a:off x="7200900" y="5589984"/>
            <a:ext cx="41243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0F172A"/>
                </a:solidFill>
                <a:latin typeface="Lato"/>
                <a:ea typeface="Lato"/>
                <a:cs typeface="Lato"/>
                <a:sym typeface="Lato"/>
              </a:rPr>
              <a:t>Multiplicación de términos</a:t>
            </a:r>
            <a:endParaRPr/>
          </a:p>
        </p:txBody>
      </p:sp>
      <p:sp>
        <p:nvSpPr>
          <p:cNvPr id="231" name="Google Shape;231;p18"/>
          <p:cNvSpPr txBox="1"/>
          <p:nvPr/>
        </p:nvSpPr>
        <p:spPr>
          <a:xfrm>
            <a:off x="1247775" y="5198715"/>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32" name="Google Shape;232;p18"/>
          <p:cNvSpPr txBox="1"/>
          <p:nvPr/>
        </p:nvSpPr>
        <p:spPr>
          <a:xfrm>
            <a:off x="1247775" y="5827365"/>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pic>
        <p:nvPicPr>
          <p:cNvPr id="233" name="Google Shape;233;p18" descr="image.png"/>
          <p:cNvPicPr preferRelativeResize="0"/>
          <p:nvPr/>
        </p:nvPicPr>
        <p:blipFill rotWithShape="1">
          <a:blip r:embed="rId13">
            <a:alphaModFix/>
          </a:blip>
          <a:srcRect/>
          <a:stretch/>
        </p:blipFill>
        <p:spPr>
          <a:xfrm>
            <a:off x="2809875" y="6002684"/>
            <a:ext cx="228600" cy="154334"/>
          </a:xfrm>
          <a:prstGeom prst="rect">
            <a:avLst/>
          </a:prstGeom>
          <a:noFill/>
          <a:ln>
            <a:noFill/>
          </a:ln>
        </p:spPr>
      </p:pic>
      <p:pic>
        <p:nvPicPr>
          <p:cNvPr id="234" name="Google Shape;234;p18" descr="image.png"/>
          <p:cNvPicPr preferRelativeResize="0"/>
          <p:nvPr/>
        </p:nvPicPr>
        <p:blipFill rotWithShape="1">
          <a:blip r:embed="rId14">
            <a:alphaModFix/>
          </a:blip>
          <a:srcRect/>
          <a:stretch/>
        </p:blipFill>
        <p:spPr>
          <a:xfrm>
            <a:off x="4532895" y="5975275"/>
            <a:ext cx="903386" cy="253454"/>
          </a:xfrm>
          <a:prstGeom prst="rect">
            <a:avLst/>
          </a:prstGeom>
          <a:noFill/>
          <a:ln>
            <a:noFill/>
          </a:ln>
        </p:spPr>
      </p:pic>
      <p:sp>
        <p:nvSpPr>
          <p:cNvPr id="235" name="Google Shape;235;p18"/>
          <p:cNvSpPr txBox="1"/>
          <p:nvPr/>
        </p:nvSpPr>
        <p:spPr>
          <a:xfrm>
            <a:off x="6962775" y="5142309"/>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36" name="Google Shape;236;p18"/>
          <p:cNvSpPr txBox="1"/>
          <p:nvPr/>
        </p:nvSpPr>
        <p:spPr>
          <a:xfrm>
            <a:off x="6962775" y="5513784"/>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pic>
        <p:nvPicPr>
          <p:cNvPr id="241" name="Google Shape;241;p19" descr="image.png"/>
          <p:cNvPicPr preferRelativeResize="0"/>
          <p:nvPr/>
        </p:nvPicPr>
        <p:blipFill rotWithShape="1">
          <a:blip r:embed="rId3">
            <a:alphaModFix/>
          </a:blip>
          <a:srcRect/>
          <a:stretch/>
        </p:blipFill>
        <p:spPr>
          <a:xfrm>
            <a:off x="571500" y="1525785"/>
            <a:ext cx="6311800" cy="5216128"/>
          </a:xfrm>
          <a:prstGeom prst="rect">
            <a:avLst/>
          </a:prstGeom>
          <a:noFill/>
          <a:ln>
            <a:noFill/>
          </a:ln>
        </p:spPr>
      </p:pic>
      <p:pic>
        <p:nvPicPr>
          <p:cNvPr id="242" name="Google Shape;242;p19" descr="image.png"/>
          <p:cNvPicPr preferRelativeResize="0"/>
          <p:nvPr/>
        </p:nvPicPr>
        <p:blipFill rotWithShape="1">
          <a:blip r:embed="rId4">
            <a:alphaModFix/>
          </a:blip>
          <a:srcRect/>
          <a:stretch/>
        </p:blipFill>
        <p:spPr>
          <a:xfrm>
            <a:off x="7264300" y="1525785"/>
            <a:ext cx="4356199" cy="5216128"/>
          </a:xfrm>
          <a:prstGeom prst="rect">
            <a:avLst/>
          </a:prstGeom>
          <a:noFill/>
          <a:ln>
            <a:noFill/>
          </a:ln>
        </p:spPr>
      </p:pic>
      <p:pic>
        <p:nvPicPr>
          <p:cNvPr id="243" name="Google Shape;243;p19" descr="image.png"/>
          <p:cNvPicPr preferRelativeResize="0"/>
          <p:nvPr/>
        </p:nvPicPr>
        <p:blipFill rotWithShape="1">
          <a:blip r:embed="rId5">
            <a:alphaModFix/>
          </a:blip>
          <a:srcRect/>
          <a:stretch/>
        </p:blipFill>
        <p:spPr>
          <a:xfrm>
            <a:off x="866775" y="2363985"/>
            <a:ext cx="5721250" cy="415528"/>
          </a:xfrm>
          <a:prstGeom prst="rect">
            <a:avLst/>
          </a:prstGeom>
          <a:noFill/>
          <a:ln>
            <a:noFill/>
          </a:ln>
        </p:spPr>
      </p:pic>
      <p:pic>
        <p:nvPicPr>
          <p:cNvPr id="244" name="Google Shape;244;p19" descr="image.png"/>
          <p:cNvPicPr preferRelativeResize="0"/>
          <p:nvPr/>
        </p:nvPicPr>
        <p:blipFill rotWithShape="1">
          <a:blip r:embed="rId6">
            <a:alphaModFix/>
          </a:blip>
          <a:srcRect/>
          <a:stretch/>
        </p:blipFill>
        <p:spPr>
          <a:xfrm>
            <a:off x="866775" y="3946326"/>
            <a:ext cx="5721250" cy="595312"/>
          </a:xfrm>
          <a:prstGeom prst="rect">
            <a:avLst/>
          </a:prstGeom>
          <a:noFill/>
          <a:ln>
            <a:noFill/>
          </a:ln>
        </p:spPr>
      </p:pic>
      <p:pic>
        <p:nvPicPr>
          <p:cNvPr id="245" name="Google Shape;245;p19" descr="image.png"/>
          <p:cNvPicPr preferRelativeResize="0"/>
          <p:nvPr/>
        </p:nvPicPr>
        <p:blipFill rotWithShape="1">
          <a:blip r:embed="rId7">
            <a:alphaModFix/>
          </a:blip>
          <a:srcRect/>
          <a:stretch/>
        </p:blipFill>
        <p:spPr>
          <a:xfrm>
            <a:off x="866775" y="5708451"/>
            <a:ext cx="5721250" cy="595312"/>
          </a:xfrm>
          <a:prstGeom prst="rect">
            <a:avLst/>
          </a:prstGeom>
          <a:noFill/>
          <a:ln>
            <a:noFill/>
          </a:ln>
        </p:spPr>
      </p:pic>
      <p:pic>
        <p:nvPicPr>
          <p:cNvPr id="246" name="Google Shape;246;p19" descr="image.png"/>
          <p:cNvPicPr preferRelativeResize="0"/>
          <p:nvPr/>
        </p:nvPicPr>
        <p:blipFill rotWithShape="1">
          <a:blip r:embed="rId8">
            <a:alphaModFix/>
          </a:blip>
          <a:srcRect/>
          <a:stretch/>
        </p:blipFill>
        <p:spPr>
          <a:xfrm>
            <a:off x="7559575" y="3221235"/>
            <a:ext cx="3765649" cy="507355"/>
          </a:xfrm>
          <a:prstGeom prst="rect">
            <a:avLst/>
          </a:prstGeom>
          <a:noFill/>
          <a:ln>
            <a:noFill/>
          </a:ln>
        </p:spPr>
      </p:pic>
      <p:pic>
        <p:nvPicPr>
          <p:cNvPr id="247" name="Google Shape;247;p19" descr="image.png"/>
          <p:cNvPicPr preferRelativeResize="0"/>
          <p:nvPr/>
        </p:nvPicPr>
        <p:blipFill rotWithShape="1">
          <a:blip r:embed="rId9">
            <a:alphaModFix/>
          </a:blip>
          <a:srcRect/>
          <a:stretch/>
        </p:blipFill>
        <p:spPr>
          <a:xfrm>
            <a:off x="7559575" y="5033516"/>
            <a:ext cx="3765649" cy="1040606"/>
          </a:xfrm>
          <a:prstGeom prst="rect">
            <a:avLst/>
          </a:prstGeom>
          <a:noFill/>
          <a:ln>
            <a:noFill/>
          </a:ln>
        </p:spPr>
      </p:pic>
      <p:sp>
        <p:nvSpPr>
          <p:cNvPr id="248" name="Google Shape;248;p19"/>
          <p:cNvSpPr txBox="1"/>
          <p:nvPr/>
        </p:nvSpPr>
        <p:spPr>
          <a:xfrm>
            <a:off x="295275" y="116085"/>
            <a:ext cx="11601450"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1" i="0" u="none" strike="noStrike" cap="none">
                <a:solidFill>
                  <a:srgbClr val="0F172A"/>
                </a:solidFill>
                <a:latin typeface="Poppins"/>
                <a:ea typeface="Poppins"/>
                <a:cs typeface="Poppins"/>
                <a:sym typeface="Poppins"/>
              </a:rPr>
              <a:t>Cálculo de Suma y Producto</a:t>
            </a:r>
            <a:endParaRPr/>
          </a:p>
        </p:txBody>
      </p:sp>
      <p:sp>
        <p:nvSpPr>
          <p:cNvPr id="249" name="Google Shape;249;p19"/>
          <p:cNvSpPr txBox="1"/>
          <p:nvPr/>
        </p:nvSpPr>
        <p:spPr>
          <a:xfrm>
            <a:off x="571500" y="973335"/>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Aplicado a una Sucesión</a:t>
            </a:r>
            <a:endParaRPr/>
          </a:p>
        </p:txBody>
      </p:sp>
      <p:sp>
        <p:nvSpPr>
          <p:cNvPr id="250" name="Google Shape;250;p19"/>
          <p:cNvSpPr txBox="1"/>
          <p:nvPr/>
        </p:nvSpPr>
        <p:spPr>
          <a:xfrm>
            <a:off x="866775" y="1821060"/>
            <a:ext cx="57212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Dada la sucesión:</a:t>
            </a:r>
            <a:endParaRPr/>
          </a:p>
        </p:txBody>
      </p:sp>
      <p:sp>
        <p:nvSpPr>
          <p:cNvPr id="251" name="Google Shape;251;p19"/>
          <p:cNvSpPr txBox="1"/>
          <p:nvPr/>
        </p:nvSpPr>
        <p:spPr>
          <a:xfrm>
            <a:off x="866775" y="3112889"/>
            <a:ext cx="6007313"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2563EB"/>
                </a:solidFill>
                <a:latin typeface="Poppins SemiBold"/>
                <a:ea typeface="Poppins SemiBold"/>
                <a:cs typeface="Poppins SemiBold"/>
                <a:sym typeface="Poppins SemiBold"/>
              </a:rPr>
              <a:t>1. Suma de los tres primeros términos:</a:t>
            </a:r>
            <a:endParaRPr/>
          </a:p>
        </p:txBody>
      </p:sp>
      <p:sp>
        <p:nvSpPr>
          <p:cNvPr id="252" name="Google Shape;252;p19"/>
          <p:cNvSpPr txBox="1"/>
          <p:nvPr/>
        </p:nvSpPr>
        <p:spPr>
          <a:xfrm>
            <a:off x="866775" y="3446264"/>
            <a:ext cx="5721250"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334155"/>
                </a:solidFill>
                <a:latin typeface="Lato"/>
                <a:ea typeface="Lato"/>
                <a:cs typeface="Lato"/>
                <a:sym typeface="Lato"/>
              </a:rPr>
              <a:t>Se utiliza la notación de sumatoria (Σ) para representar la suma.</a:t>
            </a:r>
            <a:endParaRPr/>
          </a:p>
        </p:txBody>
      </p:sp>
      <p:sp>
        <p:nvSpPr>
          <p:cNvPr id="253" name="Google Shape;253;p19"/>
          <p:cNvSpPr txBox="1"/>
          <p:nvPr/>
        </p:nvSpPr>
        <p:spPr>
          <a:xfrm>
            <a:off x="866775" y="4875014"/>
            <a:ext cx="6007313"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6A34A"/>
                </a:solidFill>
                <a:latin typeface="Poppins SemiBold"/>
                <a:ea typeface="Poppins SemiBold"/>
                <a:cs typeface="Poppins SemiBold"/>
                <a:sym typeface="Poppins SemiBold"/>
              </a:rPr>
              <a:t>2. Producto de los tres primeros términos:</a:t>
            </a:r>
            <a:endParaRPr/>
          </a:p>
        </p:txBody>
      </p:sp>
      <p:sp>
        <p:nvSpPr>
          <p:cNvPr id="254" name="Google Shape;254;p19"/>
          <p:cNvSpPr txBox="1"/>
          <p:nvPr/>
        </p:nvSpPr>
        <p:spPr>
          <a:xfrm>
            <a:off x="866775" y="5208389"/>
            <a:ext cx="5721250"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334155"/>
                </a:solidFill>
                <a:latin typeface="Lato"/>
                <a:ea typeface="Lato"/>
                <a:cs typeface="Lato"/>
                <a:sym typeface="Lato"/>
              </a:rPr>
              <a:t>Se utiliza la notación de productoria (Π) para el producto.</a:t>
            </a:r>
            <a:endParaRPr/>
          </a:p>
        </p:txBody>
      </p:sp>
      <p:sp>
        <p:nvSpPr>
          <p:cNvPr id="255" name="Google Shape;255;p19"/>
          <p:cNvSpPr txBox="1"/>
          <p:nvPr/>
        </p:nvSpPr>
        <p:spPr>
          <a:xfrm>
            <a:off x="7559575" y="1821060"/>
            <a:ext cx="3953931"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F172A"/>
                </a:solidFill>
                <a:latin typeface="Poppins SemiBold"/>
                <a:ea typeface="Poppins SemiBold"/>
                <a:cs typeface="Poppins SemiBold"/>
                <a:sym typeface="Poppins SemiBold"/>
              </a:rPr>
              <a:t>Suma Geométrica</a:t>
            </a:r>
            <a:endParaRPr/>
          </a:p>
        </p:txBody>
      </p:sp>
      <p:sp>
        <p:nvSpPr>
          <p:cNvPr id="256" name="Google Shape;256;p19"/>
          <p:cNvSpPr txBox="1"/>
          <p:nvPr/>
        </p:nvSpPr>
        <p:spPr>
          <a:xfrm>
            <a:off x="7559575" y="2249685"/>
            <a:ext cx="3765649"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Una serie donde cada término se obtiene multiplicando el anterior por una razón constante 'r', conocida como serie geométrica, tiene la forma extendida:</a:t>
            </a:r>
            <a:endParaRPr/>
          </a:p>
        </p:txBody>
      </p:sp>
      <p:sp>
        <p:nvSpPr>
          <p:cNvPr id="257" name="Google Shape;257;p19"/>
          <p:cNvSpPr txBox="1"/>
          <p:nvPr/>
        </p:nvSpPr>
        <p:spPr>
          <a:xfrm>
            <a:off x="7559575" y="4061966"/>
            <a:ext cx="3765649"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Esta expresión se puede escribir de manera compacta utilizando la notación de suma, lo que simplifica enormemente su representación matemática:</a:t>
            </a:r>
            <a:endParaRPr/>
          </a:p>
        </p:txBody>
      </p:sp>
      <p:pic>
        <p:nvPicPr>
          <p:cNvPr id="258" name="Google Shape;258;p19" descr="image.png"/>
          <p:cNvPicPr preferRelativeResize="0"/>
          <p:nvPr/>
        </p:nvPicPr>
        <p:blipFill rotWithShape="1">
          <a:blip r:embed="rId10">
            <a:alphaModFix/>
          </a:blip>
          <a:srcRect/>
          <a:stretch/>
        </p:blipFill>
        <p:spPr>
          <a:xfrm>
            <a:off x="3000375" y="2497335"/>
            <a:ext cx="1453901" cy="177403"/>
          </a:xfrm>
          <a:prstGeom prst="rect">
            <a:avLst/>
          </a:prstGeom>
          <a:noFill/>
          <a:ln>
            <a:noFill/>
          </a:ln>
        </p:spPr>
      </p:pic>
      <p:pic>
        <p:nvPicPr>
          <p:cNvPr id="259" name="Google Shape;259;p19" descr="image.png"/>
          <p:cNvPicPr preferRelativeResize="0"/>
          <p:nvPr/>
        </p:nvPicPr>
        <p:blipFill rotWithShape="1">
          <a:blip r:embed="rId11">
            <a:alphaModFix/>
          </a:blip>
          <a:srcRect/>
          <a:stretch/>
        </p:blipFill>
        <p:spPr>
          <a:xfrm>
            <a:off x="971550" y="4051101"/>
            <a:ext cx="5511700" cy="385762"/>
          </a:xfrm>
          <a:prstGeom prst="rect">
            <a:avLst/>
          </a:prstGeom>
          <a:noFill/>
          <a:ln>
            <a:noFill/>
          </a:ln>
        </p:spPr>
      </p:pic>
      <p:pic>
        <p:nvPicPr>
          <p:cNvPr id="260" name="Google Shape;260;p19" descr="image.png"/>
          <p:cNvPicPr preferRelativeResize="0"/>
          <p:nvPr/>
        </p:nvPicPr>
        <p:blipFill rotWithShape="1">
          <a:blip r:embed="rId12">
            <a:alphaModFix/>
          </a:blip>
          <a:srcRect/>
          <a:stretch/>
        </p:blipFill>
        <p:spPr>
          <a:xfrm>
            <a:off x="2185987" y="5813226"/>
            <a:ext cx="3082825" cy="385762"/>
          </a:xfrm>
          <a:prstGeom prst="rect">
            <a:avLst/>
          </a:prstGeom>
          <a:noFill/>
          <a:ln>
            <a:noFill/>
          </a:ln>
        </p:spPr>
      </p:pic>
      <p:pic>
        <p:nvPicPr>
          <p:cNvPr id="261" name="Google Shape;261;p19" descr="image.png"/>
          <p:cNvPicPr preferRelativeResize="0"/>
          <p:nvPr/>
        </p:nvPicPr>
        <p:blipFill rotWithShape="1">
          <a:blip r:embed="rId13">
            <a:alphaModFix/>
          </a:blip>
          <a:srcRect/>
          <a:stretch/>
        </p:blipFill>
        <p:spPr>
          <a:xfrm>
            <a:off x="8480375" y="3373635"/>
            <a:ext cx="1924050" cy="183505"/>
          </a:xfrm>
          <a:prstGeom prst="rect">
            <a:avLst/>
          </a:prstGeom>
          <a:noFill/>
          <a:ln>
            <a:noFill/>
          </a:ln>
        </p:spPr>
      </p:pic>
      <p:pic>
        <p:nvPicPr>
          <p:cNvPr id="262" name="Google Shape;262;p19" descr="image.png"/>
          <p:cNvPicPr preferRelativeResize="0"/>
          <p:nvPr/>
        </p:nvPicPr>
        <p:blipFill rotWithShape="1">
          <a:blip r:embed="rId14">
            <a:alphaModFix/>
          </a:blip>
          <a:srcRect/>
          <a:stretch/>
        </p:blipFill>
        <p:spPr>
          <a:xfrm>
            <a:off x="8937724" y="5281166"/>
            <a:ext cx="1009352" cy="54530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p20" descr="image.png"/>
          <p:cNvPicPr preferRelativeResize="0"/>
          <p:nvPr/>
        </p:nvPicPr>
        <p:blipFill rotWithShape="1">
          <a:blip r:embed="rId3">
            <a:alphaModFix/>
          </a:blip>
          <a:srcRect/>
          <a:stretch/>
        </p:blipFill>
        <p:spPr>
          <a:xfrm>
            <a:off x="1123950" y="1044773"/>
            <a:ext cx="9944100" cy="552450"/>
          </a:xfrm>
          <a:prstGeom prst="rect">
            <a:avLst/>
          </a:prstGeom>
          <a:noFill/>
          <a:ln>
            <a:noFill/>
          </a:ln>
        </p:spPr>
      </p:pic>
      <p:pic>
        <p:nvPicPr>
          <p:cNvPr id="268" name="Google Shape;268;p20" descr="image.png"/>
          <p:cNvPicPr preferRelativeResize="0"/>
          <p:nvPr/>
        </p:nvPicPr>
        <p:blipFill rotWithShape="1">
          <a:blip r:embed="rId4">
            <a:alphaModFix/>
          </a:blip>
          <a:srcRect/>
          <a:stretch/>
        </p:blipFill>
        <p:spPr>
          <a:xfrm>
            <a:off x="1123950" y="2425898"/>
            <a:ext cx="9944100" cy="671512"/>
          </a:xfrm>
          <a:prstGeom prst="rect">
            <a:avLst/>
          </a:prstGeom>
          <a:noFill/>
          <a:ln>
            <a:noFill/>
          </a:ln>
        </p:spPr>
      </p:pic>
      <p:pic>
        <p:nvPicPr>
          <p:cNvPr id="269" name="Google Shape;269;p20" descr="image.png"/>
          <p:cNvPicPr preferRelativeResize="0"/>
          <p:nvPr/>
        </p:nvPicPr>
        <p:blipFill rotWithShape="1">
          <a:blip r:embed="rId5">
            <a:alphaModFix/>
          </a:blip>
          <a:srcRect/>
          <a:stretch/>
        </p:blipFill>
        <p:spPr>
          <a:xfrm>
            <a:off x="1123950" y="3783210"/>
            <a:ext cx="9944100" cy="523875"/>
          </a:xfrm>
          <a:prstGeom prst="rect">
            <a:avLst/>
          </a:prstGeom>
          <a:noFill/>
          <a:ln>
            <a:noFill/>
          </a:ln>
        </p:spPr>
      </p:pic>
      <p:pic>
        <p:nvPicPr>
          <p:cNvPr id="270" name="Google Shape;270;p20" descr="image.png"/>
          <p:cNvPicPr preferRelativeResize="0"/>
          <p:nvPr/>
        </p:nvPicPr>
        <p:blipFill rotWithShape="1">
          <a:blip r:embed="rId6">
            <a:alphaModFix/>
          </a:blip>
          <a:srcRect/>
          <a:stretch/>
        </p:blipFill>
        <p:spPr>
          <a:xfrm>
            <a:off x="1123950" y="4992885"/>
            <a:ext cx="9944100" cy="1039415"/>
          </a:xfrm>
          <a:prstGeom prst="rect">
            <a:avLst/>
          </a:prstGeom>
          <a:noFill/>
          <a:ln>
            <a:noFill/>
          </a:ln>
        </p:spPr>
      </p:pic>
      <p:pic>
        <p:nvPicPr>
          <p:cNvPr id="271" name="Google Shape;271;p20" descr="image.png"/>
          <p:cNvPicPr preferRelativeResize="0"/>
          <p:nvPr/>
        </p:nvPicPr>
        <p:blipFill rotWithShape="1">
          <a:blip r:embed="rId7">
            <a:alphaModFix/>
          </a:blip>
          <a:srcRect/>
          <a:stretch/>
        </p:blipFill>
        <p:spPr>
          <a:xfrm>
            <a:off x="1123950" y="6179939"/>
            <a:ext cx="9944100" cy="678062"/>
          </a:xfrm>
          <a:prstGeom prst="rect">
            <a:avLst/>
          </a:prstGeom>
          <a:noFill/>
          <a:ln>
            <a:noFill/>
          </a:ln>
        </p:spPr>
      </p:pic>
      <p:sp>
        <p:nvSpPr>
          <p:cNvPr id="272" name="Google Shape;272;p20"/>
          <p:cNvSpPr txBox="1"/>
          <p:nvPr/>
        </p:nvSpPr>
        <p:spPr>
          <a:xfrm>
            <a:off x="295275" y="-355401"/>
            <a:ext cx="11601450"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1" i="0" u="none" strike="noStrike" cap="none">
                <a:solidFill>
                  <a:srgbClr val="0F172A"/>
                </a:solidFill>
                <a:latin typeface="Poppins"/>
                <a:ea typeface="Poppins"/>
                <a:cs typeface="Poppins"/>
                <a:sym typeface="Poppins"/>
              </a:rPr>
              <a:t>Cálculo de una Sucesión Oscilante</a:t>
            </a:r>
            <a:endParaRPr/>
          </a:p>
        </p:txBody>
      </p:sp>
      <p:sp>
        <p:nvSpPr>
          <p:cNvPr id="273" name="Google Shape;273;p20"/>
          <p:cNvSpPr txBox="1"/>
          <p:nvPr/>
        </p:nvSpPr>
        <p:spPr>
          <a:xfrm>
            <a:off x="1123950" y="501848"/>
            <a:ext cx="9944100" cy="3116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dirty="0">
                <a:solidFill>
                  <a:srgbClr val="334155"/>
                </a:solidFill>
                <a:latin typeface="Lato"/>
                <a:ea typeface="Lato"/>
                <a:cs typeface="Lato"/>
                <a:sym typeface="Lato"/>
              </a:rPr>
              <a:t>Se define la </a:t>
            </a:r>
            <a:r>
              <a:rPr lang="en-US" sz="1350" b="0" i="0" u="none" strike="noStrike" cap="none" dirty="0" err="1">
                <a:solidFill>
                  <a:srgbClr val="334155"/>
                </a:solidFill>
                <a:latin typeface="Lato"/>
                <a:ea typeface="Lato"/>
                <a:cs typeface="Lato"/>
                <a:sym typeface="Lato"/>
              </a:rPr>
              <a:t>sucesión</a:t>
            </a:r>
            <a:r>
              <a:rPr lang="en-US" sz="1350" b="0" i="0" u="none" strike="noStrike" cap="none" dirty="0">
                <a:solidFill>
                  <a:srgbClr val="334155"/>
                </a:solidFill>
                <a:latin typeface="Lato"/>
                <a:ea typeface="Lato"/>
                <a:cs typeface="Lato"/>
                <a:sym typeface="Lato"/>
              </a:rPr>
              <a:t>        </a:t>
            </a:r>
            <a:r>
              <a:rPr lang="en-US" sz="1350" b="0" i="0" u="none" strike="noStrike" cap="none" dirty="0" err="1">
                <a:solidFill>
                  <a:srgbClr val="334155"/>
                </a:solidFill>
                <a:latin typeface="Lato"/>
                <a:ea typeface="Lato"/>
                <a:cs typeface="Lato"/>
                <a:sym typeface="Lato"/>
              </a:rPr>
              <a:t>como</a:t>
            </a:r>
            <a:r>
              <a:rPr lang="en-US" sz="1350" b="0" i="0" u="none" strike="noStrike" cap="none" dirty="0">
                <a:solidFill>
                  <a:srgbClr val="334155"/>
                </a:solidFill>
                <a:latin typeface="Lato"/>
                <a:ea typeface="Lato"/>
                <a:cs typeface="Lato"/>
                <a:sym typeface="Lato"/>
              </a:rPr>
              <a:t> </a:t>
            </a:r>
            <a:r>
              <a:rPr lang="en-US" sz="1350" b="0" i="0" u="none" strike="noStrike" cap="none" dirty="0" err="1">
                <a:solidFill>
                  <a:srgbClr val="334155"/>
                </a:solidFill>
                <a:latin typeface="Lato"/>
                <a:ea typeface="Lato"/>
                <a:cs typeface="Lato"/>
                <a:sym typeface="Lato"/>
              </a:rPr>
              <a:t>una</a:t>
            </a:r>
            <a:r>
              <a:rPr lang="en-US" sz="1350" b="0" i="0" u="none" strike="noStrike" cap="none" dirty="0">
                <a:solidFill>
                  <a:srgbClr val="334155"/>
                </a:solidFill>
                <a:latin typeface="Lato"/>
                <a:ea typeface="Lato"/>
                <a:cs typeface="Lato"/>
                <a:sym typeface="Lato"/>
              </a:rPr>
              <a:t> </a:t>
            </a:r>
            <a:r>
              <a:rPr lang="en-US" sz="1350" b="0" i="0" u="none" strike="noStrike" cap="none" dirty="0" err="1">
                <a:solidFill>
                  <a:srgbClr val="334155"/>
                </a:solidFill>
                <a:latin typeface="Lato"/>
                <a:ea typeface="Lato"/>
                <a:cs typeface="Lato"/>
                <a:sym typeface="Lato"/>
              </a:rPr>
              <a:t>secuencia</a:t>
            </a:r>
            <a:r>
              <a:rPr lang="en-US" sz="1350" b="0" i="0" u="none" strike="noStrike" cap="none" dirty="0">
                <a:solidFill>
                  <a:srgbClr val="334155"/>
                </a:solidFill>
                <a:latin typeface="Lato"/>
                <a:ea typeface="Lato"/>
                <a:cs typeface="Lato"/>
                <a:sym typeface="Lato"/>
              </a:rPr>
              <a:t> </a:t>
            </a:r>
            <a:r>
              <a:rPr lang="en-US" sz="1350" b="0" i="0" u="none" strike="noStrike" cap="none" dirty="0" err="1">
                <a:solidFill>
                  <a:srgbClr val="334155"/>
                </a:solidFill>
                <a:latin typeface="Lato"/>
                <a:ea typeface="Lato"/>
                <a:cs typeface="Lato"/>
                <a:sym typeface="Lato"/>
              </a:rPr>
              <a:t>alternante</a:t>
            </a:r>
            <a:r>
              <a:rPr lang="en-US" sz="1350" b="0" i="0" u="none" strike="noStrike" cap="none" dirty="0">
                <a:solidFill>
                  <a:srgbClr val="334155"/>
                </a:solidFill>
                <a:latin typeface="Lato"/>
                <a:ea typeface="Lato"/>
                <a:cs typeface="Lato"/>
                <a:sym typeface="Lato"/>
              </a:rPr>
              <a:t>:</a:t>
            </a:r>
            <a:endParaRPr dirty="0"/>
          </a:p>
        </p:txBody>
      </p:sp>
      <p:sp>
        <p:nvSpPr>
          <p:cNvPr id="274" name="Google Shape;274;p20"/>
          <p:cNvSpPr txBox="1"/>
          <p:nvPr/>
        </p:nvSpPr>
        <p:spPr>
          <a:xfrm>
            <a:off x="1123950" y="1882973"/>
            <a:ext cx="9944100" cy="3116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dirty="0">
                <a:solidFill>
                  <a:srgbClr val="334155"/>
                </a:solidFill>
                <a:latin typeface="Lato"/>
                <a:ea typeface="Lato"/>
                <a:cs typeface="Lato"/>
                <a:sym typeface="Lato"/>
              </a:rPr>
              <a:t>La </a:t>
            </a:r>
            <a:r>
              <a:rPr lang="en-US" sz="1350" b="0" i="0" u="none" strike="noStrike" cap="none" dirty="0" err="1">
                <a:solidFill>
                  <a:srgbClr val="334155"/>
                </a:solidFill>
                <a:latin typeface="Lato"/>
                <a:ea typeface="Lato"/>
                <a:cs typeface="Lato"/>
                <a:sym typeface="Lato"/>
              </a:rPr>
              <a:t>sucesión</a:t>
            </a:r>
            <a:r>
              <a:rPr lang="en-US" sz="1350" b="0" i="0" u="none" strike="noStrike" cap="none" dirty="0">
                <a:solidFill>
                  <a:srgbClr val="334155"/>
                </a:solidFill>
                <a:latin typeface="Lato"/>
                <a:ea typeface="Lato"/>
                <a:cs typeface="Lato"/>
                <a:sym typeface="Lato"/>
              </a:rPr>
              <a:t> de </a:t>
            </a:r>
            <a:r>
              <a:rPr lang="en-US" sz="1350" b="0" i="0" u="none" strike="noStrike" cap="none" dirty="0" err="1">
                <a:solidFill>
                  <a:srgbClr val="334155"/>
                </a:solidFill>
                <a:latin typeface="Lato"/>
                <a:ea typeface="Lato"/>
                <a:cs typeface="Lato"/>
                <a:sym typeface="Lato"/>
              </a:rPr>
              <a:t>sumas</a:t>
            </a:r>
            <a:r>
              <a:rPr lang="en-US" sz="1350" b="0" i="0" u="none" strike="noStrike" cap="none" dirty="0">
                <a:solidFill>
                  <a:srgbClr val="334155"/>
                </a:solidFill>
                <a:latin typeface="Lato"/>
                <a:ea typeface="Lato"/>
                <a:cs typeface="Lato"/>
                <a:sym typeface="Lato"/>
              </a:rPr>
              <a:t> </a:t>
            </a:r>
            <a:r>
              <a:rPr lang="en-US" sz="1350" b="0" i="0" u="none" strike="noStrike" cap="none" dirty="0" err="1">
                <a:solidFill>
                  <a:srgbClr val="334155"/>
                </a:solidFill>
                <a:latin typeface="Lato"/>
                <a:ea typeface="Lato"/>
                <a:cs typeface="Lato"/>
                <a:sym typeface="Lato"/>
              </a:rPr>
              <a:t>parciales</a:t>
            </a:r>
            <a:r>
              <a:rPr lang="en-US" sz="1350" b="0" i="0" u="none" strike="noStrike" cap="none" dirty="0">
                <a:solidFill>
                  <a:srgbClr val="334155"/>
                </a:solidFill>
                <a:latin typeface="Lato"/>
                <a:ea typeface="Lato"/>
                <a:cs typeface="Lato"/>
                <a:sym typeface="Lato"/>
              </a:rPr>
              <a:t>        se define </a:t>
            </a:r>
            <a:r>
              <a:rPr lang="en-US" sz="1350" b="0" i="0" u="none" strike="noStrike" cap="none" dirty="0" err="1">
                <a:solidFill>
                  <a:srgbClr val="334155"/>
                </a:solidFill>
                <a:latin typeface="Lato"/>
                <a:ea typeface="Lato"/>
                <a:cs typeface="Lato"/>
                <a:sym typeface="Lato"/>
              </a:rPr>
              <a:t>como</a:t>
            </a:r>
            <a:r>
              <a:rPr lang="en-US" sz="1350" b="0" i="0" u="none" strike="noStrike" cap="none" dirty="0">
                <a:solidFill>
                  <a:srgbClr val="334155"/>
                </a:solidFill>
                <a:latin typeface="Lato"/>
                <a:ea typeface="Lato"/>
                <a:cs typeface="Lato"/>
                <a:sym typeface="Lato"/>
              </a:rPr>
              <a:t> la </a:t>
            </a:r>
            <a:r>
              <a:rPr lang="en-US" sz="1350" b="0" i="0" u="none" strike="noStrike" cap="none" dirty="0" err="1">
                <a:solidFill>
                  <a:srgbClr val="334155"/>
                </a:solidFill>
                <a:latin typeface="Lato"/>
                <a:ea typeface="Lato"/>
                <a:cs typeface="Lato"/>
                <a:sym typeface="Lato"/>
              </a:rPr>
              <a:t>suma</a:t>
            </a:r>
            <a:r>
              <a:rPr lang="en-US" sz="1350" b="0" i="0" u="none" strike="noStrike" cap="none" dirty="0">
                <a:solidFill>
                  <a:srgbClr val="334155"/>
                </a:solidFill>
                <a:latin typeface="Lato"/>
                <a:ea typeface="Lato"/>
                <a:cs typeface="Lato"/>
                <a:sym typeface="Lato"/>
              </a:rPr>
              <a:t> hasta </a:t>
            </a:r>
            <a:r>
              <a:rPr lang="en-US" sz="1350" b="0" i="0" u="none" strike="noStrike" cap="none" dirty="0" err="1">
                <a:solidFill>
                  <a:srgbClr val="334155"/>
                </a:solidFill>
                <a:latin typeface="Lato"/>
                <a:ea typeface="Lato"/>
                <a:cs typeface="Lato"/>
                <a:sym typeface="Lato"/>
              </a:rPr>
              <a:t>el</a:t>
            </a:r>
            <a:r>
              <a:rPr lang="en-US" sz="1350" b="0" i="0" u="none" strike="noStrike" cap="none" dirty="0">
                <a:solidFill>
                  <a:srgbClr val="334155"/>
                </a:solidFill>
                <a:latin typeface="Lato"/>
                <a:ea typeface="Lato"/>
                <a:cs typeface="Lato"/>
                <a:sym typeface="Lato"/>
              </a:rPr>
              <a:t> </a:t>
            </a:r>
            <a:r>
              <a:rPr lang="en-US" sz="1350" b="0" i="0" u="none" strike="noStrike" cap="none" dirty="0" err="1">
                <a:solidFill>
                  <a:srgbClr val="334155"/>
                </a:solidFill>
                <a:latin typeface="Lato"/>
                <a:ea typeface="Lato"/>
                <a:cs typeface="Lato"/>
                <a:sym typeface="Lato"/>
              </a:rPr>
              <a:t>término</a:t>
            </a:r>
            <a:r>
              <a:rPr lang="en-US" sz="1350" b="0" i="0" u="none" strike="noStrike" cap="none" dirty="0">
                <a:solidFill>
                  <a:srgbClr val="334155"/>
                </a:solidFill>
                <a:latin typeface="Lato"/>
                <a:ea typeface="Lato"/>
                <a:cs typeface="Lato"/>
                <a:sym typeface="Lato"/>
              </a:rPr>
              <a:t> n:</a:t>
            </a:r>
            <a:endParaRPr dirty="0"/>
          </a:p>
        </p:txBody>
      </p:sp>
      <p:sp>
        <p:nvSpPr>
          <p:cNvPr id="275" name="Google Shape;275;p20"/>
          <p:cNvSpPr txBox="1"/>
          <p:nvPr/>
        </p:nvSpPr>
        <p:spPr>
          <a:xfrm>
            <a:off x="1123950" y="3383160"/>
            <a:ext cx="99441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Sustituyendo y evaluando los primeros términos:</a:t>
            </a:r>
            <a:endParaRPr/>
          </a:p>
        </p:txBody>
      </p:sp>
      <p:sp>
        <p:nvSpPr>
          <p:cNvPr id="276" name="Google Shape;276;p20"/>
          <p:cNvSpPr txBox="1"/>
          <p:nvPr/>
        </p:nvSpPr>
        <p:spPr>
          <a:xfrm>
            <a:off x="1123950" y="4449960"/>
            <a:ext cx="99441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El resultado final depende enteramente de si </a:t>
            </a:r>
            <a:r>
              <a:rPr lang="en-US" sz="1350" b="1" i="0" u="none" strike="noStrike" cap="none">
                <a:solidFill>
                  <a:srgbClr val="334155"/>
                </a:solidFill>
                <a:latin typeface="Lato"/>
                <a:ea typeface="Lato"/>
                <a:cs typeface="Lato"/>
                <a:sym typeface="Lato"/>
              </a:rPr>
              <a:t>n</a:t>
            </a:r>
            <a:r>
              <a:rPr lang="en-US" sz="1350" b="0" i="0" u="none" strike="noStrike" cap="none">
                <a:solidFill>
                  <a:srgbClr val="334155"/>
                </a:solidFill>
                <a:latin typeface="Lato"/>
                <a:ea typeface="Lato"/>
                <a:cs typeface="Lato"/>
                <a:sym typeface="Lato"/>
              </a:rPr>
              <a:t> es par o impar:</a:t>
            </a:r>
            <a:endParaRPr/>
          </a:p>
        </p:txBody>
      </p:sp>
      <p:pic>
        <p:nvPicPr>
          <p:cNvPr id="277" name="Google Shape;277;p20" descr="image.png"/>
          <p:cNvPicPr preferRelativeResize="0"/>
          <p:nvPr/>
        </p:nvPicPr>
        <p:blipFill rotWithShape="1">
          <a:blip r:embed="rId8">
            <a:alphaModFix/>
          </a:blip>
          <a:srcRect/>
          <a:stretch/>
        </p:blipFill>
        <p:spPr>
          <a:xfrm>
            <a:off x="5616624" y="607851"/>
            <a:ext cx="228600" cy="163859"/>
          </a:xfrm>
          <a:prstGeom prst="rect">
            <a:avLst/>
          </a:prstGeom>
          <a:noFill/>
          <a:ln>
            <a:noFill/>
          </a:ln>
        </p:spPr>
      </p:pic>
      <p:pic>
        <p:nvPicPr>
          <p:cNvPr id="278" name="Google Shape;278;p20" descr="image.png"/>
          <p:cNvPicPr preferRelativeResize="0"/>
          <p:nvPr/>
        </p:nvPicPr>
        <p:blipFill rotWithShape="1">
          <a:blip r:embed="rId9">
            <a:alphaModFix/>
          </a:blip>
          <a:srcRect/>
          <a:stretch/>
        </p:blipFill>
        <p:spPr>
          <a:xfrm>
            <a:off x="5021312" y="1197173"/>
            <a:ext cx="2149226" cy="247650"/>
          </a:xfrm>
          <a:prstGeom prst="rect">
            <a:avLst/>
          </a:prstGeom>
          <a:noFill/>
          <a:ln>
            <a:noFill/>
          </a:ln>
        </p:spPr>
      </p:pic>
      <p:pic>
        <p:nvPicPr>
          <p:cNvPr id="279" name="Google Shape;279;p20" descr="image.png"/>
          <p:cNvPicPr preferRelativeResize="0"/>
          <p:nvPr/>
        </p:nvPicPr>
        <p:blipFill rotWithShape="1">
          <a:blip r:embed="rId10">
            <a:alphaModFix/>
          </a:blip>
          <a:srcRect/>
          <a:stretch/>
        </p:blipFill>
        <p:spPr>
          <a:xfrm>
            <a:off x="5572125" y="1940123"/>
            <a:ext cx="228600" cy="192434"/>
          </a:xfrm>
          <a:prstGeom prst="rect">
            <a:avLst/>
          </a:prstGeom>
          <a:noFill/>
          <a:ln>
            <a:noFill/>
          </a:ln>
        </p:spPr>
      </p:pic>
      <p:pic>
        <p:nvPicPr>
          <p:cNvPr id="280" name="Google Shape;280;p20" descr="image.png"/>
          <p:cNvPicPr preferRelativeResize="0"/>
          <p:nvPr/>
        </p:nvPicPr>
        <p:blipFill rotWithShape="1">
          <a:blip r:embed="rId11">
            <a:alphaModFix/>
          </a:blip>
          <a:srcRect/>
          <a:stretch/>
        </p:blipFill>
        <p:spPr>
          <a:xfrm>
            <a:off x="5616624" y="2578298"/>
            <a:ext cx="958750" cy="366712"/>
          </a:xfrm>
          <a:prstGeom prst="rect">
            <a:avLst/>
          </a:prstGeom>
          <a:noFill/>
          <a:ln>
            <a:noFill/>
          </a:ln>
        </p:spPr>
      </p:pic>
      <p:pic>
        <p:nvPicPr>
          <p:cNvPr id="281" name="Google Shape;281;p20" descr="image.png"/>
          <p:cNvPicPr preferRelativeResize="0"/>
          <p:nvPr/>
        </p:nvPicPr>
        <p:blipFill rotWithShape="1">
          <a:blip r:embed="rId12">
            <a:alphaModFix/>
          </a:blip>
          <a:srcRect/>
          <a:stretch/>
        </p:blipFill>
        <p:spPr>
          <a:xfrm>
            <a:off x="4541192" y="5192910"/>
            <a:ext cx="3109614" cy="639365"/>
          </a:xfrm>
          <a:prstGeom prst="rect">
            <a:avLst/>
          </a:prstGeom>
          <a:noFill/>
          <a:ln>
            <a:noFill/>
          </a:ln>
        </p:spPr>
      </p:pic>
      <p:sp>
        <p:nvSpPr>
          <p:cNvPr id="282" name="Google Shape;282;p20"/>
          <p:cNvSpPr txBox="1"/>
          <p:nvPr/>
        </p:nvSpPr>
        <p:spPr>
          <a:xfrm>
            <a:off x="1266825" y="6254350"/>
            <a:ext cx="790575"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166534"/>
                </a:solidFill>
                <a:latin typeface="Lato"/>
                <a:ea typeface="Lato"/>
                <a:cs typeface="Lato"/>
                <a:sym typeface="Lato"/>
              </a:rPr>
              <a:t>Conclusión</a:t>
            </a:r>
            <a:r>
              <a:rPr lang="en-US" sz="1200" b="1" i="0" u="none" strike="noStrike" cap="none" dirty="0">
                <a:solidFill>
                  <a:srgbClr val="166534"/>
                </a:solidFill>
                <a:latin typeface="Lato"/>
                <a:ea typeface="Lato"/>
                <a:cs typeface="Lato"/>
                <a:sym typeface="Lato"/>
              </a:rPr>
              <a:t>:</a:t>
            </a:r>
            <a:endParaRPr dirty="0"/>
          </a:p>
        </p:txBody>
      </p:sp>
      <p:sp>
        <p:nvSpPr>
          <p:cNvPr id="283" name="Google Shape;283;p20"/>
          <p:cNvSpPr txBox="1"/>
          <p:nvPr/>
        </p:nvSpPr>
        <p:spPr>
          <a:xfrm>
            <a:off x="1266825" y="6440016"/>
            <a:ext cx="9267825" cy="20657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166534"/>
                </a:solidFill>
                <a:latin typeface="Lato"/>
                <a:ea typeface="Lato"/>
                <a:cs typeface="Lato"/>
                <a:sym typeface="Lato"/>
              </a:rPr>
              <a:t>Esta </a:t>
            </a:r>
            <a:r>
              <a:rPr lang="en-US" sz="1200" b="0" i="0" u="none" strike="noStrike" cap="none" dirty="0" err="1">
                <a:solidFill>
                  <a:srgbClr val="166534"/>
                </a:solidFill>
                <a:latin typeface="Lato"/>
                <a:ea typeface="Lato"/>
                <a:cs typeface="Lato"/>
                <a:sym typeface="Lato"/>
              </a:rPr>
              <a:t>sucesión</a:t>
            </a:r>
            <a:r>
              <a:rPr lang="en-US" sz="1200" b="0" i="0" u="none" strike="noStrike" cap="none" dirty="0">
                <a:solidFill>
                  <a:srgbClr val="166534"/>
                </a:solidFill>
                <a:latin typeface="Lato"/>
                <a:ea typeface="Lato"/>
                <a:cs typeface="Lato"/>
                <a:sym typeface="Lato"/>
              </a:rPr>
              <a:t> de </a:t>
            </a:r>
            <a:r>
              <a:rPr lang="en-US" sz="1200" b="0" i="0" u="none" strike="noStrike" cap="none" dirty="0" err="1">
                <a:solidFill>
                  <a:srgbClr val="166534"/>
                </a:solidFill>
                <a:latin typeface="Lato"/>
                <a:ea typeface="Lato"/>
                <a:cs typeface="Lato"/>
                <a:sym typeface="Lato"/>
              </a:rPr>
              <a:t>sumas</a:t>
            </a:r>
            <a:r>
              <a:rPr lang="en-US" sz="1200" b="0" i="0" u="none" strike="noStrike" cap="none" dirty="0">
                <a:solidFill>
                  <a:srgbClr val="166534"/>
                </a:solidFill>
                <a:latin typeface="Lato"/>
                <a:ea typeface="Lato"/>
                <a:cs typeface="Lato"/>
                <a:sym typeface="Lato"/>
              </a:rPr>
              <a:t> no converge a un </a:t>
            </a:r>
            <a:r>
              <a:rPr lang="en-US" sz="1200" b="0" i="0" u="none" strike="noStrike" cap="none" dirty="0" err="1">
                <a:solidFill>
                  <a:srgbClr val="166534"/>
                </a:solidFill>
                <a:latin typeface="Lato"/>
                <a:ea typeface="Lato"/>
                <a:cs typeface="Lato"/>
                <a:sym typeface="Lato"/>
              </a:rPr>
              <a:t>único</a:t>
            </a:r>
            <a:r>
              <a:rPr lang="en-US" sz="1200" b="0" i="0" u="none" strike="noStrike" cap="none" dirty="0">
                <a:solidFill>
                  <a:srgbClr val="166534"/>
                </a:solidFill>
                <a:latin typeface="Lato"/>
                <a:ea typeface="Lato"/>
                <a:cs typeface="Lato"/>
                <a:sym typeface="Lato"/>
              </a:rPr>
              <a:t> valor. En </a:t>
            </a:r>
            <a:r>
              <a:rPr lang="en-US" sz="1200" b="0" i="0" u="none" strike="noStrike" cap="none" dirty="0" err="1">
                <a:solidFill>
                  <a:srgbClr val="166534"/>
                </a:solidFill>
                <a:latin typeface="Lato"/>
                <a:ea typeface="Lato"/>
                <a:cs typeface="Lato"/>
                <a:sym typeface="Lato"/>
              </a:rPr>
              <a:t>su</a:t>
            </a:r>
            <a:r>
              <a:rPr lang="en-US" sz="1200" b="0" i="0" u="none" strike="noStrike" cap="none" dirty="0">
                <a:solidFill>
                  <a:srgbClr val="166534"/>
                </a:solidFill>
                <a:latin typeface="Lato"/>
                <a:ea typeface="Lato"/>
                <a:cs typeface="Lato"/>
                <a:sym typeface="Lato"/>
              </a:rPr>
              <a:t> </a:t>
            </a:r>
            <a:r>
              <a:rPr lang="en-US" sz="1200" b="0" i="0" u="none" strike="noStrike" cap="none" dirty="0" err="1">
                <a:solidFill>
                  <a:srgbClr val="166534"/>
                </a:solidFill>
                <a:latin typeface="Lato"/>
                <a:ea typeface="Lato"/>
                <a:cs typeface="Lato"/>
                <a:sym typeface="Lato"/>
              </a:rPr>
              <a:t>lugar</a:t>
            </a:r>
            <a:r>
              <a:rPr lang="en-US" sz="1200" b="0" i="0" u="none" strike="noStrike" cap="none" dirty="0">
                <a:solidFill>
                  <a:srgbClr val="166534"/>
                </a:solidFill>
                <a:latin typeface="Lato"/>
                <a:ea typeface="Lato"/>
                <a:cs typeface="Lato"/>
                <a:sym typeface="Lato"/>
              </a:rPr>
              <a:t>, </a:t>
            </a:r>
            <a:r>
              <a:rPr lang="en-US" sz="1200" b="0" i="0" u="none" strike="noStrike" cap="none" dirty="0" err="1">
                <a:solidFill>
                  <a:srgbClr val="166534"/>
                </a:solidFill>
                <a:latin typeface="Lato"/>
                <a:ea typeface="Lato"/>
                <a:cs typeface="Lato"/>
                <a:sym typeface="Lato"/>
              </a:rPr>
              <a:t>oscila</a:t>
            </a:r>
            <a:r>
              <a:rPr lang="en-US" sz="1200" b="0" i="0" u="none" strike="noStrike" cap="none" dirty="0">
                <a:solidFill>
                  <a:srgbClr val="166534"/>
                </a:solidFill>
                <a:latin typeface="Lato"/>
                <a:ea typeface="Lato"/>
                <a:cs typeface="Lato"/>
                <a:sym typeface="Lato"/>
              </a:rPr>
              <a:t> </a:t>
            </a:r>
            <a:r>
              <a:rPr lang="en-US" sz="1200" b="0" i="0" u="none" strike="noStrike" cap="none" dirty="0" err="1">
                <a:solidFill>
                  <a:srgbClr val="166534"/>
                </a:solidFill>
                <a:latin typeface="Lato"/>
                <a:ea typeface="Lato"/>
                <a:cs typeface="Lato"/>
                <a:sym typeface="Lato"/>
              </a:rPr>
              <a:t>perennemente</a:t>
            </a:r>
            <a:r>
              <a:rPr lang="en-US" sz="1200" b="0" i="0" u="none" strike="noStrike" cap="none" dirty="0">
                <a:solidFill>
                  <a:srgbClr val="166534"/>
                </a:solidFill>
                <a:latin typeface="Lato"/>
                <a:ea typeface="Lato"/>
                <a:cs typeface="Lato"/>
                <a:sym typeface="Lato"/>
              </a:rPr>
              <a:t> entre 2 y 0, </a:t>
            </a:r>
            <a:r>
              <a:rPr lang="en-US" sz="1200" b="0" i="0" u="none" strike="noStrike" cap="none" dirty="0" err="1">
                <a:solidFill>
                  <a:srgbClr val="166534"/>
                </a:solidFill>
                <a:latin typeface="Lato"/>
                <a:ea typeface="Lato"/>
                <a:cs typeface="Lato"/>
                <a:sym typeface="Lato"/>
              </a:rPr>
              <a:t>demostrando</a:t>
            </a:r>
            <a:r>
              <a:rPr lang="en-US" sz="1200" b="0" i="0" u="none" strike="noStrike" cap="none" dirty="0">
                <a:solidFill>
                  <a:srgbClr val="166534"/>
                </a:solidFill>
                <a:latin typeface="Lato"/>
                <a:ea typeface="Lato"/>
                <a:cs typeface="Lato"/>
                <a:sym typeface="Lato"/>
              </a:rPr>
              <a:t> </a:t>
            </a:r>
            <a:r>
              <a:rPr lang="en-US" sz="1200" b="0" i="0" u="none" strike="noStrike" cap="none" dirty="0" err="1">
                <a:solidFill>
                  <a:srgbClr val="166534"/>
                </a:solidFill>
                <a:latin typeface="Lato"/>
                <a:ea typeface="Lato"/>
                <a:cs typeface="Lato"/>
                <a:sym typeface="Lato"/>
              </a:rPr>
              <a:t>cómo</a:t>
            </a:r>
            <a:r>
              <a:rPr lang="en-US" sz="1200" b="0" i="0" u="none" strike="noStrike" cap="none" dirty="0">
                <a:solidFill>
                  <a:srgbClr val="166534"/>
                </a:solidFill>
                <a:latin typeface="Lato"/>
                <a:ea typeface="Lato"/>
                <a:cs typeface="Lato"/>
                <a:sym typeface="Lato"/>
              </a:rPr>
              <a:t> </a:t>
            </a:r>
            <a:r>
              <a:rPr lang="en-US" sz="1200" b="0" i="0" u="none" strike="noStrike" cap="none" dirty="0" err="1">
                <a:solidFill>
                  <a:srgbClr val="166534"/>
                </a:solidFill>
                <a:latin typeface="Lato"/>
                <a:ea typeface="Lato"/>
                <a:cs typeface="Lato"/>
                <a:sym typeface="Lato"/>
              </a:rPr>
              <a:t>una</a:t>
            </a:r>
            <a:r>
              <a:rPr lang="en-US" sz="1200" b="0" i="0" u="none" strike="noStrike" cap="none" dirty="0">
                <a:solidFill>
                  <a:srgbClr val="166534"/>
                </a:solidFill>
                <a:latin typeface="Lato"/>
                <a:ea typeface="Lato"/>
                <a:cs typeface="Lato"/>
                <a:sym typeface="Lato"/>
              </a:rPr>
              <a:t> </a:t>
            </a:r>
            <a:r>
              <a:rPr lang="en-US" sz="1200" b="0" i="0" u="none" strike="noStrike" cap="none" dirty="0" err="1">
                <a:solidFill>
                  <a:srgbClr val="166534"/>
                </a:solidFill>
                <a:latin typeface="Lato"/>
                <a:ea typeface="Lato"/>
                <a:cs typeface="Lato"/>
                <a:sym typeface="Lato"/>
              </a:rPr>
              <a:t>serie</a:t>
            </a:r>
            <a:r>
              <a:rPr lang="en-US" sz="1200" b="0" i="0" u="none" strike="noStrike" cap="none" dirty="0">
                <a:solidFill>
                  <a:srgbClr val="166534"/>
                </a:solidFill>
                <a:latin typeface="Lato"/>
                <a:ea typeface="Lato"/>
                <a:cs typeface="Lato"/>
                <a:sym typeface="Lato"/>
              </a:rPr>
              <a:t> </a:t>
            </a:r>
            <a:r>
              <a:rPr lang="en-US" sz="1200" b="0" i="0" u="none" strike="noStrike" cap="none" dirty="0" err="1">
                <a:solidFill>
                  <a:srgbClr val="166534"/>
                </a:solidFill>
                <a:latin typeface="Lato"/>
                <a:ea typeface="Lato"/>
                <a:cs typeface="Lato"/>
                <a:sym typeface="Lato"/>
              </a:rPr>
              <a:t>puede</a:t>
            </a:r>
            <a:r>
              <a:rPr lang="en-US" sz="1200" b="0" i="0" u="none" strike="noStrike" cap="none" dirty="0">
                <a:solidFill>
                  <a:srgbClr val="166534"/>
                </a:solidFill>
                <a:latin typeface="Lato"/>
                <a:ea typeface="Lato"/>
                <a:cs typeface="Lato"/>
                <a:sym typeface="Lato"/>
              </a:rPr>
              <a:t> </a:t>
            </a:r>
            <a:r>
              <a:rPr lang="en-US" sz="1200" b="0" i="0" u="none" strike="noStrike" cap="none" dirty="0" err="1">
                <a:solidFill>
                  <a:srgbClr val="166534"/>
                </a:solidFill>
                <a:latin typeface="Lato"/>
                <a:ea typeface="Lato"/>
                <a:cs typeface="Lato"/>
                <a:sym typeface="Lato"/>
              </a:rPr>
              <a:t>tener</a:t>
            </a:r>
            <a:r>
              <a:rPr lang="en-US" sz="1200" b="0" i="0" u="none" strike="noStrike" cap="none" dirty="0">
                <a:solidFill>
                  <a:srgbClr val="166534"/>
                </a:solidFill>
                <a:latin typeface="Lato"/>
                <a:ea typeface="Lato"/>
                <a:cs typeface="Lato"/>
                <a:sym typeface="Lato"/>
              </a:rPr>
              <a:t> un </a:t>
            </a:r>
            <a:r>
              <a:rPr lang="en-US" sz="1200" b="0" i="0" u="none" strike="noStrike" cap="none" dirty="0" err="1">
                <a:solidFill>
                  <a:srgbClr val="166534"/>
                </a:solidFill>
                <a:latin typeface="Lato"/>
                <a:ea typeface="Lato"/>
                <a:cs typeface="Lato"/>
                <a:sym typeface="Lato"/>
              </a:rPr>
              <a:t>comportamiento</a:t>
            </a:r>
            <a:r>
              <a:rPr lang="en-US" sz="1200" b="0" i="0" u="none" strike="noStrike" cap="none" dirty="0">
                <a:solidFill>
                  <a:srgbClr val="166534"/>
                </a:solidFill>
                <a:latin typeface="Lato"/>
                <a:ea typeface="Lato"/>
                <a:cs typeface="Lato"/>
                <a:sym typeface="Lato"/>
              </a:rPr>
              <a:t> </a:t>
            </a:r>
            <a:r>
              <a:rPr lang="en-US" sz="1200" b="0" i="0" u="none" strike="noStrike" cap="none" dirty="0" err="1">
                <a:solidFill>
                  <a:srgbClr val="166534"/>
                </a:solidFill>
                <a:latin typeface="Lato"/>
                <a:ea typeface="Lato"/>
                <a:cs typeface="Lato"/>
                <a:sym typeface="Lato"/>
              </a:rPr>
              <a:t>cíclico</a:t>
            </a:r>
            <a:r>
              <a:rPr lang="en-US" sz="1200" b="0" i="0" u="none" strike="noStrike" cap="none" dirty="0">
                <a:solidFill>
                  <a:srgbClr val="166534"/>
                </a:solidFill>
                <a:latin typeface="Lato"/>
                <a:ea typeface="Lato"/>
                <a:cs typeface="Lato"/>
                <a:sym typeface="Lato"/>
              </a:rPr>
              <a:t> </a:t>
            </a:r>
            <a:r>
              <a:rPr lang="en-US" sz="1200" b="0" i="0" u="none" strike="noStrike" cap="none" dirty="0" err="1">
                <a:solidFill>
                  <a:srgbClr val="166534"/>
                </a:solidFill>
                <a:latin typeface="Lato"/>
                <a:ea typeface="Lato"/>
                <a:cs typeface="Lato"/>
                <a:sym typeface="Lato"/>
              </a:rPr>
              <a:t>estricto</a:t>
            </a:r>
            <a:r>
              <a:rPr lang="en-US" sz="1200" b="0" i="0" u="none" strike="noStrike" cap="none" dirty="0">
                <a:solidFill>
                  <a:srgbClr val="166534"/>
                </a:solidFill>
                <a:latin typeface="Lato"/>
                <a:ea typeface="Lato"/>
                <a:cs typeface="Lato"/>
                <a:sym typeface="Lato"/>
              </a:rPr>
              <a:t>.</a:t>
            </a:r>
            <a:endParaRPr dirty="0"/>
          </a:p>
        </p:txBody>
      </p:sp>
      <p:pic>
        <p:nvPicPr>
          <p:cNvPr id="284" name="Google Shape;284;p20" descr="image.png"/>
          <p:cNvPicPr preferRelativeResize="0"/>
          <p:nvPr/>
        </p:nvPicPr>
        <p:blipFill rotWithShape="1">
          <a:blip r:embed="rId13">
            <a:alphaModFix/>
          </a:blip>
          <a:srcRect/>
          <a:stretch/>
        </p:blipFill>
        <p:spPr>
          <a:xfrm>
            <a:off x="1266825" y="3926085"/>
            <a:ext cx="3914775" cy="238125"/>
          </a:xfrm>
          <a:prstGeom prst="rect">
            <a:avLst/>
          </a:prstGeom>
          <a:noFill/>
          <a:ln>
            <a:noFill/>
          </a:ln>
        </p:spPr>
      </p:pic>
      <p:pic>
        <p:nvPicPr>
          <p:cNvPr id="285" name="Google Shape;285;p20" descr="image.png"/>
          <p:cNvPicPr preferRelativeResize="0"/>
          <p:nvPr/>
        </p:nvPicPr>
        <p:blipFill rotWithShape="1">
          <a:blip r:embed="rId14">
            <a:alphaModFix/>
          </a:blip>
          <a:srcRect/>
          <a:stretch/>
        </p:blipFill>
        <p:spPr>
          <a:xfrm>
            <a:off x="5210175" y="3967757"/>
            <a:ext cx="3228975" cy="196453"/>
          </a:xfrm>
          <a:prstGeom prst="rect">
            <a:avLst/>
          </a:prstGeom>
          <a:noFill/>
          <a:ln>
            <a:noFill/>
          </a:ln>
        </p:spPr>
      </p:pic>
      <p:pic>
        <p:nvPicPr>
          <p:cNvPr id="286" name="Google Shape;286;p20" descr="image.png"/>
          <p:cNvPicPr preferRelativeResize="0"/>
          <p:nvPr/>
        </p:nvPicPr>
        <p:blipFill rotWithShape="1">
          <a:blip r:embed="rId15">
            <a:alphaModFix/>
          </a:blip>
          <a:srcRect/>
          <a:stretch/>
        </p:blipFill>
        <p:spPr>
          <a:xfrm>
            <a:off x="8467725" y="3986807"/>
            <a:ext cx="1819275" cy="1774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Google Shape;291;p21" descr="image.png"/>
          <p:cNvPicPr preferRelativeResize="0"/>
          <p:nvPr/>
        </p:nvPicPr>
        <p:blipFill rotWithShape="1">
          <a:blip r:embed="rId3">
            <a:alphaModFix/>
          </a:blip>
          <a:srcRect/>
          <a:stretch/>
        </p:blipFill>
        <p:spPr>
          <a:xfrm>
            <a:off x="571500" y="1871662"/>
            <a:ext cx="5334000" cy="4524375"/>
          </a:xfrm>
          <a:prstGeom prst="rect">
            <a:avLst/>
          </a:prstGeom>
          <a:noFill/>
          <a:ln>
            <a:noFill/>
          </a:ln>
        </p:spPr>
      </p:pic>
      <p:pic>
        <p:nvPicPr>
          <p:cNvPr id="292" name="Google Shape;292;p21" descr="image.png"/>
          <p:cNvPicPr preferRelativeResize="0"/>
          <p:nvPr/>
        </p:nvPicPr>
        <p:blipFill rotWithShape="1">
          <a:blip r:embed="rId4">
            <a:alphaModFix/>
          </a:blip>
          <a:srcRect/>
          <a:stretch/>
        </p:blipFill>
        <p:spPr>
          <a:xfrm>
            <a:off x="6286500" y="1871662"/>
            <a:ext cx="5334000" cy="4524375"/>
          </a:xfrm>
          <a:prstGeom prst="rect">
            <a:avLst/>
          </a:prstGeom>
          <a:noFill/>
          <a:ln>
            <a:noFill/>
          </a:ln>
        </p:spPr>
      </p:pic>
      <p:pic>
        <p:nvPicPr>
          <p:cNvPr id="293" name="Google Shape;293;p21" descr="image.png"/>
          <p:cNvPicPr preferRelativeResize="0"/>
          <p:nvPr/>
        </p:nvPicPr>
        <p:blipFill rotWithShape="1">
          <a:blip r:embed="rId5">
            <a:alphaModFix/>
          </a:blip>
          <a:srcRect/>
          <a:stretch/>
        </p:blipFill>
        <p:spPr>
          <a:xfrm>
            <a:off x="866775" y="3748087"/>
            <a:ext cx="4743450" cy="400050"/>
          </a:xfrm>
          <a:prstGeom prst="rect">
            <a:avLst/>
          </a:prstGeom>
          <a:noFill/>
          <a:ln>
            <a:noFill/>
          </a:ln>
        </p:spPr>
      </p:pic>
      <p:pic>
        <p:nvPicPr>
          <p:cNvPr id="294" name="Google Shape;294;p21" descr="image.png"/>
          <p:cNvPicPr preferRelativeResize="0"/>
          <p:nvPr/>
        </p:nvPicPr>
        <p:blipFill rotWithShape="1">
          <a:blip r:embed="rId6">
            <a:alphaModFix/>
          </a:blip>
          <a:srcRect/>
          <a:stretch/>
        </p:blipFill>
        <p:spPr>
          <a:xfrm>
            <a:off x="866775" y="5557837"/>
            <a:ext cx="4743450" cy="400050"/>
          </a:xfrm>
          <a:prstGeom prst="rect">
            <a:avLst/>
          </a:prstGeom>
          <a:noFill/>
          <a:ln>
            <a:noFill/>
          </a:ln>
        </p:spPr>
      </p:pic>
      <p:pic>
        <p:nvPicPr>
          <p:cNvPr id="295" name="Google Shape;295;p21" descr="image.png"/>
          <p:cNvPicPr preferRelativeResize="0"/>
          <p:nvPr/>
        </p:nvPicPr>
        <p:blipFill rotWithShape="1">
          <a:blip r:embed="rId7">
            <a:alphaModFix/>
          </a:blip>
          <a:srcRect/>
          <a:stretch/>
        </p:blipFill>
        <p:spPr>
          <a:xfrm>
            <a:off x="6581775" y="3862387"/>
            <a:ext cx="4743450" cy="2057400"/>
          </a:xfrm>
          <a:prstGeom prst="rect">
            <a:avLst/>
          </a:prstGeom>
          <a:noFill/>
          <a:ln>
            <a:noFill/>
          </a:ln>
        </p:spPr>
      </p:pic>
      <p:sp>
        <p:nvSpPr>
          <p:cNvPr id="296" name="Google Shape;296;p21"/>
          <p:cNvSpPr txBox="1"/>
          <p:nvPr/>
        </p:nvSpPr>
        <p:spPr>
          <a:xfrm>
            <a:off x="295275" y="461962"/>
            <a:ext cx="11601450"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1" i="0" u="none" strike="noStrike" cap="none">
                <a:solidFill>
                  <a:srgbClr val="0F172A"/>
                </a:solidFill>
                <a:latin typeface="Poppins"/>
                <a:ea typeface="Poppins"/>
                <a:cs typeface="Poppins"/>
                <a:sym typeface="Poppins"/>
              </a:rPr>
              <a:t>Definición de Cadenas</a:t>
            </a:r>
            <a:endParaRPr/>
          </a:p>
        </p:txBody>
      </p:sp>
      <p:sp>
        <p:nvSpPr>
          <p:cNvPr id="297" name="Google Shape;297;p21"/>
          <p:cNvSpPr txBox="1"/>
          <p:nvPr/>
        </p:nvSpPr>
        <p:spPr>
          <a:xfrm>
            <a:off x="571500" y="1319212"/>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Una cadena es una secuencia ordenada de símbolos tomados de un conjunto finito llamado alfabeto (Σ).</a:t>
            </a:r>
            <a:endParaRPr/>
          </a:p>
        </p:txBody>
      </p:sp>
      <p:sp>
        <p:nvSpPr>
          <p:cNvPr id="298" name="Google Shape;298;p21"/>
          <p:cNvSpPr txBox="1"/>
          <p:nvPr/>
        </p:nvSpPr>
        <p:spPr>
          <a:xfrm>
            <a:off x="866775" y="2166937"/>
            <a:ext cx="498062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F172A"/>
                </a:solidFill>
                <a:latin typeface="Poppins SemiBold"/>
                <a:ea typeface="Poppins SemiBold"/>
                <a:cs typeface="Poppins SemiBold"/>
                <a:sym typeface="Poppins SemiBold"/>
              </a:rPr>
              <a:t>Conceptos Clave</a:t>
            </a:r>
            <a:endParaRPr/>
          </a:p>
        </p:txBody>
      </p:sp>
      <p:sp>
        <p:nvSpPr>
          <p:cNvPr id="299" name="Google Shape;299;p21"/>
          <p:cNvSpPr txBox="1"/>
          <p:nvPr/>
        </p:nvSpPr>
        <p:spPr>
          <a:xfrm>
            <a:off x="866775" y="2671762"/>
            <a:ext cx="4980622"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2563EB"/>
                </a:solidFill>
                <a:latin typeface="Poppins SemiBold"/>
                <a:ea typeface="Poppins SemiBold"/>
                <a:cs typeface="Poppins SemiBold"/>
                <a:sym typeface="Poppins SemiBold"/>
              </a:rPr>
              <a:t>1. Alfabeto (Σ)</a:t>
            </a:r>
            <a:endParaRPr/>
          </a:p>
        </p:txBody>
      </p:sp>
      <p:sp>
        <p:nvSpPr>
          <p:cNvPr id="300" name="Google Shape;300;p21"/>
          <p:cNvSpPr txBox="1"/>
          <p:nvPr/>
        </p:nvSpPr>
        <p:spPr>
          <a:xfrm>
            <a:off x="866775" y="3005137"/>
            <a:ext cx="474345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Es un conjunto finito y no vacío de símbolos. Define los "caracteres" permitidos para construir elementos.</a:t>
            </a:r>
            <a:endParaRPr/>
          </a:p>
        </p:txBody>
      </p:sp>
      <p:sp>
        <p:nvSpPr>
          <p:cNvPr id="301" name="Google Shape;301;p21"/>
          <p:cNvSpPr txBox="1"/>
          <p:nvPr/>
        </p:nvSpPr>
        <p:spPr>
          <a:xfrm>
            <a:off x="866775" y="4481512"/>
            <a:ext cx="4980622"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6A34A"/>
                </a:solidFill>
                <a:latin typeface="Poppins SemiBold"/>
                <a:ea typeface="Poppins SemiBold"/>
                <a:cs typeface="Poppins SemiBold"/>
                <a:sym typeface="Poppins SemiBold"/>
              </a:rPr>
              <a:t>2. Cadena (s)</a:t>
            </a:r>
            <a:endParaRPr/>
          </a:p>
        </p:txBody>
      </p:sp>
      <p:sp>
        <p:nvSpPr>
          <p:cNvPr id="302" name="Google Shape;302;p21"/>
          <p:cNvSpPr txBox="1"/>
          <p:nvPr/>
        </p:nvSpPr>
        <p:spPr>
          <a:xfrm>
            <a:off x="866775" y="4814887"/>
            <a:ext cx="474345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Es una secuencia finita de símbolos tomados exclusivamente del alfabeto base.</a:t>
            </a:r>
            <a:endParaRPr/>
          </a:p>
        </p:txBody>
      </p:sp>
      <p:sp>
        <p:nvSpPr>
          <p:cNvPr id="303" name="Google Shape;303;p21"/>
          <p:cNvSpPr txBox="1"/>
          <p:nvPr/>
        </p:nvSpPr>
        <p:spPr>
          <a:xfrm>
            <a:off x="6581775" y="2166937"/>
            <a:ext cx="498062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F172A"/>
                </a:solidFill>
                <a:latin typeface="Poppins SemiBold"/>
                <a:ea typeface="Poppins SemiBold"/>
                <a:cs typeface="Poppins SemiBold"/>
                <a:sym typeface="Poppins SemiBold"/>
              </a:rPr>
              <a:t>Longitud de una Cadena</a:t>
            </a:r>
            <a:endParaRPr/>
          </a:p>
        </p:txBody>
      </p:sp>
      <p:sp>
        <p:nvSpPr>
          <p:cNvPr id="304" name="Google Shape;304;p21"/>
          <p:cNvSpPr txBox="1"/>
          <p:nvPr/>
        </p:nvSpPr>
        <p:spPr>
          <a:xfrm>
            <a:off x="6581775" y="2671762"/>
            <a:ext cx="4743450"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a:solidFill>
                  <a:srgbClr val="334155"/>
                </a:solidFill>
                <a:latin typeface="Lato"/>
                <a:ea typeface="Lato"/>
                <a:cs typeface="Lato"/>
                <a:sym typeface="Lato"/>
              </a:rPr>
              <a:t>La </a:t>
            </a:r>
            <a:r>
              <a:rPr lang="en-US" sz="1200" b="0" i="0" u="none" strike="noStrike" cap="none" dirty="0" err="1">
                <a:solidFill>
                  <a:srgbClr val="334155"/>
                </a:solidFill>
                <a:latin typeface="Lato"/>
                <a:ea typeface="Lato"/>
                <a:cs typeface="Lato"/>
                <a:sym typeface="Lato"/>
              </a:rPr>
              <a:t>longitud</a:t>
            </a:r>
            <a:r>
              <a:rPr lang="en-US" sz="1200" b="0" i="0" u="none" strike="noStrike" cap="none" dirty="0">
                <a:solidFill>
                  <a:srgbClr val="334155"/>
                </a:solidFill>
                <a:latin typeface="Lato"/>
                <a:ea typeface="Lato"/>
                <a:cs typeface="Lato"/>
                <a:sym typeface="Lato"/>
              </a:rPr>
              <a:t> de </a:t>
            </a:r>
            <a:r>
              <a:rPr lang="en-US" sz="1200" b="0" i="0" u="none" strike="noStrike" cap="none" dirty="0" err="1">
                <a:solidFill>
                  <a:srgbClr val="334155"/>
                </a:solidFill>
                <a:latin typeface="Lato"/>
                <a:ea typeface="Lato"/>
                <a:cs typeface="Lato"/>
                <a:sym typeface="Lato"/>
              </a:rPr>
              <a:t>una</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cadena</a:t>
            </a:r>
            <a:r>
              <a:rPr lang="en-US" sz="1200" b="0" i="0" u="none" strike="noStrike" cap="none" dirty="0">
                <a:solidFill>
                  <a:srgbClr val="334155"/>
                </a:solidFill>
                <a:latin typeface="Lato"/>
                <a:ea typeface="Lato"/>
                <a:cs typeface="Lato"/>
                <a:sym typeface="Lato"/>
              </a:rPr>
              <a:t> , </a:t>
            </a:r>
            <a:r>
              <a:rPr lang="en-US" sz="1200" b="0" i="0" u="none" strike="noStrike" cap="none" dirty="0" err="1">
                <a:solidFill>
                  <a:srgbClr val="334155"/>
                </a:solidFill>
                <a:latin typeface="Lato"/>
                <a:ea typeface="Lato"/>
                <a:cs typeface="Lato"/>
                <a:sym typeface="Lato"/>
              </a:rPr>
              <a:t>denotada</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matemáticamente</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como</a:t>
            </a:r>
            <a:r>
              <a:rPr lang="en-US" sz="1200" b="0" i="0" u="none" strike="noStrike" cap="none" dirty="0">
                <a:solidFill>
                  <a:srgbClr val="334155"/>
                </a:solidFill>
                <a:latin typeface="Lato"/>
                <a:ea typeface="Lato"/>
                <a:cs typeface="Lato"/>
                <a:sym typeface="Lato"/>
              </a:rPr>
              <a:t>         , es </a:t>
            </a:r>
            <a:r>
              <a:rPr lang="en-US" sz="1200" b="0" i="0" u="none" strike="noStrike" cap="none" dirty="0" err="1">
                <a:solidFill>
                  <a:srgbClr val="334155"/>
                </a:solidFill>
                <a:latin typeface="Lato"/>
                <a:ea typeface="Lato"/>
                <a:cs typeface="Lato"/>
                <a:sym typeface="Lato"/>
              </a:rPr>
              <a:t>el</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número</a:t>
            </a:r>
            <a:r>
              <a:rPr lang="en-US" sz="1200" b="0" i="0" u="none" strike="noStrike" cap="none" dirty="0">
                <a:solidFill>
                  <a:srgbClr val="334155"/>
                </a:solidFill>
                <a:latin typeface="Lato"/>
                <a:ea typeface="Lato"/>
                <a:cs typeface="Lato"/>
                <a:sym typeface="Lato"/>
              </a:rPr>
              <a:t> total de </a:t>
            </a:r>
            <a:r>
              <a:rPr lang="en-US" sz="1200" b="0" i="0" u="none" strike="noStrike" cap="none" dirty="0" err="1">
                <a:solidFill>
                  <a:srgbClr val="334155"/>
                </a:solidFill>
                <a:latin typeface="Lato"/>
                <a:ea typeface="Lato"/>
                <a:cs typeface="Lato"/>
                <a:sym typeface="Lato"/>
              </a:rPr>
              <a:t>símbolos</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que</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contiene</a:t>
            </a:r>
            <a:r>
              <a:rPr lang="en-US" sz="1200" b="0" i="0" u="none" strike="noStrike" cap="none" dirty="0">
                <a:solidFill>
                  <a:srgbClr val="334155"/>
                </a:solidFill>
                <a:latin typeface="Lato"/>
                <a:ea typeface="Lato"/>
                <a:cs typeface="Lato"/>
                <a:sym typeface="Lato"/>
              </a:rPr>
              <a:t>.</a:t>
            </a:r>
            <a:endParaRPr dirty="0"/>
          </a:p>
        </p:txBody>
      </p:sp>
      <p:sp>
        <p:nvSpPr>
          <p:cNvPr id="305" name="Google Shape;305;p21"/>
          <p:cNvSpPr txBox="1"/>
          <p:nvPr/>
        </p:nvSpPr>
        <p:spPr>
          <a:xfrm>
            <a:off x="6581775" y="3462337"/>
            <a:ext cx="47434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Ejemplos prácticos:</a:t>
            </a:r>
            <a:endParaRPr/>
          </a:p>
        </p:txBody>
      </p:sp>
      <p:pic>
        <p:nvPicPr>
          <p:cNvPr id="306" name="Google Shape;306;p21" descr="image.png"/>
          <p:cNvPicPr preferRelativeResize="0"/>
          <p:nvPr/>
        </p:nvPicPr>
        <p:blipFill rotWithShape="1">
          <a:blip r:embed="rId8">
            <a:alphaModFix/>
          </a:blip>
          <a:srcRect/>
          <a:stretch/>
        </p:blipFill>
        <p:spPr>
          <a:xfrm>
            <a:off x="971550" y="3862387"/>
            <a:ext cx="2971800" cy="180975"/>
          </a:xfrm>
          <a:prstGeom prst="rect">
            <a:avLst/>
          </a:prstGeom>
          <a:noFill/>
          <a:ln>
            <a:noFill/>
          </a:ln>
        </p:spPr>
      </p:pic>
      <p:pic>
        <p:nvPicPr>
          <p:cNvPr id="307" name="Google Shape;307;p21" descr="image.png"/>
          <p:cNvPicPr preferRelativeResize="0"/>
          <p:nvPr/>
        </p:nvPicPr>
        <p:blipFill rotWithShape="1">
          <a:blip r:embed="rId9">
            <a:alphaModFix/>
          </a:blip>
          <a:srcRect/>
          <a:stretch/>
        </p:blipFill>
        <p:spPr>
          <a:xfrm>
            <a:off x="971550" y="5672137"/>
            <a:ext cx="4324350" cy="180975"/>
          </a:xfrm>
          <a:prstGeom prst="rect">
            <a:avLst/>
          </a:prstGeom>
          <a:noFill/>
          <a:ln>
            <a:noFill/>
          </a:ln>
        </p:spPr>
      </p:pic>
      <p:pic>
        <p:nvPicPr>
          <p:cNvPr id="308" name="Google Shape;308;p21" descr="image.png"/>
          <p:cNvPicPr preferRelativeResize="0"/>
          <p:nvPr/>
        </p:nvPicPr>
        <p:blipFill rotWithShape="1">
          <a:blip r:embed="rId10">
            <a:alphaModFix/>
          </a:blip>
          <a:srcRect/>
          <a:stretch/>
        </p:blipFill>
        <p:spPr>
          <a:xfrm>
            <a:off x="8305800" y="2747962"/>
            <a:ext cx="104775" cy="104775"/>
          </a:xfrm>
          <a:prstGeom prst="rect">
            <a:avLst/>
          </a:prstGeom>
          <a:noFill/>
          <a:ln>
            <a:noFill/>
          </a:ln>
        </p:spPr>
      </p:pic>
      <p:pic>
        <p:nvPicPr>
          <p:cNvPr id="309" name="Google Shape;309;p21" descr="image.png"/>
          <p:cNvPicPr preferRelativeResize="0"/>
          <p:nvPr/>
        </p:nvPicPr>
        <p:blipFill rotWithShape="1">
          <a:blip r:embed="rId11">
            <a:alphaModFix/>
          </a:blip>
          <a:srcRect/>
          <a:stretch/>
        </p:blipFill>
        <p:spPr>
          <a:xfrm>
            <a:off x="10715625" y="2747962"/>
            <a:ext cx="419100" cy="138304"/>
          </a:xfrm>
          <a:prstGeom prst="rect">
            <a:avLst/>
          </a:prstGeom>
          <a:noFill/>
          <a:ln>
            <a:noFill/>
          </a:ln>
        </p:spPr>
      </p:pic>
      <p:sp>
        <p:nvSpPr>
          <p:cNvPr id="310" name="Google Shape;310;p21"/>
          <p:cNvSpPr txBox="1"/>
          <p:nvPr/>
        </p:nvSpPr>
        <p:spPr>
          <a:xfrm>
            <a:off x="7391400" y="4205287"/>
            <a:ext cx="37433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Si s = abc → |s| = 3</a:t>
            </a:r>
            <a:endParaRPr/>
          </a:p>
        </p:txBody>
      </p:sp>
      <p:sp>
        <p:nvSpPr>
          <p:cNvPr id="311" name="Google Shape;311;p21"/>
          <p:cNvSpPr txBox="1"/>
          <p:nvPr/>
        </p:nvSpPr>
        <p:spPr>
          <a:xfrm>
            <a:off x="7391400" y="4576762"/>
            <a:ext cx="37433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Si t = de → |t| = 2</a:t>
            </a:r>
            <a:endParaRPr/>
          </a:p>
        </p:txBody>
      </p:sp>
      <p:sp>
        <p:nvSpPr>
          <p:cNvPr id="312" name="Google Shape;312;p21"/>
          <p:cNvSpPr txBox="1"/>
          <p:nvPr/>
        </p:nvSpPr>
        <p:spPr>
          <a:xfrm>
            <a:off x="7391400" y="4948237"/>
            <a:ext cx="37433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Si α = aab_ab → |α| = 5</a:t>
            </a:r>
            <a:endParaRPr/>
          </a:p>
        </p:txBody>
      </p:sp>
      <p:sp>
        <p:nvSpPr>
          <p:cNvPr id="313" name="Google Shape;313;p21"/>
          <p:cNvSpPr txBox="1"/>
          <p:nvPr/>
        </p:nvSpPr>
        <p:spPr>
          <a:xfrm>
            <a:off x="7391400" y="5319712"/>
            <a:ext cx="37433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Si β = a³b²a² → |β| = 7</a:t>
            </a:r>
            <a:endParaRPr/>
          </a:p>
        </p:txBody>
      </p:sp>
      <p:sp>
        <p:nvSpPr>
          <p:cNvPr id="314" name="Google Shape;314;p21"/>
          <p:cNvSpPr txBox="1"/>
          <p:nvPr/>
        </p:nvSpPr>
        <p:spPr>
          <a:xfrm>
            <a:off x="7153275" y="4129087"/>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315" name="Google Shape;315;p21"/>
          <p:cNvSpPr txBox="1"/>
          <p:nvPr/>
        </p:nvSpPr>
        <p:spPr>
          <a:xfrm>
            <a:off x="7153275" y="4500562"/>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316" name="Google Shape;316;p21"/>
          <p:cNvSpPr txBox="1"/>
          <p:nvPr/>
        </p:nvSpPr>
        <p:spPr>
          <a:xfrm>
            <a:off x="7153275" y="4872037"/>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317" name="Google Shape;317;p21"/>
          <p:cNvSpPr txBox="1"/>
          <p:nvPr/>
        </p:nvSpPr>
        <p:spPr>
          <a:xfrm>
            <a:off x="7153275" y="5243512"/>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22" name="Google Shape;322;p22" descr="image.png"/>
          <p:cNvPicPr preferRelativeResize="0"/>
          <p:nvPr/>
        </p:nvPicPr>
        <p:blipFill rotWithShape="1">
          <a:blip r:embed="rId3">
            <a:alphaModFix/>
          </a:blip>
          <a:srcRect/>
          <a:stretch/>
        </p:blipFill>
        <p:spPr>
          <a:xfrm>
            <a:off x="571500" y="1333500"/>
            <a:ext cx="5334000" cy="4857750"/>
          </a:xfrm>
          <a:prstGeom prst="rect">
            <a:avLst/>
          </a:prstGeom>
          <a:noFill/>
          <a:ln>
            <a:noFill/>
          </a:ln>
        </p:spPr>
      </p:pic>
      <p:pic>
        <p:nvPicPr>
          <p:cNvPr id="323" name="Google Shape;323;p22" descr="image.png"/>
          <p:cNvPicPr preferRelativeResize="0"/>
          <p:nvPr/>
        </p:nvPicPr>
        <p:blipFill rotWithShape="1">
          <a:blip r:embed="rId4">
            <a:alphaModFix/>
          </a:blip>
          <a:srcRect/>
          <a:stretch/>
        </p:blipFill>
        <p:spPr>
          <a:xfrm>
            <a:off x="6690360" y="838200"/>
            <a:ext cx="5334000" cy="4857750"/>
          </a:xfrm>
          <a:prstGeom prst="rect">
            <a:avLst/>
          </a:prstGeom>
          <a:noFill/>
          <a:ln>
            <a:noFill/>
          </a:ln>
        </p:spPr>
      </p:pic>
      <p:pic>
        <p:nvPicPr>
          <p:cNvPr id="324" name="Google Shape;324;p22" descr="image.png"/>
          <p:cNvPicPr preferRelativeResize="0"/>
          <p:nvPr/>
        </p:nvPicPr>
        <p:blipFill rotWithShape="1">
          <a:blip r:embed="rId5">
            <a:alphaModFix/>
          </a:blip>
          <a:srcRect/>
          <a:stretch/>
        </p:blipFill>
        <p:spPr>
          <a:xfrm>
            <a:off x="866775" y="3619500"/>
            <a:ext cx="4743450" cy="400050"/>
          </a:xfrm>
          <a:prstGeom prst="rect">
            <a:avLst/>
          </a:prstGeom>
          <a:noFill/>
          <a:ln>
            <a:noFill/>
          </a:ln>
        </p:spPr>
      </p:pic>
      <p:pic>
        <p:nvPicPr>
          <p:cNvPr id="325" name="Google Shape;325;p22" descr="image.png"/>
          <p:cNvPicPr preferRelativeResize="0"/>
          <p:nvPr/>
        </p:nvPicPr>
        <p:blipFill rotWithShape="1">
          <a:blip r:embed="rId6">
            <a:alphaModFix/>
          </a:blip>
          <a:srcRect/>
          <a:stretch/>
        </p:blipFill>
        <p:spPr>
          <a:xfrm>
            <a:off x="866775" y="4162425"/>
            <a:ext cx="4743450" cy="1590675"/>
          </a:xfrm>
          <a:prstGeom prst="rect">
            <a:avLst/>
          </a:prstGeom>
          <a:noFill/>
          <a:ln>
            <a:noFill/>
          </a:ln>
        </p:spPr>
      </p:pic>
      <p:pic>
        <p:nvPicPr>
          <p:cNvPr id="326" name="Google Shape;326;p22" descr="image.png"/>
          <p:cNvPicPr preferRelativeResize="0"/>
          <p:nvPr/>
        </p:nvPicPr>
        <p:blipFill rotWithShape="1">
          <a:blip r:embed="rId5">
            <a:alphaModFix/>
          </a:blip>
          <a:srcRect/>
          <a:stretch/>
        </p:blipFill>
        <p:spPr>
          <a:xfrm>
            <a:off x="6581775" y="3390900"/>
            <a:ext cx="4743450" cy="400050"/>
          </a:xfrm>
          <a:prstGeom prst="rect">
            <a:avLst/>
          </a:prstGeom>
          <a:noFill/>
          <a:ln>
            <a:noFill/>
          </a:ln>
        </p:spPr>
      </p:pic>
      <p:pic>
        <p:nvPicPr>
          <p:cNvPr id="327" name="Google Shape;327;p22" descr="image.png"/>
          <p:cNvPicPr preferRelativeResize="0"/>
          <p:nvPr/>
        </p:nvPicPr>
        <p:blipFill rotWithShape="1">
          <a:blip r:embed="rId7">
            <a:alphaModFix/>
          </a:blip>
          <a:srcRect/>
          <a:stretch/>
        </p:blipFill>
        <p:spPr>
          <a:xfrm>
            <a:off x="6581775" y="3933825"/>
            <a:ext cx="4743450" cy="1962150"/>
          </a:xfrm>
          <a:prstGeom prst="rect">
            <a:avLst/>
          </a:prstGeom>
          <a:noFill/>
          <a:ln>
            <a:noFill/>
          </a:ln>
        </p:spPr>
      </p:pic>
      <p:sp>
        <p:nvSpPr>
          <p:cNvPr id="328" name="Google Shape;328;p22"/>
          <p:cNvSpPr txBox="1"/>
          <p:nvPr/>
        </p:nvSpPr>
        <p:spPr>
          <a:xfrm>
            <a:off x="295275" y="476250"/>
            <a:ext cx="11601450"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1" i="0" u="none" strike="noStrike" cap="none">
                <a:solidFill>
                  <a:srgbClr val="0F172A"/>
                </a:solidFill>
                <a:latin typeface="Poppins"/>
                <a:ea typeface="Poppins"/>
                <a:cs typeface="Poppins"/>
                <a:sym typeface="Poppins"/>
              </a:rPr>
              <a:t>Operaciones Fundamentales con Cadenas</a:t>
            </a:r>
            <a:endParaRPr/>
          </a:p>
        </p:txBody>
      </p:sp>
      <p:sp>
        <p:nvSpPr>
          <p:cNvPr id="329" name="Google Shape;329;p22"/>
          <p:cNvSpPr txBox="1"/>
          <p:nvPr/>
        </p:nvSpPr>
        <p:spPr>
          <a:xfrm>
            <a:off x="866775" y="1628775"/>
            <a:ext cx="498062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F172A"/>
                </a:solidFill>
                <a:latin typeface="Poppins SemiBold"/>
                <a:ea typeface="Poppins SemiBold"/>
                <a:cs typeface="Poppins SemiBold"/>
                <a:sym typeface="Poppins SemiBold"/>
              </a:rPr>
              <a:t>Concatenación de Cadenas</a:t>
            </a:r>
            <a:endParaRPr/>
          </a:p>
        </p:txBody>
      </p:sp>
      <p:sp>
        <p:nvSpPr>
          <p:cNvPr id="330" name="Google Shape;330;p22"/>
          <p:cNvSpPr txBox="1"/>
          <p:nvPr/>
        </p:nvSpPr>
        <p:spPr>
          <a:xfrm>
            <a:off x="866775" y="2057400"/>
            <a:ext cx="4743450"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a:solidFill>
                  <a:srgbClr val="334155"/>
                </a:solidFill>
                <a:latin typeface="Lato"/>
                <a:ea typeface="Lato"/>
                <a:cs typeface="Lato"/>
                <a:sym typeface="Lato"/>
              </a:rPr>
              <a:t>La </a:t>
            </a:r>
            <a:r>
              <a:rPr lang="en-US" sz="1200" b="0" i="0" u="none" strike="noStrike" cap="none" dirty="0" err="1">
                <a:solidFill>
                  <a:srgbClr val="334155"/>
                </a:solidFill>
                <a:latin typeface="Lato"/>
                <a:ea typeface="Lato"/>
                <a:cs typeface="Lato"/>
                <a:sym typeface="Lato"/>
              </a:rPr>
              <a:t>concatenación</a:t>
            </a:r>
            <a:r>
              <a:rPr lang="en-US" sz="1200" b="0" i="0" u="none" strike="noStrike" cap="none" dirty="0">
                <a:solidFill>
                  <a:srgbClr val="334155"/>
                </a:solidFill>
                <a:latin typeface="Lato"/>
                <a:ea typeface="Lato"/>
                <a:cs typeface="Lato"/>
                <a:sym typeface="Lato"/>
              </a:rPr>
              <a:t> de dos </a:t>
            </a:r>
            <a:r>
              <a:rPr lang="en-US" sz="1200" b="0" i="0" u="none" strike="noStrike" cap="none" dirty="0" err="1">
                <a:solidFill>
                  <a:srgbClr val="334155"/>
                </a:solidFill>
                <a:latin typeface="Lato"/>
                <a:ea typeface="Lato"/>
                <a:cs typeface="Lato"/>
                <a:sym typeface="Lato"/>
              </a:rPr>
              <a:t>cadenas</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consiste</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en</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unirlas</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en</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orden</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escribiendo</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una</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inmediatamente</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después</a:t>
            </a:r>
            <a:r>
              <a:rPr lang="en-US" sz="1200" b="0" i="0" u="none" strike="noStrike" cap="none" dirty="0">
                <a:solidFill>
                  <a:srgbClr val="334155"/>
                </a:solidFill>
                <a:latin typeface="Lato"/>
                <a:ea typeface="Lato"/>
                <a:cs typeface="Lato"/>
                <a:sym typeface="Lato"/>
              </a:rPr>
              <a:t> de la </a:t>
            </a:r>
            <a:r>
              <a:rPr lang="en-US" sz="1200" b="0" i="0" u="none" strike="noStrike" cap="none" dirty="0" err="1">
                <a:solidFill>
                  <a:srgbClr val="334155"/>
                </a:solidFill>
                <a:latin typeface="Lato"/>
                <a:ea typeface="Lato"/>
                <a:cs typeface="Lato"/>
                <a:sym typeface="Lato"/>
              </a:rPr>
              <a:t>otra</a:t>
            </a:r>
            <a:r>
              <a:rPr lang="en-US" sz="1200" b="0" i="0" u="none" strike="noStrike" cap="none" dirty="0">
                <a:solidFill>
                  <a:srgbClr val="334155"/>
                </a:solidFill>
                <a:latin typeface="Lato"/>
                <a:ea typeface="Lato"/>
                <a:cs typeface="Lato"/>
                <a:sym typeface="Lato"/>
              </a:rPr>
              <a:t>. Es vital </a:t>
            </a:r>
            <a:r>
              <a:rPr lang="en-US" sz="1200" b="0" i="0" u="none" strike="noStrike" cap="none" dirty="0" err="1">
                <a:solidFill>
                  <a:srgbClr val="334155"/>
                </a:solidFill>
                <a:latin typeface="Lato"/>
                <a:ea typeface="Lato"/>
                <a:cs typeface="Lato"/>
                <a:sym typeface="Lato"/>
              </a:rPr>
              <a:t>notar</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que</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esta</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operación</a:t>
            </a:r>
            <a:r>
              <a:rPr lang="en-US" sz="1200" b="0" i="0" u="none" strike="noStrike" cap="none" dirty="0">
                <a:solidFill>
                  <a:srgbClr val="334155"/>
                </a:solidFill>
                <a:latin typeface="Lato"/>
                <a:ea typeface="Lato"/>
                <a:cs typeface="Lato"/>
                <a:sym typeface="Lato"/>
              </a:rPr>
              <a:t> </a:t>
            </a:r>
            <a:r>
              <a:rPr lang="en-US" sz="1200" b="1" i="0" u="none" strike="noStrike" cap="none" dirty="0">
                <a:solidFill>
                  <a:srgbClr val="334155"/>
                </a:solidFill>
                <a:latin typeface="Lato"/>
                <a:ea typeface="Lato"/>
                <a:cs typeface="Lato"/>
                <a:sym typeface="Lato"/>
              </a:rPr>
              <a:t>no es </a:t>
            </a:r>
            <a:r>
              <a:rPr lang="en-US" sz="1200" b="1" i="0" u="none" strike="noStrike" cap="none" dirty="0" err="1">
                <a:solidFill>
                  <a:srgbClr val="334155"/>
                </a:solidFill>
                <a:latin typeface="Lato"/>
                <a:ea typeface="Lato"/>
                <a:cs typeface="Lato"/>
                <a:sym typeface="Lato"/>
              </a:rPr>
              <a:t>conmutativa</a:t>
            </a:r>
            <a:r>
              <a:rPr lang="en-US" sz="1200" b="0" i="0" u="none" strike="noStrike" cap="none" dirty="0">
                <a:solidFill>
                  <a:srgbClr val="334155"/>
                </a:solidFill>
                <a:latin typeface="Lato"/>
                <a:ea typeface="Lato"/>
                <a:cs typeface="Lato"/>
                <a:sym typeface="Lato"/>
              </a:rPr>
              <a:t> (                      ).</a:t>
            </a:r>
            <a:endParaRPr dirty="0"/>
          </a:p>
        </p:txBody>
      </p:sp>
      <p:sp>
        <p:nvSpPr>
          <p:cNvPr id="331" name="Google Shape;331;p22"/>
          <p:cNvSpPr txBox="1"/>
          <p:nvPr/>
        </p:nvSpPr>
        <p:spPr>
          <a:xfrm>
            <a:off x="866775" y="3076575"/>
            <a:ext cx="47434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Ejemplo:</a:t>
            </a:r>
            <a:endParaRPr/>
          </a:p>
        </p:txBody>
      </p:sp>
      <p:sp>
        <p:nvSpPr>
          <p:cNvPr id="332" name="Google Shape;332;p22"/>
          <p:cNvSpPr txBox="1"/>
          <p:nvPr/>
        </p:nvSpPr>
        <p:spPr>
          <a:xfrm>
            <a:off x="6581775" y="1628775"/>
            <a:ext cx="498062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F172A"/>
                </a:solidFill>
                <a:latin typeface="Poppins SemiBold"/>
                <a:ea typeface="Poppins SemiBold"/>
                <a:cs typeface="Poppins SemiBold"/>
                <a:sym typeface="Poppins SemiBold"/>
              </a:rPr>
              <a:t>Potencias de una Cadena</a:t>
            </a:r>
            <a:endParaRPr/>
          </a:p>
        </p:txBody>
      </p:sp>
      <p:sp>
        <p:nvSpPr>
          <p:cNvPr id="333" name="Google Shape;333;p22"/>
          <p:cNvSpPr txBox="1"/>
          <p:nvPr/>
        </p:nvSpPr>
        <p:spPr>
          <a:xfrm>
            <a:off x="6708648" y="2057400"/>
            <a:ext cx="4743450"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a:solidFill>
                  <a:srgbClr val="334155"/>
                </a:solidFill>
                <a:latin typeface="Lato"/>
                <a:ea typeface="Lato"/>
                <a:cs typeface="Lato"/>
                <a:sym typeface="Lato"/>
              </a:rPr>
              <a:t>Si      es </a:t>
            </a:r>
            <a:r>
              <a:rPr lang="en-US" sz="1200" b="0" i="0" u="none" strike="noStrike" cap="none" dirty="0" err="1">
                <a:solidFill>
                  <a:srgbClr val="334155"/>
                </a:solidFill>
                <a:latin typeface="Lato"/>
                <a:ea typeface="Lato"/>
                <a:cs typeface="Lato"/>
                <a:sym typeface="Lato"/>
              </a:rPr>
              <a:t>una</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cadena</a:t>
            </a:r>
            <a:r>
              <a:rPr lang="en-US" sz="1200" b="0" i="0" u="none" strike="noStrike" cap="none" dirty="0">
                <a:solidFill>
                  <a:srgbClr val="334155"/>
                </a:solidFill>
                <a:latin typeface="Lato"/>
                <a:ea typeface="Lato"/>
                <a:cs typeface="Lato"/>
                <a:sym typeface="Lato"/>
              </a:rPr>
              <a:t> y               , </a:t>
            </a:r>
            <a:r>
              <a:rPr lang="en-US" sz="1200" b="0" i="0" u="none" strike="noStrike" cap="none" dirty="0" err="1">
                <a:solidFill>
                  <a:srgbClr val="334155"/>
                </a:solidFill>
                <a:latin typeface="Lato"/>
                <a:ea typeface="Lato"/>
                <a:cs typeface="Lato"/>
                <a:sym typeface="Lato"/>
              </a:rPr>
              <a:t>entonces</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denota</a:t>
            </a:r>
            <a:r>
              <a:rPr lang="en-US" sz="1200" b="0" i="0" u="none" strike="noStrike" cap="none" dirty="0">
                <a:solidFill>
                  <a:srgbClr val="334155"/>
                </a:solidFill>
                <a:latin typeface="Lato"/>
                <a:ea typeface="Lato"/>
                <a:cs typeface="Lato"/>
                <a:sym typeface="Lato"/>
              </a:rPr>
              <a:t> la </a:t>
            </a:r>
            <a:r>
              <a:rPr lang="en-US" sz="1200" b="0" i="0" u="none" strike="noStrike" cap="none" dirty="0" err="1">
                <a:solidFill>
                  <a:srgbClr val="334155"/>
                </a:solidFill>
                <a:latin typeface="Lato"/>
                <a:ea typeface="Lato"/>
                <a:cs typeface="Lato"/>
                <a:sym typeface="Lato"/>
              </a:rPr>
              <a:t>concatenación</a:t>
            </a:r>
            <a:r>
              <a:rPr lang="en-US" sz="1200" b="0" i="0" u="none" strike="noStrike" cap="none" dirty="0">
                <a:solidFill>
                  <a:srgbClr val="334155"/>
                </a:solidFill>
                <a:latin typeface="Lato"/>
                <a:ea typeface="Lato"/>
                <a:cs typeface="Lato"/>
                <a:sym typeface="Lato"/>
              </a:rPr>
              <a:t> de </a:t>
            </a:r>
            <a:r>
              <a:rPr lang="en-US" sz="1200" b="0" i="0" u="none" strike="noStrike" cap="none" dirty="0" err="1">
                <a:solidFill>
                  <a:srgbClr val="334155"/>
                </a:solidFill>
                <a:latin typeface="Lato"/>
                <a:ea typeface="Lato"/>
                <a:cs typeface="Lato"/>
                <a:sym typeface="Lato"/>
              </a:rPr>
              <a:t>copias</a:t>
            </a:r>
            <a:r>
              <a:rPr lang="en-US" sz="1200" b="0" i="0" u="none" strike="noStrike" cap="none" dirty="0">
                <a:solidFill>
                  <a:srgbClr val="334155"/>
                </a:solidFill>
                <a:latin typeface="Lato"/>
                <a:ea typeface="Lato"/>
                <a:cs typeface="Lato"/>
                <a:sym typeface="Lato"/>
              </a:rPr>
              <a:t> </a:t>
            </a:r>
            <a:r>
              <a:rPr lang="en-US" sz="1200" b="0" i="0" u="none" strike="noStrike" cap="none" dirty="0" err="1">
                <a:solidFill>
                  <a:srgbClr val="334155"/>
                </a:solidFill>
                <a:latin typeface="Lato"/>
                <a:ea typeface="Lato"/>
                <a:cs typeface="Lato"/>
                <a:sym typeface="Lato"/>
              </a:rPr>
              <a:t>consecutivas</a:t>
            </a:r>
            <a:r>
              <a:rPr lang="en-US" sz="1200" b="0" i="0" u="none" strike="noStrike" cap="none" dirty="0">
                <a:solidFill>
                  <a:srgbClr val="334155"/>
                </a:solidFill>
                <a:latin typeface="Lato"/>
                <a:ea typeface="Lato"/>
                <a:cs typeface="Lato"/>
                <a:sym typeface="Lato"/>
              </a:rPr>
              <a:t> de        .</a:t>
            </a:r>
            <a:endParaRPr dirty="0"/>
          </a:p>
        </p:txBody>
      </p:sp>
      <p:sp>
        <p:nvSpPr>
          <p:cNvPr id="334" name="Google Shape;334;p22"/>
          <p:cNvSpPr txBox="1"/>
          <p:nvPr/>
        </p:nvSpPr>
        <p:spPr>
          <a:xfrm>
            <a:off x="6581775" y="2847975"/>
            <a:ext cx="47434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Ejemplo Combinado:</a:t>
            </a:r>
            <a:endParaRPr/>
          </a:p>
        </p:txBody>
      </p:sp>
      <p:pic>
        <p:nvPicPr>
          <p:cNvPr id="335" name="Google Shape;335;p22" descr="image.png"/>
          <p:cNvPicPr preferRelativeResize="0"/>
          <p:nvPr/>
        </p:nvPicPr>
        <p:blipFill rotWithShape="1">
          <a:blip r:embed="rId8">
            <a:alphaModFix/>
          </a:blip>
          <a:srcRect/>
          <a:stretch/>
        </p:blipFill>
        <p:spPr>
          <a:xfrm>
            <a:off x="3357086" y="2667000"/>
            <a:ext cx="653801" cy="123825"/>
          </a:xfrm>
          <a:prstGeom prst="rect">
            <a:avLst/>
          </a:prstGeom>
          <a:noFill/>
          <a:ln>
            <a:noFill/>
          </a:ln>
        </p:spPr>
      </p:pic>
      <p:pic>
        <p:nvPicPr>
          <p:cNvPr id="336" name="Google Shape;336;p22" descr="image.png"/>
          <p:cNvPicPr preferRelativeResize="0"/>
          <p:nvPr/>
        </p:nvPicPr>
        <p:blipFill rotWithShape="1">
          <a:blip r:embed="rId9">
            <a:alphaModFix/>
          </a:blip>
          <a:srcRect/>
          <a:stretch/>
        </p:blipFill>
        <p:spPr>
          <a:xfrm>
            <a:off x="971550" y="3743325"/>
            <a:ext cx="3409950" cy="171450"/>
          </a:xfrm>
          <a:prstGeom prst="rect">
            <a:avLst/>
          </a:prstGeom>
          <a:noFill/>
          <a:ln>
            <a:noFill/>
          </a:ln>
        </p:spPr>
      </p:pic>
      <p:pic>
        <p:nvPicPr>
          <p:cNvPr id="337" name="Google Shape;337;p22" descr="image.png"/>
          <p:cNvPicPr preferRelativeResize="0"/>
          <p:nvPr/>
        </p:nvPicPr>
        <p:blipFill rotWithShape="1">
          <a:blip r:embed="rId10">
            <a:alphaModFix/>
          </a:blip>
          <a:srcRect/>
          <a:stretch/>
        </p:blipFill>
        <p:spPr>
          <a:xfrm>
            <a:off x="6893052" y="2170434"/>
            <a:ext cx="104775" cy="104775"/>
          </a:xfrm>
          <a:prstGeom prst="rect">
            <a:avLst/>
          </a:prstGeom>
          <a:noFill/>
          <a:ln>
            <a:noFill/>
          </a:ln>
        </p:spPr>
      </p:pic>
      <p:pic>
        <p:nvPicPr>
          <p:cNvPr id="338" name="Google Shape;338;p22" descr="image.png"/>
          <p:cNvPicPr preferRelativeResize="0"/>
          <p:nvPr/>
        </p:nvPicPr>
        <p:blipFill rotWithShape="1">
          <a:blip r:embed="rId11">
            <a:alphaModFix/>
          </a:blip>
          <a:srcRect/>
          <a:stretch/>
        </p:blipFill>
        <p:spPr>
          <a:xfrm>
            <a:off x="8212074" y="2159563"/>
            <a:ext cx="457200" cy="123825"/>
          </a:xfrm>
          <a:prstGeom prst="rect">
            <a:avLst/>
          </a:prstGeom>
          <a:noFill/>
          <a:ln>
            <a:noFill/>
          </a:ln>
        </p:spPr>
      </p:pic>
      <p:pic>
        <p:nvPicPr>
          <p:cNvPr id="339" name="Google Shape;339;p22" descr="image.png"/>
          <p:cNvPicPr preferRelativeResize="0"/>
          <p:nvPr/>
        </p:nvPicPr>
        <p:blipFill rotWithShape="1">
          <a:blip r:embed="rId12">
            <a:alphaModFix/>
          </a:blip>
          <a:srcRect/>
          <a:stretch/>
        </p:blipFill>
        <p:spPr>
          <a:xfrm>
            <a:off x="9578149" y="2140595"/>
            <a:ext cx="200025" cy="164455"/>
          </a:xfrm>
          <a:prstGeom prst="rect">
            <a:avLst/>
          </a:prstGeom>
          <a:noFill/>
          <a:ln>
            <a:noFill/>
          </a:ln>
        </p:spPr>
      </p:pic>
      <p:pic>
        <p:nvPicPr>
          <p:cNvPr id="340" name="Google Shape;340;p22" descr="image.png"/>
          <p:cNvPicPr preferRelativeResize="0"/>
          <p:nvPr/>
        </p:nvPicPr>
        <p:blipFill rotWithShape="1">
          <a:blip r:embed="rId13">
            <a:alphaModFix/>
          </a:blip>
          <a:srcRect/>
          <a:stretch/>
        </p:blipFill>
        <p:spPr>
          <a:xfrm>
            <a:off x="11526964" y="2205609"/>
            <a:ext cx="104775" cy="95250"/>
          </a:xfrm>
          <a:prstGeom prst="rect">
            <a:avLst/>
          </a:prstGeom>
          <a:noFill/>
          <a:ln>
            <a:noFill/>
          </a:ln>
        </p:spPr>
      </p:pic>
      <p:pic>
        <p:nvPicPr>
          <p:cNvPr id="341" name="Google Shape;341;p22" descr="image.png"/>
          <p:cNvPicPr preferRelativeResize="0"/>
          <p:nvPr/>
        </p:nvPicPr>
        <p:blipFill rotWithShape="1">
          <a:blip r:embed="rId10">
            <a:alphaModFix/>
          </a:blip>
          <a:srcRect/>
          <a:stretch/>
        </p:blipFill>
        <p:spPr>
          <a:xfrm>
            <a:off x="8564499" y="2447151"/>
            <a:ext cx="104775" cy="104775"/>
          </a:xfrm>
          <a:prstGeom prst="rect">
            <a:avLst/>
          </a:prstGeom>
          <a:noFill/>
          <a:ln>
            <a:noFill/>
          </a:ln>
        </p:spPr>
      </p:pic>
      <p:pic>
        <p:nvPicPr>
          <p:cNvPr id="342" name="Google Shape;342;p22" descr="image.png"/>
          <p:cNvPicPr preferRelativeResize="0"/>
          <p:nvPr/>
        </p:nvPicPr>
        <p:blipFill rotWithShape="1">
          <a:blip r:embed="rId14">
            <a:alphaModFix/>
          </a:blip>
          <a:srcRect/>
          <a:stretch/>
        </p:blipFill>
        <p:spPr>
          <a:xfrm>
            <a:off x="6686550" y="3514725"/>
            <a:ext cx="3200400" cy="171450"/>
          </a:xfrm>
          <a:prstGeom prst="rect">
            <a:avLst/>
          </a:prstGeom>
          <a:noFill/>
          <a:ln>
            <a:noFill/>
          </a:ln>
        </p:spPr>
      </p:pic>
      <p:sp>
        <p:nvSpPr>
          <p:cNvPr id="343" name="Google Shape;343;p22"/>
          <p:cNvSpPr txBox="1"/>
          <p:nvPr/>
        </p:nvSpPr>
        <p:spPr>
          <a:xfrm>
            <a:off x="1628775" y="4457700"/>
            <a:ext cx="383857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γθ = aabcabd</a:t>
            </a:r>
            <a:endParaRPr/>
          </a:p>
        </p:txBody>
      </p:sp>
      <p:sp>
        <p:nvSpPr>
          <p:cNvPr id="344" name="Google Shape;344;p22"/>
          <p:cNvSpPr txBox="1"/>
          <p:nvPr/>
        </p:nvSpPr>
        <p:spPr>
          <a:xfrm>
            <a:off x="1628775" y="4829175"/>
            <a:ext cx="383857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θγ = cabdaab</a:t>
            </a:r>
            <a:endParaRPr/>
          </a:p>
        </p:txBody>
      </p:sp>
      <p:sp>
        <p:nvSpPr>
          <p:cNvPr id="345" name="Google Shape;345;p22"/>
          <p:cNvSpPr txBox="1"/>
          <p:nvPr/>
        </p:nvSpPr>
        <p:spPr>
          <a:xfrm>
            <a:off x="1628775" y="5200650"/>
            <a:ext cx="383857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γγ = aabaab (Concatenación consigo misma)</a:t>
            </a:r>
            <a:endParaRPr/>
          </a:p>
        </p:txBody>
      </p:sp>
      <p:sp>
        <p:nvSpPr>
          <p:cNvPr id="346" name="Google Shape;346;p22"/>
          <p:cNvSpPr txBox="1"/>
          <p:nvPr/>
        </p:nvSpPr>
        <p:spPr>
          <a:xfrm>
            <a:off x="7343775" y="4229100"/>
            <a:ext cx="383857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s² = abcabc</a:t>
            </a:r>
            <a:endParaRPr/>
          </a:p>
        </p:txBody>
      </p:sp>
      <p:sp>
        <p:nvSpPr>
          <p:cNvPr id="347" name="Google Shape;347;p22"/>
          <p:cNvSpPr txBox="1"/>
          <p:nvPr/>
        </p:nvSpPr>
        <p:spPr>
          <a:xfrm>
            <a:off x="7343775" y="4600575"/>
            <a:ext cx="383857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s³ = abcabcabc</a:t>
            </a:r>
            <a:endParaRPr/>
          </a:p>
        </p:txBody>
      </p:sp>
      <p:sp>
        <p:nvSpPr>
          <p:cNvPr id="348" name="Google Shape;348;p22"/>
          <p:cNvSpPr txBox="1"/>
          <p:nvPr/>
        </p:nvSpPr>
        <p:spPr>
          <a:xfrm>
            <a:off x="7343775" y="4972050"/>
            <a:ext cx="383857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s¹ = abc</a:t>
            </a:r>
            <a:endParaRPr/>
          </a:p>
        </p:txBody>
      </p:sp>
      <p:sp>
        <p:nvSpPr>
          <p:cNvPr id="349" name="Google Shape;349;p22"/>
          <p:cNvSpPr txBox="1"/>
          <p:nvPr/>
        </p:nvSpPr>
        <p:spPr>
          <a:xfrm>
            <a:off x="7343775" y="5343525"/>
            <a:ext cx="383857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t²s¹ = dedeabc</a:t>
            </a:r>
            <a:endParaRPr/>
          </a:p>
        </p:txBody>
      </p:sp>
      <p:sp>
        <p:nvSpPr>
          <p:cNvPr id="350" name="Google Shape;350;p22"/>
          <p:cNvSpPr txBox="1"/>
          <p:nvPr/>
        </p:nvSpPr>
        <p:spPr>
          <a:xfrm>
            <a:off x="1390650" y="4381500"/>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351" name="Google Shape;351;p22"/>
          <p:cNvSpPr txBox="1"/>
          <p:nvPr/>
        </p:nvSpPr>
        <p:spPr>
          <a:xfrm>
            <a:off x="1390650" y="4752975"/>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352" name="Google Shape;352;p22"/>
          <p:cNvSpPr txBox="1"/>
          <p:nvPr/>
        </p:nvSpPr>
        <p:spPr>
          <a:xfrm>
            <a:off x="1390650" y="5124450"/>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353" name="Google Shape;353;p22"/>
          <p:cNvSpPr txBox="1"/>
          <p:nvPr/>
        </p:nvSpPr>
        <p:spPr>
          <a:xfrm>
            <a:off x="7105650" y="4152900"/>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354" name="Google Shape;354;p22"/>
          <p:cNvSpPr txBox="1"/>
          <p:nvPr/>
        </p:nvSpPr>
        <p:spPr>
          <a:xfrm>
            <a:off x="7105650" y="4524375"/>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355" name="Google Shape;355;p22"/>
          <p:cNvSpPr txBox="1"/>
          <p:nvPr/>
        </p:nvSpPr>
        <p:spPr>
          <a:xfrm>
            <a:off x="7105650" y="4895850"/>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356" name="Google Shape;356;p22"/>
          <p:cNvSpPr txBox="1"/>
          <p:nvPr/>
        </p:nvSpPr>
        <p:spPr>
          <a:xfrm>
            <a:off x="7105650" y="5267325"/>
            <a:ext cx="16192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1400175" y="2038350"/>
            <a:ext cx="9391650" cy="3957339"/>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1743075" y="2943225"/>
            <a:ext cx="8705850" cy="819150"/>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1743075" y="3952875"/>
            <a:ext cx="8705850" cy="464194"/>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1743075" y="4531369"/>
            <a:ext cx="8705850" cy="464194"/>
          </a:xfrm>
          <a:prstGeom prst="rect">
            <a:avLst/>
          </a:prstGeom>
          <a:noFill/>
          <a:ln>
            <a:noFill/>
          </a:ln>
        </p:spPr>
      </p:pic>
      <p:pic>
        <p:nvPicPr>
          <p:cNvPr id="88" name="Google Shape;88;p13" descr="image.png"/>
          <p:cNvPicPr preferRelativeResize="0"/>
          <p:nvPr/>
        </p:nvPicPr>
        <p:blipFill rotWithShape="1">
          <a:blip r:embed="rId7">
            <a:alphaModFix/>
          </a:blip>
          <a:srcRect/>
          <a:stretch/>
        </p:blipFill>
        <p:spPr>
          <a:xfrm>
            <a:off x="1743075" y="5109864"/>
            <a:ext cx="8705850" cy="428625"/>
          </a:xfrm>
          <a:prstGeom prst="rect">
            <a:avLst/>
          </a:prstGeom>
          <a:noFill/>
          <a:ln>
            <a:noFill/>
          </a:ln>
        </p:spPr>
      </p:pic>
      <p:sp>
        <p:nvSpPr>
          <p:cNvPr id="89" name="Google Shape;89;p13"/>
          <p:cNvSpPr txBox="1"/>
          <p:nvPr/>
        </p:nvSpPr>
        <p:spPr>
          <a:xfrm>
            <a:off x="295275" y="476250"/>
            <a:ext cx="11601450" cy="723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0F172A"/>
                </a:solidFill>
                <a:latin typeface="Poppins"/>
                <a:ea typeface="Poppins"/>
                <a:cs typeface="Poppins"/>
                <a:sym typeface="Poppins"/>
              </a:rPr>
              <a:t>Ejercicios Propuestos 1 a 3</a:t>
            </a:r>
            <a:endParaRPr/>
          </a:p>
        </p:txBody>
      </p:sp>
      <p:sp>
        <p:nvSpPr>
          <p:cNvPr id="90" name="Google Shape;90;p13"/>
          <p:cNvSpPr txBox="1"/>
          <p:nvPr/>
        </p:nvSpPr>
        <p:spPr>
          <a:xfrm>
            <a:off x="571500" y="1485900"/>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Para la Sucesión s</a:t>
            </a:r>
            <a:endParaRPr/>
          </a:p>
        </p:txBody>
      </p:sp>
      <p:sp>
        <p:nvSpPr>
          <p:cNvPr id="91" name="Google Shape;91;p13"/>
          <p:cNvSpPr txBox="1"/>
          <p:nvPr/>
        </p:nvSpPr>
        <p:spPr>
          <a:xfrm>
            <a:off x="1743075" y="2381250"/>
            <a:ext cx="9141142"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F172A"/>
                </a:solidFill>
                <a:latin typeface="Poppins SemiBold"/>
                <a:ea typeface="Poppins SemiBold"/>
                <a:cs typeface="Poppins SemiBold"/>
                <a:sym typeface="Poppins SemiBold"/>
              </a:rPr>
              <a:t>Se define la sucesión s como:</a:t>
            </a:r>
            <a:endParaRPr/>
          </a:p>
        </p:txBody>
      </p:sp>
      <p:pic>
        <p:nvPicPr>
          <p:cNvPr id="92" name="Google Shape;92;p13" descr="image.png"/>
          <p:cNvPicPr preferRelativeResize="0"/>
          <p:nvPr/>
        </p:nvPicPr>
        <p:blipFill rotWithShape="1">
          <a:blip r:embed="rId8">
            <a:alphaModFix/>
          </a:blip>
          <a:srcRect/>
          <a:stretch/>
        </p:blipFill>
        <p:spPr>
          <a:xfrm>
            <a:off x="3968055" y="3248025"/>
            <a:ext cx="4255889" cy="238125"/>
          </a:xfrm>
          <a:prstGeom prst="rect">
            <a:avLst/>
          </a:prstGeom>
          <a:noFill/>
          <a:ln>
            <a:noFill/>
          </a:ln>
        </p:spPr>
      </p:pic>
      <p:pic>
        <p:nvPicPr>
          <p:cNvPr id="93" name="Google Shape;93;p13" descr="image.png"/>
          <p:cNvPicPr preferRelativeResize="0"/>
          <p:nvPr/>
        </p:nvPicPr>
        <p:blipFill rotWithShape="1">
          <a:blip r:embed="rId9">
            <a:alphaModFix/>
          </a:blip>
          <a:srcRect/>
          <a:stretch/>
        </p:blipFill>
        <p:spPr>
          <a:xfrm>
            <a:off x="1981200" y="4095750"/>
            <a:ext cx="1762125" cy="178444"/>
          </a:xfrm>
          <a:prstGeom prst="rect">
            <a:avLst/>
          </a:prstGeom>
          <a:noFill/>
          <a:ln>
            <a:noFill/>
          </a:ln>
        </p:spPr>
      </p:pic>
      <p:pic>
        <p:nvPicPr>
          <p:cNvPr id="94" name="Google Shape;94;p13" descr="image.png"/>
          <p:cNvPicPr preferRelativeResize="0"/>
          <p:nvPr/>
        </p:nvPicPr>
        <p:blipFill rotWithShape="1">
          <a:blip r:embed="rId10">
            <a:alphaModFix/>
          </a:blip>
          <a:srcRect/>
          <a:stretch/>
        </p:blipFill>
        <p:spPr>
          <a:xfrm>
            <a:off x="1981200" y="4674244"/>
            <a:ext cx="1762125" cy="178444"/>
          </a:xfrm>
          <a:prstGeom prst="rect">
            <a:avLst/>
          </a:prstGeom>
          <a:noFill/>
          <a:ln>
            <a:noFill/>
          </a:ln>
        </p:spPr>
      </p:pic>
      <p:pic>
        <p:nvPicPr>
          <p:cNvPr id="95" name="Google Shape;95;p13" descr="image.png"/>
          <p:cNvPicPr preferRelativeResize="0"/>
          <p:nvPr/>
        </p:nvPicPr>
        <p:blipFill rotWithShape="1">
          <a:blip r:embed="rId11">
            <a:alphaModFix/>
          </a:blip>
          <a:srcRect/>
          <a:stretch/>
        </p:blipFill>
        <p:spPr>
          <a:xfrm>
            <a:off x="1981200" y="5252739"/>
            <a:ext cx="3124200" cy="142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4" descr="image.png"/>
          <p:cNvPicPr preferRelativeResize="0"/>
          <p:nvPr/>
        </p:nvPicPr>
        <p:blipFill rotWithShape="1">
          <a:blip r:embed="rId3">
            <a:alphaModFix/>
          </a:blip>
          <a:srcRect/>
          <a:stretch/>
        </p:blipFill>
        <p:spPr>
          <a:xfrm>
            <a:off x="1123950" y="1575196"/>
            <a:ext cx="9944100" cy="5079206"/>
          </a:xfrm>
          <a:prstGeom prst="rect">
            <a:avLst/>
          </a:prstGeom>
          <a:noFill/>
          <a:ln>
            <a:noFill/>
          </a:ln>
        </p:spPr>
      </p:pic>
      <p:pic>
        <p:nvPicPr>
          <p:cNvPr id="101" name="Google Shape;101;p14" descr="image.png"/>
          <p:cNvPicPr preferRelativeResize="0"/>
          <p:nvPr/>
        </p:nvPicPr>
        <p:blipFill rotWithShape="1">
          <a:blip r:embed="rId4">
            <a:alphaModFix/>
          </a:blip>
          <a:srcRect/>
          <a:stretch/>
        </p:blipFill>
        <p:spPr>
          <a:xfrm>
            <a:off x="1466850" y="2337196"/>
            <a:ext cx="9258300" cy="704850"/>
          </a:xfrm>
          <a:prstGeom prst="rect">
            <a:avLst/>
          </a:prstGeom>
          <a:noFill/>
          <a:ln>
            <a:noFill/>
          </a:ln>
        </p:spPr>
      </p:pic>
      <p:pic>
        <p:nvPicPr>
          <p:cNvPr id="102" name="Google Shape;102;p14" descr="image.png"/>
          <p:cNvPicPr preferRelativeResize="0"/>
          <p:nvPr/>
        </p:nvPicPr>
        <p:blipFill rotWithShape="1">
          <a:blip r:embed="rId5">
            <a:alphaModFix/>
          </a:blip>
          <a:srcRect/>
          <a:stretch/>
        </p:blipFill>
        <p:spPr>
          <a:xfrm>
            <a:off x="1466850" y="3280171"/>
            <a:ext cx="4486275" cy="672107"/>
          </a:xfrm>
          <a:prstGeom prst="rect">
            <a:avLst/>
          </a:prstGeom>
          <a:noFill/>
          <a:ln>
            <a:noFill/>
          </a:ln>
        </p:spPr>
      </p:pic>
      <p:pic>
        <p:nvPicPr>
          <p:cNvPr id="103" name="Google Shape;103;p14" descr="image.png"/>
          <p:cNvPicPr preferRelativeResize="0"/>
          <p:nvPr/>
        </p:nvPicPr>
        <p:blipFill rotWithShape="1">
          <a:blip r:embed="rId5">
            <a:alphaModFix/>
          </a:blip>
          <a:srcRect/>
          <a:stretch/>
        </p:blipFill>
        <p:spPr>
          <a:xfrm>
            <a:off x="6238875" y="3280171"/>
            <a:ext cx="4486275" cy="672107"/>
          </a:xfrm>
          <a:prstGeom prst="rect">
            <a:avLst/>
          </a:prstGeom>
          <a:noFill/>
          <a:ln>
            <a:noFill/>
          </a:ln>
        </p:spPr>
      </p:pic>
      <p:pic>
        <p:nvPicPr>
          <p:cNvPr id="104" name="Google Shape;104;p14" descr="image.png"/>
          <p:cNvPicPr preferRelativeResize="0"/>
          <p:nvPr/>
        </p:nvPicPr>
        <p:blipFill rotWithShape="1">
          <a:blip r:embed="rId6">
            <a:alphaModFix/>
          </a:blip>
          <a:srcRect/>
          <a:stretch/>
        </p:blipFill>
        <p:spPr>
          <a:xfrm>
            <a:off x="1466850" y="4095154"/>
            <a:ext cx="4486275" cy="681632"/>
          </a:xfrm>
          <a:prstGeom prst="rect">
            <a:avLst/>
          </a:prstGeom>
          <a:noFill/>
          <a:ln>
            <a:noFill/>
          </a:ln>
        </p:spPr>
      </p:pic>
      <p:pic>
        <p:nvPicPr>
          <p:cNvPr id="105" name="Google Shape;105;p14" descr="image.png"/>
          <p:cNvPicPr preferRelativeResize="0"/>
          <p:nvPr/>
        </p:nvPicPr>
        <p:blipFill rotWithShape="1">
          <a:blip r:embed="rId6">
            <a:alphaModFix/>
          </a:blip>
          <a:srcRect/>
          <a:stretch/>
        </p:blipFill>
        <p:spPr>
          <a:xfrm>
            <a:off x="6238875" y="4095154"/>
            <a:ext cx="4486275" cy="681632"/>
          </a:xfrm>
          <a:prstGeom prst="rect">
            <a:avLst/>
          </a:prstGeom>
          <a:noFill/>
          <a:ln>
            <a:noFill/>
          </a:ln>
        </p:spPr>
      </p:pic>
      <p:pic>
        <p:nvPicPr>
          <p:cNvPr id="106" name="Google Shape;106;p14" descr="image.png"/>
          <p:cNvPicPr preferRelativeResize="0"/>
          <p:nvPr/>
        </p:nvPicPr>
        <p:blipFill rotWithShape="1">
          <a:blip r:embed="rId7">
            <a:alphaModFix/>
          </a:blip>
          <a:srcRect/>
          <a:stretch/>
        </p:blipFill>
        <p:spPr>
          <a:xfrm>
            <a:off x="1466850" y="4919662"/>
            <a:ext cx="4486275" cy="672107"/>
          </a:xfrm>
          <a:prstGeom prst="rect">
            <a:avLst/>
          </a:prstGeom>
          <a:noFill/>
          <a:ln>
            <a:noFill/>
          </a:ln>
        </p:spPr>
      </p:pic>
      <p:pic>
        <p:nvPicPr>
          <p:cNvPr id="107" name="Google Shape;107;p14" descr="image.png"/>
          <p:cNvPicPr preferRelativeResize="0"/>
          <p:nvPr/>
        </p:nvPicPr>
        <p:blipFill rotWithShape="1">
          <a:blip r:embed="rId7">
            <a:alphaModFix/>
          </a:blip>
          <a:srcRect/>
          <a:stretch/>
        </p:blipFill>
        <p:spPr>
          <a:xfrm>
            <a:off x="6238875" y="4919662"/>
            <a:ext cx="4486275" cy="672107"/>
          </a:xfrm>
          <a:prstGeom prst="rect">
            <a:avLst/>
          </a:prstGeom>
          <a:noFill/>
          <a:ln>
            <a:noFill/>
          </a:ln>
        </p:spPr>
      </p:pic>
      <p:pic>
        <p:nvPicPr>
          <p:cNvPr id="108" name="Google Shape;108;p14" descr="image.png"/>
          <p:cNvPicPr preferRelativeResize="0"/>
          <p:nvPr/>
        </p:nvPicPr>
        <p:blipFill rotWithShape="1">
          <a:blip r:embed="rId5">
            <a:alphaModFix/>
          </a:blip>
          <a:srcRect/>
          <a:stretch/>
        </p:blipFill>
        <p:spPr>
          <a:xfrm>
            <a:off x="1466850" y="5734645"/>
            <a:ext cx="4486275" cy="672107"/>
          </a:xfrm>
          <a:prstGeom prst="rect">
            <a:avLst/>
          </a:prstGeom>
          <a:noFill/>
          <a:ln>
            <a:noFill/>
          </a:ln>
        </p:spPr>
      </p:pic>
      <p:pic>
        <p:nvPicPr>
          <p:cNvPr id="109" name="Google Shape;109;p14" descr="image.png"/>
          <p:cNvPicPr preferRelativeResize="0"/>
          <p:nvPr/>
        </p:nvPicPr>
        <p:blipFill rotWithShape="1">
          <a:blip r:embed="rId5">
            <a:alphaModFix/>
          </a:blip>
          <a:srcRect/>
          <a:stretch/>
        </p:blipFill>
        <p:spPr>
          <a:xfrm>
            <a:off x="6238875" y="5734645"/>
            <a:ext cx="4486275" cy="672107"/>
          </a:xfrm>
          <a:prstGeom prst="rect">
            <a:avLst/>
          </a:prstGeom>
          <a:noFill/>
          <a:ln>
            <a:noFill/>
          </a:ln>
        </p:spPr>
      </p:pic>
      <p:sp>
        <p:nvSpPr>
          <p:cNvPr id="110" name="Google Shape;110;p14"/>
          <p:cNvSpPr txBox="1"/>
          <p:nvPr/>
        </p:nvSpPr>
        <p:spPr>
          <a:xfrm>
            <a:off x="295275" y="13096"/>
            <a:ext cx="11601450" cy="723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0F172A"/>
                </a:solidFill>
                <a:latin typeface="Poppins"/>
                <a:ea typeface="Poppins"/>
                <a:cs typeface="Poppins"/>
                <a:sym typeface="Poppins"/>
              </a:rPr>
              <a:t>Ejercicios Propuestos 4 a 11</a:t>
            </a:r>
            <a:endParaRPr/>
          </a:p>
        </p:txBody>
      </p:sp>
      <p:sp>
        <p:nvSpPr>
          <p:cNvPr id="111" name="Google Shape;111;p14"/>
          <p:cNvSpPr txBox="1"/>
          <p:nvPr/>
        </p:nvSpPr>
        <p:spPr>
          <a:xfrm>
            <a:off x="571500" y="1022746"/>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Para la Sucesión t</a:t>
            </a:r>
            <a:endParaRPr/>
          </a:p>
        </p:txBody>
      </p:sp>
      <p:sp>
        <p:nvSpPr>
          <p:cNvPr id="112" name="Google Shape;112;p14"/>
          <p:cNvSpPr txBox="1"/>
          <p:nvPr/>
        </p:nvSpPr>
        <p:spPr>
          <a:xfrm>
            <a:off x="1466850" y="1822846"/>
            <a:ext cx="9721215"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F172A"/>
                </a:solidFill>
                <a:latin typeface="Poppins SemiBold"/>
                <a:ea typeface="Poppins SemiBold"/>
                <a:cs typeface="Poppins SemiBold"/>
                <a:sym typeface="Poppins SemiBold"/>
              </a:rPr>
              <a:t>Se define la sucesión como:</a:t>
            </a:r>
            <a:endParaRPr/>
          </a:p>
        </p:txBody>
      </p:sp>
      <p:pic>
        <p:nvPicPr>
          <p:cNvPr id="113" name="Google Shape;113;p14" descr="image.png"/>
          <p:cNvPicPr preferRelativeResize="0"/>
          <p:nvPr/>
        </p:nvPicPr>
        <p:blipFill rotWithShape="1">
          <a:blip r:embed="rId8">
            <a:alphaModFix/>
          </a:blip>
          <a:srcRect/>
          <a:stretch/>
        </p:blipFill>
        <p:spPr>
          <a:xfrm>
            <a:off x="4171950" y="1918096"/>
            <a:ext cx="304800" cy="246161"/>
          </a:xfrm>
          <a:prstGeom prst="rect">
            <a:avLst/>
          </a:prstGeom>
          <a:noFill/>
          <a:ln>
            <a:noFill/>
          </a:ln>
        </p:spPr>
      </p:pic>
      <p:pic>
        <p:nvPicPr>
          <p:cNvPr id="114" name="Google Shape;114;p14" descr="image.png"/>
          <p:cNvPicPr preferRelativeResize="0"/>
          <p:nvPr/>
        </p:nvPicPr>
        <p:blipFill rotWithShape="1">
          <a:blip r:embed="rId9">
            <a:alphaModFix/>
          </a:blip>
          <a:srcRect/>
          <a:stretch/>
        </p:blipFill>
        <p:spPr>
          <a:xfrm>
            <a:off x="4617094" y="2603896"/>
            <a:ext cx="2957810" cy="231576"/>
          </a:xfrm>
          <a:prstGeom prst="rect">
            <a:avLst/>
          </a:prstGeom>
          <a:noFill/>
          <a:ln>
            <a:noFill/>
          </a:ln>
        </p:spPr>
      </p:pic>
      <p:pic>
        <p:nvPicPr>
          <p:cNvPr id="115" name="Google Shape;115;p14" descr="image.png"/>
          <p:cNvPicPr preferRelativeResize="0"/>
          <p:nvPr/>
        </p:nvPicPr>
        <p:blipFill rotWithShape="1">
          <a:blip r:embed="rId10">
            <a:alphaModFix/>
          </a:blip>
          <a:srcRect/>
          <a:stretch/>
        </p:blipFill>
        <p:spPr>
          <a:xfrm>
            <a:off x="1704975" y="3522166"/>
            <a:ext cx="1762125" cy="187969"/>
          </a:xfrm>
          <a:prstGeom prst="rect">
            <a:avLst/>
          </a:prstGeom>
          <a:noFill/>
          <a:ln>
            <a:noFill/>
          </a:ln>
        </p:spPr>
      </p:pic>
      <p:pic>
        <p:nvPicPr>
          <p:cNvPr id="116" name="Google Shape;116;p14" descr="image.png"/>
          <p:cNvPicPr preferRelativeResize="0"/>
          <p:nvPr/>
        </p:nvPicPr>
        <p:blipFill rotWithShape="1">
          <a:blip r:embed="rId11">
            <a:alphaModFix/>
          </a:blip>
          <a:srcRect/>
          <a:stretch/>
        </p:blipFill>
        <p:spPr>
          <a:xfrm>
            <a:off x="6477000" y="3423046"/>
            <a:ext cx="1945183" cy="386357"/>
          </a:xfrm>
          <a:prstGeom prst="rect">
            <a:avLst/>
          </a:prstGeom>
          <a:noFill/>
          <a:ln>
            <a:noFill/>
          </a:ln>
        </p:spPr>
      </p:pic>
      <p:pic>
        <p:nvPicPr>
          <p:cNvPr id="117" name="Google Shape;117;p14" descr="image.png"/>
          <p:cNvPicPr preferRelativeResize="0"/>
          <p:nvPr/>
        </p:nvPicPr>
        <p:blipFill rotWithShape="1">
          <a:blip r:embed="rId12">
            <a:alphaModFix/>
          </a:blip>
          <a:srcRect/>
          <a:stretch/>
        </p:blipFill>
        <p:spPr>
          <a:xfrm>
            <a:off x="1704975" y="4341911"/>
            <a:ext cx="1762125" cy="187969"/>
          </a:xfrm>
          <a:prstGeom prst="rect">
            <a:avLst/>
          </a:prstGeom>
          <a:noFill/>
          <a:ln>
            <a:noFill/>
          </a:ln>
        </p:spPr>
      </p:pic>
      <p:pic>
        <p:nvPicPr>
          <p:cNvPr id="118" name="Google Shape;118;p14" descr="image.png"/>
          <p:cNvPicPr preferRelativeResize="0"/>
          <p:nvPr/>
        </p:nvPicPr>
        <p:blipFill rotWithShape="1">
          <a:blip r:embed="rId13">
            <a:alphaModFix/>
          </a:blip>
          <a:srcRect/>
          <a:stretch/>
        </p:blipFill>
        <p:spPr>
          <a:xfrm>
            <a:off x="6477000" y="4238029"/>
            <a:ext cx="1945183" cy="395882"/>
          </a:xfrm>
          <a:prstGeom prst="rect">
            <a:avLst/>
          </a:prstGeom>
          <a:noFill/>
          <a:ln>
            <a:noFill/>
          </a:ln>
        </p:spPr>
      </p:pic>
      <p:pic>
        <p:nvPicPr>
          <p:cNvPr id="119" name="Google Shape;119;p14" descr="image.png"/>
          <p:cNvPicPr preferRelativeResize="0"/>
          <p:nvPr/>
        </p:nvPicPr>
        <p:blipFill rotWithShape="1">
          <a:blip r:embed="rId14">
            <a:alphaModFix/>
          </a:blip>
          <a:srcRect/>
          <a:stretch/>
        </p:blipFill>
        <p:spPr>
          <a:xfrm>
            <a:off x="1704975" y="5161657"/>
            <a:ext cx="1914525" cy="187969"/>
          </a:xfrm>
          <a:prstGeom prst="rect">
            <a:avLst/>
          </a:prstGeom>
          <a:noFill/>
          <a:ln>
            <a:noFill/>
          </a:ln>
        </p:spPr>
      </p:pic>
      <p:pic>
        <p:nvPicPr>
          <p:cNvPr id="120" name="Google Shape;120;p14" descr="image.png"/>
          <p:cNvPicPr preferRelativeResize="0"/>
          <p:nvPr/>
        </p:nvPicPr>
        <p:blipFill rotWithShape="1">
          <a:blip r:embed="rId15">
            <a:alphaModFix/>
          </a:blip>
          <a:srcRect/>
          <a:stretch/>
        </p:blipFill>
        <p:spPr>
          <a:xfrm>
            <a:off x="6477000" y="5062537"/>
            <a:ext cx="2049958" cy="386357"/>
          </a:xfrm>
          <a:prstGeom prst="rect">
            <a:avLst/>
          </a:prstGeom>
          <a:noFill/>
          <a:ln>
            <a:noFill/>
          </a:ln>
        </p:spPr>
      </p:pic>
      <p:pic>
        <p:nvPicPr>
          <p:cNvPr id="121" name="Google Shape;121;p14" descr="image.png"/>
          <p:cNvPicPr preferRelativeResize="0"/>
          <p:nvPr/>
        </p:nvPicPr>
        <p:blipFill rotWithShape="1">
          <a:blip r:embed="rId16">
            <a:alphaModFix/>
          </a:blip>
          <a:srcRect/>
          <a:stretch/>
        </p:blipFill>
        <p:spPr>
          <a:xfrm>
            <a:off x="1704975" y="5976639"/>
            <a:ext cx="1990725" cy="187969"/>
          </a:xfrm>
          <a:prstGeom prst="rect">
            <a:avLst/>
          </a:prstGeom>
          <a:noFill/>
          <a:ln>
            <a:noFill/>
          </a:ln>
        </p:spPr>
      </p:pic>
      <p:pic>
        <p:nvPicPr>
          <p:cNvPr id="122" name="Google Shape;122;p14" descr="image.png"/>
          <p:cNvPicPr preferRelativeResize="0"/>
          <p:nvPr/>
        </p:nvPicPr>
        <p:blipFill rotWithShape="1">
          <a:blip r:embed="rId17">
            <a:alphaModFix/>
          </a:blip>
          <a:srcRect/>
          <a:stretch/>
        </p:blipFill>
        <p:spPr>
          <a:xfrm>
            <a:off x="6477000" y="5877520"/>
            <a:ext cx="2049958" cy="38635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pic>
        <p:nvPicPr>
          <p:cNvPr id="127" name="Google Shape;127;p15" descr="image.png"/>
          <p:cNvPicPr preferRelativeResize="0"/>
          <p:nvPr/>
        </p:nvPicPr>
        <p:blipFill rotWithShape="1">
          <a:blip r:embed="rId3">
            <a:alphaModFix/>
          </a:blip>
          <a:srcRect/>
          <a:stretch/>
        </p:blipFill>
        <p:spPr>
          <a:xfrm>
            <a:off x="1400175" y="2038350"/>
            <a:ext cx="9391650" cy="4048125"/>
          </a:xfrm>
          <a:prstGeom prst="rect">
            <a:avLst/>
          </a:prstGeom>
          <a:noFill/>
          <a:ln>
            <a:noFill/>
          </a:ln>
        </p:spPr>
      </p:pic>
      <p:pic>
        <p:nvPicPr>
          <p:cNvPr id="128" name="Google Shape;128;p15" descr="image.png"/>
          <p:cNvPicPr preferRelativeResize="0"/>
          <p:nvPr/>
        </p:nvPicPr>
        <p:blipFill rotWithShape="1">
          <a:blip r:embed="rId4">
            <a:alphaModFix/>
          </a:blip>
          <a:srcRect/>
          <a:stretch/>
        </p:blipFill>
        <p:spPr>
          <a:xfrm>
            <a:off x="1743075" y="2990850"/>
            <a:ext cx="8705850" cy="466725"/>
          </a:xfrm>
          <a:prstGeom prst="rect">
            <a:avLst/>
          </a:prstGeom>
          <a:noFill/>
          <a:ln>
            <a:noFill/>
          </a:ln>
        </p:spPr>
      </p:pic>
      <p:pic>
        <p:nvPicPr>
          <p:cNvPr id="129" name="Google Shape;129;p15" descr="image.png"/>
          <p:cNvPicPr preferRelativeResize="0"/>
          <p:nvPr/>
        </p:nvPicPr>
        <p:blipFill rotWithShape="1">
          <a:blip r:embed="rId5">
            <a:alphaModFix/>
          </a:blip>
          <a:srcRect/>
          <a:stretch/>
        </p:blipFill>
        <p:spPr>
          <a:xfrm>
            <a:off x="1743075" y="3571875"/>
            <a:ext cx="8705850" cy="457200"/>
          </a:xfrm>
          <a:prstGeom prst="rect">
            <a:avLst/>
          </a:prstGeom>
          <a:noFill/>
          <a:ln>
            <a:noFill/>
          </a:ln>
        </p:spPr>
      </p:pic>
      <p:pic>
        <p:nvPicPr>
          <p:cNvPr id="130" name="Google Shape;130;p15" descr="image.png"/>
          <p:cNvPicPr preferRelativeResize="0"/>
          <p:nvPr/>
        </p:nvPicPr>
        <p:blipFill rotWithShape="1">
          <a:blip r:embed="rId5">
            <a:alphaModFix/>
          </a:blip>
          <a:srcRect/>
          <a:stretch/>
        </p:blipFill>
        <p:spPr>
          <a:xfrm>
            <a:off x="1743075" y="4143375"/>
            <a:ext cx="8705850" cy="457200"/>
          </a:xfrm>
          <a:prstGeom prst="rect">
            <a:avLst/>
          </a:prstGeom>
          <a:noFill/>
          <a:ln>
            <a:noFill/>
          </a:ln>
        </p:spPr>
      </p:pic>
      <p:pic>
        <p:nvPicPr>
          <p:cNvPr id="131" name="Google Shape;131;p15" descr="image.png"/>
          <p:cNvPicPr preferRelativeResize="0"/>
          <p:nvPr/>
        </p:nvPicPr>
        <p:blipFill rotWithShape="1">
          <a:blip r:embed="rId5">
            <a:alphaModFix/>
          </a:blip>
          <a:srcRect/>
          <a:stretch/>
        </p:blipFill>
        <p:spPr>
          <a:xfrm>
            <a:off x="1743075" y="4714875"/>
            <a:ext cx="8705850" cy="457200"/>
          </a:xfrm>
          <a:prstGeom prst="rect">
            <a:avLst/>
          </a:prstGeom>
          <a:noFill/>
          <a:ln>
            <a:noFill/>
          </a:ln>
        </p:spPr>
      </p:pic>
      <p:pic>
        <p:nvPicPr>
          <p:cNvPr id="132" name="Google Shape;132;p15" descr="image.png"/>
          <p:cNvPicPr preferRelativeResize="0"/>
          <p:nvPr/>
        </p:nvPicPr>
        <p:blipFill rotWithShape="1">
          <a:blip r:embed="rId5">
            <a:alphaModFix/>
          </a:blip>
          <a:srcRect/>
          <a:stretch/>
        </p:blipFill>
        <p:spPr>
          <a:xfrm>
            <a:off x="1743075" y="5286375"/>
            <a:ext cx="8705850" cy="457200"/>
          </a:xfrm>
          <a:prstGeom prst="rect">
            <a:avLst/>
          </a:prstGeom>
          <a:noFill/>
          <a:ln>
            <a:noFill/>
          </a:ln>
        </p:spPr>
      </p:pic>
      <p:sp>
        <p:nvSpPr>
          <p:cNvPr id="133" name="Google Shape;133;p15"/>
          <p:cNvSpPr txBox="1"/>
          <p:nvPr/>
        </p:nvSpPr>
        <p:spPr>
          <a:xfrm>
            <a:off x="295275" y="476250"/>
            <a:ext cx="11601450" cy="723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0F172A"/>
                </a:solidFill>
                <a:latin typeface="Poppins"/>
                <a:ea typeface="Poppins"/>
                <a:cs typeface="Poppins"/>
                <a:sym typeface="Poppins"/>
              </a:rPr>
              <a:t>Ejercicios Propuestos 12 a 16</a:t>
            </a:r>
            <a:endParaRPr/>
          </a:p>
        </p:txBody>
      </p:sp>
      <p:sp>
        <p:nvSpPr>
          <p:cNvPr id="134" name="Google Shape;134;p15"/>
          <p:cNvSpPr txBox="1"/>
          <p:nvPr/>
        </p:nvSpPr>
        <p:spPr>
          <a:xfrm>
            <a:off x="571500" y="1485900"/>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Para la Sucesión t</a:t>
            </a:r>
            <a:endParaRPr/>
          </a:p>
        </p:txBody>
      </p:sp>
      <p:sp>
        <p:nvSpPr>
          <p:cNvPr id="135" name="Google Shape;135;p15"/>
          <p:cNvSpPr txBox="1"/>
          <p:nvPr/>
        </p:nvSpPr>
        <p:spPr>
          <a:xfrm>
            <a:off x="1743075" y="2381250"/>
            <a:ext cx="9141142" cy="3714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50" b="0" i="0" u="none" strike="noStrike" cap="none">
                <a:solidFill>
                  <a:srgbClr val="0F172A"/>
                </a:solidFill>
                <a:latin typeface="Poppins SemiBold"/>
                <a:ea typeface="Poppins SemiBold"/>
                <a:cs typeface="Poppins SemiBold"/>
                <a:sym typeface="Poppins SemiBold"/>
              </a:rPr>
              <a:t>Dada la sucesión :</a:t>
            </a:r>
            <a:endParaRPr/>
          </a:p>
        </p:txBody>
      </p:sp>
      <p:pic>
        <p:nvPicPr>
          <p:cNvPr id="136" name="Google Shape;136;p15" descr="image.png"/>
          <p:cNvPicPr preferRelativeResize="0"/>
          <p:nvPr/>
        </p:nvPicPr>
        <p:blipFill rotWithShape="1">
          <a:blip r:embed="rId6">
            <a:alphaModFix/>
          </a:blip>
          <a:srcRect/>
          <a:stretch/>
        </p:blipFill>
        <p:spPr>
          <a:xfrm>
            <a:off x="4038600" y="2439144"/>
            <a:ext cx="1341834" cy="255686"/>
          </a:xfrm>
          <a:prstGeom prst="rect">
            <a:avLst/>
          </a:prstGeom>
          <a:noFill/>
          <a:ln>
            <a:noFill/>
          </a:ln>
        </p:spPr>
      </p:pic>
      <p:pic>
        <p:nvPicPr>
          <p:cNvPr id="137" name="Google Shape;137;p15" descr="image.png"/>
          <p:cNvPicPr preferRelativeResize="0"/>
          <p:nvPr/>
        </p:nvPicPr>
        <p:blipFill rotWithShape="1">
          <a:blip r:embed="rId7">
            <a:alphaModFix/>
          </a:blip>
          <a:srcRect/>
          <a:stretch/>
        </p:blipFill>
        <p:spPr>
          <a:xfrm>
            <a:off x="1981200" y="3133725"/>
            <a:ext cx="8229600" cy="180975"/>
          </a:xfrm>
          <a:prstGeom prst="rect">
            <a:avLst/>
          </a:prstGeom>
          <a:noFill/>
          <a:ln>
            <a:noFill/>
          </a:ln>
        </p:spPr>
      </p:pic>
      <p:pic>
        <p:nvPicPr>
          <p:cNvPr id="138" name="Google Shape;138;p15" descr="image.png"/>
          <p:cNvPicPr preferRelativeResize="0"/>
          <p:nvPr/>
        </p:nvPicPr>
        <p:blipFill rotWithShape="1">
          <a:blip r:embed="rId8">
            <a:alphaModFix/>
          </a:blip>
          <a:srcRect/>
          <a:stretch/>
        </p:blipFill>
        <p:spPr>
          <a:xfrm>
            <a:off x="1981200" y="3714750"/>
            <a:ext cx="2286000" cy="171450"/>
          </a:xfrm>
          <a:prstGeom prst="rect">
            <a:avLst/>
          </a:prstGeom>
          <a:noFill/>
          <a:ln>
            <a:noFill/>
          </a:ln>
        </p:spPr>
      </p:pic>
      <p:pic>
        <p:nvPicPr>
          <p:cNvPr id="139" name="Google Shape;139;p15" descr="image.png"/>
          <p:cNvPicPr preferRelativeResize="0"/>
          <p:nvPr/>
        </p:nvPicPr>
        <p:blipFill rotWithShape="1">
          <a:blip r:embed="rId9">
            <a:alphaModFix/>
          </a:blip>
          <a:srcRect/>
          <a:stretch/>
        </p:blipFill>
        <p:spPr>
          <a:xfrm>
            <a:off x="1981200" y="4286250"/>
            <a:ext cx="2495550" cy="171450"/>
          </a:xfrm>
          <a:prstGeom prst="rect">
            <a:avLst/>
          </a:prstGeom>
          <a:noFill/>
          <a:ln>
            <a:noFill/>
          </a:ln>
        </p:spPr>
      </p:pic>
      <p:pic>
        <p:nvPicPr>
          <p:cNvPr id="140" name="Google Shape;140;p15" descr="image.png"/>
          <p:cNvPicPr preferRelativeResize="0"/>
          <p:nvPr/>
        </p:nvPicPr>
        <p:blipFill rotWithShape="1">
          <a:blip r:embed="rId10">
            <a:alphaModFix/>
          </a:blip>
          <a:srcRect/>
          <a:stretch/>
        </p:blipFill>
        <p:spPr>
          <a:xfrm>
            <a:off x="1981200" y="4857750"/>
            <a:ext cx="2600325" cy="171450"/>
          </a:xfrm>
          <a:prstGeom prst="rect">
            <a:avLst/>
          </a:prstGeom>
          <a:noFill/>
          <a:ln>
            <a:noFill/>
          </a:ln>
        </p:spPr>
      </p:pic>
      <p:pic>
        <p:nvPicPr>
          <p:cNvPr id="141" name="Google Shape;141;p15" descr="image.png"/>
          <p:cNvPicPr preferRelativeResize="0"/>
          <p:nvPr/>
        </p:nvPicPr>
        <p:blipFill rotWithShape="1">
          <a:blip r:embed="rId11">
            <a:alphaModFix/>
          </a:blip>
          <a:srcRect/>
          <a:stretch/>
        </p:blipFill>
        <p:spPr>
          <a:xfrm>
            <a:off x="1981200" y="5429250"/>
            <a:ext cx="2809875" cy="171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16" descr="image.png"/>
          <p:cNvPicPr preferRelativeResize="0"/>
          <p:nvPr/>
        </p:nvPicPr>
        <p:blipFill rotWithShape="1">
          <a:blip r:embed="rId3">
            <a:alphaModFix/>
          </a:blip>
          <a:srcRect/>
          <a:stretch/>
        </p:blipFill>
        <p:spPr>
          <a:xfrm>
            <a:off x="1400175" y="2038350"/>
            <a:ext cx="9391650" cy="4074914"/>
          </a:xfrm>
          <a:prstGeom prst="rect">
            <a:avLst/>
          </a:prstGeom>
          <a:noFill/>
          <a:ln>
            <a:noFill/>
          </a:ln>
        </p:spPr>
      </p:pic>
      <p:pic>
        <p:nvPicPr>
          <p:cNvPr id="147" name="Google Shape;147;p16" descr="image.png"/>
          <p:cNvPicPr preferRelativeResize="0"/>
          <p:nvPr/>
        </p:nvPicPr>
        <p:blipFill rotWithShape="1">
          <a:blip r:embed="rId4">
            <a:alphaModFix/>
          </a:blip>
          <a:srcRect/>
          <a:stretch/>
        </p:blipFill>
        <p:spPr>
          <a:xfrm>
            <a:off x="1743075" y="2943225"/>
            <a:ext cx="8705850" cy="825698"/>
          </a:xfrm>
          <a:prstGeom prst="rect">
            <a:avLst/>
          </a:prstGeom>
          <a:noFill/>
          <a:ln>
            <a:noFill/>
          </a:ln>
        </p:spPr>
      </p:pic>
      <p:pic>
        <p:nvPicPr>
          <p:cNvPr id="148" name="Google Shape;148;p16" descr="image.png"/>
          <p:cNvPicPr preferRelativeResize="0"/>
          <p:nvPr/>
        </p:nvPicPr>
        <p:blipFill rotWithShape="1">
          <a:blip r:embed="rId5">
            <a:alphaModFix/>
          </a:blip>
          <a:srcRect/>
          <a:stretch/>
        </p:blipFill>
        <p:spPr>
          <a:xfrm>
            <a:off x="1743075" y="4054673"/>
            <a:ext cx="4210050" cy="757832"/>
          </a:xfrm>
          <a:prstGeom prst="rect">
            <a:avLst/>
          </a:prstGeom>
          <a:noFill/>
          <a:ln>
            <a:noFill/>
          </a:ln>
        </p:spPr>
      </p:pic>
      <p:pic>
        <p:nvPicPr>
          <p:cNvPr id="149" name="Google Shape;149;p16" descr="image.png"/>
          <p:cNvPicPr preferRelativeResize="0"/>
          <p:nvPr/>
        </p:nvPicPr>
        <p:blipFill rotWithShape="1">
          <a:blip r:embed="rId5">
            <a:alphaModFix/>
          </a:blip>
          <a:srcRect/>
          <a:stretch/>
        </p:blipFill>
        <p:spPr>
          <a:xfrm>
            <a:off x="6238875" y="4054673"/>
            <a:ext cx="4210050" cy="757832"/>
          </a:xfrm>
          <a:prstGeom prst="rect">
            <a:avLst/>
          </a:prstGeom>
          <a:noFill/>
          <a:ln>
            <a:noFill/>
          </a:ln>
        </p:spPr>
      </p:pic>
      <p:pic>
        <p:nvPicPr>
          <p:cNvPr id="150" name="Google Shape;150;p16" descr="image.png"/>
          <p:cNvPicPr preferRelativeResize="0"/>
          <p:nvPr/>
        </p:nvPicPr>
        <p:blipFill rotWithShape="1">
          <a:blip r:embed="rId6">
            <a:alphaModFix/>
          </a:blip>
          <a:srcRect/>
          <a:stretch/>
        </p:blipFill>
        <p:spPr>
          <a:xfrm>
            <a:off x="1743075" y="5003006"/>
            <a:ext cx="4210050" cy="767357"/>
          </a:xfrm>
          <a:prstGeom prst="rect">
            <a:avLst/>
          </a:prstGeom>
          <a:noFill/>
          <a:ln>
            <a:noFill/>
          </a:ln>
        </p:spPr>
      </p:pic>
      <p:pic>
        <p:nvPicPr>
          <p:cNvPr id="151" name="Google Shape;151;p16" descr="image.png"/>
          <p:cNvPicPr preferRelativeResize="0"/>
          <p:nvPr/>
        </p:nvPicPr>
        <p:blipFill rotWithShape="1">
          <a:blip r:embed="rId6">
            <a:alphaModFix/>
          </a:blip>
          <a:srcRect/>
          <a:stretch/>
        </p:blipFill>
        <p:spPr>
          <a:xfrm>
            <a:off x="6238875" y="5003006"/>
            <a:ext cx="4210050" cy="767357"/>
          </a:xfrm>
          <a:prstGeom prst="rect">
            <a:avLst/>
          </a:prstGeom>
          <a:noFill/>
          <a:ln>
            <a:noFill/>
          </a:ln>
        </p:spPr>
      </p:pic>
      <p:sp>
        <p:nvSpPr>
          <p:cNvPr id="152" name="Google Shape;152;p16"/>
          <p:cNvSpPr txBox="1"/>
          <p:nvPr/>
        </p:nvSpPr>
        <p:spPr>
          <a:xfrm>
            <a:off x="295275" y="476250"/>
            <a:ext cx="11601450" cy="723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0F172A"/>
                </a:solidFill>
                <a:latin typeface="Poppins"/>
                <a:ea typeface="Poppins"/>
                <a:cs typeface="Poppins"/>
                <a:sym typeface="Poppins"/>
              </a:rPr>
              <a:t>Ejercicios Propuestos 17 a 20</a:t>
            </a:r>
            <a:endParaRPr/>
          </a:p>
        </p:txBody>
      </p:sp>
      <p:sp>
        <p:nvSpPr>
          <p:cNvPr id="153" name="Google Shape;153;p16"/>
          <p:cNvSpPr txBox="1"/>
          <p:nvPr/>
        </p:nvSpPr>
        <p:spPr>
          <a:xfrm>
            <a:off x="571500" y="1485900"/>
            <a:ext cx="11049000" cy="2541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Para la Sucesión </a:t>
            </a:r>
            <a:endParaRPr/>
          </a:p>
        </p:txBody>
      </p:sp>
      <p:sp>
        <p:nvSpPr>
          <p:cNvPr id="154" name="Google Shape;154;p16"/>
          <p:cNvSpPr txBox="1"/>
          <p:nvPr/>
        </p:nvSpPr>
        <p:spPr>
          <a:xfrm>
            <a:off x="1743075" y="2381250"/>
            <a:ext cx="9141142"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F172A"/>
                </a:solidFill>
                <a:latin typeface="Poppins SemiBold"/>
                <a:ea typeface="Poppins SemiBold"/>
                <a:cs typeface="Poppins SemiBold"/>
                <a:sym typeface="Poppins SemiBold"/>
              </a:rPr>
              <a:t>Se define la sucesión como:</a:t>
            </a:r>
            <a:endParaRPr/>
          </a:p>
        </p:txBody>
      </p:sp>
      <p:pic>
        <p:nvPicPr>
          <p:cNvPr id="155" name="Google Shape;155;p16" descr="image.png"/>
          <p:cNvPicPr preferRelativeResize="0"/>
          <p:nvPr/>
        </p:nvPicPr>
        <p:blipFill rotWithShape="1">
          <a:blip r:embed="rId7">
            <a:alphaModFix/>
          </a:blip>
          <a:srcRect/>
          <a:stretch/>
        </p:blipFill>
        <p:spPr>
          <a:xfrm>
            <a:off x="4429869" y="3190875"/>
            <a:ext cx="3332112" cy="319385"/>
          </a:xfrm>
          <a:prstGeom prst="rect">
            <a:avLst/>
          </a:prstGeom>
          <a:noFill/>
          <a:ln>
            <a:noFill/>
          </a:ln>
        </p:spPr>
      </p:pic>
      <p:pic>
        <p:nvPicPr>
          <p:cNvPr id="156" name="Google Shape;156;p16" descr="image.png"/>
          <p:cNvPicPr preferRelativeResize="0"/>
          <p:nvPr/>
        </p:nvPicPr>
        <p:blipFill rotWithShape="1">
          <a:blip r:embed="rId8">
            <a:alphaModFix/>
          </a:blip>
          <a:srcRect/>
          <a:stretch/>
        </p:blipFill>
        <p:spPr>
          <a:xfrm>
            <a:off x="1981200" y="4344292"/>
            <a:ext cx="1866900" cy="178444"/>
          </a:xfrm>
          <a:prstGeom prst="rect">
            <a:avLst/>
          </a:prstGeom>
          <a:noFill/>
          <a:ln>
            <a:noFill/>
          </a:ln>
        </p:spPr>
      </p:pic>
      <p:pic>
        <p:nvPicPr>
          <p:cNvPr id="157" name="Google Shape;157;p16" descr="image.png"/>
          <p:cNvPicPr preferRelativeResize="0"/>
          <p:nvPr/>
        </p:nvPicPr>
        <p:blipFill rotWithShape="1">
          <a:blip r:embed="rId9">
            <a:alphaModFix/>
          </a:blip>
          <a:srcRect/>
          <a:stretch/>
        </p:blipFill>
        <p:spPr>
          <a:xfrm>
            <a:off x="6477000" y="4245173"/>
            <a:ext cx="2049958" cy="376832"/>
          </a:xfrm>
          <a:prstGeom prst="rect">
            <a:avLst/>
          </a:prstGeom>
          <a:noFill/>
          <a:ln>
            <a:noFill/>
          </a:ln>
        </p:spPr>
      </p:pic>
      <p:pic>
        <p:nvPicPr>
          <p:cNvPr id="158" name="Google Shape;158;p16" descr="image.png"/>
          <p:cNvPicPr preferRelativeResize="0"/>
          <p:nvPr/>
        </p:nvPicPr>
        <p:blipFill rotWithShape="1">
          <a:blip r:embed="rId10">
            <a:alphaModFix/>
          </a:blip>
          <a:srcRect/>
          <a:stretch/>
        </p:blipFill>
        <p:spPr>
          <a:xfrm>
            <a:off x="1981200" y="5302150"/>
            <a:ext cx="1866900" cy="168919"/>
          </a:xfrm>
          <a:prstGeom prst="rect">
            <a:avLst/>
          </a:prstGeom>
          <a:noFill/>
          <a:ln>
            <a:noFill/>
          </a:ln>
        </p:spPr>
      </p:pic>
      <p:pic>
        <p:nvPicPr>
          <p:cNvPr id="159" name="Google Shape;159;p16" descr="image.png"/>
          <p:cNvPicPr preferRelativeResize="0"/>
          <p:nvPr/>
        </p:nvPicPr>
        <p:blipFill rotWithShape="1">
          <a:blip r:embed="rId11">
            <a:alphaModFix/>
          </a:blip>
          <a:srcRect/>
          <a:stretch/>
        </p:blipFill>
        <p:spPr>
          <a:xfrm>
            <a:off x="6477000" y="5193506"/>
            <a:ext cx="2049958" cy="38635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17" descr="image.png"/>
          <p:cNvPicPr preferRelativeResize="0"/>
          <p:nvPr/>
        </p:nvPicPr>
        <p:blipFill rotWithShape="1">
          <a:blip r:embed="rId3">
            <a:alphaModFix/>
          </a:blip>
          <a:srcRect/>
          <a:stretch/>
        </p:blipFill>
        <p:spPr>
          <a:xfrm>
            <a:off x="1400175" y="1069478"/>
            <a:ext cx="9391650" cy="2887860"/>
          </a:xfrm>
          <a:prstGeom prst="rect">
            <a:avLst/>
          </a:prstGeom>
          <a:noFill/>
          <a:ln>
            <a:noFill/>
          </a:ln>
        </p:spPr>
      </p:pic>
      <p:pic>
        <p:nvPicPr>
          <p:cNvPr id="165" name="Google Shape;165;p17" descr="image.png"/>
          <p:cNvPicPr preferRelativeResize="0"/>
          <p:nvPr/>
        </p:nvPicPr>
        <p:blipFill rotWithShape="1">
          <a:blip r:embed="rId4">
            <a:alphaModFix/>
          </a:blip>
          <a:srcRect/>
          <a:stretch/>
        </p:blipFill>
        <p:spPr>
          <a:xfrm>
            <a:off x="1400175" y="4147839"/>
            <a:ext cx="9391650" cy="2555081"/>
          </a:xfrm>
          <a:prstGeom prst="rect">
            <a:avLst/>
          </a:prstGeom>
          <a:noFill/>
          <a:ln>
            <a:noFill/>
          </a:ln>
        </p:spPr>
      </p:pic>
      <p:pic>
        <p:nvPicPr>
          <p:cNvPr id="166" name="Google Shape;166;p17" descr="image.png"/>
          <p:cNvPicPr preferRelativeResize="0"/>
          <p:nvPr/>
        </p:nvPicPr>
        <p:blipFill rotWithShape="1">
          <a:blip r:embed="rId5">
            <a:alphaModFix/>
          </a:blip>
          <a:srcRect/>
          <a:stretch/>
        </p:blipFill>
        <p:spPr>
          <a:xfrm>
            <a:off x="1743075" y="2050553"/>
            <a:ext cx="8705850" cy="554831"/>
          </a:xfrm>
          <a:prstGeom prst="rect">
            <a:avLst/>
          </a:prstGeom>
          <a:noFill/>
          <a:ln>
            <a:noFill/>
          </a:ln>
        </p:spPr>
      </p:pic>
      <p:pic>
        <p:nvPicPr>
          <p:cNvPr id="167" name="Google Shape;167;p17" descr="image.png"/>
          <p:cNvPicPr preferRelativeResize="0"/>
          <p:nvPr/>
        </p:nvPicPr>
        <p:blipFill rotWithShape="1">
          <a:blip r:embed="rId6">
            <a:alphaModFix/>
          </a:blip>
          <a:srcRect/>
          <a:stretch/>
        </p:blipFill>
        <p:spPr>
          <a:xfrm>
            <a:off x="1743075" y="3074044"/>
            <a:ext cx="8705850" cy="635644"/>
          </a:xfrm>
          <a:prstGeom prst="rect">
            <a:avLst/>
          </a:prstGeom>
          <a:noFill/>
          <a:ln>
            <a:noFill/>
          </a:ln>
        </p:spPr>
      </p:pic>
      <p:pic>
        <p:nvPicPr>
          <p:cNvPr id="168" name="Google Shape;168;p17" descr="image.png"/>
          <p:cNvPicPr preferRelativeResize="0"/>
          <p:nvPr/>
        </p:nvPicPr>
        <p:blipFill rotWithShape="1">
          <a:blip r:embed="rId7">
            <a:alphaModFix/>
          </a:blip>
          <a:srcRect/>
          <a:stretch/>
        </p:blipFill>
        <p:spPr>
          <a:xfrm>
            <a:off x="1743075" y="5128914"/>
            <a:ext cx="8705850" cy="554831"/>
          </a:xfrm>
          <a:prstGeom prst="rect">
            <a:avLst/>
          </a:prstGeom>
          <a:noFill/>
          <a:ln>
            <a:noFill/>
          </a:ln>
        </p:spPr>
      </p:pic>
      <p:pic>
        <p:nvPicPr>
          <p:cNvPr id="169" name="Google Shape;169;p17" descr="image.png"/>
          <p:cNvPicPr preferRelativeResize="0"/>
          <p:nvPr/>
        </p:nvPicPr>
        <p:blipFill rotWithShape="1">
          <a:blip r:embed="rId8">
            <a:alphaModFix/>
          </a:blip>
          <a:srcRect/>
          <a:stretch/>
        </p:blipFill>
        <p:spPr>
          <a:xfrm>
            <a:off x="1743075" y="5826621"/>
            <a:ext cx="8705850" cy="628650"/>
          </a:xfrm>
          <a:prstGeom prst="rect">
            <a:avLst/>
          </a:prstGeom>
          <a:noFill/>
          <a:ln>
            <a:noFill/>
          </a:ln>
        </p:spPr>
      </p:pic>
      <p:sp>
        <p:nvSpPr>
          <p:cNvPr id="170" name="Google Shape;170;p17"/>
          <p:cNvSpPr txBox="1"/>
          <p:nvPr/>
        </p:nvSpPr>
        <p:spPr>
          <a:xfrm>
            <a:off x="295275" y="155078"/>
            <a:ext cx="11601450" cy="723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0F172A"/>
                </a:solidFill>
                <a:latin typeface="Poppins"/>
                <a:ea typeface="Poppins"/>
                <a:cs typeface="Poppins"/>
                <a:sym typeface="Poppins"/>
              </a:rPr>
              <a:t>Ejercicios Propuestos</a:t>
            </a:r>
            <a:endParaRPr/>
          </a:p>
        </p:txBody>
      </p:sp>
      <p:sp>
        <p:nvSpPr>
          <p:cNvPr id="171" name="Google Shape;171;p17"/>
          <p:cNvSpPr txBox="1"/>
          <p:nvPr/>
        </p:nvSpPr>
        <p:spPr>
          <a:xfrm>
            <a:off x="1743075" y="1317128"/>
            <a:ext cx="914114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1E293B"/>
                </a:solidFill>
                <a:latin typeface="Poppins SemiBold"/>
                <a:ea typeface="Poppins SemiBold"/>
                <a:cs typeface="Poppins SemiBold"/>
                <a:sym typeface="Poppins SemiBold"/>
              </a:rPr>
              <a:t>Ejercicio 1: Sucesión por Recurrencia</a:t>
            </a:r>
            <a:endParaRPr/>
          </a:p>
        </p:txBody>
      </p:sp>
      <p:sp>
        <p:nvSpPr>
          <p:cNvPr id="172" name="Google Shape;172;p17"/>
          <p:cNvSpPr txBox="1"/>
          <p:nvPr/>
        </p:nvSpPr>
        <p:spPr>
          <a:xfrm>
            <a:off x="1743075" y="1726703"/>
            <a:ext cx="870585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Una sucesión se define por la siguiente ecuación de recurrencia:</a:t>
            </a:r>
            <a:endParaRPr/>
          </a:p>
        </p:txBody>
      </p:sp>
      <p:sp>
        <p:nvSpPr>
          <p:cNvPr id="173" name="Google Shape;173;p17"/>
          <p:cNvSpPr txBox="1"/>
          <p:nvPr/>
        </p:nvSpPr>
        <p:spPr>
          <a:xfrm>
            <a:off x="1743075" y="2700635"/>
            <a:ext cx="8705850" cy="23053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Con las condiciones iniciales: y .</a:t>
            </a:r>
            <a:endParaRPr/>
          </a:p>
        </p:txBody>
      </p:sp>
      <p:sp>
        <p:nvSpPr>
          <p:cNvPr id="174" name="Google Shape;174;p17"/>
          <p:cNvSpPr txBox="1"/>
          <p:nvPr/>
        </p:nvSpPr>
        <p:spPr>
          <a:xfrm>
            <a:off x="1743075" y="4395489"/>
            <a:ext cx="914114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1E293B"/>
                </a:solidFill>
                <a:latin typeface="Poppins SemiBold"/>
                <a:ea typeface="Poppins SemiBold"/>
                <a:cs typeface="Poppins SemiBold"/>
                <a:sym typeface="Poppins SemiBold"/>
              </a:rPr>
              <a:t>Ejercicio 2: Análisis de Comportamiento</a:t>
            </a:r>
            <a:endParaRPr/>
          </a:p>
        </p:txBody>
      </p:sp>
      <p:sp>
        <p:nvSpPr>
          <p:cNvPr id="175" name="Google Shape;175;p17"/>
          <p:cNvSpPr txBox="1"/>
          <p:nvPr/>
        </p:nvSpPr>
        <p:spPr>
          <a:xfrm>
            <a:off x="1743075" y="4805064"/>
            <a:ext cx="870585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Analice la sucesión definida por la fórmula:</a:t>
            </a:r>
            <a:endParaRPr/>
          </a:p>
        </p:txBody>
      </p:sp>
      <p:pic>
        <p:nvPicPr>
          <p:cNvPr id="176" name="Google Shape;176;p17" descr="image.png"/>
          <p:cNvPicPr preferRelativeResize="0"/>
          <p:nvPr/>
        </p:nvPicPr>
        <p:blipFill rotWithShape="1">
          <a:blip r:embed="rId9">
            <a:alphaModFix/>
          </a:blip>
          <a:srcRect/>
          <a:stretch/>
        </p:blipFill>
        <p:spPr>
          <a:xfrm>
            <a:off x="2647950" y="1812428"/>
            <a:ext cx="190500" cy="135284"/>
          </a:xfrm>
          <a:prstGeom prst="rect">
            <a:avLst/>
          </a:prstGeom>
          <a:noFill/>
          <a:ln>
            <a:noFill/>
          </a:ln>
        </p:spPr>
      </p:pic>
      <p:pic>
        <p:nvPicPr>
          <p:cNvPr id="177" name="Google Shape;177;p17" descr="image.png"/>
          <p:cNvPicPr preferRelativeResize="0"/>
          <p:nvPr/>
        </p:nvPicPr>
        <p:blipFill rotWithShape="1">
          <a:blip r:embed="rId10">
            <a:alphaModFix/>
          </a:blip>
          <a:srcRect/>
          <a:stretch/>
        </p:blipFill>
        <p:spPr>
          <a:xfrm>
            <a:off x="5216425" y="2260103"/>
            <a:ext cx="1759148" cy="192881"/>
          </a:xfrm>
          <a:prstGeom prst="rect">
            <a:avLst/>
          </a:prstGeom>
          <a:noFill/>
          <a:ln>
            <a:noFill/>
          </a:ln>
        </p:spPr>
      </p:pic>
      <p:pic>
        <p:nvPicPr>
          <p:cNvPr id="178" name="Google Shape;178;p17" descr="image.png"/>
          <p:cNvPicPr preferRelativeResize="0"/>
          <p:nvPr/>
        </p:nvPicPr>
        <p:blipFill rotWithShape="1">
          <a:blip r:embed="rId11">
            <a:alphaModFix/>
          </a:blip>
          <a:srcRect/>
          <a:stretch/>
        </p:blipFill>
        <p:spPr>
          <a:xfrm>
            <a:off x="4023717" y="2794917"/>
            <a:ext cx="465534" cy="173384"/>
          </a:xfrm>
          <a:prstGeom prst="rect">
            <a:avLst/>
          </a:prstGeom>
          <a:noFill/>
          <a:ln>
            <a:noFill/>
          </a:ln>
        </p:spPr>
      </p:pic>
      <p:pic>
        <p:nvPicPr>
          <p:cNvPr id="179" name="Google Shape;179;p17" descr="image.png"/>
          <p:cNvPicPr preferRelativeResize="0"/>
          <p:nvPr/>
        </p:nvPicPr>
        <p:blipFill rotWithShape="1">
          <a:blip r:embed="rId12">
            <a:alphaModFix/>
          </a:blip>
          <a:srcRect/>
          <a:stretch/>
        </p:blipFill>
        <p:spPr>
          <a:xfrm>
            <a:off x="4686252" y="2767309"/>
            <a:ext cx="465534" cy="163859"/>
          </a:xfrm>
          <a:prstGeom prst="rect">
            <a:avLst/>
          </a:prstGeom>
          <a:noFill/>
          <a:ln>
            <a:noFill/>
          </a:ln>
        </p:spPr>
      </p:pic>
      <p:pic>
        <p:nvPicPr>
          <p:cNvPr id="180" name="Google Shape;180;p17" descr="image.png"/>
          <p:cNvPicPr preferRelativeResize="0"/>
          <p:nvPr/>
        </p:nvPicPr>
        <p:blipFill rotWithShape="1">
          <a:blip r:embed="rId13">
            <a:alphaModFix/>
          </a:blip>
          <a:srcRect/>
          <a:stretch/>
        </p:blipFill>
        <p:spPr>
          <a:xfrm>
            <a:off x="1990725" y="3293119"/>
            <a:ext cx="7648575" cy="216544"/>
          </a:xfrm>
          <a:prstGeom prst="rect">
            <a:avLst/>
          </a:prstGeom>
          <a:noFill/>
          <a:ln>
            <a:noFill/>
          </a:ln>
        </p:spPr>
      </p:pic>
      <p:pic>
        <p:nvPicPr>
          <p:cNvPr id="182" name="Google Shape;182;p17" descr="image.png"/>
          <p:cNvPicPr preferRelativeResize="0"/>
          <p:nvPr/>
        </p:nvPicPr>
        <p:blipFill rotWithShape="1">
          <a:blip r:embed="rId14">
            <a:alphaModFix/>
          </a:blip>
          <a:srcRect/>
          <a:stretch/>
        </p:blipFill>
        <p:spPr>
          <a:xfrm>
            <a:off x="4503390" y="5309889"/>
            <a:ext cx="3185070" cy="221456"/>
          </a:xfrm>
          <a:prstGeom prst="rect">
            <a:avLst/>
          </a:prstGeom>
          <a:noFill/>
          <a:ln>
            <a:noFill/>
          </a:ln>
        </p:spPr>
      </p:pic>
      <p:pic>
        <p:nvPicPr>
          <p:cNvPr id="183" name="Google Shape;183;p17" descr="image.png"/>
          <p:cNvPicPr preferRelativeResize="0"/>
          <p:nvPr/>
        </p:nvPicPr>
        <p:blipFill rotWithShape="1">
          <a:blip r:embed="rId15">
            <a:alphaModFix/>
          </a:blip>
          <a:srcRect/>
          <a:stretch/>
        </p:blipFill>
        <p:spPr>
          <a:xfrm>
            <a:off x="1990725" y="6055221"/>
            <a:ext cx="8210550" cy="1809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18" descr="image.png"/>
          <p:cNvPicPr preferRelativeResize="0"/>
          <p:nvPr/>
        </p:nvPicPr>
        <p:blipFill rotWithShape="1">
          <a:blip r:embed="rId3">
            <a:alphaModFix/>
          </a:blip>
          <a:srcRect/>
          <a:stretch/>
        </p:blipFill>
        <p:spPr>
          <a:xfrm>
            <a:off x="1400175" y="703510"/>
            <a:ext cx="9391650" cy="2722364"/>
          </a:xfrm>
          <a:prstGeom prst="rect">
            <a:avLst/>
          </a:prstGeom>
          <a:noFill/>
          <a:ln>
            <a:noFill/>
          </a:ln>
        </p:spPr>
      </p:pic>
      <p:pic>
        <p:nvPicPr>
          <p:cNvPr id="189" name="Google Shape;189;p18" descr="image.png"/>
          <p:cNvPicPr preferRelativeResize="0"/>
          <p:nvPr/>
        </p:nvPicPr>
        <p:blipFill rotWithShape="1">
          <a:blip r:embed="rId4">
            <a:alphaModFix/>
          </a:blip>
          <a:srcRect/>
          <a:stretch/>
        </p:blipFill>
        <p:spPr>
          <a:xfrm>
            <a:off x="1400175" y="3616374"/>
            <a:ext cx="9391650" cy="3204865"/>
          </a:xfrm>
          <a:prstGeom prst="rect">
            <a:avLst/>
          </a:prstGeom>
          <a:noFill/>
          <a:ln>
            <a:noFill/>
          </a:ln>
        </p:spPr>
      </p:pic>
      <p:pic>
        <p:nvPicPr>
          <p:cNvPr id="190" name="Google Shape;190;p18" descr="image.png"/>
          <p:cNvPicPr preferRelativeResize="0"/>
          <p:nvPr/>
        </p:nvPicPr>
        <p:blipFill rotWithShape="1">
          <a:blip r:embed="rId5">
            <a:alphaModFix/>
          </a:blip>
          <a:srcRect/>
          <a:stretch/>
        </p:blipFill>
        <p:spPr>
          <a:xfrm>
            <a:off x="1743075" y="1684585"/>
            <a:ext cx="8705850" cy="554831"/>
          </a:xfrm>
          <a:prstGeom prst="rect">
            <a:avLst/>
          </a:prstGeom>
          <a:noFill/>
          <a:ln>
            <a:noFill/>
          </a:ln>
        </p:spPr>
      </p:pic>
      <p:pic>
        <p:nvPicPr>
          <p:cNvPr id="191" name="Google Shape;191;p18" descr="image.png"/>
          <p:cNvPicPr preferRelativeResize="0"/>
          <p:nvPr/>
        </p:nvPicPr>
        <p:blipFill rotWithShape="1">
          <a:blip r:embed="rId6">
            <a:alphaModFix/>
          </a:blip>
          <a:srcRect/>
          <a:stretch/>
        </p:blipFill>
        <p:spPr>
          <a:xfrm>
            <a:off x="1743075" y="2382291"/>
            <a:ext cx="8705850" cy="795932"/>
          </a:xfrm>
          <a:prstGeom prst="rect">
            <a:avLst/>
          </a:prstGeom>
          <a:noFill/>
          <a:ln>
            <a:noFill/>
          </a:ln>
        </p:spPr>
      </p:pic>
      <p:pic>
        <p:nvPicPr>
          <p:cNvPr id="192" name="Google Shape;192;p18" descr="image.png"/>
          <p:cNvPicPr preferRelativeResize="0"/>
          <p:nvPr/>
        </p:nvPicPr>
        <p:blipFill rotWithShape="1">
          <a:blip r:embed="rId7">
            <a:alphaModFix/>
          </a:blip>
          <a:srcRect/>
          <a:stretch/>
        </p:blipFill>
        <p:spPr>
          <a:xfrm>
            <a:off x="1743075" y="4645074"/>
            <a:ext cx="8705850" cy="628650"/>
          </a:xfrm>
          <a:prstGeom prst="rect">
            <a:avLst/>
          </a:prstGeom>
          <a:noFill/>
          <a:ln>
            <a:noFill/>
          </a:ln>
        </p:spPr>
      </p:pic>
      <p:pic>
        <p:nvPicPr>
          <p:cNvPr id="193" name="Google Shape;193;p18" descr="image.png"/>
          <p:cNvPicPr preferRelativeResize="0"/>
          <p:nvPr/>
        </p:nvPicPr>
        <p:blipFill rotWithShape="1">
          <a:blip r:embed="rId8">
            <a:alphaModFix/>
          </a:blip>
          <a:srcRect/>
          <a:stretch/>
        </p:blipFill>
        <p:spPr>
          <a:xfrm>
            <a:off x="1743075" y="5416599"/>
            <a:ext cx="8705850" cy="633114"/>
          </a:xfrm>
          <a:prstGeom prst="rect">
            <a:avLst/>
          </a:prstGeom>
          <a:noFill/>
          <a:ln>
            <a:noFill/>
          </a:ln>
        </p:spPr>
      </p:pic>
      <p:pic>
        <p:nvPicPr>
          <p:cNvPr id="194" name="Google Shape;194;p18" descr="image.png"/>
          <p:cNvPicPr preferRelativeResize="0"/>
          <p:nvPr/>
        </p:nvPicPr>
        <p:blipFill rotWithShape="1">
          <a:blip r:embed="rId9">
            <a:alphaModFix/>
          </a:blip>
          <a:srcRect/>
          <a:stretch/>
        </p:blipFill>
        <p:spPr>
          <a:xfrm>
            <a:off x="1743075" y="6192589"/>
            <a:ext cx="8705850" cy="628650"/>
          </a:xfrm>
          <a:prstGeom prst="rect">
            <a:avLst/>
          </a:prstGeom>
          <a:noFill/>
          <a:ln>
            <a:noFill/>
          </a:ln>
        </p:spPr>
      </p:pic>
      <p:sp>
        <p:nvSpPr>
          <p:cNvPr id="195" name="Google Shape;195;p18"/>
          <p:cNvSpPr txBox="1"/>
          <p:nvPr/>
        </p:nvSpPr>
        <p:spPr>
          <a:xfrm>
            <a:off x="295275" y="-48965"/>
            <a:ext cx="11601450" cy="723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dirty="0" err="1">
                <a:solidFill>
                  <a:srgbClr val="0F172A"/>
                </a:solidFill>
                <a:latin typeface="Poppins"/>
                <a:ea typeface="Poppins"/>
                <a:cs typeface="Poppins"/>
                <a:sym typeface="Poppins"/>
              </a:rPr>
              <a:t>Ejercicios</a:t>
            </a:r>
            <a:r>
              <a:rPr lang="en-US" sz="3750" b="1" i="0" u="none" strike="noStrike" cap="none" dirty="0">
                <a:solidFill>
                  <a:srgbClr val="0F172A"/>
                </a:solidFill>
                <a:latin typeface="Poppins"/>
                <a:ea typeface="Poppins"/>
                <a:cs typeface="Poppins"/>
                <a:sym typeface="Poppins"/>
              </a:rPr>
              <a:t> </a:t>
            </a:r>
            <a:r>
              <a:rPr lang="en-US" sz="3750" b="1" i="0" u="none" strike="noStrike" cap="none" dirty="0" err="1">
                <a:solidFill>
                  <a:srgbClr val="0F172A"/>
                </a:solidFill>
                <a:latin typeface="Poppins"/>
                <a:ea typeface="Poppins"/>
                <a:cs typeface="Poppins"/>
                <a:sym typeface="Poppins"/>
              </a:rPr>
              <a:t>Propuestos</a:t>
            </a:r>
            <a:endParaRPr dirty="0"/>
          </a:p>
        </p:txBody>
      </p:sp>
      <p:sp>
        <p:nvSpPr>
          <p:cNvPr id="196" name="Google Shape;196;p18"/>
          <p:cNvSpPr txBox="1"/>
          <p:nvPr/>
        </p:nvSpPr>
        <p:spPr>
          <a:xfrm>
            <a:off x="1743075" y="951160"/>
            <a:ext cx="914114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1E293B"/>
                </a:solidFill>
                <a:latin typeface="Poppins SemiBold"/>
                <a:ea typeface="Poppins SemiBold"/>
                <a:cs typeface="Poppins SemiBold"/>
                <a:sym typeface="Poppins SemiBold"/>
              </a:rPr>
              <a:t>Ejercicio 3: Cálculo de una Serie Geométrica</a:t>
            </a:r>
            <a:endParaRPr/>
          </a:p>
        </p:txBody>
      </p:sp>
      <p:sp>
        <p:nvSpPr>
          <p:cNvPr id="197" name="Google Shape;197;p18"/>
          <p:cNvSpPr txBox="1"/>
          <p:nvPr/>
        </p:nvSpPr>
        <p:spPr>
          <a:xfrm>
            <a:off x="1743075" y="1360735"/>
            <a:ext cx="870585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Dada la sucesión geométrica definida por:</a:t>
            </a:r>
            <a:endParaRPr/>
          </a:p>
        </p:txBody>
      </p:sp>
      <p:sp>
        <p:nvSpPr>
          <p:cNvPr id="198" name="Google Shape;198;p18"/>
          <p:cNvSpPr txBox="1"/>
          <p:nvPr/>
        </p:nvSpPr>
        <p:spPr>
          <a:xfrm>
            <a:off x="1743075" y="3864024"/>
            <a:ext cx="9141142"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1E293B"/>
                </a:solidFill>
                <a:latin typeface="Poppins SemiBold"/>
                <a:ea typeface="Poppins SemiBold"/>
                <a:cs typeface="Poppins SemiBold"/>
                <a:sym typeface="Poppins SemiBold"/>
              </a:rPr>
              <a:t>Ejercicio 4: Operaciones con Cadenas</a:t>
            </a:r>
            <a:endParaRPr/>
          </a:p>
        </p:txBody>
      </p:sp>
      <p:sp>
        <p:nvSpPr>
          <p:cNvPr id="199" name="Google Shape;199;p18"/>
          <p:cNvSpPr txBox="1"/>
          <p:nvPr/>
        </p:nvSpPr>
        <p:spPr>
          <a:xfrm>
            <a:off x="1743075" y="4273599"/>
            <a:ext cx="870585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334155"/>
                </a:solidFill>
                <a:latin typeface="Lato"/>
                <a:ea typeface="Lato"/>
                <a:cs typeface="Lato"/>
                <a:sym typeface="Lato"/>
              </a:rPr>
              <a:t>Dado el alfabeto y las cadenas y .</a:t>
            </a:r>
            <a:endParaRPr/>
          </a:p>
        </p:txBody>
      </p:sp>
      <p:pic>
        <p:nvPicPr>
          <p:cNvPr id="200" name="Google Shape;200;p18" descr="image.png"/>
          <p:cNvPicPr preferRelativeResize="0"/>
          <p:nvPr/>
        </p:nvPicPr>
        <p:blipFill rotWithShape="1">
          <a:blip r:embed="rId10">
            <a:alphaModFix/>
          </a:blip>
          <a:srcRect/>
          <a:stretch/>
        </p:blipFill>
        <p:spPr>
          <a:xfrm>
            <a:off x="3629025" y="1446460"/>
            <a:ext cx="190500" cy="135284"/>
          </a:xfrm>
          <a:prstGeom prst="rect">
            <a:avLst/>
          </a:prstGeom>
          <a:noFill/>
          <a:ln>
            <a:noFill/>
          </a:ln>
        </p:spPr>
      </p:pic>
      <p:pic>
        <p:nvPicPr>
          <p:cNvPr id="201" name="Google Shape;201;p18" descr="image.png"/>
          <p:cNvPicPr preferRelativeResize="0"/>
          <p:nvPr/>
        </p:nvPicPr>
        <p:blipFill rotWithShape="1">
          <a:blip r:embed="rId11">
            <a:alphaModFix/>
          </a:blip>
          <a:srcRect/>
          <a:stretch/>
        </p:blipFill>
        <p:spPr>
          <a:xfrm>
            <a:off x="4441477" y="1839366"/>
            <a:ext cx="3308895" cy="247650"/>
          </a:xfrm>
          <a:prstGeom prst="rect">
            <a:avLst/>
          </a:prstGeom>
          <a:noFill/>
          <a:ln>
            <a:noFill/>
          </a:ln>
        </p:spPr>
      </p:pic>
      <p:pic>
        <p:nvPicPr>
          <p:cNvPr id="202" name="Google Shape;202;p18" descr="image.png"/>
          <p:cNvPicPr preferRelativeResize="0"/>
          <p:nvPr/>
        </p:nvPicPr>
        <p:blipFill rotWithShape="1">
          <a:blip r:embed="rId12">
            <a:alphaModFix/>
          </a:blip>
          <a:srcRect/>
          <a:stretch/>
        </p:blipFill>
        <p:spPr>
          <a:xfrm>
            <a:off x="1990725" y="2582316"/>
            <a:ext cx="5736133" cy="395882"/>
          </a:xfrm>
          <a:prstGeom prst="rect">
            <a:avLst/>
          </a:prstGeom>
          <a:noFill/>
          <a:ln>
            <a:noFill/>
          </a:ln>
        </p:spPr>
      </p:pic>
      <p:pic>
        <p:nvPicPr>
          <p:cNvPr id="203" name="Google Shape;203;p18" descr="image.png"/>
          <p:cNvPicPr preferRelativeResize="0"/>
          <p:nvPr/>
        </p:nvPicPr>
        <p:blipFill rotWithShape="1">
          <a:blip r:embed="rId13">
            <a:alphaModFix/>
          </a:blip>
          <a:srcRect/>
          <a:stretch/>
        </p:blipFill>
        <p:spPr>
          <a:xfrm>
            <a:off x="4571988" y="4325999"/>
            <a:ext cx="1639490" cy="171450"/>
          </a:xfrm>
          <a:prstGeom prst="rect">
            <a:avLst/>
          </a:prstGeom>
          <a:noFill/>
          <a:ln>
            <a:noFill/>
          </a:ln>
        </p:spPr>
      </p:pic>
      <p:pic>
        <p:nvPicPr>
          <p:cNvPr id="204" name="Google Shape;204;p18" descr="image.png"/>
          <p:cNvPicPr preferRelativeResize="0"/>
          <p:nvPr/>
        </p:nvPicPr>
        <p:blipFill rotWithShape="1">
          <a:blip r:embed="rId14">
            <a:alphaModFix/>
          </a:blip>
          <a:srcRect/>
          <a:stretch/>
        </p:blipFill>
        <p:spPr>
          <a:xfrm>
            <a:off x="6409190" y="4349799"/>
            <a:ext cx="560784" cy="123825"/>
          </a:xfrm>
          <a:prstGeom prst="rect">
            <a:avLst/>
          </a:prstGeom>
          <a:noFill/>
          <a:ln>
            <a:noFill/>
          </a:ln>
        </p:spPr>
      </p:pic>
      <p:pic>
        <p:nvPicPr>
          <p:cNvPr id="205" name="Google Shape;205;p18" descr="image.png"/>
          <p:cNvPicPr preferRelativeResize="0"/>
          <p:nvPr/>
        </p:nvPicPr>
        <p:blipFill rotWithShape="1">
          <a:blip r:embed="rId15">
            <a:alphaModFix/>
          </a:blip>
          <a:srcRect/>
          <a:stretch/>
        </p:blipFill>
        <p:spPr>
          <a:xfrm>
            <a:off x="7386525" y="4335511"/>
            <a:ext cx="560784" cy="152400"/>
          </a:xfrm>
          <a:prstGeom prst="rect">
            <a:avLst/>
          </a:prstGeom>
          <a:noFill/>
          <a:ln>
            <a:noFill/>
          </a:ln>
        </p:spPr>
      </p:pic>
      <p:pic>
        <p:nvPicPr>
          <p:cNvPr id="206" name="Google Shape;206;p18" descr="image.png"/>
          <p:cNvPicPr preferRelativeResize="0"/>
          <p:nvPr/>
        </p:nvPicPr>
        <p:blipFill rotWithShape="1">
          <a:blip r:embed="rId16">
            <a:alphaModFix/>
          </a:blip>
          <a:srcRect/>
          <a:stretch/>
        </p:blipFill>
        <p:spPr>
          <a:xfrm>
            <a:off x="1990725" y="4864149"/>
            <a:ext cx="3457575" cy="190500"/>
          </a:xfrm>
          <a:prstGeom prst="rect">
            <a:avLst/>
          </a:prstGeom>
          <a:noFill/>
          <a:ln>
            <a:noFill/>
          </a:ln>
        </p:spPr>
      </p:pic>
      <p:pic>
        <p:nvPicPr>
          <p:cNvPr id="207" name="Google Shape;207;p18" descr="image.png"/>
          <p:cNvPicPr preferRelativeResize="0"/>
          <p:nvPr/>
        </p:nvPicPr>
        <p:blipFill rotWithShape="1">
          <a:blip r:embed="rId17">
            <a:alphaModFix/>
          </a:blip>
          <a:srcRect/>
          <a:stretch/>
        </p:blipFill>
        <p:spPr>
          <a:xfrm>
            <a:off x="1990725" y="5616624"/>
            <a:ext cx="2933700" cy="214014"/>
          </a:xfrm>
          <a:prstGeom prst="rect">
            <a:avLst/>
          </a:prstGeom>
          <a:noFill/>
          <a:ln>
            <a:noFill/>
          </a:ln>
        </p:spPr>
      </p:pic>
      <p:pic>
        <p:nvPicPr>
          <p:cNvPr id="208" name="Google Shape;208;p18" descr="image.png"/>
          <p:cNvPicPr preferRelativeResize="0"/>
          <p:nvPr/>
        </p:nvPicPr>
        <p:blipFill rotWithShape="1">
          <a:blip r:embed="rId18">
            <a:alphaModFix/>
          </a:blip>
          <a:srcRect/>
          <a:stretch/>
        </p:blipFill>
        <p:spPr>
          <a:xfrm>
            <a:off x="1990725" y="6402139"/>
            <a:ext cx="4152900" cy="2190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64C77112-31BA-2499-D2B6-07BD83582169}"/>
            </a:ext>
          </a:extLst>
        </p:cNvPr>
        <p:cNvGrpSpPr/>
        <p:nvPr/>
      </p:nvGrpSpPr>
      <p:grpSpPr>
        <a:xfrm>
          <a:off x="0" y="0"/>
          <a:ext cx="0" cy="0"/>
          <a:chOff x="0" y="0"/>
          <a:chExt cx="0" cy="0"/>
        </a:xfrm>
      </p:grpSpPr>
      <p:pic>
        <p:nvPicPr>
          <p:cNvPr id="188" name="Google Shape;188;p18" descr="image.png">
            <a:extLst>
              <a:ext uri="{FF2B5EF4-FFF2-40B4-BE49-F238E27FC236}">
                <a16:creationId xmlns:a16="http://schemas.microsoft.com/office/drawing/2014/main" id="{BA45BFDE-1336-7A88-0431-D1C5C90E06E2}"/>
              </a:ext>
            </a:extLst>
          </p:cNvPr>
          <p:cNvPicPr preferRelativeResize="0"/>
          <p:nvPr/>
        </p:nvPicPr>
        <p:blipFill rotWithShape="1">
          <a:blip r:embed="rId3">
            <a:alphaModFix/>
          </a:blip>
          <a:srcRect/>
          <a:stretch/>
        </p:blipFill>
        <p:spPr>
          <a:xfrm>
            <a:off x="1307783" y="592066"/>
            <a:ext cx="9391650" cy="3032350"/>
          </a:xfrm>
          <a:prstGeom prst="rect">
            <a:avLst/>
          </a:prstGeom>
          <a:noFill/>
          <a:ln>
            <a:noFill/>
          </a:ln>
        </p:spPr>
      </p:pic>
      <p:sp>
        <p:nvSpPr>
          <p:cNvPr id="195" name="Google Shape;195;p18">
            <a:extLst>
              <a:ext uri="{FF2B5EF4-FFF2-40B4-BE49-F238E27FC236}">
                <a16:creationId xmlns:a16="http://schemas.microsoft.com/office/drawing/2014/main" id="{19AFEA4C-FB3B-7B6D-88D5-4ED6036BEC8A}"/>
              </a:ext>
            </a:extLst>
          </p:cNvPr>
          <p:cNvSpPr txBox="1"/>
          <p:nvPr/>
        </p:nvSpPr>
        <p:spPr>
          <a:xfrm>
            <a:off x="295275" y="-48965"/>
            <a:ext cx="11601450" cy="723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dirty="0" err="1">
                <a:solidFill>
                  <a:srgbClr val="0F172A"/>
                </a:solidFill>
                <a:latin typeface="Poppins"/>
                <a:ea typeface="Poppins"/>
                <a:cs typeface="Poppins"/>
                <a:sym typeface="Poppins"/>
              </a:rPr>
              <a:t>Ejercicios</a:t>
            </a:r>
            <a:r>
              <a:rPr lang="en-US" sz="3750" b="1" i="0" u="none" strike="noStrike" cap="none" dirty="0">
                <a:solidFill>
                  <a:srgbClr val="0F172A"/>
                </a:solidFill>
                <a:latin typeface="Poppins"/>
                <a:ea typeface="Poppins"/>
                <a:cs typeface="Poppins"/>
                <a:sym typeface="Poppins"/>
              </a:rPr>
              <a:t> </a:t>
            </a:r>
            <a:r>
              <a:rPr lang="en-US" sz="3750" b="1" i="0" u="none" strike="noStrike" cap="none" dirty="0" err="1">
                <a:solidFill>
                  <a:srgbClr val="0F172A"/>
                </a:solidFill>
                <a:latin typeface="Poppins"/>
                <a:ea typeface="Poppins"/>
                <a:cs typeface="Poppins"/>
                <a:sym typeface="Poppins"/>
              </a:rPr>
              <a:t>Propuestos</a:t>
            </a:r>
            <a:endParaRPr dirty="0"/>
          </a:p>
        </p:txBody>
      </p:sp>
      <p:sp>
        <p:nvSpPr>
          <p:cNvPr id="196" name="Google Shape;196;p18">
            <a:extLst>
              <a:ext uri="{FF2B5EF4-FFF2-40B4-BE49-F238E27FC236}">
                <a16:creationId xmlns:a16="http://schemas.microsoft.com/office/drawing/2014/main" id="{DA2B93BC-4205-8D12-CFA8-9B65571855C4}"/>
              </a:ext>
            </a:extLst>
          </p:cNvPr>
          <p:cNvSpPr txBox="1"/>
          <p:nvPr/>
        </p:nvSpPr>
        <p:spPr>
          <a:xfrm>
            <a:off x="1650683" y="817392"/>
            <a:ext cx="9141142"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dirty="0" err="1">
                <a:solidFill>
                  <a:srgbClr val="1E293B"/>
                </a:solidFill>
                <a:latin typeface="Poppins SemiBold"/>
                <a:ea typeface="Poppins SemiBold"/>
                <a:cs typeface="Poppins SemiBold"/>
                <a:sym typeface="Poppins SemiBold"/>
              </a:rPr>
              <a:t>Ejercicio</a:t>
            </a:r>
            <a:r>
              <a:rPr lang="en-US" sz="1650" b="0" i="0" u="none" strike="noStrike" cap="none" dirty="0">
                <a:solidFill>
                  <a:srgbClr val="1E293B"/>
                </a:solidFill>
                <a:latin typeface="Poppins SemiBold"/>
                <a:ea typeface="Poppins SemiBold"/>
                <a:cs typeface="Poppins SemiBold"/>
                <a:sym typeface="Poppins SemiBold"/>
              </a:rPr>
              <a:t> 5: </a:t>
            </a:r>
            <a:r>
              <a:rPr lang="en-US" sz="1650" b="0" i="0" u="none" strike="noStrike" cap="none" dirty="0" err="1">
                <a:solidFill>
                  <a:srgbClr val="1E293B"/>
                </a:solidFill>
                <a:latin typeface="Poppins SemiBold"/>
                <a:ea typeface="Poppins SemiBold"/>
                <a:cs typeface="Poppins SemiBold"/>
                <a:sym typeface="Poppins SemiBold"/>
              </a:rPr>
              <a:t>recurrencia</a:t>
            </a:r>
            <a:endParaRPr dirty="0"/>
          </a:p>
        </p:txBody>
      </p:sp>
      <mc:AlternateContent xmlns:mc="http://schemas.openxmlformats.org/markup-compatibility/2006">
        <mc:Choice xmlns:a14="http://schemas.microsoft.com/office/drawing/2010/main" Requires="a14">
          <p:sp>
            <p:nvSpPr>
              <p:cNvPr id="197" name="Google Shape;197;p18">
                <a:extLst>
                  <a:ext uri="{FF2B5EF4-FFF2-40B4-BE49-F238E27FC236}">
                    <a16:creationId xmlns:a16="http://schemas.microsoft.com/office/drawing/2014/main" id="{70389E29-3433-BCF5-7392-51BD534A36F8}"/>
                  </a:ext>
                </a:extLst>
              </p:cNvPr>
              <p:cNvSpPr txBox="1"/>
              <p:nvPr/>
            </p:nvSpPr>
            <p:spPr>
              <a:xfrm>
                <a:off x="1650683" y="1226967"/>
                <a:ext cx="8705850" cy="2585323"/>
              </a:xfrm>
              <a:prstGeom prst="rect">
                <a:avLst/>
              </a:prstGeom>
              <a:noFill/>
              <a:ln>
                <a:noFill/>
              </a:ln>
            </p:spPr>
            <p:txBody>
              <a:bodyPr spcFirstLastPara="1" wrap="square" lIns="0" tIns="0" rIns="0" bIns="0" anchor="t" anchorCtr="0">
                <a:spAutoFit/>
              </a:bodyPr>
              <a:lstStyle/>
              <a:p>
                <a:r>
                  <a:rPr lang="es-CO" dirty="0"/>
                  <a:t>Sea la sucesión </a:t>
                </a:r>
                <a14:m>
                  <m:oMath xmlns:m="http://schemas.openxmlformats.org/officeDocument/2006/math">
                    <m:d>
                      <m:dPr>
                        <m:begChr m:val="{"/>
                        <m:endChr m:val="}"/>
                        <m:ctrlPr>
                          <a:rPr lang="ar-AE"/>
                        </m:ctrlPr>
                      </m:dPr>
                      <m:e>
                        <m:sSub>
                          <m:sSubPr>
                            <m:ctrlPr>
                              <a:rPr lang="ar-AE" i="1"/>
                            </m:ctrlPr>
                          </m:sSubPr>
                          <m:e>
                            <m:r>
                              <a:rPr lang="ar-AE" i="1"/>
                              <m:t>𝑠</m:t>
                            </m:r>
                          </m:e>
                          <m:sub>
                            <m:r>
                              <a:rPr lang="ar-AE" i="1"/>
                              <m:t>𝑛</m:t>
                            </m:r>
                          </m:sub>
                        </m:sSub>
                      </m:e>
                    </m:d>
                  </m:oMath>
                </a14:m>
                <a:r>
                  <a:rPr lang="es-CO" dirty="0"/>
                  <a:t>definida por:</a:t>
                </a:r>
              </a:p>
              <a:p>
                <a:endParaRPr lang="es-CO" dirty="0"/>
              </a:p>
              <a:p>
                <a:r>
                  <a:rPr lang="es-CO" b="1" dirty="0"/>
                  <a:t>Fórmula explícita</a:t>
                </a:r>
              </a:p>
              <a:p>
                <a14:m>
                  <m:oMathPara xmlns:m="http://schemas.openxmlformats.org/officeDocument/2006/math">
                    <m:oMathParaPr>
                      <m:jc m:val="centerGroup"/>
                    </m:oMathParaPr>
                    <m:oMath xmlns:m="http://schemas.openxmlformats.org/officeDocument/2006/math">
                      <m:sSub>
                        <m:sSubPr>
                          <m:ctrlPr>
                            <a:rPr lang="ar-AE"/>
                          </m:ctrlPr>
                        </m:sSubPr>
                        <m:e>
                          <m:r>
                            <a:rPr lang="ar-AE" i="1"/>
                            <m:t>𝑠</m:t>
                          </m:r>
                        </m:e>
                        <m:sub>
                          <m:r>
                            <a:rPr lang="ar-AE" i="1"/>
                            <m:t>𝑛</m:t>
                          </m:r>
                        </m:sub>
                      </m:sSub>
                      <m:r>
                        <a:rPr lang="ar-AE"/>
                        <m:t>=</m:t>
                      </m:r>
                      <m:sSup>
                        <m:sSupPr>
                          <m:ctrlPr>
                            <a:rPr lang="ar-AE" i="1"/>
                          </m:ctrlPr>
                        </m:sSupPr>
                        <m:e>
                          <m:r>
                            <a:rPr lang="ar-AE"/>
                            <m:t>2</m:t>
                          </m:r>
                        </m:e>
                        <m:sup>
                          <m:r>
                            <a:rPr lang="ar-AE" i="1"/>
                            <m:t>𝑛</m:t>
                          </m:r>
                        </m:sup>
                      </m:sSup>
                      <m:r>
                        <a:rPr lang="ar-AE"/>
                        <m:t>+</m:t>
                      </m:r>
                      <m:sSup>
                        <m:sSupPr>
                          <m:ctrlPr>
                            <a:rPr lang="ar-AE" i="1"/>
                          </m:ctrlPr>
                        </m:sSupPr>
                        <m:e>
                          <m:r>
                            <a:rPr lang="ar-AE"/>
                            <m:t>3</m:t>
                          </m:r>
                        </m:e>
                        <m:sup>
                          <m:r>
                            <a:rPr lang="ar-AE" i="1"/>
                            <m:t>𝑛</m:t>
                          </m:r>
                        </m:sup>
                      </m:sSup>
                    </m:oMath>
                  </m:oMathPara>
                </a14:m>
                <a:endParaRPr lang="ar-AE" dirty="0"/>
              </a:p>
              <a:p>
                <a:r>
                  <a:rPr lang="es-CO" b="1" dirty="0"/>
                  <a:t>Ecuación de recurrencia</a:t>
                </a:r>
              </a:p>
              <a:p>
                <a14:m>
                  <m:oMathPara xmlns:m="http://schemas.openxmlformats.org/officeDocument/2006/math">
                    <m:oMathParaPr>
                      <m:jc m:val="centerGroup"/>
                    </m:oMathParaPr>
                    <m:oMath xmlns:m="http://schemas.openxmlformats.org/officeDocument/2006/math">
                      <m:sSub>
                        <m:sSubPr>
                          <m:ctrlPr>
                            <a:rPr lang="ar-AE"/>
                          </m:ctrlPr>
                        </m:sSubPr>
                        <m:e>
                          <m:r>
                            <a:rPr lang="ar-AE" i="1"/>
                            <m:t>𝑠</m:t>
                          </m:r>
                        </m:e>
                        <m:sub>
                          <m:r>
                            <a:rPr lang="ar-AE" i="1"/>
                            <m:t>𝑛</m:t>
                          </m:r>
                        </m:sub>
                      </m:sSub>
                      <m:r>
                        <a:rPr lang="ar-AE"/>
                        <m:t>=</m:t>
                      </m:r>
                      <m:r>
                        <a:rPr lang="ar-AE"/>
                        <m:t>5</m:t>
                      </m:r>
                      <m:sSub>
                        <m:sSubPr>
                          <m:ctrlPr>
                            <a:rPr lang="ar-AE" i="1"/>
                          </m:ctrlPr>
                        </m:sSubPr>
                        <m:e>
                          <m:r>
                            <a:rPr lang="ar-AE" i="1"/>
                            <m:t>𝑠</m:t>
                          </m:r>
                        </m:e>
                        <m:sub>
                          <m:r>
                            <a:rPr lang="ar-AE" i="1"/>
                            <m:t>𝑛</m:t>
                          </m:r>
                          <m:r>
                            <a:rPr lang="ar-AE"/>
                            <m:t>−</m:t>
                          </m:r>
                          <m:r>
                            <a:rPr lang="ar-AE"/>
                            <m:t>1</m:t>
                          </m:r>
                        </m:sub>
                      </m:sSub>
                      <m:r>
                        <a:rPr lang="ar-AE"/>
                        <m:t>−</m:t>
                      </m:r>
                      <m:r>
                        <a:rPr lang="ar-AE"/>
                        <m:t>6</m:t>
                      </m:r>
                      <m:sSub>
                        <m:sSubPr>
                          <m:ctrlPr>
                            <a:rPr lang="ar-AE" i="1"/>
                          </m:ctrlPr>
                        </m:sSubPr>
                        <m:e>
                          <m:r>
                            <a:rPr lang="ar-AE" i="1"/>
                            <m:t>𝑠</m:t>
                          </m:r>
                        </m:e>
                        <m:sub>
                          <m:r>
                            <a:rPr lang="ar-AE" i="1"/>
                            <m:t>𝑛</m:t>
                          </m:r>
                          <m:r>
                            <a:rPr lang="ar-AE"/>
                            <m:t>−</m:t>
                          </m:r>
                          <m:r>
                            <a:rPr lang="ar-AE"/>
                            <m:t>2</m:t>
                          </m:r>
                        </m:sub>
                      </m:sSub>
                      <m:r>
                        <a:rPr lang="ar-AE"/>
                        <m:t>, </m:t>
                      </m:r>
                      <m:r>
                        <a:rPr lang="ar-AE" i="1"/>
                        <m:t>𝑛</m:t>
                      </m:r>
                      <m:r>
                        <a:rPr lang="ar-AE"/>
                        <m:t>≥</m:t>
                      </m:r>
                      <m:r>
                        <a:rPr lang="ar-AE"/>
                        <m:t>2</m:t>
                      </m:r>
                    </m:oMath>
                  </m:oMathPara>
                </a14:m>
                <a:endParaRPr lang="ar-AE" dirty="0"/>
              </a:p>
              <a:p>
                <a:pPr>
                  <a:lnSpc>
                    <a:spcPct val="150000"/>
                  </a:lnSpc>
                </a:pPr>
                <a:r>
                  <a:rPr lang="es-ES" dirty="0"/>
                  <a:t>Calcule los primeros seis términos de la sucesión usando la fórmula explícita y luego usando la ecuación de recurrencia.</a:t>
                </a:r>
                <a:br>
                  <a:rPr lang="es-ES" dirty="0"/>
                </a:br>
                <a:r>
                  <a:rPr lang="es-ES" dirty="0"/>
                  <a:t>Verifique si ambas expresiones generan exactamente la misma sucesión y justifique su respuesta.</a:t>
                </a:r>
              </a:p>
              <a:p>
                <a:pPr marL="0" marR="0" lvl="0" indent="0" algn="l" rtl="0">
                  <a:lnSpc>
                    <a:spcPct val="150000"/>
                  </a:lnSpc>
                  <a:spcBef>
                    <a:spcPts val="0"/>
                  </a:spcBef>
                  <a:spcAft>
                    <a:spcPts val="0"/>
                  </a:spcAft>
                  <a:buNone/>
                </a:pPr>
                <a:endParaRPr dirty="0"/>
              </a:p>
            </p:txBody>
          </p:sp>
        </mc:Choice>
        <mc:Fallback>
          <p:sp>
            <p:nvSpPr>
              <p:cNvPr id="197" name="Google Shape;197;p18">
                <a:extLst>
                  <a:ext uri="{FF2B5EF4-FFF2-40B4-BE49-F238E27FC236}">
                    <a16:creationId xmlns:a16="http://schemas.microsoft.com/office/drawing/2014/main" id="{70389E29-3433-BCF5-7392-51BD534A36F8}"/>
                  </a:ext>
                </a:extLst>
              </p:cNvPr>
              <p:cNvSpPr txBox="1">
                <a:spLocks noRot="1" noChangeAspect="1" noMove="1" noResize="1" noEditPoints="1" noAdjustHandles="1" noChangeArrowheads="1" noChangeShapeType="1" noTextEdit="1"/>
              </p:cNvSpPr>
              <p:nvPr/>
            </p:nvSpPr>
            <p:spPr>
              <a:xfrm>
                <a:off x="1650683" y="1226967"/>
                <a:ext cx="8705850" cy="2585323"/>
              </a:xfrm>
              <a:prstGeom prst="rect">
                <a:avLst/>
              </a:prstGeom>
              <a:blipFill>
                <a:blip r:embed="rId4"/>
                <a:stretch>
                  <a:fillRect l="-1261" t="-2123"/>
                </a:stretch>
              </a:blipFill>
              <a:ln>
                <a:noFill/>
              </a:ln>
            </p:spPr>
            <p:txBody>
              <a:bodyPr/>
              <a:lstStyle/>
              <a:p>
                <a:r>
                  <a:rPr lang="es-CO">
                    <a:noFill/>
                  </a:rPr>
                  <a:t> </a:t>
                </a:r>
              </a:p>
            </p:txBody>
          </p:sp>
        </mc:Fallback>
      </mc:AlternateContent>
      <p:pic>
        <p:nvPicPr>
          <p:cNvPr id="5" name="Google Shape;188;p18" descr="image.png">
            <a:extLst>
              <a:ext uri="{FF2B5EF4-FFF2-40B4-BE49-F238E27FC236}">
                <a16:creationId xmlns:a16="http://schemas.microsoft.com/office/drawing/2014/main" id="{EC345A5C-24C9-5F12-546F-01AB11252256}"/>
              </a:ext>
            </a:extLst>
          </p:cNvPr>
          <p:cNvPicPr preferRelativeResize="0"/>
          <p:nvPr/>
        </p:nvPicPr>
        <p:blipFill rotWithShape="1">
          <a:blip r:embed="rId3">
            <a:alphaModFix/>
          </a:blip>
          <a:srcRect/>
          <a:stretch/>
        </p:blipFill>
        <p:spPr>
          <a:xfrm>
            <a:off x="1400175" y="3766872"/>
            <a:ext cx="9391650" cy="2397449"/>
          </a:xfrm>
          <a:prstGeom prst="rect">
            <a:avLst/>
          </a:prstGeom>
          <a:noFill/>
          <a:ln>
            <a:noFill/>
          </a:ln>
        </p:spPr>
      </p:pic>
      <p:sp>
        <p:nvSpPr>
          <p:cNvPr id="6" name="Google Shape;196;p18">
            <a:extLst>
              <a:ext uri="{FF2B5EF4-FFF2-40B4-BE49-F238E27FC236}">
                <a16:creationId xmlns:a16="http://schemas.microsoft.com/office/drawing/2014/main" id="{7D195FFB-4A1A-4D30-5922-F3BCADE3460E}"/>
              </a:ext>
            </a:extLst>
          </p:cNvPr>
          <p:cNvSpPr txBox="1"/>
          <p:nvPr/>
        </p:nvSpPr>
        <p:spPr>
          <a:xfrm>
            <a:off x="1743075" y="3954746"/>
            <a:ext cx="9141142"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dirty="0" err="1">
                <a:solidFill>
                  <a:srgbClr val="1E293B"/>
                </a:solidFill>
                <a:latin typeface="Poppins SemiBold"/>
                <a:ea typeface="Poppins SemiBold"/>
                <a:cs typeface="Poppins SemiBold"/>
                <a:sym typeface="Poppins SemiBold"/>
              </a:rPr>
              <a:t>Ejercicio</a:t>
            </a:r>
            <a:r>
              <a:rPr lang="en-US" sz="1650" b="0" i="0" u="none" strike="noStrike" cap="none" dirty="0">
                <a:solidFill>
                  <a:srgbClr val="1E293B"/>
                </a:solidFill>
                <a:latin typeface="Poppins SemiBold"/>
                <a:ea typeface="Poppins SemiBold"/>
                <a:cs typeface="Poppins SemiBold"/>
                <a:sym typeface="Poppins SemiBold"/>
              </a:rPr>
              <a:t> 6: </a:t>
            </a:r>
            <a:r>
              <a:rPr lang="en-US" sz="1650" b="0" i="0" u="none" strike="noStrike" cap="none" dirty="0" err="1">
                <a:solidFill>
                  <a:srgbClr val="1E293B"/>
                </a:solidFill>
                <a:latin typeface="Poppins SemiBold"/>
                <a:ea typeface="Poppins SemiBold"/>
                <a:cs typeface="Poppins SemiBold"/>
                <a:sym typeface="Poppins SemiBold"/>
              </a:rPr>
              <a:t>recurrencia</a:t>
            </a:r>
            <a:endParaRPr dirty="0"/>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7D3BD96E-4FEA-3E01-BA2B-6F2078F069C8}"/>
                  </a:ext>
                </a:extLst>
              </p:cNvPr>
              <p:cNvSpPr txBox="1"/>
              <p:nvPr/>
            </p:nvSpPr>
            <p:spPr>
              <a:xfrm>
                <a:off x="1743075" y="4295808"/>
                <a:ext cx="6094476" cy="1384995"/>
              </a:xfrm>
              <a:prstGeom prst="rect">
                <a:avLst/>
              </a:prstGeom>
              <a:noFill/>
            </p:spPr>
            <p:txBody>
              <a:bodyPr wrap="square">
                <a:spAutoFit/>
              </a:bodyPr>
              <a:lstStyle/>
              <a:p>
                <a:pPr>
                  <a:buNone/>
                </a:pPr>
                <a:r>
                  <a:rPr lang="es-CO" b="1" dirty="0"/>
                  <a:t>Fórmula explícita</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𝑛</m:t>
                          </m:r>
                        </m:sub>
                      </m:sSub>
                      <m:r>
                        <a:rPr lang="ar-AE" i="0">
                          <a:latin typeface="Cambria Math" panose="02040503050406030204" pitchFamily="18" charset="0"/>
                        </a:rPr>
                        <m:t>=</m:t>
                      </m:r>
                      <m:sSup>
                        <m:sSupPr>
                          <m:ctrlPr>
                            <a:rPr lang="ar-AE" i="1">
                              <a:latin typeface="Cambria Math" panose="02040503050406030204" pitchFamily="18" charset="0"/>
                            </a:rPr>
                          </m:ctrlPr>
                        </m:sSupPr>
                        <m:e>
                          <m:r>
                            <a:rPr lang="ar-AE" i="0">
                              <a:latin typeface="Cambria Math" panose="02040503050406030204" pitchFamily="18" charset="0"/>
                            </a:rPr>
                            <m:t>2</m:t>
                          </m:r>
                        </m:e>
                        <m:sup>
                          <m:r>
                            <a:rPr lang="ar-AE" i="1">
                              <a:latin typeface="Cambria Math" panose="02040503050406030204" pitchFamily="18" charset="0"/>
                            </a:rPr>
                            <m:t>𝑛</m:t>
                          </m:r>
                        </m:sup>
                      </m:sSup>
                      <m:r>
                        <a:rPr lang="ar-AE" i="0">
                          <a:latin typeface="Cambria Math" panose="02040503050406030204" pitchFamily="18" charset="0"/>
                        </a:rPr>
                        <m:t>+</m:t>
                      </m:r>
                      <m:sSup>
                        <m:sSupPr>
                          <m:ctrlPr>
                            <a:rPr lang="ar-AE" i="1">
                              <a:latin typeface="Cambria Math" panose="02040503050406030204" pitchFamily="18" charset="0"/>
                            </a:rPr>
                          </m:ctrlPr>
                        </m:sSupPr>
                        <m:e>
                          <m:r>
                            <a:rPr lang="ar-AE" i="0">
                              <a:latin typeface="Cambria Math" panose="02040503050406030204" pitchFamily="18" charset="0"/>
                            </a:rPr>
                            <m:t>3</m:t>
                          </m:r>
                        </m:e>
                        <m:sup>
                          <m:r>
                            <a:rPr lang="ar-AE" i="1">
                              <a:latin typeface="Cambria Math" panose="02040503050406030204" pitchFamily="18" charset="0"/>
                            </a:rPr>
                            <m:t>𝑛</m:t>
                          </m:r>
                        </m:sup>
                      </m:sSup>
                    </m:oMath>
                  </m:oMathPara>
                </a14:m>
                <a:endParaRPr lang="ar-AE" dirty="0"/>
              </a:p>
              <a:p>
                <a:pPr>
                  <a:buNone/>
                </a:pPr>
                <a:r>
                  <a:rPr lang="es-CO" b="1" dirty="0"/>
                  <a:t>Ecuación de recurrencia</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𝑛</m:t>
                          </m:r>
                        </m:sub>
                      </m:sSub>
                      <m:r>
                        <a:rPr lang="ar-AE" i="0">
                          <a:latin typeface="Cambria Math" panose="02040503050406030204" pitchFamily="18" charset="0"/>
                        </a:rPr>
                        <m:t>=</m:t>
                      </m:r>
                      <m:r>
                        <a:rPr lang="ar-AE" i="0">
                          <a:latin typeface="Cambria Math" panose="02040503050406030204" pitchFamily="18" charset="0"/>
                        </a:rPr>
                        <m:t>4</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𝑛</m:t>
                          </m:r>
                          <m:r>
                            <a:rPr lang="ar-AE" i="0">
                              <a:latin typeface="Cambria Math" panose="02040503050406030204" pitchFamily="18" charset="0"/>
                            </a:rPr>
                            <m:t>−</m:t>
                          </m:r>
                          <m:r>
                            <a:rPr lang="ar-AE" i="0">
                              <a:latin typeface="Cambria Math" panose="02040503050406030204" pitchFamily="18" charset="0"/>
                            </a:rPr>
                            <m:t>1</m:t>
                          </m:r>
                        </m:sub>
                      </m:sSub>
                      <m:r>
                        <a:rPr lang="ar-AE" i="0">
                          <a:latin typeface="Cambria Math" panose="02040503050406030204" pitchFamily="18" charset="0"/>
                        </a:rPr>
                        <m:t>−</m:t>
                      </m:r>
                      <m:r>
                        <a:rPr lang="ar-AE" i="0">
                          <a:latin typeface="Cambria Math" panose="02040503050406030204" pitchFamily="18" charset="0"/>
                        </a:rPr>
                        <m:t>4</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𝑛</m:t>
                          </m:r>
                          <m:r>
                            <a:rPr lang="ar-AE" i="0">
                              <a:latin typeface="Cambria Math" panose="02040503050406030204" pitchFamily="18" charset="0"/>
                            </a:rPr>
                            <m:t>−</m:t>
                          </m:r>
                          <m:r>
                            <a:rPr lang="ar-AE" i="0">
                              <a:latin typeface="Cambria Math" panose="02040503050406030204" pitchFamily="18" charset="0"/>
                            </a:rPr>
                            <m:t>2</m:t>
                          </m:r>
                        </m:sub>
                      </m:sSub>
                      <m:r>
                        <a:rPr lang="ar-AE" i="0">
                          <a:latin typeface="Cambria Math" panose="02040503050406030204" pitchFamily="18" charset="0"/>
                        </a:rPr>
                        <m:t>, </m:t>
                      </m:r>
                      <m:r>
                        <a:rPr lang="ar-AE" i="1">
                          <a:latin typeface="Cambria Math" panose="02040503050406030204" pitchFamily="18" charset="0"/>
                        </a:rPr>
                        <m:t>𝑛</m:t>
                      </m:r>
                      <m:r>
                        <a:rPr lang="ar-AE" i="0">
                          <a:latin typeface="Cambria Math" panose="02040503050406030204" pitchFamily="18" charset="0"/>
                        </a:rPr>
                        <m:t>≥</m:t>
                      </m:r>
                      <m:r>
                        <a:rPr lang="ar-AE" i="0">
                          <a:latin typeface="Cambria Math" panose="02040503050406030204" pitchFamily="18" charset="0"/>
                        </a:rPr>
                        <m:t>2</m:t>
                      </m:r>
                    </m:oMath>
                  </m:oMathPara>
                </a14:m>
                <a:endParaRPr lang="ar-AE" dirty="0"/>
              </a:p>
              <a:p>
                <a:pPr>
                  <a:buNone/>
                </a:pPr>
                <a:r>
                  <a:rPr lang="es-CO" dirty="0"/>
                  <a:t>con condiciones iniciales:</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0">
                              <a:latin typeface="Cambria Math" panose="02040503050406030204" pitchFamily="18" charset="0"/>
                            </a:rPr>
                            <m:t>0</m:t>
                          </m:r>
                        </m:sub>
                      </m:sSub>
                      <m:r>
                        <a:rPr lang="ar-AE" i="0">
                          <a:latin typeface="Cambria Math" panose="02040503050406030204" pitchFamily="18" charset="0"/>
                        </a:rPr>
                        <m:t>=</m:t>
                      </m:r>
                      <m:r>
                        <a:rPr lang="ar-AE" i="0">
                          <a:latin typeface="Cambria Math" panose="02040503050406030204" pitchFamily="18" charset="0"/>
                        </a:rPr>
                        <m:t>2</m:t>
                      </m:r>
                      <m:r>
                        <a:rPr lang="ar-AE" i="0">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0">
                              <a:latin typeface="Cambria Math" panose="02040503050406030204" pitchFamily="18" charset="0"/>
                            </a:rPr>
                            <m:t>1</m:t>
                          </m:r>
                        </m:sub>
                      </m:sSub>
                      <m:r>
                        <a:rPr lang="ar-AE" i="0">
                          <a:latin typeface="Cambria Math" panose="02040503050406030204" pitchFamily="18" charset="0"/>
                        </a:rPr>
                        <m:t>=</m:t>
                      </m:r>
                      <m:r>
                        <a:rPr lang="ar-AE" i="0">
                          <a:latin typeface="Cambria Math" panose="02040503050406030204" pitchFamily="18" charset="0"/>
                        </a:rPr>
                        <m:t>5</m:t>
                      </m:r>
                    </m:oMath>
                  </m:oMathPara>
                </a14:m>
                <a:endParaRPr lang="ar-AE" dirty="0"/>
              </a:p>
            </p:txBody>
          </p:sp>
        </mc:Choice>
        <mc:Fallback>
          <p:sp>
            <p:nvSpPr>
              <p:cNvPr id="9" name="CuadroTexto 8">
                <a:extLst>
                  <a:ext uri="{FF2B5EF4-FFF2-40B4-BE49-F238E27FC236}">
                    <a16:creationId xmlns:a16="http://schemas.microsoft.com/office/drawing/2014/main" id="{7D3BD96E-4FEA-3E01-BA2B-6F2078F069C8}"/>
                  </a:ext>
                </a:extLst>
              </p:cNvPr>
              <p:cNvSpPr txBox="1">
                <a:spLocks noRot="1" noChangeAspect="1" noMove="1" noResize="1" noEditPoints="1" noAdjustHandles="1" noChangeArrowheads="1" noChangeShapeType="1" noTextEdit="1"/>
              </p:cNvSpPr>
              <p:nvPr/>
            </p:nvSpPr>
            <p:spPr>
              <a:xfrm>
                <a:off x="1743075" y="4295808"/>
                <a:ext cx="6094476" cy="1384995"/>
              </a:xfrm>
              <a:prstGeom prst="rect">
                <a:avLst/>
              </a:prstGeom>
              <a:blipFill>
                <a:blip r:embed="rId5"/>
                <a:stretch>
                  <a:fillRect l="-300" t="-881"/>
                </a:stretch>
              </a:blipFill>
            </p:spPr>
            <p:txBody>
              <a:bodyPr/>
              <a:lstStyle/>
              <a:p>
                <a:r>
                  <a:rPr lang="es-CO">
                    <a:noFill/>
                  </a:rPr>
                  <a:t> </a:t>
                </a:r>
              </a:p>
            </p:txBody>
          </p:sp>
        </mc:Fallback>
      </mc:AlternateContent>
      <p:sp>
        <p:nvSpPr>
          <p:cNvPr id="11" name="CuadroTexto 10">
            <a:extLst>
              <a:ext uri="{FF2B5EF4-FFF2-40B4-BE49-F238E27FC236}">
                <a16:creationId xmlns:a16="http://schemas.microsoft.com/office/drawing/2014/main" id="{08B4B9EE-D66E-FD40-FA21-244E86576019}"/>
              </a:ext>
            </a:extLst>
          </p:cNvPr>
          <p:cNvSpPr txBox="1"/>
          <p:nvPr/>
        </p:nvSpPr>
        <p:spPr>
          <a:xfrm>
            <a:off x="6677406" y="4087636"/>
            <a:ext cx="4022027" cy="1815882"/>
          </a:xfrm>
          <a:prstGeom prst="rect">
            <a:avLst/>
          </a:prstGeom>
          <a:noFill/>
        </p:spPr>
        <p:txBody>
          <a:bodyPr wrap="square">
            <a:spAutoFit/>
          </a:bodyPr>
          <a:lstStyle/>
          <a:p>
            <a:pPr>
              <a:buNone/>
            </a:pPr>
            <a:r>
              <a:rPr lang="es-ES" dirty="0"/>
              <a:t>Calcule los primeros seis términos de la sucesión usando la fórmula explícita y luego usando la ecuación de recurrencia.</a:t>
            </a:r>
            <a:br>
              <a:rPr lang="es-ES" dirty="0"/>
            </a:br>
            <a:endParaRPr lang="es-ES" dirty="0"/>
          </a:p>
          <a:p>
            <a:pPr>
              <a:buNone/>
            </a:pPr>
            <a:r>
              <a:rPr lang="es-ES" dirty="0"/>
              <a:t>Determine si ambas expresiones representan la misma sucesión. En caso de que no coincidan, indique a partir de qué término comienza la diferencia.</a:t>
            </a:r>
          </a:p>
        </p:txBody>
      </p: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3CF7C0F0-1D85-0FBE-E6FA-5F3BD9DB0088}"/>
                  </a:ext>
                </a:extLst>
              </p:cNvPr>
              <p:cNvSpPr txBox="1"/>
              <p:nvPr/>
            </p:nvSpPr>
            <p:spPr>
              <a:xfrm>
                <a:off x="6467094" y="830594"/>
                <a:ext cx="6094476" cy="523220"/>
              </a:xfrm>
              <a:prstGeom prst="rect">
                <a:avLst/>
              </a:prstGeom>
              <a:noFill/>
            </p:spPr>
            <p:txBody>
              <a:bodyPr wrap="square">
                <a:spAutoFit/>
              </a:bodyPr>
              <a:lstStyle/>
              <a:p>
                <a:pPr>
                  <a:buNone/>
                </a:pPr>
                <a:r>
                  <a:rPr lang="es-CO" dirty="0"/>
                  <a:t>con condiciones iniciales:</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0">
                              <a:latin typeface="Cambria Math" panose="02040503050406030204" pitchFamily="18" charset="0"/>
                            </a:rPr>
                            <m:t>0</m:t>
                          </m:r>
                        </m:sub>
                      </m:sSub>
                      <m:r>
                        <a:rPr lang="ar-AE" i="0">
                          <a:latin typeface="Cambria Math" panose="02040503050406030204" pitchFamily="18" charset="0"/>
                        </a:rPr>
                        <m:t>=</m:t>
                      </m:r>
                      <m:r>
                        <a:rPr lang="ar-AE" i="0">
                          <a:latin typeface="Cambria Math" panose="02040503050406030204" pitchFamily="18" charset="0"/>
                        </a:rPr>
                        <m:t>2</m:t>
                      </m:r>
                      <m:r>
                        <a:rPr lang="ar-AE" i="0">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0">
                              <a:latin typeface="Cambria Math" panose="02040503050406030204" pitchFamily="18" charset="0"/>
                            </a:rPr>
                            <m:t>1</m:t>
                          </m:r>
                        </m:sub>
                      </m:sSub>
                      <m:r>
                        <a:rPr lang="ar-AE" i="0">
                          <a:latin typeface="Cambria Math" panose="02040503050406030204" pitchFamily="18" charset="0"/>
                        </a:rPr>
                        <m:t>=</m:t>
                      </m:r>
                      <m:r>
                        <a:rPr lang="ar-AE" i="0">
                          <a:latin typeface="Cambria Math" panose="02040503050406030204" pitchFamily="18" charset="0"/>
                        </a:rPr>
                        <m:t>5</m:t>
                      </m:r>
                    </m:oMath>
                  </m:oMathPara>
                </a14:m>
                <a:endParaRPr lang="ar-AE" dirty="0"/>
              </a:p>
            </p:txBody>
          </p:sp>
        </mc:Choice>
        <mc:Fallback>
          <p:sp>
            <p:nvSpPr>
              <p:cNvPr id="13" name="CuadroTexto 12">
                <a:extLst>
                  <a:ext uri="{FF2B5EF4-FFF2-40B4-BE49-F238E27FC236}">
                    <a16:creationId xmlns:a16="http://schemas.microsoft.com/office/drawing/2014/main" id="{3CF7C0F0-1D85-0FBE-E6FA-5F3BD9DB0088}"/>
                  </a:ext>
                </a:extLst>
              </p:cNvPr>
              <p:cNvSpPr txBox="1">
                <a:spLocks noRot="1" noChangeAspect="1" noMove="1" noResize="1" noEditPoints="1" noAdjustHandles="1" noChangeArrowheads="1" noChangeShapeType="1" noTextEdit="1"/>
              </p:cNvSpPr>
              <p:nvPr/>
            </p:nvSpPr>
            <p:spPr>
              <a:xfrm>
                <a:off x="6467094" y="830594"/>
                <a:ext cx="6094476" cy="523220"/>
              </a:xfrm>
              <a:prstGeom prst="rect">
                <a:avLst/>
              </a:prstGeom>
              <a:blipFill>
                <a:blip r:embed="rId6"/>
                <a:stretch>
                  <a:fillRect l="-300" t="-1163"/>
                </a:stretch>
              </a:blipFill>
            </p:spPr>
            <p:txBody>
              <a:bodyPr/>
              <a:lstStyle/>
              <a:p>
                <a:r>
                  <a:rPr lang="es-CO">
                    <a:noFill/>
                  </a:rPr>
                  <a:t> </a:t>
                </a:r>
              </a:p>
            </p:txBody>
          </p:sp>
        </mc:Fallback>
      </mc:AlternateContent>
    </p:spTree>
    <p:extLst>
      <p:ext uri="{BB962C8B-B14F-4D97-AF65-F5344CB8AC3E}">
        <p14:creationId xmlns:p14="http://schemas.microsoft.com/office/powerpoint/2010/main" val="318694130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2335</Words>
  <Application>Microsoft Office PowerPoint</Application>
  <PresentationFormat>Panorámica</PresentationFormat>
  <Paragraphs>270</Paragraphs>
  <Slides>26</Slides>
  <Notes>26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Poppins</vt:lpstr>
      <vt:lpstr>Arial</vt:lpstr>
      <vt:lpstr>Lato</vt:lpstr>
      <vt:lpstr>Poppins SemiBold</vt:lpstr>
      <vt:lpstr>Cambria Math</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Sebastian Montoya Villada</dc:creator>
  <cp:lastModifiedBy>Sebastian Montoya Villada</cp:lastModifiedBy>
  <cp:revision>2</cp:revision>
  <dcterms:modified xsi:type="dcterms:W3CDTF">2026-04-17T14:49:37Z</dcterms:modified>
</cp:coreProperties>
</file>