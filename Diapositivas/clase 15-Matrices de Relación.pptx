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74" r:id="rId13"/>
    <p:sldId id="27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Inter" panose="020B0604020202020204" charset="0"/>
      <p:regular r:id="rId29"/>
      <p:bold r:id="rId30"/>
      <p:italic r:id="rId31"/>
      <p:boldItalic r:id="rId32"/>
    </p:embeddedFont>
    <p:embeddedFont>
      <p:font typeface="Inter SemiBold" panose="020B0604020202020204" charset="0"/>
      <p:regular r:id="rId33"/>
      <p:bold r:id="rId34"/>
      <p:italic r:id="rId35"/>
      <p:boldItalic r:id="rId36"/>
    </p:embeddedFont>
    <p:embeddedFont>
      <p:font typeface="Lato" panose="020F0502020204030203" pitchFamily="34" charset="0"/>
      <p:regular r:id="rId37"/>
      <p:bold r:id="rId38"/>
      <p:italic r:id="rId39"/>
      <p:boldItalic r:id="rId40"/>
    </p:embeddedFont>
    <p:embeddedFont>
      <p:font typeface="Poppins" panose="00000500000000000000" pitchFamily="2" charset="0"/>
      <p:regular r:id="rId41"/>
      <p:bold r:id="rId42"/>
      <p:italic r:id="rId43"/>
      <p:boldItalic r:id="rId44"/>
    </p:embeddedFont>
    <p:embeddedFont>
      <p:font typeface="Poppins ExtraBold" panose="00000900000000000000" pitchFamily="2" charset="0"/>
      <p:bold r:id="rId45"/>
      <p:bold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6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3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3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10" Type="http://schemas.openxmlformats.org/officeDocument/2006/relationships/image" Target="../media/image75.png"/><Relationship Id="rId4" Type="http://schemas.openxmlformats.org/officeDocument/2006/relationships/image" Target="../media/image71.png"/><Relationship Id="rId9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3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79.png"/><Relationship Id="rId4" Type="http://schemas.openxmlformats.org/officeDocument/2006/relationships/image" Target="../media/image76.png"/><Relationship Id="rId9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3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75.png"/><Relationship Id="rId4" Type="http://schemas.openxmlformats.org/officeDocument/2006/relationships/image" Target="../media/image80.png"/><Relationship Id="rId9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3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71875" y="3701355"/>
            <a:ext cx="504825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391900" y="6372225"/>
            <a:ext cx="4191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/ 12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602956" y="899219"/>
            <a:ext cx="29860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CONCEPTOS FUNDAMENTALES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095625" y="1242119"/>
            <a:ext cx="60007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1E29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Matrices de Relación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809750" y="2432744"/>
            <a:ext cx="85725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 guía paso a paso para definir, construir y analizar matrices de adyacencia aplicadas a relaciones binarias.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819525" y="3949005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Objetivos de esta sesión: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181475" y="4368105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Definir qué es una matriz de relación.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181475" y="473958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Aprender las reglas de construcción (0s y 1s).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181475" y="5111055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Identificar propiedades algebraicamente.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4181475" y="548253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Resolver ejercicios prácticos.</a:t>
            </a:r>
            <a:endParaRPr/>
          </a:p>
        </p:txBody>
      </p:sp>
      <p:pic>
        <p:nvPicPr>
          <p:cNvPr id="95" name="Google Shape;95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9525" y="440144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9525" y="477291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9525" y="514439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9525" y="551586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3853457"/>
            <a:ext cx="10477500" cy="2390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5428654"/>
            <a:ext cx="3667125" cy="56763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1363325" y="6372225"/>
            <a:ext cx="4476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/ 12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666750"/>
            <a:ext cx="1047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57250" y="100965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¿Qué es una Relación Binaria?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57250" y="1847850"/>
            <a:ext cx="10477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Antes de construir la matriz, debemos entender qué es lo que representa.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57250" y="2421135"/>
            <a:ext cx="110013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Definición Formal: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57250" y="2849760"/>
            <a:ext cx="10477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 relación binaria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sobre un conjunto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es, matemáticamente, un subconjunto del producto cartesiano A × A. Está conformada por pares ordenados de elementos que cumplen cierta condición.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104900" y="4101107"/>
            <a:ext cx="1048131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Ejemplo rápido: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104900" y="4520207"/>
            <a:ext cx="9982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el conjunto es </a:t>
            </a:r>
            <a:r>
              <a:rPr lang="en-US" sz="16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 = {1, 2, 3}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104900" y="4950618"/>
            <a:ext cx="9982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 relación R podría ser "ser menor que":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54188"/>
            <a:ext cx="50482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78403" y="3539281"/>
            <a:ext cx="1264443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1363325" y="6372225"/>
            <a:ext cx="4476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/ 12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57250" y="666750"/>
            <a:ext cx="1047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CONCEPTO CLAVE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57250" y="100965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¿Qué es una Matriz de Relación?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57250" y="2038350"/>
            <a:ext cx="50482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También llamada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matriz booleana de adyacencia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es una cuadrícula matemática que nos permite visualizar de forma tabular qué elementos del conjunto están relacionados entre sí.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57250" y="3569493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 lugar de escribir largas listas de pares ordenados, la matriz resume toda la información de la relación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manera estructurada.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20326" y="2801838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Matriz 3x3 Típica</a:t>
            </a:r>
            <a:endParaRPr/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78403" y="3268563"/>
            <a:ext cx="1264443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945010"/>
            <a:ext cx="104775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1353800" y="6372225"/>
            <a:ext cx="457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/ 12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57250" y="666750"/>
            <a:ext cx="1047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ESTRUCTURA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7250" y="100965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Regla de Construcción: 0s y 1s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57250" y="1847850"/>
            <a:ext cx="10693066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matriz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solo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puede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contener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dos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valores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Las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filas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columnas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representan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elementos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del conjunto A.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857250" y="2468760"/>
            <a:ext cx="110013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Regla Universal: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9828" y="4754760"/>
            <a:ext cx="4452342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1371600" y="3173610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485900" y="3192660"/>
            <a:ext cx="9779508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Ponemos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posición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(fila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columna j)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elemento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1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está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relacionado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elemento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1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1371600" y="3611760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485900" y="3630810"/>
            <a:ext cx="960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Ponemos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posición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(fila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columna j)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elemento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1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</a:t>
            </a:r>
            <a:r>
              <a:rPr lang="en-US" sz="165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está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relacionado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elemento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1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j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276475"/>
            <a:ext cx="5048250" cy="264378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11363325" y="6372225"/>
            <a:ext cx="4476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/ 12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7250" y="666750"/>
            <a:ext cx="1047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TAMAÑO DE LA MATRIZ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57250" y="100965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Filas, Columnas y Dimensiones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534150" y="2713136"/>
            <a:ext cx="4552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Índices de la Matriz (Conjunto {1,2,3})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57250" y="2133600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¿De qué tamaño será la matriz?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57250" y="2562225"/>
            <a:ext cx="5048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tamaño de la matriz depende directamente de la cantidad de elementos (cardinalidad) del conjunto A.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123950" y="3739157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238250" y="3758207"/>
            <a:ext cx="4857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tiene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elementos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matriz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será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 × 3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1123950" y="4101107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1238250" y="4120157"/>
            <a:ext cx="48577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tiene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elementos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matriz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será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 × 4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61" name="Google Shape;161;p17"/>
          <p:cNvSpPr txBox="1"/>
          <p:nvPr/>
        </p:nvSpPr>
        <p:spPr>
          <a:xfrm>
            <a:off x="1123950" y="4463057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238250" y="4482107"/>
            <a:ext cx="46672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 general,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|A| = n, 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matriz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será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5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 × 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67650" y="3238797"/>
            <a:ext cx="1885950" cy="1244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7750" y="3421260"/>
            <a:ext cx="10477500" cy="56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4750891"/>
            <a:ext cx="10477500" cy="56763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11353800" y="6181726"/>
            <a:ext cx="457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/ 12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57250" y="666750"/>
            <a:ext cx="1047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PASO A PASO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57250" y="100965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Construyendo una Matriz (Parte 1)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57250" y="5651897"/>
            <a:ext cx="10477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Análisis</a:t>
            </a:r>
            <a:r>
              <a:rPr lang="en-US" sz="1650" b="0" i="0" u="none" strike="noStrike" cap="none" dirty="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650" b="0" i="0" u="none" strike="noStrike" cap="none" dirty="0" err="1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preliminar</a:t>
            </a:r>
            <a:r>
              <a:rPr lang="en-US" sz="1650" b="0" i="0" u="none" strike="noStrike" cap="none" dirty="0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857250" y="1847850"/>
            <a:ext cx="110013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Planteamiento del Problema: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57250" y="2276475"/>
            <a:ext cx="10477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Dado el conjunto A y una relación R, vamos a armar su matriz de adyacencia.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57250" y="2992635"/>
            <a:ext cx="110013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Definir los elementos: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57250" y="4322266"/>
            <a:ext cx="110013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Definir los pares de la relación R: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1123950" y="6063258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238250" y="6082308"/>
            <a:ext cx="100965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Como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conjunto 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tiene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3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elementos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necesitamos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cuadrícula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3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filas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3 columnas.</a:t>
            </a:r>
            <a:endParaRPr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1123950" y="6425208"/>
            <a:ext cx="114300" cy="242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238250" y="6444258"/>
            <a:ext cx="10096500" cy="22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Identificamos 4 pares en la relación R, por lo tanto, habrá exactamente cuatro "1s" en la matriz.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64010"/>
            <a:ext cx="5048250" cy="358497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11372850" y="6372225"/>
            <a:ext cx="4381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/ 12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857250" y="666750"/>
            <a:ext cx="1047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PASO A PASO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57250" y="1009650"/>
            <a:ext cx="1100137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Construyendo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una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Matriz</a:t>
            </a:r>
            <a:endParaRPr dirty="0"/>
          </a:p>
        </p:txBody>
      </p:sp>
      <p:sp>
        <p:nvSpPr>
          <p:cNvPr id="192" name="Google Shape;192;p19"/>
          <p:cNvSpPr txBox="1"/>
          <p:nvPr/>
        </p:nvSpPr>
        <p:spPr>
          <a:xfrm>
            <a:off x="857250" y="1847850"/>
            <a:ext cx="10477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Asignamos los "1s" basándonos en los pares de la relación </a:t>
            </a:r>
            <a:r>
              <a:rPr lang="en-US" sz="16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R = {(1,1), (1,3), (2,2), (3,2)}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57250" y="5478660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Nota: El resto de posiciones, al no existir los pares, se rellenan con ceros.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7986712" y="3804046"/>
            <a:ext cx="173021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Matriz Resultante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314450" y="2564010"/>
            <a:ext cx="4591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par </a:t>
            </a:r>
            <a:r>
              <a:rPr lang="en-US" sz="18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(1,1)</a:t>
            </a: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pone un 1 en la Fila 1, Columna 1.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314450" y="3106935"/>
            <a:ext cx="45910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par </a:t>
            </a:r>
            <a:r>
              <a:rPr lang="en-US" sz="18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(1,3)</a:t>
            </a: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pone un 1 en la Fila 1, Columna 3.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314450" y="3897510"/>
            <a:ext cx="45910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par </a:t>
            </a:r>
            <a:r>
              <a:rPr lang="en-US" sz="18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(2,2)</a:t>
            </a: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pone un 1 en la Fila 2, Columna 2.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314450" y="4688085"/>
            <a:ext cx="45910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 par </a:t>
            </a:r>
            <a:r>
              <a:rPr lang="en-US" sz="18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(3,2)</a:t>
            </a: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pone un 1 en la Fila 3, Columna 2.</a:t>
            </a:r>
            <a:endParaRPr/>
          </a:p>
        </p:txBody>
      </p:sp>
      <p:pic>
        <p:nvPicPr>
          <p:cNvPr id="199" name="Google Shape;19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73653" y="4223146"/>
            <a:ext cx="1073943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59734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314027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393084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472142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043957"/>
            <a:ext cx="10477500" cy="210681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11353800" y="6372225"/>
            <a:ext cx="457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/ 12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57250" y="666750"/>
            <a:ext cx="1047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PROPIEDADES DE LAS RELACIONES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857250" y="100965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Propiedad Reflexiva en la Matriz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857250" y="1847850"/>
            <a:ext cx="10477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Recordemos que una relación es reflexiva si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todo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elemento está relacionado consigo mismo: </a:t>
            </a:r>
            <a:r>
              <a:rPr lang="en-US" sz="16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∀a ∈ A, (a,a) ∈ 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857250" y="2803921"/>
            <a:ext cx="110013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Visualización en la Matriz: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57250" y="3232546"/>
            <a:ext cx="10477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la relación es reflexiva, la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diagonal principal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la matriz debe estar completamente llena de unos (1s).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104900" y="4291607"/>
            <a:ext cx="9982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 de Matriz Reflexiva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104900" y="5598318"/>
            <a:ext cx="9982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Observa cómo los elementos </a:t>
            </a:r>
            <a:r>
              <a:rPr lang="en-US" sz="13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m11, m22, m33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son todos iguales a 1.</a:t>
            </a:r>
            <a:endParaRPr/>
          </a:p>
        </p:txBody>
      </p:sp>
      <p:pic>
        <p:nvPicPr>
          <p:cNvPr id="218" name="Google Shape;21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24537" y="4769643"/>
            <a:ext cx="54292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043957"/>
            <a:ext cx="10477500" cy="210681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11353800" y="6372225"/>
            <a:ext cx="457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/ 12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57250" y="666750"/>
            <a:ext cx="1047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PROPIEDADES DE LAS RELACIONES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57250" y="100965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Propiedad Simétrica en la Matriz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57250" y="1847850"/>
            <a:ext cx="10477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 relación es simétrica si siempre que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(a, b) ∈ 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su opuesto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(b, a) ∈ R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también está presente.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57250" y="2468760"/>
            <a:ext cx="110013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Visualización en la Matriz: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857250" y="2897385"/>
            <a:ext cx="10477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matriz debe actuar como un espejo perfecto alrededor de su diagonal principal. Matemáticamente, la matriz original debe ser igual a su matriz transpuesta (</a:t>
            </a:r>
            <a:r>
              <a:rPr lang="en-US" sz="16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 = M^T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104900" y="4291607"/>
            <a:ext cx="9982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 de Matriz Simétrica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1104900" y="5598318"/>
            <a:ext cx="9982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</a:t>
            </a:r>
            <a:r>
              <a:rPr lang="en-US" sz="13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m12 = 1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(azul), entonces </a:t>
            </a:r>
            <a:r>
              <a:rPr lang="en-US" sz="13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m21 = 1</a:t>
            </a:r>
            <a:r>
              <a:rPr lang="en-US" sz="13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(azul).</a:t>
            </a:r>
            <a:endParaRPr/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24537" y="4769643"/>
            <a:ext cx="542925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188618"/>
            <a:ext cx="10477500" cy="219253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11277600" y="6372225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/ 12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857250" y="666750"/>
            <a:ext cx="1047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PROPIEDADES DE LAS RELACIONES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857250" y="100965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3. Propiedad Transitiva en la Matriz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57250" y="1847850"/>
            <a:ext cx="10477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transitividad indica que si nos conectamos de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→ b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y de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 → c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debe existir un puente directo de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→ c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857250" y="2708671"/>
            <a:ext cx="110013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Visualización en la Matriz: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857250" y="3137296"/>
            <a:ext cx="10477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la posición </a:t>
            </a:r>
            <a:r>
              <a:rPr lang="en-US" sz="16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(i, k)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 1 y la posición </a:t>
            </a:r>
            <a:r>
              <a:rPr lang="en-US" sz="16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(k, j)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es 1, entonces obligatoriamente la posición </a:t>
            </a:r>
            <a:r>
              <a:rPr lang="en-US" sz="16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(i, j)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debe ser 1.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104900" y="4436268"/>
            <a:ext cx="99822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¿Cómo evaluarlo analíticamente?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1371600" y="4895254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1485900" y="4914304"/>
            <a:ext cx="960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Buscamos combinaciones en la relación: si tenemos un par que termina en "x" y otro que empieza en "x".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1371600" y="5504854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485900" y="5523904"/>
            <a:ext cx="96012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Por ejemplo: Si tenemos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(1, 2)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(2, 3)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la matriz solo será transitiva si el par 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(1, 3)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también vale 1 en la cuadrícula.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3386732"/>
            <a:ext cx="10477500" cy="2712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00150" y="5095279"/>
            <a:ext cx="9848850" cy="71809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40067" y="615002"/>
            <a:ext cx="1100137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¿</a:t>
            </a:r>
            <a:r>
              <a:rPr lang="en-US" sz="3300" b="1" i="0" u="none" strike="noStrike" cap="none" dirty="0" err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Qué</a:t>
            </a:r>
            <a:r>
              <a:rPr lang="en-US" sz="3300" b="1" i="0" u="none" strike="noStrike" cap="none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 es            y </a:t>
            </a:r>
            <a:r>
              <a:rPr lang="en-US" sz="3300" b="1" i="0" u="none" strike="noStrike" cap="none" dirty="0" err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cómo</a:t>
            </a:r>
            <a:r>
              <a:rPr lang="en-US" sz="3300" b="1" i="0" u="none" strike="noStrike" cap="none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 se </a:t>
            </a:r>
            <a:r>
              <a:rPr lang="en-US" sz="3300" b="1" i="0" u="none" strike="noStrike" cap="none" dirty="0" err="1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usa</a:t>
            </a:r>
            <a:r>
              <a:rPr lang="en-US" sz="3300" b="1" i="0" u="none" strike="noStrike" cap="none" dirty="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857250" y="1666875"/>
            <a:ext cx="104775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matriz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       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nos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muestra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dónde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existen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'caminos de </a:t>
            </a:r>
            <a:r>
              <a:rPr lang="en-US" sz="165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longitud</a:t>
            </a:r>
            <a:r>
              <a:rPr lang="en-US" sz="165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2'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entre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elementos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relación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857250" y="2240160"/>
            <a:ext cx="104775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 '1'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posición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650" b="0" i="0" u="none" strike="noStrike" cap="none" dirty="0" err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650" b="0" i="0" u="none" strike="noStrike" cap="none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, k)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        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significa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podemos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ir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50" b="0" i="0" u="none" strike="noStrike" cap="none" dirty="0" err="1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650" b="0" i="0" u="none" strike="noStrike" cap="none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k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pasando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al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menos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elemento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intermedio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j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72050" y="561455"/>
            <a:ext cx="762000" cy="540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28241" y="1731911"/>
            <a:ext cx="371475" cy="270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89426" y="2306275"/>
            <a:ext cx="371475" cy="27012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200150" y="3672482"/>
            <a:ext cx="1034129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Conexión con la Transitividad: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200150" y="4186832"/>
            <a:ext cx="9848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relación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transitiva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"camino de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longitud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2" (un 1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),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ya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existe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un "camino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directo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 (un 1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misma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posición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).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1335285"/>
            <a:ext cx="104775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3583185"/>
            <a:ext cx="1047750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354710"/>
            <a:ext cx="104775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57250" y="666750"/>
            <a:ext cx="10477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Supón que tenemos la matriz: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857250" y="2602110"/>
            <a:ext cx="1047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2802135"/>
            <a:ext cx="110013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Paso 1: Calculamos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36257" y="1335285"/>
            <a:ext cx="111948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00450" y="2814191"/>
            <a:ext cx="485775" cy="343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69256" y="3583185"/>
            <a:ext cx="8853487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455294" y="4354710"/>
            <a:ext cx="1281410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4579590"/>
            <a:ext cx="10477500" cy="343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5256758"/>
            <a:ext cx="104775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0394" y="2644675"/>
            <a:ext cx="4857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70117" y="2644675"/>
            <a:ext cx="4857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57250" y="666750"/>
            <a:ext cx="110013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Paso 1 (Continuación): Lógica Booleana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57250" y="1257300"/>
            <a:ext cx="10477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 la lógica booleana, que se usa para representar relaciones, solo nos importa si existe una conexión (1) o no (0). Por lo tanto, cualquier resultado del cálculo que sea mayor que 0 se convierte en 1.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857250" y="3598515"/>
            <a:ext cx="10477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57250" y="3798540"/>
            <a:ext cx="110013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Paso 2: Comparar con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71925" y="3893790"/>
            <a:ext cx="323850" cy="260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36257" y="4579590"/>
            <a:ext cx="1119485" cy="34379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05338" y="5456783"/>
            <a:ext cx="1058132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Conclusión: Como la matriz booleana resultante es idéntica a la original, la relación es transitiva.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759844" y="2152650"/>
            <a:ext cx="1666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Resultado Numérico</a:t>
            </a:r>
            <a:endParaRPr/>
          </a:p>
        </p:txBody>
      </p:sp>
      <p:pic>
        <p:nvPicPr>
          <p:cNvPr id="129" name="Google Shape;12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02969" y="2504033"/>
            <a:ext cx="41463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6793855" y="2152650"/>
            <a:ext cx="16383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Resultado Booleano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50394" y="2426940"/>
            <a:ext cx="4857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370117" y="2426940"/>
            <a:ext cx="485775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7750" y="2754510"/>
            <a:ext cx="2181225" cy="56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7750" y="3465016"/>
            <a:ext cx="5400675" cy="56763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11315700" y="6372225"/>
            <a:ext cx="495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11 / 12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857250" y="666750"/>
            <a:ext cx="1047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EJERCICIOS PRÁCTICOS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857250" y="100965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Ejercicio Práctico 1: De Relación a Matriz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857250" y="4651771"/>
            <a:ext cx="104775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857250" y="1847850"/>
            <a:ext cx="1100137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Problema: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857250" y="2276475"/>
            <a:ext cx="104775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Construir la matriz de adyacencia e indicar si es reflexiva y simétrica.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857250" y="5137546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Resolución: Matriz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286500" y="5137546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Resolución: Propiedades</a:t>
            </a:r>
            <a:endParaRPr/>
          </a:p>
        </p:txBody>
      </p:sp>
      <p:pic>
        <p:nvPicPr>
          <p:cNvPr id="266" name="Google Shape;266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5566171"/>
            <a:ext cx="1073943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6553200" y="5547121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667500" y="5566171"/>
            <a:ext cx="46672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Reflexiva: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Sí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La diagonal (a,a), (b,b), (c,c) está llena de 1s.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553200" y="6156721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667500" y="6175771"/>
            <a:ext cx="46672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Simétrica: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Sí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La matriz es un espejo exacto respecto a su diagonal principal.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0" y="2706885"/>
            <a:ext cx="3667125" cy="567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5008066"/>
            <a:ext cx="5048250" cy="83046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11287125" y="6372225"/>
            <a:ext cx="5238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12 / 12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857250" y="666750"/>
            <a:ext cx="10477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EJERCICIOS PRÁCTICOS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857250" y="1009650"/>
            <a:ext cx="1100137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Ejercicio Práctico 2: Lectura Inversa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857250" y="1847850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Problema: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857250" y="2276475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Dado el conjunto </a:t>
            </a:r>
            <a:r>
              <a:rPr lang="en-US" sz="1650" b="0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 = {1, 2, 3}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su matriz, listar los pares de R y determinar si es de Equivalencia.</a:t>
            </a:r>
            <a:endParaRPr/>
          </a:p>
        </p:txBody>
      </p:sp>
      <p:pic>
        <p:nvPicPr>
          <p:cNvPr id="283" name="Google Shape;28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3833812"/>
            <a:ext cx="1073943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6286500" y="1847850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1. Extraer los Pares: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6286500" y="2276475"/>
            <a:ext cx="50482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Leemos las posiciones donde hay un "1":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6286500" y="3607891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2. Análisis Rápido: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6553200" y="4017466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6667500" y="4036516"/>
            <a:ext cx="4919662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No es </a:t>
            </a:r>
            <a:r>
              <a:rPr lang="en-US" sz="1650" b="1" i="0" u="none" strike="noStrike" cap="none" dirty="0" err="1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Reflexiva</a:t>
            </a:r>
            <a:r>
              <a:rPr lang="en-US" sz="1650" b="1" i="0" u="none" strike="noStrike" cap="none" dirty="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Falta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posición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(3,3).</a:t>
            </a:r>
            <a:endParaRPr dirty="0"/>
          </a:p>
        </p:txBody>
      </p:sp>
      <p:sp>
        <p:nvSpPr>
          <p:cNvPr id="289" name="Google Shape;289;p24"/>
          <p:cNvSpPr txBox="1"/>
          <p:nvPr/>
        </p:nvSpPr>
        <p:spPr>
          <a:xfrm>
            <a:off x="6553200" y="4379416"/>
            <a:ext cx="11430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667500" y="4398466"/>
            <a:ext cx="50482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No es </a:t>
            </a:r>
            <a:r>
              <a:rPr lang="en-US" sz="1650" b="1" i="0" u="none" strike="noStrike" cap="none" dirty="0" err="1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Simétrica</a:t>
            </a:r>
            <a:r>
              <a:rPr lang="en-US" sz="1650" b="1" i="0" u="none" strike="noStrike" cap="none" dirty="0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Existe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(1,2)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pero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existe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(2,1).</a:t>
            </a:r>
            <a:endParaRPr dirty="0"/>
          </a:p>
        </p:txBody>
      </p:sp>
      <p:sp>
        <p:nvSpPr>
          <p:cNvPr id="291" name="Google Shape;291;p24"/>
          <p:cNvSpPr txBox="1"/>
          <p:nvPr/>
        </p:nvSpPr>
        <p:spPr>
          <a:xfrm>
            <a:off x="6534150" y="5255716"/>
            <a:ext cx="4552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DC262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Conclusión: NO es de equivalencia.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107953"/>
            <a:ext cx="19812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376564"/>
            <a:ext cx="4038600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762000" y="571500"/>
            <a:ext cx="112014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Ejemplo 1: Análisis General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762000" y="133350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11410950" y="6429375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/ 10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62000" y="1738610"/>
            <a:ext cx="535066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Problema: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62000" y="2319635"/>
            <a:ext cx="50958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Dado el conjunto A y la relación R, determinar si R es una relación de equivalencia sobre A construyendo su matriz.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3563242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Conjunto: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62000" y="4831853"/>
            <a:ext cx="50958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650" b="0" i="0" u="none" strike="noStrike" cap="none" dirty="0" err="1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Relación</a:t>
            </a:r>
            <a:r>
              <a:rPr lang="en-US" sz="1650" b="0" i="0" u="none" strike="noStrike" cap="none" dirty="0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: </a:t>
            </a:r>
            <a:r>
              <a:rPr lang="es-CO" dirty="0" err="1"/>
              <a:t>xRy</a:t>
            </a:r>
            <a:r>
              <a:rPr lang="es-CO" dirty="0"/>
              <a:t>⟺((x≤3∧y≤3) ∨ (x=4∧y=4))</a:t>
            </a:r>
            <a:endParaRPr dirty="0"/>
          </a:p>
        </p:txBody>
      </p:sp>
      <p:sp>
        <p:nvSpPr>
          <p:cNvPr id="173" name="Google Shape;173;p18"/>
          <p:cNvSpPr txBox="1"/>
          <p:nvPr/>
        </p:nvSpPr>
        <p:spPr>
          <a:xfrm>
            <a:off x="7596187" y="1738610"/>
            <a:ext cx="2700337" cy="37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Matriz MR Construida: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71792" y="2451050"/>
            <a:ext cx="2420540" cy="1556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701" y="5694460"/>
            <a:ext cx="10772299" cy="83343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762000" y="571500"/>
            <a:ext cx="112014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Verificación de Propiedades (Ejemplo 1)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762000" y="133350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11420475" y="6429375"/>
            <a:ext cx="3905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/ 10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143000" y="1647825"/>
            <a:ext cx="9144000" cy="879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Propiedad Reflexiva: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143000" y="2737246"/>
            <a:ext cx="9144000" cy="1215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Propiedad Simétrica: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1143000" y="4161829"/>
            <a:ext cx="9144000" cy="1289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Propiedad Transitiva: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62012" y="5744857"/>
            <a:ext cx="958119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Conclusión</a:t>
            </a:r>
            <a:endParaRPr dirty="0"/>
          </a:p>
        </p:txBody>
      </p:sp>
      <p:sp>
        <p:nvSpPr>
          <p:cNvPr id="187" name="Google Shape;187;p19"/>
          <p:cNvSpPr txBox="1"/>
          <p:nvPr/>
        </p:nvSpPr>
        <p:spPr>
          <a:xfrm>
            <a:off x="962024" y="6038644"/>
            <a:ext cx="10367963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</a:t>
            </a:r>
            <a:r>
              <a:rPr lang="en-US" sz="1650" b="0" i="0" u="none" strike="noStrike" cap="none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relación</a:t>
            </a:r>
            <a:r>
              <a:rPr lang="en-US" sz="1650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R </a:t>
            </a:r>
            <a:r>
              <a:rPr lang="en-US" sz="1650" b="0" i="0" u="none" strike="noStrike" cap="none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cumple</a:t>
            </a:r>
            <a:r>
              <a:rPr lang="en-US" sz="1650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las </a:t>
            </a:r>
            <a:r>
              <a:rPr lang="en-US" sz="1650" b="0" i="0" u="none" strike="noStrike" cap="none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tres</a:t>
            </a:r>
            <a:r>
              <a:rPr lang="en-US" sz="1650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650" b="0" i="0" u="none" strike="noStrike" cap="none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propiedades</a:t>
            </a:r>
            <a:r>
              <a:rPr lang="en-US" sz="1650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650" b="0" i="0" u="none" strike="noStrike" cap="none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</a:t>
            </a:r>
            <a:r>
              <a:rPr lang="en-US" sz="1650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650" b="0" i="0" u="none" strike="noStrike" cap="none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</a:t>
            </a:r>
            <a:r>
              <a:rPr lang="en-US" sz="1650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650" b="0" i="0" u="none" strike="noStrike" cap="none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matriz</a:t>
            </a:r>
            <a:r>
              <a:rPr lang="en-US" sz="1650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 Por lo tanto, es </a:t>
            </a:r>
            <a:r>
              <a:rPr lang="en-US" sz="1650" b="0" i="0" u="none" strike="noStrike" cap="none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una</a:t>
            </a:r>
            <a:r>
              <a:rPr lang="en-US" sz="1650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650" b="0" i="0" u="none" strike="noStrike" cap="none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relación</a:t>
            </a:r>
            <a:r>
              <a:rPr lang="en-US" sz="1650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de </a:t>
            </a:r>
            <a:r>
              <a:rPr lang="en-US" sz="1650" b="0" i="0" u="none" strike="noStrike" cap="none" dirty="0" err="1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equivalencia</a:t>
            </a:r>
            <a:r>
              <a:rPr lang="en-US" sz="1650" b="0" i="0" u="none" strike="noStrike" cap="none" dirty="0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.</a:t>
            </a:r>
            <a:endParaRPr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1143000" y="2192535"/>
            <a:ext cx="9144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diagonal principal está compuesta solo de unos (m11=1, m22=1, m33=1, m44=1).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143000" y="3281957"/>
            <a:ext cx="9144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 matriz es un espejo. Si doblamos la matriz por la diagonal, los 1s coinciden perfectamente con los 1s, y los 0s con los 0s.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143000" y="4706540"/>
            <a:ext cx="9144000" cy="74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 calcular MR2 booleana, la matriz resultante es exactamente igual a MR. No aparecen rutas nuevas.</a:t>
            </a:r>
            <a:endParaRPr/>
          </a:p>
        </p:txBody>
      </p:sp>
      <p:pic>
        <p:nvPicPr>
          <p:cNvPr id="191" name="Google Shape;19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95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8487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209454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476946"/>
            <a:ext cx="5095875" cy="1411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4173884"/>
            <a:ext cx="5095875" cy="107037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762000" y="571500"/>
            <a:ext cx="112014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Ejemplo 2: Detectando fallas visualmente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762000" y="133350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11410950" y="6429375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/ 10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62000" y="1955006"/>
            <a:ext cx="535066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Problema: a ≤ b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62000" y="2497931"/>
            <a:ext cx="50958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Analizar si la relación R, definida por 'a ≤ b', es una relación de equivalencia en el conjunto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= {1, 2, 3}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62000" y="3712964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Construimos la matriz, poniendo un 1 solo si la fila es menor o igual a la columna: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286750" y="1955006"/>
            <a:ext cx="1250156" cy="37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Matriz MR: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143000" y="4592835"/>
            <a:ext cx="4714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Reflexiva: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Sí, la diagonal es 1 (1≤1, 2≤2, 3≤3).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143000" y="5118496"/>
            <a:ext cx="4714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Simétrica: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Falla. El 1 en (1,2) no tiene su recíproco en (2,1).</a:t>
            </a:r>
            <a:endParaRPr/>
          </a:p>
        </p:txBody>
      </p:sp>
      <p:pic>
        <p:nvPicPr>
          <p:cNvPr id="209" name="Google Shape;20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19492" y="2676971"/>
            <a:ext cx="1125140" cy="101113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6534150" y="4373909"/>
            <a:ext cx="46958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91B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Conclusión: Al fallar la simetría en la matriz, la relación NO es de equivalencia.</a:t>
            </a:r>
            <a:endParaRPr/>
          </a:p>
        </p:txBody>
      </p:sp>
      <p:pic>
        <p:nvPicPr>
          <p:cNvPr id="211" name="Google Shape;21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64046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5166121"/>
            <a:ext cx="171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237779"/>
            <a:ext cx="5095875" cy="3268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614737"/>
            <a:ext cx="2667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883348"/>
            <a:ext cx="2673101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762000" y="571500"/>
            <a:ext cx="112014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Ejemplo 3: Congruencia Módulo 2</a:t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762000" y="133350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11410950" y="6429375"/>
            <a:ext cx="4000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/ 10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762000" y="2527101"/>
            <a:ext cx="5350668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Definición del Problema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762000" y="3070026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Conjunto: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762000" y="4338637"/>
            <a:ext cx="50958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Relación R: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6619875" y="2475904"/>
            <a:ext cx="48006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Interpretación Práctica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619875" y="3018829"/>
            <a:ext cx="4572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Dos números están relacionados si dejan el mismo residuo al ser divididos por 2.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000875" y="3832026"/>
            <a:ext cx="4191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Todos los números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pares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 relacionan entre sí.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7000875" y="4597598"/>
            <a:ext cx="4191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Todos los números </a:t>
            </a: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impares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 relacionan entre sí.</a:t>
            </a:r>
            <a:endParaRPr/>
          </a:p>
        </p:txBody>
      </p:sp>
      <p:pic>
        <p:nvPicPr>
          <p:cNvPr id="230" name="Google Shape;23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387965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19875" y="4645223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661124"/>
            <a:ext cx="10668000" cy="76572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762000" y="571500"/>
            <a:ext cx="112014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La Matriz de Equivalencia (Módulo 2)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762000" y="133350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11334750" y="6429375"/>
            <a:ext cx="4762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/ 10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62000" y="1857375"/>
            <a:ext cx="10668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 construimos la matriz 6x6, ordenando pares e impares, podemos verificar la relación visualmente sin listar pares: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962025" y="5861149"/>
            <a:ext cx="10267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6653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matriz confirma irrefutablemente la Relación de Equivalencia.</a:t>
            </a:r>
            <a:endParaRPr/>
          </a:p>
        </p:txBody>
      </p:sp>
      <p:pic>
        <p:nvPicPr>
          <p:cNvPr id="242" name="Google Shape;24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2599" y="3049637"/>
            <a:ext cx="2174676" cy="199429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6715125" y="2718196"/>
            <a:ext cx="4714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Reflexiva: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Vemos un '1' en cada posición de la diagonal, desde (0,0) hasta (5,5).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715125" y="3579018"/>
            <a:ext cx="4714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Simétrica: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patrón de damero es perfectamente simétrico en sus dos mitades.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715125" y="4439840"/>
            <a:ext cx="4714875" cy="745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Transitiva:</a:t>
            </a:r>
            <a:r>
              <a:rPr lang="en-US" sz="16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Todo par se conecta con otro par, y todo impar con impar. MR2 = MR.</a:t>
            </a:r>
            <a:endParaRPr/>
          </a:p>
        </p:txBody>
      </p:sp>
      <p:pic>
        <p:nvPicPr>
          <p:cNvPr id="246" name="Google Shape;24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76582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62664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48746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75472" y="3076575"/>
            <a:ext cx="844105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Trabajo Independiente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38412" y="4295775"/>
            <a:ext cx="71151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Guía de Ejercicios: Relaciones de Equivalencia y Matrices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38812" y="2171700"/>
            <a:ext cx="71437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28936"/>
            <a:ext cx="10668000" cy="4371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2119461"/>
            <a:ext cx="28575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152525" y="2595711"/>
            <a:ext cx="9886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 el conjunto A y la relación R definidos de la siguiente manera: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1607" y="3134766"/>
            <a:ext cx="266878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3515766"/>
            <a:ext cx="1172467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/>
          <p:nvPr/>
        </p:nvSpPr>
        <p:spPr>
          <a:xfrm>
            <a:off x="1152525" y="4087266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628775" y="4230141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Construye la matriz de relación de adyacencia.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152525" y="4087266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1152525" y="4898677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628775" y="5041552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¿La relación es reflexiva, simétrica o transitiva? Justifica analizando la matriz.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152525" y="4898677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14450" y="4348581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42727" y="5157637"/>
            <a:ext cx="1333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762000" y="571500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Ejercicio 1: De Pares a Matriz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762000" y="13335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11496675" y="6410325"/>
            <a:ext cx="3143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1 / 5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1933575"/>
            <a:ext cx="198120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152525" y="2295788"/>
            <a:ext cx="9886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Dada la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siguiente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matriz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relación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sobre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95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95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conjunto :</a:t>
            </a:r>
            <a:endParaRPr dirty="0"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09688" y="2469357"/>
            <a:ext cx="21970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06714" y="3084651"/>
            <a:ext cx="2378571" cy="102066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/>
          <p:nvPr/>
        </p:nvSpPr>
        <p:spPr>
          <a:xfrm>
            <a:off x="1152525" y="4388643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628775" y="4531518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Escribe el conjunto de pares ordenados que representa la relación.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1152525" y="4388643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1152525" y="5200054"/>
            <a:ext cx="9886950" cy="646955"/>
          </a:xfrm>
          <a:prstGeom prst="roundRect">
            <a:avLst>
              <a:gd name="adj" fmla="val 11778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628775" y="5342929"/>
            <a:ext cx="926782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Verifica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relación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transitiva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calculando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      .</a:t>
            </a:r>
            <a:endParaRPr dirty="0"/>
          </a:p>
        </p:txBody>
      </p:sp>
      <p:sp>
        <p:nvSpPr>
          <p:cNvPr id="124" name="Google Shape;124;p15"/>
          <p:cNvSpPr/>
          <p:nvPr/>
        </p:nvSpPr>
        <p:spPr>
          <a:xfrm>
            <a:off x="1152525" y="5200054"/>
            <a:ext cx="47625" cy="6469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1152525" y="6037510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628775" y="6180385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¿Es reflexiva o simétrica? Justifica visualmente.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1152525" y="6037510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72150" y="5342929"/>
            <a:ext cx="323850" cy="343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43025" y="4555331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43025" y="5366742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43025" y="6204198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762000" y="571500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Ejercicio 2: Análisis Inverso y Transitividad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762000" y="13335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43050"/>
            <a:ext cx="10668000" cy="52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1933575"/>
            <a:ext cx="20383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1152525" y="2409825"/>
            <a:ext cx="9886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 la relación R ⊆ ℤ definida por la siguiente condición: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1152525" y="3958530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628775" y="4101405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¿Es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relación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equivalencia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?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Justifica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matemáticamente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46" name="Google Shape;146;p16"/>
          <p:cNvSpPr/>
          <p:nvPr/>
        </p:nvSpPr>
        <p:spPr>
          <a:xfrm>
            <a:off x="1152525" y="3958530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152525" y="4769941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628775" y="4912816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Si , determina las clases de equivalencia.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1152525" y="4769941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1152525" y="5581352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1628775" y="5724227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Representa la matriz de adyacencia de la relación para ese conjunto.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1152525" y="5581352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74150" y="2605236"/>
            <a:ext cx="3760588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43025" y="4125217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43025" y="4936628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43025" y="5748039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762000" y="571500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Ejercicio 3: Congruencia y Clases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762000" y="13335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4469B4-260D-64A0-BD29-1C46268FCDA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72886" y="3119423"/>
            <a:ext cx="5668141" cy="50485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43050"/>
            <a:ext cx="10668000" cy="4944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1933575"/>
            <a:ext cx="23907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1152525" y="2409825"/>
            <a:ext cx="9886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Sea el conjunto A y su respectiva partición P dados por: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1152525" y="3663255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1628775" y="3806130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Construye la relación de equivalencia determinada por esta partición.</a:t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1152525" y="3663255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1152525" y="4474666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1628775" y="4617541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Representa su matriz de relación de adyacencia.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1152525" y="4474666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1152525" y="5286077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1628775" y="5428952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Indica cuáles pares pertenecen y cuáles no pertenecen a la relación.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1152525" y="5286077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42244" y="2996505"/>
            <a:ext cx="266878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1389" y="2996505"/>
            <a:ext cx="4527946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43025" y="382994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43025" y="4641353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43025" y="5545037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/>
        </p:nvSpPr>
        <p:spPr>
          <a:xfrm>
            <a:off x="762000" y="571500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Ejercicio 4: Particiones</a:t>
            </a:r>
            <a:endParaRPr/>
          </a:p>
        </p:txBody>
      </p:sp>
      <p:sp>
        <p:nvSpPr>
          <p:cNvPr id="183" name="Google Shape;183;p17"/>
          <p:cNvSpPr/>
          <p:nvPr/>
        </p:nvSpPr>
        <p:spPr>
          <a:xfrm>
            <a:off x="762000" y="13335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11496675" y="6410325"/>
            <a:ext cx="3143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4 / 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43050"/>
            <a:ext cx="10668000" cy="527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2525" y="1933575"/>
            <a:ext cx="25812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1152525" y="2409825"/>
            <a:ext cx="98869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Diseña tú mismo una relación R sobre el conjunto que cumpla:</a:t>
            </a:r>
            <a:endParaRPr/>
          </a:p>
        </p:txBody>
      </p:sp>
      <p:pic>
        <p:nvPicPr>
          <p:cNvPr id="193" name="Google Shape;193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67838" y="2567879"/>
            <a:ext cx="2197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1438275" y="2996505"/>
            <a:ext cx="96012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 sea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Reflexiva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438275" y="3505051"/>
            <a:ext cx="96012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 sea Simétrica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438275" y="4013596"/>
            <a:ext cx="96012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 sea </a:t>
            </a:r>
            <a:r>
              <a:rPr lang="en-US" sz="18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Transitiva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1152525" y="4665017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1628775" y="4807892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Da los pares ordenados.</a:t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1152525" y="4665017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1152525" y="5476428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1628775" y="5619303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Representa la matriz.</a:t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1152525" y="5476428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1152525" y="6157664"/>
            <a:ext cx="9886950" cy="620910"/>
          </a:xfrm>
          <a:prstGeom prst="roundRect">
            <a:avLst>
              <a:gd name="adj" fmla="val 12272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1628775" y="6300539"/>
            <a:ext cx="9267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Justifica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cumple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o no con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cada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propiedad</a:t>
            </a:r>
            <a:r>
              <a:rPr lang="en-US" sz="165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05" name="Google Shape;205;p18"/>
          <p:cNvSpPr/>
          <p:nvPr/>
        </p:nvSpPr>
        <p:spPr>
          <a:xfrm>
            <a:off x="1152525" y="6287839"/>
            <a:ext cx="47625" cy="62091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1247775" y="2948880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7" name="Google Shape;207;p18"/>
          <p:cNvSpPr txBox="1"/>
          <p:nvPr/>
        </p:nvSpPr>
        <p:spPr>
          <a:xfrm>
            <a:off x="1247775" y="3457426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1247775" y="3965971"/>
            <a:ext cx="1619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pic>
        <p:nvPicPr>
          <p:cNvPr id="209" name="Google Shape;20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43025" y="4831705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43025" y="5643116"/>
            <a:ext cx="133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28737" y="6400800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762000" y="571500"/>
            <a:ext cx="112014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Ejercicio 5: Diseño de Relaciones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762000" y="1333500"/>
            <a:ext cx="10668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8698</TotalTime>
  <Words>1992</Words>
  <Application>Microsoft Office PowerPoint</Application>
  <PresentationFormat>Panorámica</PresentationFormat>
  <Paragraphs>207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4" baseType="lpstr">
      <vt:lpstr>Poppins</vt:lpstr>
      <vt:lpstr>Arial</vt:lpstr>
      <vt:lpstr>Poppins ExtraBold</vt:lpstr>
      <vt:lpstr>Lato</vt:lpstr>
      <vt:lpstr>Inter SemiBold</vt:lpstr>
      <vt:lpstr>Calibri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2</cp:revision>
  <dcterms:modified xsi:type="dcterms:W3CDTF">2026-04-16T14:44:35Z</dcterms:modified>
</cp:coreProperties>
</file>